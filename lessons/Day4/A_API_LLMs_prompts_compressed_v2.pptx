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8" r:id="rId2"/>
  </p:sldMasterIdLst>
  <p:notesMasterIdLst>
    <p:notesMasterId r:id="rId89"/>
  </p:notesMasterIdLst>
  <p:sldIdLst>
    <p:sldId id="281" r:id="rId3"/>
    <p:sldId id="282" r:id="rId4"/>
    <p:sldId id="303" r:id="rId5"/>
    <p:sldId id="304" r:id="rId6"/>
    <p:sldId id="283" r:id="rId7"/>
    <p:sldId id="284" r:id="rId8"/>
    <p:sldId id="285" r:id="rId9"/>
    <p:sldId id="364" r:id="rId10"/>
    <p:sldId id="286" r:id="rId11"/>
    <p:sldId id="287" r:id="rId12"/>
    <p:sldId id="288" r:id="rId13"/>
    <p:sldId id="289" r:id="rId14"/>
    <p:sldId id="290" r:id="rId15"/>
    <p:sldId id="291" r:id="rId16"/>
    <p:sldId id="366" r:id="rId17"/>
    <p:sldId id="367" r:id="rId18"/>
    <p:sldId id="311" r:id="rId19"/>
    <p:sldId id="300" r:id="rId20"/>
    <p:sldId id="368" r:id="rId21"/>
    <p:sldId id="369" r:id="rId22"/>
    <p:sldId id="302" r:id="rId23"/>
    <p:sldId id="370" r:id="rId24"/>
    <p:sldId id="371" r:id="rId25"/>
    <p:sldId id="372" r:id="rId26"/>
    <p:sldId id="373" r:id="rId27"/>
    <p:sldId id="820" r:id="rId28"/>
    <p:sldId id="821" r:id="rId29"/>
    <p:sldId id="822" r:id="rId30"/>
    <p:sldId id="825" r:id="rId31"/>
    <p:sldId id="823" r:id="rId32"/>
    <p:sldId id="310" r:id="rId33"/>
    <p:sldId id="315" r:id="rId34"/>
    <p:sldId id="828" r:id="rId35"/>
    <p:sldId id="829" r:id="rId36"/>
    <p:sldId id="830" r:id="rId37"/>
    <p:sldId id="832" r:id="rId38"/>
    <p:sldId id="318" r:id="rId39"/>
    <p:sldId id="833" r:id="rId40"/>
    <p:sldId id="834" r:id="rId41"/>
    <p:sldId id="835" r:id="rId42"/>
    <p:sldId id="838" r:id="rId43"/>
    <p:sldId id="839" r:id="rId44"/>
    <p:sldId id="294" r:id="rId45"/>
    <p:sldId id="841" r:id="rId46"/>
    <p:sldId id="354" r:id="rId47"/>
    <p:sldId id="355" r:id="rId48"/>
    <p:sldId id="840" r:id="rId49"/>
    <p:sldId id="826" r:id="rId50"/>
    <p:sldId id="345" r:id="rId51"/>
    <p:sldId id="357" r:id="rId52"/>
    <p:sldId id="347" r:id="rId53"/>
    <p:sldId id="358" r:id="rId54"/>
    <p:sldId id="359" r:id="rId55"/>
    <p:sldId id="346" r:id="rId56"/>
    <p:sldId id="361" r:id="rId57"/>
    <p:sldId id="348" r:id="rId58"/>
    <p:sldId id="332" r:id="rId59"/>
    <p:sldId id="312" r:id="rId60"/>
    <p:sldId id="293" r:id="rId61"/>
    <p:sldId id="298" r:id="rId62"/>
    <p:sldId id="299" r:id="rId63"/>
    <p:sldId id="297" r:id="rId64"/>
    <p:sldId id="295" r:id="rId65"/>
    <p:sldId id="296" r:id="rId66"/>
    <p:sldId id="352" r:id="rId67"/>
    <p:sldId id="349" r:id="rId68"/>
    <p:sldId id="338" r:id="rId69"/>
    <p:sldId id="353" r:id="rId70"/>
    <p:sldId id="305" r:id="rId71"/>
    <p:sldId id="292" r:id="rId72"/>
    <p:sldId id="306" r:id="rId73"/>
    <p:sldId id="307" r:id="rId74"/>
    <p:sldId id="308" r:id="rId75"/>
    <p:sldId id="309" r:id="rId76"/>
    <p:sldId id="314" r:id="rId77"/>
    <p:sldId id="831" r:id="rId78"/>
    <p:sldId id="836" r:id="rId79"/>
    <p:sldId id="837" r:id="rId80"/>
    <p:sldId id="334" r:id="rId81"/>
    <p:sldId id="335" r:id="rId82"/>
    <p:sldId id="339" r:id="rId83"/>
    <p:sldId id="340" r:id="rId84"/>
    <p:sldId id="342" r:id="rId85"/>
    <p:sldId id="350" r:id="rId86"/>
    <p:sldId id="351" r:id="rId87"/>
    <p:sldId id="343" r:id="rId8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DFF"/>
          </a:solidFill>
        </a:fill>
      </a:tcStyle>
    </a:wholeTbl>
    <a:band2H>
      <a:tcTxStyle/>
      <a:tcStyle>
        <a:tcBdr/>
        <a:fill>
          <a:solidFill>
            <a:srgbClr val="E6E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BDF"/>
          </a:solidFill>
        </a:fill>
      </a:tcStyle>
    </a:wholeTbl>
    <a:band2H>
      <a:tcTxStyle/>
      <a:tcStyle>
        <a:tcBdr/>
        <a:fill>
          <a:solidFill>
            <a:srgbClr val="EBE7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3FB"/>
          </a:solidFill>
        </a:fill>
      </a:tcStyle>
    </a:wholeTbl>
    <a:band2H>
      <a:tcTxStyle/>
      <a:tcStyle>
        <a:tcBdr/>
        <a:fill>
          <a:solidFill>
            <a:srgbClr val="E7F2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694"/>
  </p:normalViewPr>
  <p:slideViewPr>
    <p:cSldViewPr snapToGrid="0">
      <p:cViewPr varScale="1">
        <p:scale>
          <a:sx n="156" d="100"/>
          <a:sy n="156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7" name="Shape 5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7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6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r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itle Text"/>
          <p:cNvSpPr txBox="1">
            <a:spLocks noGrp="1"/>
          </p:cNvSpPr>
          <p:nvPr>
            <p:ph type="title"/>
          </p:nvPr>
        </p:nvSpPr>
        <p:spPr>
          <a:xfrm>
            <a:off x="225824" y="137160"/>
            <a:ext cx="7689601" cy="594000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3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4436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857250" cy="273844"/>
          </a:xfrm>
          <a:prstGeom prst="rect">
            <a:avLst/>
          </a:prstGeo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9" y="770208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20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/>
          <p:cNvSpPr txBox="1">
            <a:spLocks/>
          </p:cNvSpPr>
          <p:nvPr userDrawn="1"/>
        </p:nvSpPr>
        <p:spPr>
          <a:xfrm>
            <a:off x="8382000" y="4835129"/>
            <a:ext cx="6858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alpha val="99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32D78A-10B3-4DCD-84B7-9E85168884D1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74176" y="742950"/>
            <a:ext cx="8312624" cy="3886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2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1000" y="205978"/>
            <a:ext cx="8305800" cy="365522"/>
          </a:xfrm>
          <a:prstGeom prst="rect">
            <a:avLst/>
          </a:prstGeom>
        </p:spPr>
        <p:txBody>
          <a:bodyPr anchor="ctr"/>
          <a:lstStyle>
            <a:lvl1pPr algn="l">
              <a:defRPr sz="1650">
                <a:solidFill>
                  <a:srgbClr val="043170">
                    <a:alpha val="99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</p:spPr>
        <p:txBody>
          <a:bodyPr/>
          <a:lstStyle/>
          <a:p>
            <a:fld id="{690D8A1E-EA8F-46C1-B891-AE0C00D9C314}" type="datetime1">
              <a:rPr lang="en-US" smtClean="0"/>
              <a:t>6/10/26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6457950" y="4767264"/>
            <a:ext cx="857250" cy="273844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9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92430" y="3209544"/>
            <a:ext cx="8169901" cy="120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767262"/>
            <a:ext cx="2133600" cy="3098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>
            <a:spAutoFit/>
          </a:bodyPr>
          <a:lstStyle>
            <a:lvl1pPr algn="r">
              <a:defRPr sz="8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1pPr>
      <a:lvl2pPr marL="979169" marR="0" indent="-388619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2pPr>
      <a:lvl3pPr marL="15240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3pPr>
      <a:lvl4pPr marL="19812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4pPr>
      <a:lvl5pPr marL="24384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5pPr>
      <a:lvl6pPr marL="28956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6pPr>
      <a:lvl7pPr marL="33528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7pPr>
      <a:lvl8pPr marL="38100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8pPr>
      <a:lvl9pPr marL="4267200" marR="0" indent="-45720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FFFFFF"/>
        </a:buClr>
        <a:buSzPts val="1800"/>
        <a:buFont typeface="Helvetica"/>
        <a:buChar char="•"/>
        <a:tabLst/>
        <a:defRPr sz="1800" b="1" i="0" u="none" strike="noStrike" cap="none" spc="0" baseline="0">
          <a:solidFill>
            <a:srgbClr val="FFFFFF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831132"/>
            <a:ext cx="788670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857250" cy="273844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67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67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0" r:id="rId2"/>
  </p:sldLayoutIdLst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google.com/maps/place/Cleveland,+OH/@41.4951143,-81.8462865,11z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maps.googleapis.com/maps/api/staticmap?center=cleveland,+oh&amp;zoom=10&amp;size=640x640&amp;scale=2&amp;maptype=terrain&amp;key=AIzaSyCg5BhicmNdpk2Hg1dr0m-H3XPWjd0BtfU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maps.googleapis.com/maps/api/geocode/json?address=cleveland&amp;sensor=false&amp;key=AIzaSyCg5BhicmNdpk2Hg1dr0m-H3XPWjd0BtfU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5Rly83zfuI&amp;ab_channel=TheDailyShowwithTrevorNoah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api.org/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hyperlink" Target="https://gandalf.lakera.ai/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OBLITERATUS/Gemma-4-12B-OBLITERATED" TargetMode="Externa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-e-w/heretic" TargetMode="External"/><Relationship Id="rId4" Type="http://schemas.openxmlformats.org/officeDocument/2006/relationships/image" Target="../media/image5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oi.net/en/document/1045535.html" TargetMode="Externa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hyperlink" Target="https://lmstudio.ai/download" TargetMode="Externa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cobusgreyling.medium.com/contrastive-chain-of-thought-prompting-cc8c5b75a6e0" TargetMode="External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lmstudio-community/Qwen2.5-7B-Instruct-GGUF" TargetMode="External"/><Relationship Id="rId7" Type="http://schemas.openxmlformats.org/officeDocument/2006/relationships/image" Target="../media/image96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jpeg"/><Relationship Id="rId5" Type="http://schemas.openxmlformats.org/officeDocument/2006/relationships/image" Target="../media/image98.jpeg"/><Relationship Id="rId4" Type="http://schemas.openxmlformats.org/officeDocument/2006/relationships/hyperlink" Target="https://huggingface.co/bartowski/granite-3.1-1b-a400m-instruct-GGUF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17B8-2375-7BFD-D502-FF56E748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aboard the AI Hype Train!</a:t>
            </a:r>
          </a:p>
        </p:txBody>
      </p:sp>
      <p:pic>
        <p:nvPicPr>
          <p:cNvPr id="2050" name="Picture 2" descr="What's New in Artificial Intelligence From the 2023 Gartner Hype Cycle™">
            <a:extLst>
              <a:ext uri="{FF2B5EF4-FFF2-40B4-BE49-F238E27FC236}">
                <a16:creationId xmlns:a16="http://schemas.microsoft.com/office/drawing/2014/main" id="{2AB73A4A-C584-3061-51AC-12B60BA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98662" y="1087393"/>
            <a:ext cx="3889757" cy="357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C1062A-AB04-5D6C-E63F-6561F8180E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489" y="1087392"/>
            <a:ext cx="3591045" cy="357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4386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4FD4-7780-F7BA-0B47-8E00850E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" y="1977749"/>
            <a:ext cx="3423538" cy="1037299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Get off my lawn!</a:t>
            </a:r>
            <a:br>
              <a:rPr lang="en-US" sz="4000" dirty="0"/>
            </a:br>
            <a:r>
              <a:rPr lang="en-US" sz="2200" dirty="0"/>
              <a:t>AI is just pattern recognition.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51CFC-B25D-2541-20D9-905BB59D6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186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71F2-6040-92F0-9FC0-176CAE45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with AI/ML VS. Calculations</a:t>
            </a:r>
          </a:p>
        </p:txBody>
      </p:sp>
      <p:sp>
        <p:nvSpPr>
          <p:cNvPr id="3" name="Google Shape;1123;p138">
            <a:extLst>
              <a:ext uri="{FF2B5EF4-FFF2-40B4-BE49-F238E27FC236}">
                <a16:creationId xmlns:a16="http://schemas.microsoft.com/office/drawing/2014/main" id="{D7AD5283-E0A5-A8F3-FB72-E082C2AF49DB}"/>
              </a:ext>
            </a:extLst>
          </p:cNvPr>
          <p:cNvSpPr/>
          <p:nvPr/>
        </p:nvSpPr>
        <p:spPr>
          <a:xfrm>
            <a:off x="285749" y="881508"/>
            <a:ext cx="3781501" cy="1"/>
          </a:xfrm>
          <a:prstGeom prst="line">
            <a:avLst/>
          </a:prstGeom>
          <a:ln>
            <a:solidFill>
              <a:srgbClr val="FF5600"/>
            </a:solidFill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6" name="Google Shape;1124;p138">
            <a:extLst>
              <a:ext uri="{FF2B5EF4-FFF2-40B4-BE49-F238E27FC236}">
                <a16:creationId xmlns:a16="http://schemas.microsoft.com/office/drawing/2014/main" id="{DC7DBD5C-7DCF-1F93-56B4-1938EB13F5C1}"/>
              </a:ext>
            </a:extLst>
          </p:cNvPr>
          <p:cNvGrpSpPr/>
          <p:nvPr/>
        </p:nvGrpSpPr>
        <p:grpSpPr>
          <a:xfrm>
            <a:off x="1544699" y="734208"/>
            <a:ext cx="1263601" cy="294601"/>
            <a:chOff x="0" y="0"/>
            <a:chExt cx="1263600" cy="294599"/>
          </a:xfrm>
        </p:grpSpPr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92870583-22BF-6EB6-E2D9-915A982F6D11}"/>
                </a:ext>
              </a:extLst>
            </p:cNvPr>
            <p:cNvSpPr/>
            <p:nvPr/>
          </p:nvSpPr>
          <p:spPr>
            <a:xfrm>
              <a:off x="0" y="61949"/>
              <a:ext cx="1263601" cy="170701"/>
            </a:xfrm>
            <a:prstGeom prst="rect">
              <a:avLst/>
            </a:prstGeom>
            <a:solidFill>
              <a:srgbClr val="0A0A0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 b="1">
                  <a:solidFill>
                    <a:srgbClr val="FF5600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8" name="Deterministic">
              <a:extLst>
                <a:ext uri="{FF2B5EF4-FFF2-40B4-BE49-F238E27FC236}">
                  <a16:creationId xmlns:a16="http://schemas.microsoft.com/office/drawing/2014/main" id="{3C0F8FA6-4914-DEF2-875A-C37E22CE5BC0}"/>
                </a:ext>
              </a:extLst>
            </p:cNvPr>
            <p:cNvSpPr txBox="1"/>
            <p:nvPr/>
          </p:nvSpPr>
          <p:spPr>
            <a:xfrm>
              <a:off x="0" y="0"/>
              <a:ext cx="1263601" cy="294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300" b="1">
                  <a:solidFill>
                    <a:srgbClr val="FF5600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r>
                <a:t>Deterministic</a:t>
              </a:r>
            </a:p>
          </p:txBody>
        </p:sp>
      </p:grpSp>
      <p:sp>
        <p:nvSpPr>
          <p:cNvPr id="9" name="Google Shape;1125;p138">
            <a:extLst>
              <a:ext uri="{FF2B5EF4-FFF2-40B4-BE49-F238E27FC236}">
                <a16:creationId xmlns:a16="http://schemas.microsoft.com/office/drawing/2014/main" id="{C79675DB-8B88-70A6-5E02-131029867321}"/>
              </a:ext>
            </a:extLst>
          </p:cNvPr>
          <p:cNvSpPr/>
          <p:nvPr/>
        </p:nvSpPr>
        <p:spPr>
          <a:xfrm>
            <a:off x="5092105" y="881508"/>
            <a:ext cx="3819601" cy="1"/>
          </a:xfrm>
          <a:prstGeom prst="line">
            <a:avLst/>
          </a:prstGeom>
          <a:ln>
            <a:solidFill>
              <a:srgbClr val="2D8FE2"/>
            </a:solidFill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" name="Google Shape;1126;p138">
            <a:extLst>
              <a:ext uri="{FF2B5EF4-FFF2-40B4-BE49-F238E27FC236}">
                <a16:creationId xmlns:a16="http://schemas.microsoft.com/office/drawing/2014/main" id="{4739F1E5-3E3F-2ED6-A2E8-5DEA0229E285}"/>
              </a:ext>
            </a:extLst>
          </p:cNvPr>
          <p:cNvGrpSpPr/>
          <p:nvPr/>
        </p:nvGrpSpPr>
        <p:grpSpPr>
          <a:xfrm>
            <a:off x="6231224" y="688482"/>
            <a:ext cx="1215301" cy="386051"/>
            <a:chOff x="0" y="0"/>
            <a:chExt cx="1215300" cy="386049"/>
          </a:xfrm>
        </p:grpSpPr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2F2F712-0BBA-FDB2-B8A5-BF9365DE8991}"/>
                </a:ext>
              </a:extLst>
            </p:cNvPr>
            <p:cNvSpPr/>
            <p:nvPr/>
          </p:nvSpPr>
          <p:spPr>
            <a:xfrm>
              <a:off x="0" y="107674"/>
              <a:ext cx="1215301" cy="170701"/>
            </a:xfrm>
            <a:prstGeom prst="rect">
              <a:avLst/>
            </a:prstGeom>
            <a:solidFill>
              <a:srgbClr val="0A0A0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12" name="Probabilistic">
              <a:extLst>
                <a:ext uri="{FF2B5EF4-FFF2-40B4-BE49-F238E27FC236}">
                  <a16:creationId xmlns:a16="http://schemas.microsoft.com/office/drawing/2014/main" id="{A707185F-7E4D-FBB2-2604-7C474FF4116A}"/>
                </a:ext>
              </a:extLst>
            </p:cNvPr>
            <p:cNvSpPr txBox="1"/>
            <p:nvPr/>
          </p:nvSpPr>
          <p:spPr>
            <a:xfrm>
              <a:off x="0" y="0"/>
              <a:ext cx="1215301" cy="386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r>
                <a:rPr dirty="0"/>
                <a:t>Probabilistic</a:t>
              </a:r>
            </a:p>
          </p:txBody>
        </p:sp>
      </p:grpSp>
      <p:sp>
        <p:nvSpPr>
          <p:cNvPr id="13" name="Google Shape;1127;p138">
            <a:extLst>
              <a:ext uri="{FF2B5EF4-FFF2-40B4-BE49-F238E27FC236}">
                <a16:creationId xmlns:a16="http://schemas.microsoft.com/office/drawing/2014/main" id="{6D8E574F-5122-6E02-A988-B12A876FFFEA}"/>
              </a:ext>
            </a:extLst>
          </p:cNvPr>
          <p:cNvSpPr txBox="1"/>
          <p:nvPr/>
        </p:nvSpPr>
        <p:spPr>
          <a:xfrm>
            <a:off x="285750" y="925259"/>
            <a:ext cx="3763500" cy="553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sz="2400">
                <a:solidFill>
                  <a:srgbClr val="FE5E22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2 + 2 = 4</a:t>
            </a:r>
          </a:p>
        </p:txBody>
      </p:sp>
      <p:sp>
        <p:nvSpPr>
          <p:cNvPr id="14" name="Google Shape;1128;p138">
            <a:extLst>
              <a:ext uri="{FF2B5EF4-FFF2-40B4-BE49-F238E27FC236}">
                <a16:creationId xmlns:a16="http://schemas.microsoft.com/office/drawing/2014/main" id="{C03B4EED-D6BF-68CC-2922-6D2BF53E80BC}"/>
              </a:ext>
            </a:extLst>
          </p:cNvPr>
          <p:cNvSpPr txBox="1"/>
          <p:nvPr/>
        </p:nvSpPr>
        <p:spPr>
          <a:xfrm>
            <a:off x="5092105" y="882731"/>
            <a:ext cx="3819600" cy="830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/>
          <a:p>
            <a:pPr algn="ctr">
              <a:defRPr sz="2100">
                <a:solidFill>
                  <a:srgbClr val="00A4E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dirty="0"/>
              <a:t>2 + 2 = </a:t>
            </a:r>
          </a:p>
          <a:p>
            <a:pPr algn="ctr">
              <a:defRPr sz="2100">
                <a:solidFill>
                  <a:srgbClr val="00A4E4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rPr sz="1200" dirty="0"/>
              <a:t>99.99% Probability of </a:t>
            </a:r>
            <a:r>
              <a:rPr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C4A91-4E6D-35F4-4563-695F66BD156E}"/>
              </a:ext>
            </a:extLst>
          </p:cNvPr>
          <p:cNvSpPr txBox="1"/>
          <p:nvPr/>
        </p:nvSpPr>
        <p:spPr>
          <a:xfrm>
            <a:off x="5022185" y="3758340"/>
            <a:ext cx="3819600" cy="12311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Machine Learning and generative AI – decision trees, random forests, neural networks, LLMs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Same in</a:t>
            </a: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put may produce difference output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Failure modes are statistical.  Evaluation is quality control not unit tests.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You </a:t>
            </a: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debug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by reading the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F10DCB-E3F6-635B-8FD0-09BE5F921613}"/>
              </a:ext>
            </a:extLst>
          </p:cNvPr>
          <p:cNvSpPr txBox="1"/>
          <p:nvPr/>
        </p:nvSpPr>
        <p:spPr>
          <a:xfrm>
            <a:off x="302215" y="3952057"/>
            <a:ext cx="3948288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Calculators &amp; “rule” based engines.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Same input always produces the </a:t>
            </a: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same output.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Bugs are reproducible.  Tests are deterministic.  </a:t>
            </a: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Audit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is straightforward.</a:t>
            </a:r>
          </a:p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Engineers debug by reading the code.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1">
                  <a:lumMod val="10000"/>
                  <a:lumOff val="90000"/>
                </a:schemeClr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46E90-4DEE-F488-040C-9452066C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61" y="1621317"/>
            <a:ext cx="2011680" cy="2011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4D8B0E-3714-E0AB-ABCE-DDF2A723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060" y="1621317"/>
            <a:ext cx="201168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419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AAD8A6-BC9A-C442-3C01-5B086FA1EF1E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 flipV="1">
            <a:off x="1244600" y="1671796"/>
            <a:ext cx="1782047" cy="1377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213DE0-EDA8-2E80-5203-E4CF5A465034}"/>
              </a:ext>
            </a:extLst>
          </p:cNvPr>
          <p:cNvCxnSpPr/>
          <p:nvPr/>
        </p:nvCxnSpPr>
        <p:spPr>
          <a:xfrm flipV="1">
            <a:off x="1262168" y="2297859"/>
            <a:ext cx="1782047" cy="1377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0B8AFC-EDCF-DECC-03C7-B173A974098F}"/>
              </a:ext>
            </a:extLst>
          </p:cNvPr>
          <p:cNvCxnSpPr/>
          <p:nvPr/>
        </p:nvCxnSpPr>
        <p:spPr>
          <a:xfrm flipV="1">
            <a:off x="1262168" y="2899923"/>
            <a:ext cx="1782047" cy="1377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0771F2-6040-92F0-9FC0-176CAE45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Generative AI is just a pattern recognition.</a:t>
            </a:r>
          </a:p>
        </p:txBody>
      </p:sp>
      <p:sp>
        <p:nvSpPr>
          <p:cNvPr id="9" name="Google Shape;1125;p138">
            <a:extLst>
              <a:ext uri="{FF2B5EF4-FFF2-40B4-BE49-F238E27FC236}">
                <a16:creationId xmlns:a16="http://schemas.microsoft.com/office/drawing/2014/main" id="{C79675DB-8B88-70A6-5E02-131029867321}"/>
              </a:ext>
            </a:extLst>
          </p:cNvPr>
          <p:cNvSpPr/>
          <p:nvPr/>
        </p:nvSpPr>
        <p:spPr>
          <a:xfrm>
            <a:off x="225824" y="1177442"/>
            <a:ext cx="3819601" cy="1"/>
          </a:xfrm>
          <a:prstGeom prst="line">
            <a:avLst/>
          </a:prstGeom>
          <a:ln>
            <a:solidFill>
              <a:srgbClr val="2D8FE2"/>
            </a:solidFill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" name="Google Shape;1126;p138">
            <a:extLst>
              <a:ext uri="{FF2B5EF4-FFF2-40B4-BE49-F238E27FC236}">
                <a16:creationId xmlns:a16="http://schemas.microsoft.com/office/drawing/2014/main" id="{4739F1E5-3E3F-2ED6-A2E8-5DEA0229E285}"/>
              </a:ext>
            </a:extLst>
          </p:cNvPr>
          <p:cNvGrpSpPr/>
          <p:nvPr/>
        </p:nvGrpSpPr>
        <p:grpSpPr>
          <a:xfrm>
            <a:off x="1527974" y="984417"/>
            <a:ext cx="1215301" cy="386051"/>
            <a:chOff x="0" y="0"/>
            <a:chExt cx="1215300" cy="386049"/>
          </a:xfrm>
        </p:grpSpPr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2F2F712-0BBA-FDB2-B8A5-BF9365DE8991}"/>
                </a:ext>
              </a:extLst>
            </p:cNvPr>
            <p:cNvSpPr/>
            <p:nvPr/>
          </p:nvSpPr>
          <p:spPr>
            <a:xfrm>
              <a:off x="0" y="107674"/>
              <a:ext cx="1215301" cy="170701"/>
            </a:xfrm>
            <a:prstGeom prst="rect">
              <a:avLst/>
            </a:prstGeom>
            <a:solidFill>
              <a:srgbClr val="0A0A0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12" name="Probabilistic">
              <a:extLst>
                <a:ext uri="{FF2B5EF4-FFF2-40B4-BE49-F238E27FC236}">
                  <a16:creationId xmlns:a16="http://schemas.microsoft.com/office/drawing/2014/main" id="{A707185F-7E4D-FBB2-2604-7C474FF4116A}"/>
                </a:ext>
              </a:extLst>
            </p:cNvPr>
            <p:cNvSpPr txBox="1"/>
            <p:nvPr/>
          </p:nvSpPr>
          <p:spPr>
            <a:xfrm>
              <a:off x="0" y="0"/>
              <a:ext cx="1215301" cy="386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r>
                <a:rPr lang="en-US" dirty="0"/>
                <a:t>ML</a:t>
              </a:r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BC4A91-4E6D-35F4-4563-695F66BD156E}"/>
              </a:ext>
            </a:extLst>
          </p:cNvPr>
          <p:cNvSpPr txBox="1"/>
          <p:nvPr/>
        </p:nvSpPr>
        <p:spPr>
          <a:xfrm>
            <a:off x="68359" y="4539962"/>
            <a:ext cx="38195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data, very narrow focused pattern recognition.</a:t>
            </a:r>
          </a:p>
        </p:txBody>
      </p:sp>
      <p:sp>
        <p:nvSpPr>
          <p:cNvPr id="4" name="Google Shape;1125;p138">
            <a:extLst>
              <a:ext uri="{FF2B5EF4-FFF2-40B4-BE49-F238E27FC236}">
                <a16:creationId xmlns:a16="http://schemas.microsoft.com/office/drawing/2014/main" id="{3E9931A1-097E-9B3F-7053-90B0AFA5B7D6}"/>
              </a:ext>
            </a:extLst>
          </p:cNvPr>
          <p:cNvSpPr/>
          <p:nvPr/>
        </p:nvSpPr>
        <p:spPr>
          <a:xfrm>
            <a:off x="4780890" y="1177441"/>
            <a:ext cx="3819601" cy="1"/>
          </a:xfrm>
          <a:prstGeom prst="line">
            <a:avLst/>
          </a:prstGeom>
          <a:ln>
            <a:solidFill>
              <a:srgbClr val="FF40FF"/>
            </a:solidFill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" name="Google Shape;1126;p138">
            <a:extLst>
              <a:ext uri="{FF2B5EF4-FFF2-40B4-BE49-F238E27FC236}">
                <a16:creationId xmlns:a16="http://schemas.microsoft.com/office/drawing/2014/main" id="{341A6C65-B47E-0A4E-1845-16929C466221}"/>
              </a:ext>
            </a:extLst>
          </p:cNvPr>
          <p:cNvGrpSpPr/>
          <p:nvPr/>
        </p:nvGrpSpPr>
        <p:grpSpPr>
          <a:xfrm>
            <a:off x="6083040" y="885071"/>
            <a:ext cx="1215302" cy="584743"/>
            <a:chOff x="0" y="-99344"/>
            <a:chExt cx="1215301" cy="584740"/>
          </a:xfrm>
        </p:grpSpPr>
        <p:sp>
          <p:nvSpPr>
            <p:cNvPr id="17" name="Rectangle">
              <a:extLst>
                <a:ext uri="{FF2B5EF4-FFF2-40B4-BE49-F238E27FC236}">
                  <a16:creationId xmlns:a16="http://schemas.microsoft.com/office/drawing/2014/main" id="{E23854DB-E95B-FAE4-AF1C-EAAA9CCCCCAF}"/>
                </a:ext>
              </a:extLst>
            </p:cNvPr>
            <p:cNvSpPr/>
            <p:nvPr/>
          </p:nvSpPr>
          <p:spPr>
            <a:xfrm>
              <a:off x="0" y="107674"/>
              <a:ext cx="1215301" cy="170701"/>
            </a:xfrm>
            <a:prstGeom prst="rect">
              <a:avLst/>
            </a:prstGeom>
            <a:solidFill>
              <a:srgbClr val="0A0A0C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18" name="Probabilistic">
              <a:extLst>
                <a:ext uri="{FF2B5EF4-FFF2-40B4-BE49-F238E27FC236}">
                  <a16:creationId xmlns:a16="http://schemas.microsoft.com/office/drawing/2014/main" id="{6D60F607-AA80-1234-D946-5532044B1A99}"/>
                </a:ext>
              </a:extLst>
            </p:cNvPr>
            <p:cNvSpPr txBox="1"/>
            <p:nvPr/>
          </p:nvSpPr>
          <p:spPr>
            <a:xfrm>
              <a:off x="0" y="-99344"/>
              <a:ext cx="1215301" cy="584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 sz="1300" b="1">
                  <a:solidFill>
                    <a:srgbClr val="00A4E4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</a:lstStyle>
            <a:p>
              <a:r>
                <a:rPr lang="en-US" dirty="0">
                  <a:solidFill>
                    <a:srgbClr val="FF40FF"/>
                  </a:solidFill>
                </a:rPr>
                <a:t>Foundation Model</a:t>
              </a:r>
              <a:endParaRPr dirty="0">
                <a:solidFill>
                  <a:srgbClr val="FF40FF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ABB8731-2D50-EE5F-5B99-BAFFA440EBCA}"/>
              </a:ext>
            </a:extLst>
          </p:cNvPr>
          <p:cNvSpPr/>
          <p:nvPr/>
        </p:nvSpPr>
        <p:spPr>
          <a:xfrm>
            <a:off x="225825" y="2747683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DB624-77D8-AE35-8D36-FC0476BA85E9}"/>
              </a:ext>
            </a:extLst>
          </p:cNvPr>
          <p:cNvSpPr/>
          <p:nvPr/>
        </p:nvSpPr>
        <p:spPr>
          <a:xfrm>
            <a:off x="225825" y="2162901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07BF0-3E4D-0BAE-1D32-E97B73EA60DB}"/>
              </a:ext>
            </a:extLst>
          </p:cNvPr>
          <p:cNvSpPr/>
          <p:nvPr/>
        </p:nvSpPr>
        <p:spPr>
          <a:xfrm>
            <a:off x="225824" y="1547067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D67079-F5EF-2766-A3DF-F7FD42BC04AB}"/>
              </a:ext>
            </a:extLst>
          </p:cNvPr>
          <p:cNvSpPr/>
          <p:nvPr/>
        </p:nvSpPr>
        <p:spPr>
          <a:xfrm>
            <a:off x="1626236" y="1547066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3494D3-4476-3E82-92C1-8565AE341A04}"/>
              </a:ext>
            </a:extLst>
          </p:cNvPr>
          <p:cNvSpPr/>
          <p:nvPr/>
        </p:nvSpPr>
        <p:spPr>
          <a:xfrm>
            <a:off x="1626236" y="2162900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176FA4-D292-922E-CCF8-6AD8CE9E9E70}"/>
              </a:ext>
            </a:extLst>
          </p:cNvPr>
          <p:cNvSpPr/>
          <p:nvPr/>
        </p:nvSpPr>
        <p:spPr>
          <a:xfrm>
            <a:off x="1626236" y="2758676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6B8EE3-35B8-9C7A-C67D-5F635F0B162C}"/>
              </a:ext>
            </a:extLst>
          </p:cNvPr>
          <p:cNvSpPr/>
          <p:nvPr/>
        </p:nvSpPr>
        <p:spPr>
          <a:xfrm>
            <a:off x="3026647" y="1440964"/>
            <a:ext cx="1018776" cy="461663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Sentiment Analysis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ED452B-9F99-BA26-7E60-A7B72B3F3F25}"/>
              </a:ext>
            </a:extLst>
          </p:cNvPr>
          <p:cNvSpPr/>
          <p:nvPr/>
        </p:nvSpPr>
        <p:spPr>
          <a:xfrm>
            <a:off x="3026647" y="2056798"/>
            <a:ext cx="1018776" cy="461663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Customer Propensity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D6E944-D72C-0108-3AF4-89084214460E}"/>
              </a:ext>
            </a:extLst>
          </p:cNvPr>
          <p:cNvSpPr/>
          <p:nvPr/>
        </p:nvSpPr>
        <p:spPr>
          <a:xfrm>
            <a:off x="3026647" y="2744907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…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F2A5E3-77B4-9636-DCE0-ECF8DF90B301}"/>
              </a:ext>
            </a:extLst>
          </p:cNvPr>
          <p:cNvSpPr/>
          <p:nvPr/>
        </p:nvSpPr>
        <p:spPr>
          <a:xfrm>
            <a:off x="4780890" y="1489025"/>
            <a:ext cx="1018777" cy="2539301"/>
          </a:xfrm>
          <a:prstGeom prst="rect">
            <a:avLst/>
          </a:prstGeom>
          <a:solidFill>
            <a:srgbClr val="FF40FF"/>
          </a:solidFill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49E6A7-4D6E-C567-1528-D6D7C8DD1122}"/>
              </a:ext>
            </a:extLst>
          </p:cNvPr>
          <p:cNvSpPr/>
          <p:nvPr/>
        </p:nvSpPr>
        <p:spPr>
          <a:xfrm>
            <a:off x="4782421" y="2544083"/>
            <a:ext cx="1018776" cy="461663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Unlabeled Data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FE72B7-43CB-C387-FB65-F3EFE5F01B85}"/>
              </a:ext>
            </a:extLst>
          </p:cNvPr>
          <p:cNvSpPr/>
          <p:nvPr/>
        </p:nvSpPr>
        <p:spPr>
          <a:xfrm>
            <a:off x="7513907" y="1319719"/>
            <a:ext cx="1018776" cy="461663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Sentiment Analysis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F7A428-53CF-3C07-68F4-FDCF17EC532B}"/>
              </a:ext>
            </a:extLst>
          </p:cNvPr>
          <p:cNvSpPr/>
          <p:nvPr/>
        </p:nvSpPr>
        <p:spPr>
          <a:xfrm>
            <a:off x="7513907" y="1943864"/>
            <a:ext cx="1018776" cy="461663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Customer Propensity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05A405-2A35-3BBE-CC60-3B7970673980}"/>
              </a:ext>
            </a:extLst>
          </p:cNvPr>
          <p:cNvSpPr/>
          <p:nvPr/>
        </p:nvSpPr>
        <p:spPr>
          <a:xfrm>
            <a:off x="7513907" y="2620175"/>
            <a:ext cx="1018776" cy="276997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…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E8DD71-5910-EB93-611D-1EE56228E348}"/>
              </a:ext>
            </a:extLst>
          </p:cNvPr>
          <p:cNvSpPr/>
          <p:nvPr/>
        </p:nvSpPr>
        <p:spPr>
          <a:xfrm>
            <a:off x="7520731" y="3344375"/>
            <a:ext cx="1018776" cy="461663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Named Entity Recognition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858B7E-8E38-F376-45DE-634C6C5BCD82}"/>
              </a:ext>
            </a:extLst>
          </p:cNvPr>
          <p:cNvSpPr/>
          <p:nvPr/>
        </p:nvSpPr>
        <p:spPr>
          <a:xfrm>
            <a:off x="7520731" y="4030399"/>
            <a:ext cx="1018776" cy="253914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50" dirty="0"/>
              <a:t>Summarization</a:t>
            </a:r>
            <a:endParaRPr kumimoji="0" lang="en-US" sz="105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A8B2DF3-0B70-AA19-E8F4-38754C722D43}"/>
              </a:ext>
            </a:extLst>
          </p:cNvPr>
          <p:cNvCxnSpPr>
            <a:stCxn id="37" idx="3"/>
            <a:endCxn id="49" idx="1"/>
          </p:cNvCxnSpPr>
          <p:nvPr/>
        </p:nvCxnSpPr>
        <p:spPr>
          <a:xfrm flipV="1">
            <a:off x="5799667" y="2758675"/>
            <a:ext cx="414866" cy="1"/>
          </a:xfrm>
          <a:prstGeom prst="straightConnector1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92E04B64-6917-DB7D-9764-73896035B569}"/>
              </a:ext>
            </a:extLst>
          </p:cNvPr>
          <p:cNvCxnSpPr>
            <a:stCxn id="49" idx="0"/>
            <a:endCxn id="44" idx="1"/>
          </p:cNvCxnSpPr>
          <p:nvPr/>
        </p:nvCxnSpPr>
        <p:spPr>
          <a:xfrm rot="5400000" flipH="1" flipV="1">
            <a:off x="6883925" y="1928639"/>
            <a:ext cx="383925" cy="876040"/>
          </a:xfrm>
          <a:prstGeom prst="bentConnector2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0870872C-4543-6D9E-6154-759BF481FF6C}"/>
              </a:ext>
            </a:extLst>
          </p:cNvPr>
          <p:cNvCxnSpPr>
            <a:cxnSpLocks/>
            <a:stCxn id="49" idx="0"/>
            <a:endCxn id="43" idx="1"/>
          </p:cNvCxnSpPr>
          <p:nvPr/>
        </p:nvCxnSpPr>
        <p:spPr>
          <a:xfrm rot="5400000" flipH="1" flipV="1">
            <a:off x="6571852" y="1616566"/>
            <a:ext cx="1008070" cy="876040"/>
          </a:xfrm>
          <a:prstGeom prst="bentConnector2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B7D2C1F-6A16-54C7-EBE7-923CD6CC78FB}"/>
              </a:ext>
            </a:extLst>
          </p:cNvPr>
          <p:cNvCxnSpPr>
            <a:cxnSpLocks/>
            <a:stCxn id="49" idx="2"/>
            <a:endCxn id="46" idx="1"/>
          </p:cNvCxnSpPr>
          <p:nvPr/>
        </p:nvCxnSpPr>
        <p:spPr>
          <a:xfrm rot="16200000" flipH="1">
            <a:off x="6771060" y="2825536"/>
            <a:ext cx="616478" cy="882864"/>
          </a:xfrm>
          <a:prstGeom prst="bentConnector2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8ECAA70C-0D98-88B2-A323-DD53E7B33012}"/>
              </a:ext>
            </a:extLst>
          </p:cNvPr>
          <p:cNvCxnSpPr>
            <a:cxnSpLocks/>
            <a:stCxn id="49" idx="2"/>
            <a:endCxn id="47" idx="1"/>
          </p:cNvCxnSpPr>
          <p:nvPr/>
        </p:nvCxnSpPr>
        <p:spPr>
          <a:xfrm rot="16200000" flipH="1">
            <a:off x="6479986" y="3116610"/>
            <a:ext cx="1198627" cy="882864"/>
          </a:xfrm>
          <a:prstGeom prst="bentConnector2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8ED6615-799F-5986-4913-EA00FEFC9A0D}"/>
              </a:ext>
            </a:extLst>
          </p:cNvPr>
          <p:cNvCxnSpPr>
            <a:cxnSpLocks/>
            <a:stCxn id="49" idx="3"/>
            <a:endCxn id="45" idx="1"/>
          </p:cNvCxnSpPr>
          <p:nvPr/>
        </p:nvCxnSpPr>
        <p:spPr>
          <a:xfrm flipV="1">
            <a:off x="7061200" y="2758674"/>
            <a:ext cx="452707" cy="1"/>
          </a:xfrm>
          <a:prstGeom prst="straightConnector1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54B5EF6-72C1-1690-D796-588785E2662A}"/>
              </a:ext>
            </a:extLst>
          </p:cNvPr>
          <p:cNvSpPr txBox="1"/>
          <p:nvPr/>
        </p:nvSpPr>
        <p:spPr>
          <a:xfrm>
            <a:off x="4971514" y="4539962"/>
            <a:ext cx="38195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Unlabeled data, patterns for multiple uses, less narrowly focused.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8A2833-AA78-DFD6-4295-C01CB98FF0F1}"/>
              </a:ext>
            </a:extLst>
          </p:cNvPr>
          <p:cNvSpPr/>
          <p:nvPr/>
        </p:nvSpPr>
        <p:spPr>
          <a:xfrm>
            <a:off x="6214533" y="2558621"/>
            <a:ext cx="846667" cy="400108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159349121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71F2-6040-92F0-9FC0-176CAE45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Generative AI is just a pattern recognition.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92DA5-76EF-EF89-B7D3-6C88494C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1568450"/>
            <a:ext cx="4241800" cy="200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D49653-AE39-4453-12C9-60C6AAD9A1BA}"/>
              </a:ext>
            </a:extLst>
          </p:cNvPr>
          <p:cNvSpPr txBox="1"/>
          <p:nvPr/>
        </p:nvSpPr>
        <p:spPr>
          <a:xfrm>
            <a:off x="2888187" y="4412340"/>
            <a:ext cx="323582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Generative AI is a form of compression.</a:t>
            </a:r>
          </a:p>
        </p:txBody>
      </p:sp>
    </p:spTree>
    <p:extLst>
      <p:ext uri="{BB962C8B-B14F-4D97-AF65-F5344CB8AC3E}">
        <p14:creationId xmlns:p14="http://schemas.microsoft.com/office/powerpoint/2010/main" val="15411832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744A-0801-CBA0-3200-32037D22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2T tokens in &gt; 208B parameters &gt;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A483B-31D6-52A1-EACA-F1BF27F9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1568450"/>
            <a:ext cx="4241800" cy="2006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738591-5482-9299-E30D-FE03D2294721}"/>
              </a:ext>
            </a:extLst>
          </p:cNvPr>
          <p:cNvSpPr txBox="1"/>
          <p:nvPr/>
        </p:nvSpPr>
        <p:spPr>
          <a:xfrm>
            <a:off x="3156068" y="4412340"/>
            <a:ext cx="2831863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Specifically it’s lossy compression.</a:t>
            </a:r>
          </a:p>
        </p:txBody>
      </p:sp>
    </p:spTree>
    <p:extLst>
      <p:ext uri="{BB962C8B-B14F-4D97-AF65-F5344CB8AC3E}">
        <p14:creationId xmlns:p14="http://schemas.microsoft.com/office/powerpoint/2010/main" val="768824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995-6A55-853F-7660-AF772BF5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456857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Nets [in this context] are used to compress information.</a:t>
            </a:r>
          </a:p>
        </p:txBody>
      </p:sp>
      <p:pic>
        <p:nvPicPr>
          <p:cNvPr id="3074" name="Picture 2" descr="Training Deep Neural Networks. Deep Learning Accessories | by Ravindra  Parmar | Towards Data Science">
            <a:extLst>
              <a:ext uri="{FF2B5EF4-FFF2-40B4-BE49-F238E27FC236}">
                <a16:creationId xmlns:a16="http://schemas.microsoft.com/office/drawing/2014/main" id="{E2B9A8DB-8182-BB4D-4CAD-CC6340830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31160"/>
            <a:ext cx="9144000" cy="40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49954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2156-6566-3EBC-3BCE-A0D2EBED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come in 2 flavors “open” and “closed” weights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3C372-9234-709B-E3A2-D5F0420FEAE0}"/>
              </a:ext>
            </a:extLst>
          </p:cNvPr>
          <p:cNvSpPr/>
          <p:nvPr/>
        </p:nvSpPr>
        <p:spPr>
          <a:xfrm>
            <a:off x="498021" y="1191986"/>
            <a:ext cx="3731079" cy="335552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AA6B56-D064-69EB-9F2C-544D71694783}"/>
              </a:ext>
            </a:extLst>
          </p:cNvPr>
          <p:cNvSpPr/>
          <p:nvPr/>
        </p:nvSpPr>
        <p:spPr>
          <a:xfrm>
            <a:off x="4914900" y="1191986"/>
            <a:ext cx="3731079" cy="3355521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4F2DD-259E-8B7B-389B-8CEA1B675703}"/>
              </a:ext>
            </a:extLst>
          </p:cNvPr>
          <p:cNvSpPr txBox="1"/>
          <p:nvPr/>
        </p:nvSpPr>
        <p:spPr>
          <a:xfrm>
            <a:off x="791936" y="1396093"/>
            <a:ext cx="284117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Frontier Models “Closed”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4E9B3-AC99-1E1F-EBC1-EA84A313F6EB}"/>
              </a:ext>
            </a:extLst>
          </p:cNvPr>
          <p:cNvSpPr txBox="1"/>
          <p:nvPr/>
        </p:nvSpPr>
        <p:spPr>
          <a:xfrm>
            <a:off x="791935" y="1999092"/>
            <a:ext cx="2841171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Hosted only, top-tier capability, premium price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Claude Opus</a:t>
            </a:r>
            <a:r>
              <a:rPr lang="en-US" dirty="0"/>
              <a:t>/Fable (Anthropic)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GPT 5.5 (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openAI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Grok 4.1 (</a:t>
            </a:r>
            <a:r>
              <a:rPr lang="en-US" dirty="0" err="1"/>
              <a:t>xAI</a:t>
            </a:r>
            <a:r>
              <a:rPr lang="en-US" dirty="0"/>
              <a:t>)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03265-E3E0-721F-FF37-28AE64F96316}"/>
              </a:ext>
            </a:extLst>
          </p:cNvPr>
          <p:cNvSpPr txBox="1"/>
          <p:nvPr/>
        </p:nvSpPr>
        <p:spPr>
          <a:xfrm>
            <a:off x="5074254" y="1396092"/>
            <a:ext cx="284117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Lagging Frontier Models “Open”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62A82-B525-649C-C1C0-9B52AEE1E694}"/>
              </a:ext>
            </a:extLst>
          </p:cNvPr>
          <p:cNvSpPr txBox="1"/>
          <p:nvPr/>
        </p:nvSpPr>
        <p:spPr>
          <a:xfrm>
            <a:off x="5074254" y="1986975"/>
            <a:ext cx="3277811" cy="1815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Deployable on your own hardware, capability rising, cost dropping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Llama 4 Maverick (Meta)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DeepSeek V3.2 – 90% price drop in one month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Mistral Large 3</a:t>
            </a:r>
            <a:r>
              <a:rPr lang="en-US" dirty="0"/>
              <a:t>, Qwen 3.7 Max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GPT-OSS-120B/20B – OpenAI’s first open weight model since GPT-2</a:t>
            </a:r>
          </a:p>
        </p:txBody>
      </p:sp>
    </p:spTree>
    <p:extLst>
      <p:ext uri="{BB962C8B-B14F-4D97-AF65-F5344CB8AC3E}">
        <p14:creationId xmlns:p14="http://schemas.microsoft.com/office/powerpoint/2010/main" val="8961666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F162-C5DB-B0F2-DF50-6BB9F07A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481571" cy="28738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 we mean by Model Weight?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57051-E5F5-0593-BE7B-78E36379622D}"/>
              </a:ext>
            </a:extLst>
          </p:cNvPr>
          <p:cNvSpPr txBox="1"/>
          <p:nvPr/>
        </p:nvSpPr>
        <p:spPr>
          <a:xfrm>
            <a:off x="253093" y="538843"/>
            <a:ext cx="8760278" cy="6001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Weights are the learned numbers that decide how much each inputs matters. Weights are learned through repeated experience, in this analogy every burn, every near-miss, ever safe touch teaches the system to pay more attention to the “hot” and less to the noise.  For LLMs the examples are text passages.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6050B-C560-173F-701D-CC4974C032C3}"/>
              </a:ext>
            </a:extLst>
          </p:cNvPr>
          <p:cNvSpPr txBox="1"/>
          <p:nvPr/>
        </p:nvSpPr>
        <p:spPr>
          <a:xfrm>
            <a:off x="171453" y="1649186"/>
            <a:ext cx="127362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What do I need to do today?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5AFF5-15C0-080D-4C9A-B9E944F64211}"/>
              </a:ext>
            </a:extLst>
          </p:cNvPr>
          <p:cNvSpPr txBox="1"/>
          <p:nvPr/>
        </p:nvSpPr>
        <p:spPr>
          <a:xfrm>
            <a:off x="171453" y="2402840"/>
            <a:ext cx="1273628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 miss my dog.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1120F-6D58-FA3B-672B-AF4CEF63FE34}"/>
              </a:ext>
            </a:extLst>
          </p:cNvPr>
          <p:cNvSpPr txBox="1"/>
          <p:nvPr/>
        </p:nvSpPr>
        <p:spPr>
          <a:xfrm>
            <a:off x="171453" y="2898372"/>
            <a:ext cx="127362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Kwartler classes are the best.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B4A8E-AC32-0CBA-7CAC-C3A4D0120EAA}"/>
              </a:ext>
            </a:extLst>
          </p:cNvPr>
          <p:cNvSpPr txBox="1"/>
          <p:nvPr/>
        </p:nvSpPr>
        <p:spPr>
          <a:xfrm>
            <a:off x="171453" y="3832030"/>
            <a:ext cx="1665514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This is getting HOT!!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FCF8D9-135B-5B71-0B5C-3B371887AB52}"/>
              </a:ext>
            </a:extLst>
          </p:cNvPr>
          <p:cNvSpPr/>
          <p:nvPr/>
        </p:nvSpPr>
        <p:spPr>
          <a:xfrm>
            <a:off x="2587919" y="2336741"/>
            <a:ext cx="1559541" cy="1559541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0A948-9F8A-E931-E0CC-1F3D43D9D73C}"/>
              </a:ext>
            </a:extLst>
          </p:cNvPr>
          <p:cNvSpPr txBox="1"/>
          <p:nvPr/>
        </p:nvSpPr>
        <p:spPr>
          <a:xfrm>
            <a:off x="2684756" y="2793345"/>
            <a:ext cx="135731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Σ</a:t>
            </a:r>
            <a:r>
              <a:rPr lang="en-US" sz="1200" dirty="0">
                <a:solidFill>
                  <a:schemeClr val="bg1"/>
                </a:solidFill>
              </a:rPr>
              <a:t> Weighted Sum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100" i="1" dirty="0">
                <a:solidFill>
                  <a:schemeClr val="bg1"/>
                </a:solidFill>
              </a:rPr>
              <a:t>Past threshold?</a:t>
            </a:r>
          </a:p>
          <a:p>
            <a:pPr algn="ctr"/>
            <a:r>
              <a:rPr lang="en-US" sz="1200" dirty="0"/>
              <a:t>→ ACTIVATE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736FE8-06E5-8624-2AF2-FAA42CBB752A}"/>
              </a:ext>
            </a:extLst>
          </p:cNvPr>
          <p:cNvCxnSpPr>
            <a:stCxn id="5" idx="3"/>
          </p:cNvCxnSpPr>
          <p:nvPr/>
        </p:nvCxnSpPr>
        <p:spPr>
          <a:xfrm>
            <a:off x="1445081" y="1849240"/>
            <a:ext cx="1239675" cy="926021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BF8C40-A829-8B67-CE3E-CF4C4D00AB1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445081" y="2525950"/>
            <a:ext cx="1134284" cy="36942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0FA6E1-3FB3-B0A1-10DF-14EB98E4AD2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445081" y="3098426"/>
            <a:ext cx="1142838" cy="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775C7B-4135-C09C-DB6C-9C2A07FF0447}"/>
              </a:ext>
            </a:extLst>
          </p:cNvPr>
          <p:cNvCxnSpPr>
            <a:cxnSpLocks/>
          </p:cNvCxnSpPr>
          <p:nvPr/>
        </p:nvCxnSpPr>
        <p:spPr>
          <a:xfrm flipV="1">
            <a:off x="1541918" y="3298480"/>
            <a:ext cx="1046001" cy="57971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3C1A98F-8080-96E3-9A99-784B92A7D08B}"/>
              </a:ext>
            </a:extLst>
          </p:cNvPr>
          <p:cNvSpPr/>
          <p:nvPr/>
        </p:nvSpPr>
        <p:spPr>
          <a:xfrm>
            <a:off x="1719233" y="2003788"/>
            <a:ext cx="457200" cy="2553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x 0.1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272DF1D-2883-C7F0-4707-F1E403F86CF1}"/>
              </a:ext>
            </a:extLst>
          </p:cNvPr>
          <p:cNvSpPr/>
          <p:nvPr/>
        </p:nvSpPr>
        <p:spPr>
          <a:xfrm>
            <a:off x="1607719" y="2481389"/>
            <a:ext cx="457200" cy="2553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x 0.1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DB0B043-7084-8232-DDD5-A733B912826B}"/>
              </a:ext>
            </a:extLst>
          </p:cNvPr>
          <p:cNvSpPr/>
          <p:nvPr/>
        </p:nvSpPr>
        <p:spPr>
          <a:xfrm>
            <a:off x="1783623" y="2943066"/>
            <a:ext cx="457200" cy="2553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x 0.0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099E514-6B11-7D4B-0A3C-4A21F5DBE870}"/>
              </a:ext>
            </a:extLst>
          </p:cNvPr>
          <p:cNvSpPr/>
          <p:nvPr/>
        </p:nvSpPr>
        <p:spPr>
          <a:xfrm>
            <a:off x="1640619" y="3539304"/>
            <a:ext cx="457200" cy="2553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x 9.5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2570CF-BE9D-2C54-EB2E-C199FB8574EA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147460" y="3116512"/>
            <a:ext cx="661305" cy="0"/>
          </a:xfrm>
          <a:prstGeom prst="straightConnector1">
            <a:avLst/>
          </a:prstGeom>
          <a:noFill/>
          <a:ln w="762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1F02074-E454-CE8D-D156-D84B6901335D}"/>
              </a:ext>
            </a:extLst>
          </p:cNvPr>
          <p:cNvSpPr txBox="1"/>
          <p:nvPr/>
        </p:nvSpPr>
        <p:spPr>
          <a:xfrm>
            <a:off x="4808765" y="2525949"/>
            <a:ext cx="1314447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10000"/>
                    <a:lumOff val="9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 need to move my hand!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7C7996-6DA8-058D-55AF-55EF16F6C1D2}"/>
              </a:ext>
            </a:extLst>
          </p:cNvPr>
          <p:cNvSpPr/>
          <p:nvPr/>
        </p:nvSpPr>
        <p:spPr>
          <a:xfrm>
            <a:off x="449780" y="4346072"/>
            <a:ext cx="8033657" cy="326572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CCEC18-254B-04B2-25FF-6661E3BE68EE}"/>
              </a:ext>
            </a:extLst>
          </p:cNvPr>
          <p:cNvSpPr/>
          <p:nvPr/>
        </p:nvSpPr>
        <p:spPr>
          <a:xfrm>
            <a:off x="2302330" y="4346072"/>
            <a:ext cx="2090056" cy="3265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06A581-82DD-3D36-6711-E58C774B9472}"/>
              </a:ext>
            </a:extLst>
          </p:cNvPr>
          <p:cNvSpPr/>
          <p:nvPr/>
        </p:nvSpPr>
        <p:spPr>
          <a:xfrm>
            <a:off x="4392386" y="4346072"/>
            <a:ext cx="2090056" cy="32657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38A386-2A86-0ADC-8790-33AEF8A49AF8}"/>
              </a:ext>
            </a:extLst>
          </p:cNvPr>
          <p:cNvSpPr/>
          <p:nvPr/>
        </p:nvSpPr>
        <p:spPr>
          <a:xfrm>
            <a:off x="6482442" y="4346072"/>
            <a:ext cx="2211778" cy="32657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A868D8-EBCE-F239-40BB-BFAA45CACCE1}"/>
              </a:ext>
            </a:extLst>
          </p:cNvPr>
          <p:cNvSpPr txBox="1"/>
          <p:nvPr/>
        </p:nvSpPr>
        <p:spPr>
          <a:xfrm>
            <a:off x="1079371" y="4370860"/>
            <a:ext cx="528348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COOL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3D0821-4F8B-F7BF-79A1-AB744F5A7DFA}"/>
              </a:ext>
            </a:extLst>
          </p:cNvPr>
          <p:cNvSpPr txBox="1"/>
          <p:nvPr/>
        </p:nvSpPr>
        <p:spPr>
          <a:xfrm>
            <a:off x="2995257" y="4370860"/>
            <a:ext cx="579644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WARM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F39A87-F080-0F56-6A48-D997413D3CBD}"/>
              </a:ext>
            </a:extLst>
          </p:cNvPr>
          <p:cNvSpPr txBox="1"/>
          <p:nvPr/>
        </p:nvSpPr>
        <p:spPr>
          <a:xfrm>
            <a:off x="5173240" y="4370860"/>
            <a:ext cx="41774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HOT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1AC4FF-4700-299E-63F2-C8D38D8C2ACC}"/>
              </a:ext>
            </a:extLst>
          </p:cNvPr>
          <p:cNvSpPr txBox="1"/>
          <p:nvPr/>
        </p:nvSpPr>
        <p:spPr>
          <a:xfrm>
            <a:off x="7181221" y="4380433"/>
            <a:ext cx="99963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ACTIVATED!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9F80A6-FD53-B728-2B97-F2609EA17557}"/>
              </a:ext>
            </a:extLst>
          </p:cNvPr>
          <p:cNvCxnSpPr/>
          <p:nvPr/>
        </p:nvCxnSpPr>
        <p:spPr>
          <a:xfrm>
            <a:off x="6482442" y="4163786"/>
            <a:ext cx="0" cy="71029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37191DF-4F6D-F146-B24D-3F69BB1638DC}"/>
              </a:ext>
            </a:extLst>
          </p:cNvPr>
          <p:cNvSpPr txBox="1"/>
          <p:nvPr/>
        </p:nvSpPr>
        <p:spPr>
          <a:xfrm>
            <a:off x="6482441" y="4130630"/>
            <a:ext cx="76818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Threshold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63673B0-BDAA-0C76-C28D-A73F38E3C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10476" r="6826" b="20710"/>
          <a:stretch>
            <a:fillRect/>
          </a:stretch>
        </p:blipFill>
        <p:spPr>
          <a:xfrm>
            <a:off x="6482441" y="1779059"/>
            <a:ext cx="2157983" cy="186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040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17B2-F3E8-DE04-95F4-DE5A0879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Presence of words can be model weights and activations can be words that are also often co-</a:t>
            </a:r>
            <a:r>
              <a:rPr lang="en-US" dirty="0" err="1"/>
              <a:t>occuring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77AD2A-02C5-94C4-A3CD-E77EEEF02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1212850"/>
            <a:ext cx="62230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3088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F185-4135-2419-45B9-69DB0B46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665083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Tokens co-occurrence can be understood as a vector of numbers, these observed interactions represent the token in context.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7E037-24DB-5A79-2948-4AD6C3247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64" y="1221087"/>
            <a:ext cx="6140213" cy="32932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CE781C-560A-7702-BA6C-19F6C9B412AD}"/>
              </a:ext>
            </a:extLst>
          </p:cNvPr>
          <p:cNvSpPr/>
          <p:nvPr/>
        </p:nvSpPr>
        <p:spPr>
          <a:xfrm>
            <a:off x="317157" y="4481043"/>
            <a:ext cx="8509686" cy="523218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Previously we represented a document in a DTM, this was a series of numbers if a word was present.  Vector embeddings are models that are more sophisticated representations of the document/tokens.</a:t>
            </a:r>
          </a:p>
        </p:txBody>
      </p:sp>
    </p:spTree>
    <p:extLst>
      <p:ext uri="{BB962C8B-B14F-4D97-AF65-F5344CB8AC3E}">
        <p14:creationId xmlns:p14="http://schemas.microsoft.com/office/powerpoint/2010/main" val="39985634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18C0-CBAE-06D8-0E22-E1A7546D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703992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In a hyperspace words &amp; concepts are identified in close proximity.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0FDA9-64A5-6975-8CB9-F008D6F569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157" y="1083980"/>
            <a:ext cx="5852984" cy="29755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6D6D8F-0382-C020-39A8-5B60D2E953B8}"/>
              </a:ext>
            </a:extLst>
          </p:cNvPr>
          <p:cNvSpPr/>
          <p:nvPr/>
        </p:nvSpPr>
        <p:spPr>
          <a:xfrm>
            <a:off x="317157" y="4712410"/>
            <a:ext cx="8509686" cy="307775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OpenAI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embedding models will create 1536 sixteen digit numbers to represent a token (~4 characters).</a:t>
            </a:r>
          </a:p>
        </p:txBody>
      </p:sp>
    </p:spTree>
    <p:extLst>
      <p:ext uri="{BB962C8B-B14F-4D97-AF65-F5344CB8AC3E}">
        <p14:creationId xmlns:p14="http://schemas.microsoft.com/office/powerpoint/2010/main" val="395784070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5F7C-AE42-B409-7337-2DB0A6BB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275625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Responses are built concept by concept, token by token based on the vector embedding relationships.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487AA4-9B21-7404-F467-EF09B504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212850"/>
            <a:ext cx="4191000" cy="135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2CE42B-9662-7516-AEA2-40BFE9EFE8B5}"/>
              </a:ext>
            </a:extLst>
          </p:cNvPr>
          <p:cNvSpPr txBox="1"/>
          <p:nvPr/>
        </p:nvSpPr>
        <p:spPr>
          <a:xfrm>
            <a:off x="494269" y="3352800"/>
            <a:ext cx="268553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Harvard Business School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05947-F4E1-E3DE-6B69-C7B7E4BC78B6}"/>
              </a:ext>
            </a:extLst>
          </p:cNvPr>
          <p:cNvSpPr txBox="1"/>
          <p:nvPr/>
        </p:nvSpPr>
        <p:spPr>
          <a:xfrm>
            <a:off x="2673177" y="3622875"/>
            <a:ext cx="268553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renowned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E84A2-121C-DBCE-B6F6-86335AA65521}"/>
              </a:ext>
            </a:extLst>
          </p:cNvPr>
          <p:cNvSpPr txBox="1"/>
          <p:nvPr/>
        </p:nvSpPr>
        <p:spPr>
          <a:xfrm>
            <a:off x="3492842" y="3892950"/>
            <a:ext cx="268553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F43B9-674C-3AD3-A7CA-06025E09F8D4}"/>
              </a:ext>
            </a:extLst>
          </p:cNvPr>
          <p:cNvSpPr txBox="1"/>
          <p:nvPr/>
        </p:nvSpPr>
        <p:spPr>
          <a:xfrm>
            <a:off x="3739977" y="4132132"/>
            <a:ext cx="268553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82AFA-D4D0-C353-644F-646E7C905A68}"/>
              </a:ext>
            </a:extLst>
          </p:cNvPr>
          <p:cNvSpPr txBox="1"/>
          <p:nvPr/>
        </p:nvSpPr>
        <p:spPr>
          <a:xfrm>
            <a:off x="3981965" y="4402207"/>
            <a:ext cx="268553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rigorous...</a:t>
            </a:r>
          </a:p>
        </p:txBody>
      </p:sp>
    </p:spTree>
    <p:extLst>
      <p:ext uri="{BB962C8B-B14F-4D97-AF65-F5344CB8AC3E}">
        <p14:creationId xmlns:p14="http://schemas.microsoft.com/office/powerpoint/2010/main" val="10227043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5D8B-1669-1315-1F92-8DD08861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build token by token to construct a response.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D3875-952E-EC6C-DFFB-AC137B0B88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878" y="4542669"/>
            <a:ext cx="7772400" cy="463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F8826B-126D-27CE-A113-0034ADDD1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78" y="731160"/>
            <a:ext cx="4851400" cy="1295400"/>
          </a:xfrm>
          <a:prstGeom prst="rect">
            <a:avLst/>
          </a:prstGeom>
        </p:spPr>
      </p:pic>
      <p:pic>
        <p:nvPicPr>
          <p:cNvPr id="5" name="LM Studio - 4 April 2024">
            <a:hlinkClick r:id="" action="ppaction://media"/>
            <a:extLst>
              <a:ext uri="{FF2B5EF4-FFF2-40B4-BE49-F238E27FC236}">
                <a16:creationId xmlns:a16="http://schemas.microsoft.com/office/drawing/2014/main" id="{6271170E-F213-5FDA-08C4-A61F1822054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6831" y="1914357"/>
            <a:ext cx="6667586" cy="237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95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API?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8925" y="1561545"/>
            <a:ext cx="3429000" cy="71558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“Application Program Interface”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Clearly defined methods of communication between various software components. </a:t>
            </a:r>
          </a:p>
        </p:txBody>
      </p:sp>
      <p:pic>
        <p:nvPicPr>
          <p:cNvPr id="801794" name="Picture 2" descr="Image result for what is an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493994"/>
            <a:ext cx="4286250" cy="150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2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454766" y="845310"/>
            <a:ext cx="6234468" cy="2348268"/>
          </a:xfrm>
        </p:spPr>
        <p:txBody>
          <a:bodyPr/>
          <a:lstStyle/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JSON- </a:t>
            </a:r>
            <a:r>
              <a:rPr lang="en-US" dirty="0" err="1"/>
              <a:t>Javascript</a:t>
            </a:r>
            <a:r>
              <a:rPr lang="en-US" dirty="0"/>
              <a:t> Object Notation</a:t>
            </a:r>
          </a:p>
          <a:p>
            <a:pPr lvl="1"/>
            <a:r>
              <a:rPr lang="en-US" dirty="0"/>
              <a:t>Similar to R but used to make interactive objects in web browsers.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File Format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421545" y="2909430"/>
            <a:ext cx="4300911" cy="1500188"/>
            <a:chOff x="1160584" y="3879239"/>
            <a:chExt cx="5734548" cy="2000251"/>
          </a:xfrm>
        </p:grpSpPr>
        <p:pic>
          <p:nvPicPr>
            <p:cNvPr id="6" name="Picture 2" descr="Image result for what is an api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0584" y="3879239"/>
              <a:ext cx="5715000" cy="2000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1376147" y="4183434"/>
              <a:ext cx="1391859" cy="1391859"/>
            </a:xfrm>
            <a:prstGeom prst="ellipse">
              <a:avLst/>
            </a:prstGeom>
            <a:solidFill>
              <a:srgbClr val="24AB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02256" y="4694696"/>
              <a:ext cx="160727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j-ea"/>
                  <a:cs typeface="+mj-cs"/>
                  <a:sym typeface="Arial"/>
                </a:rPr>
                <a:t>Ask a question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196407" y="4183433"/>
              <a:ext cx="1391859" cy="1391859"/>
            </a:xfrm>
            <a:prstGeom prst="ellipse">
              <a:avLst/>
            </a:prstGeom>
            <a:solidFill>
              <a:srgbClr val="8071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23012" y="4492446"/>
              <a:ext cx="177212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j-ea"/>
                  <a:cs typeface="+mj-cs"/>
                  <a:sym typeface="Arial"/>
                </a:rPr>
                <a:t>Respond in XML or JSON</a:t>
              </a:r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BD3EC70D-7268-DE4F-9BA1-20B610AB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96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phone doesn’t have every map in the world.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428875" y="1458983"/>
            <a:ext cx="4286250" cy="2225535"/>
            <a:chOff x="1714500" y="1064690"/>
            <a:chExt cx="5715000" cy="2967380"/>
          </a:xfrm>
        </p:grpSpPr>
        <p:grpSp>
          <p:nvGrpSpPr>
            <p:cNvPr id="10" name="Group 9"/>
            <p:cNvGrpSpPr/>
            <p:nvPr/>
          </p:nvGrpSpPr>
          <p:grpSpPr>
            <a:xfrm>
              <a:off x="1714500" y="2031819"/>
              <a:ext cx="5715000" cy="2000251"/>
              <a:chOff x="1714500" y="3325324"/>
              <a:chExt cx="5715000" cy="2000251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714500" y="3325324"/>
                <a:ext cx="5715000" cy="2000251"/>
                <a:chOff x="1714500" y="3325324"/>
                <a:chExt cx="5715000" cy="2000251"/>
              </a:xfrm>
            </p:grpSpPr>
            <p:pic>
              <p:nvPicPr>
                <p:cNvPr id="801794" name="Picture 2" descr="Image result for what is an api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14500" y="3325324"/>
                  <a:ext cx="5715000" cy="20002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" name="Oval 2"/>
                <p:cNvSpPr/>
                <p:nvPr/>
              </p:nvSpPr>
              <p:spPr>
                <a:xfrm>
                  <a:off x="1949115" y="3629519"/>
                  <a:ext cx="1391859" cy="1391859"/>
                </a:xfrm>
                <a:prstGeom prst="ellipse">
                  <a:avLst/>
                </a:prstGeom>
                <a:solidFill>
                  <a:srgbClr val="24ABE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759115" y="3612918"/>
                  <a:ext cx="1391859" cy="1391859"/>
                </a:xfrm>
                <a:prstGeom prst="ellipse">
                  <a:avLst/>
                </a:prstGeom>
                <a:solidFill>
                  <a:srgbClr val="8071B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Arial"/>
                  </a:endParaRPr>
                </a:p>
              </p:txBody>
            </p:sp>
          </p:grpSp>
          <p:pic>
            <p:nvPicPr>
              <p:cNvPr id="9" name="Picture 2" descr="Image result for google maps logo transparent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1742" y="3925535"/>
                <a:ext cx="706603" cy="7066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Rectangle 13"/>
            <p:cNvSpPr/>
            <p:nvPr/>
          </p:nvSpPr>
          <p:spPr>
            <a:xfrm>
              <a:off x="2045369" y="1064690"/>
              <a:ext cx="5053263" cy="677108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j-ea"/>
                  <a:cs typeface="+mj-cs"/>
                  <a:sym typeface="Arial"/>
                </a:rPr>
                <a:t>“Your phone requests information from the maps API services to render the information.</a:t>
              </a:r>
            </a:p>
          </p:txBody>
        </p:sp>
      </p:grpSp>
      <p:pic>
        <p:nvPicPr>
          <p:cNvPr id="1028" name="Picture 4" descr="Image result for iphone clip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344" y="2438649"/>
            <a:ext cx="1293173" cy="96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811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phone doesn’t have every map in the world.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5038"/>
          <a:stretch/>
        </p:blipFill>
        <p:spPr>
          <a:xfrm>
            <a:off x="4117688" y="1591109"/>
            <a:ext cx="3517269" cy="24110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99746" name="Picture 2" descr="Image result for google maps logo transpar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157" y="1320422"/>
            <a:ext cx="529952" cy="52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276066" y="2184952"/>
            <a:ext cx="27841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Google Maps API Services include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Geocoding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Base map “tiles”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Basic Geographic Info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71248" y="1320422"/>
            <a:ext cx="4469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  <a:hlinkClick r:id="rId4"/>
              </a:rPr>
              <a:t>www.google.com/maps/place/Cleveland,+OH/@41.4951143,-81.8462865,11z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199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are behind many of the sites you use everyday.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511" y="1225256"/>
            <a:ext cx="3317490" cy="32989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624084" y="1719618"/>
            <a:ext cx="17706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  <a:hlinkClick r:id="rId3"/>
              </a:rPr>
              <a:t>Static Map API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24084" y="2384946"/>
            <a:ext cx="273296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Static images are loaded as tiles underneath allowing you to scroll and navigate in your browser.</a:t>
            </a:r>
          </a:p>
        </p:txBody>
      </p:sp>
    </p:spTree>
    <p:extLst>
      <p:ext uri="{BB962C8B-B14F-4D97-AF65-F5344CB8AC3E}">
        <p14:creationId xmlns:p14="http://schemas.microsoft.com/office/powerpoint/2010/main" val="2979029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are behind many of the sites you use everyday.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132" y="1719618"/>
            <a:ext cx="25265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  <a:hlinkClick r:id="rId2"/>
              </a:rPr>
              <a:t>JSON Information API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9132" y="2395182"/>
            <a:ext cx="2732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On top of the tiles, more information is needed including the geo-political information and coordinates for the “bounding box”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657" y="798394"/>
            <a:ext cx="3296675" cy="38324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94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4488" y="4767264"/>
            <a:ext cx="1543050" cy="273844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B9A0F-CCD0-4348-8112-2A1A806F4019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know where to look, you can access APIs for data!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01" y="756475"/>
            <a:ext cx="1027076" cy="472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2190" y="1228929"/>
            <a:ext cx="67746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  <a:hlinkClick r:id="rId3"/>
              </a:rPr>
              <a:t>https://www.youtube.com/watch?v=K5Rly83zfuI&amp;ab_channel=TheDailyShowwithTrevorNoah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2477" y="951930"/>
            <a:ext cx="492827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If the video has closed captioning, let’s grab the text by clicking “cc”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EBC87D-D257-E419-445C-CA1709903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785" y="1698575"/>
            <a:ext cx="4582085" cy="279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91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chrome access the developer console.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064" y="1520019"/>
            <a:ext cx="3278981" cy="3086100"/>
          </a:xfrm>
          <a:prstGeom prst="rect">
            <a:avLst/>
          </a:prstGeom>
        </p:spPr>
      </p:pic>
      <p:pic>
        <p:nvPicPr>
          <p:cNvPr id="7" name="Picture 6" descr="Image result for chrom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00" y="869236"/>
            <a:ext cx="559469" cy="55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22477" y="951930"/>
            <a:ext cx="407906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While the video is playing, press F12 &amp; reload the page.</a:t>
            </a:r>
          </a:p>
        </p:txBody>
      </p:sp>
    </p:spTree>
    <p:extLst>
      <p:ext uri="{BB962C8B-B14F-4D97-AF65-F5344CB8AC3E}">
        <p14:creationId xmlns:p14="http://schemas.microsoft.com/office/powerpoint/2010/main" val="2924774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Image result for chrome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00" y="869236"/>
            <a:ext cx="559469" cy="55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22477" y="951931"/>
            <a:ext cx="447244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Click XHR and search for “timed” as in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timedtext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. 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Right click on the request name and select “open in new tab”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60" y="1491927"/>
            <a:ext cx="3393281" cy="312181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913797" y="1873155"/>
            <a:ext cx="440141" cy="1842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935973" y="2929152"/>
            <a:ext cx="696036" cy="307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109984" y="2048870"/>
            <a:ext cx="440141" cy="1842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7004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230A2-21BD-0E42-A54B-815D144E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CB0AD3-D6F6-CF4F-93E4-564141E0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Caption Data is in JSON</a:t>
            </a:r>
          </a:p>
        </p:txBody>
      </p:sp>
      <p:pic>
        <p:nvPicPr>
          <p:cNvPr id="8" name="Picture 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1602650D-8CFC-6341-A64C-271105E85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1" y="917368"/>
            <a:ext cx="1801262" cy="391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56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2433" y="1279478"/>
            <a:ext cx="220707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A_youtubeAPI_example.R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  <a:sym typeface="Arial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E1F6F8-9742-254D-83B6-41AF09898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4713" y="4767264"/>
            <a:ext cx="2314575" cy="273844"/>
          </a:xfrm>
        </p:spPr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  <a:sym typeface="Arial"/>
              </a:rPr>
              <a:t>Kwartler CSCI 96</a:t>
            </a:r>
          </a:p>
        </p:txBody>
      </p:sp>
    </p:spTree>
    <p:extLst>
      <p:ext uri="{BB962C8B-B14F-4D97-AF65-F5344CB8AC3E}">
        <p14:creationId xmlns:p14="http://schemas.microsoft.com/office/powerpoint/2010/main" val="3555188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A857F-9BD7-42E1-ABC6-BF01B58F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1DFE3E-BC8C-421A-A1D4-BA0C39D5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Simple JSON API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8C2B5-FEB2-4349-AC41-FC6A8B93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76473"/>
            <a:ext cx="6858000" cy="33317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786444-52B6-46CF-8BE4-99F530EC9153}"/>
              </a:ext>
            </a:extLst>
          </p:cNvPr>
          <p:cNvSpPr/>
          <p:nvPr/>
        </p:nvSpPr>
        <p:spPr>
          <a:xfrm>
            <a:off x="1163899" y="799474"/>
            <a:ext cx="187262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Sign up at 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  <a:hlinkClick r:id="rId3"/>
              </a:rPr>
              <a:t>https://newsapi.org/</a:t>
            </a:r>
            <a:endParaRPr kumimoji="0" lang="en-US" sz="105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414713" y="4767264"/>
            <a:ext cx="2314575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Kwartler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5423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B0B4D-5948-4761-B021-8C38C90B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24DFC7-F431-4E50-B3CB-8ED48C80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/>
              <a:t>Some APIs require a “handshake” to authenticate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7928AE-4C70-49EA-98D9-4B2504CD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3" y="988956"/>
            <a:ext cx="3191533" cy="2912617"/>
          </a:xfrm>
          <a:prstGeom prst="rect">
            <a:avLst/>
          </a:prstGeom>
        </p:spPr>
      </p:pic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414713" y="4767264"/>
            <a:ext cx="2314575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Kwartler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C2CC4-0077-0FEC-07EC-430192818ADB}"/>
              </a:ext>
            </a:extLst>
          </p:cNvPr>
          <p:cNvSpPr txBox="1"/>
          <p:nvPr/>
        </p:nvSpPr>
        <p:spPr>
          <a:xfrm>
            <a:off x="4876801" y="1429255"/>
            <a:ext cx="3856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usethis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edit_r_environ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NEWSORG_API_KEY='  	'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40894-080A-1F44-74E7-73C2149479B1}"/>
              </a:ext>
            </a:extLst>
          </p:cNvPr>
          <p:cNvSpPr/>
          <p:nvPr/>
        </p:nvSpPr>
        <p:spPr>
          <a:xfrm>
            <a:off x="6648012" y="1690865"/>
            <a:ext cx="1042872" cy="20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43928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58924-437E-4A9E-883E-603DC4BC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9CF58D-DA26-4A2F-844B-4F285E67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JSON</a:t>
            </a:r>
            <a:endParaRPr lang="en-US" dirty="0"/>
          </a:p>
        </p:txBody>
      </p:sp>
      <p:pic>
        <p:nvPicPr>
          <p:cNvPr id="3074" name="Picture 2" descr="Image result for json meme">
            <a:extLst>
              <a:ext uri="{FF2B5EF4-FFF2-40B4-BE49-F238E27FC236}">
                <a16:creationId xmlns:a16="http://schemas.microsoft.com/office/drawing/2014/main" id="{68D2B28F-1568-4DE2-8B50-8B1B03A3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407" y="1169409"/>
            <a:ext cx="3138357" cy="291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E37ACE-F457-4C85-B00B-943BC6837FAD}"/>
              </a:ext>
            </a:extLst>
          </p:cNvPr>
          <p:cNvSpPr txBox="1"/>
          <p:nvPr/>
        </p:nvSpPr>
        <p:spPr>
          <a:xfrm>
            <a:off x="1213696" y="1405863"/>
            <a:ext cx="1420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B_newsAPI_example.R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414713" y="4767264"/>
            <a:ext cx="2314575" cy="273844"/>
          </a:xfrm>
        </p:spPr>
        <p:txBody>
          <a:bodyPr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Kwartler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5219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4BBE9-3384-E9B7-7B76-809089BC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57455-6C28-BAA4-E6ED-58613EB5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ADD4B5-6BCD-D4B0-B667-C47E3032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Common API Request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6A434-7510-6CB9-7769-140E2DF8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08294-CF5F-5BF6-3BCB-E3FB0F3A7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Kwartler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ACA16-2A7C-36E6-1C9D-792F32B6D1B3}"/>
              </a:ext>
            </a:extLst>
          </p:cNvPr>
          <p:cNvSpPr txBox="1"/>
          <p:nvPr/>
        </p:nvSpPr>
        <p:spPr>
          <a:xfrm>
            <a:off x="628650" y="1353210"/>
            <a:ext cx="1058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6B24-E0F6-2A39-239B-2289E71AFC98}"/>
              </a:ext>
            </a:extLst>
          </p:cNvPr>
          <p:cNvSpPr txBox="1"/>
          <p:nvPr/>
        </p:nvSpPr>
        <p:spPr>
          <a:xfrm>
            <a:off x="2151987" y="1417447"/>
            <a:ext cx="1058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System prompt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60178A-DCB5-29DC-4927-ECA1225FF8D4}"/>
              </a:ext>
            </a:extLst>
          </p:cNvPr>
          <p:cNvSpPr txBox="1"/>
          <p:nvPr/>
        </p:nvSpPr>
        <p:spPr>
          <a:xfrm>
            <a:off x="3621163" y="1417447"/>
            <a:ext cx="1339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temperature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22F704-7461-446D-4EFA-549451BEB266}"/>
              </a:ext>
            </a:extLst>
          </p:cNvPr>
          <p:cNvSpPr txBox="1"/>
          <p:nvPr/>
        </p:nvSpPr>
        <p:spPr>
          <a:xfrm>
            <a:off x="5391927" y="1436281"/>
            <a:ext cx="125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Max tokens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375F4E-EB63-1305-27DD-615818809D85}"/>
              </a:ext>
            </a:extLst>
          </p:cNvPr>
          <p:cNvSpPr txBox="1"/>
          <p:nvPr/>
        </p:nvSpPr>
        <p:spPr>
          <a:xfrm>
            <a:off x="7476237" y="1436281"/>
            <a:ext cx="1178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Misc</a:t>
            </a:r>
            <a:endParaRPr kumimoji="0" lang="en-US" sz="1400" b="1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F27F5-6371-9F3F-CBB1-27FFF0DCB368}"/>
              </a:ext>
            </a:extLst>
          </p:cNvPr>
          <p:cNvSpPr txBox="1"/>
          <p:nvPr/>
        </p:nvSpPr>
        <p:spPr>
          <a:xfrm>
            <a:off x="6992013" y="1803230"/>
            <a:ext cx="20622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>
              <a:defRPr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The specific AI you're calling (e.g. google/gemini-3.1-flash-lite). Same prompt, different model, different quality, speed, and co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5269A6-A124-D79F-8B33-7BA55CC16EB0}"/>
              </a:ext>
            </a:extLst>
          </p:cNvPr>
          <p:cNvSpPr txBox="1"/>
          <p:nvPr/>
        </p:nvSpPr>
        <p:spPr>
          <a:xfrm>
            <a:off x="6964754" y="3015584"/>
            <a:ext cx="20574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0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conversation history sent with each request, where every entry is labeled </a:t>
            </a:r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100" dirty="0"/>
              <a:t>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API has no memory, so "remembering" a conversation means resending all prior messages every time.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0E0FA0-6FB1-7EAC-94EE-3954925435BF}"/>
              </a:ext>
            </a:extLst>
          </p:cNvPr>
          <p:cNvSpPr txBox="1"/>
          <p:nvPr/>
        </p:nvSpPr>
        <p:spPr>
          <a:xfrm>
            <a:off x="5172632" y="2002569"/>
            <a:ext cx="17192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cap on how long the model's response can be, measured in tokens (word chunks, roughly ~4 characters of a word). If the model hits the cap mid-thought, the response is simply cut off, not summarized….so JSON will just be cut off.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C7ADBD-4DBB-EC43-AF30-3C060FC77747}"/>
              </a:ext>
            </a:extLst>
          </p:cNvPr>
          <p:cNvSpPr txBox="1"/>
          <p:nvPr/>
        </p:nvSpPr>
        <p:spPr>
          <a:xfrm>
            <a:off x="3481611" y="2114884"/>
            <a:ext cx="16181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setting from 0 to about 2 that controls how random the model's word choices are. Low values (0) make output consistent and repeatable; higher values make it more varied and creative, but also less predictable.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135E35-B6E2-6E73-CEB4-CB671F5E9312}"/>
              </a:ext>
            </a:extLst>
          </p:cNvPr>
          <p:cNvSpPr txBox="1"/>
          <p:nvPr/>
        </p:nvSpPr>
        <p:spPr>
          <a:xfrm>
            <a:off x="1799564" y="2156065"/>
            <a:ext cx="16181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behind-the-scenes instruction that sets the model's role and rules before the user's prompt arrives, like "You are a concise assistant that responds only in JSON." Users of an app usually never see it, but it shapes every response.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CB694C-D723-6AF9-661A-5558F51C684B}"/>
              </a:ext>
            </a:extLst>
          </p:cNvPr>
          <p:cNvSpPr txBox="1"/>
          <p:nvPr/>
        </p:nvSpPr>
        <p:spPr>
          <a:xfrm>
            <a:off x="141772" y="2258612"/>
            <a:ext cx="16181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text you send to an AI model, typically your question or instruction. It is the input the model responds to.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628E49-C08A-C079-9A93-A5EC8B64DF39}"/>
              </a:ext>
            </a:extLst>
          </p:cNvPr>
          <p:cNvCxnSpPr/>
          <p:nvPr/>
        </p:nvCxnSpPr>
        <p:spPr>
          <a:xfrm>
            <a:off x="1759914" y="2048530"/>
            <a:ext cx="0" cy="205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6E2AE92-92D1-3035-C1A0-455CB48A6D7D}"/>
              </a:ext>
            </a:extLst>
          </p:cNvPr>
          <p:cNvCxnSpPr/>
          <p:nvPr/>
        </p:nvCxnSpPr>
        <p:spPr>
          <a:xfrm>
            <a:off x="3420365" y="2107353"/>
            <a:ext cx="0" cy="205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E8E412-C75F-781A-9D0E-F9CC3A808CF5}"/>
              </a:ext>
            </a:extLst>
          </p:cNvPr>
          <p:cNvCxnSpPr>
            <a:cxnSpLocks/>
          </p:cNvCxnSpPr>
          <p:nvPr/>
        </p:nvCxnSpPr>
        <p:spPr>
          <a:xfrm>
            <a:off x="5032415" y="2048530"/>
            <a:ext cx="0" cy="205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FC89F3-1391-42B1-7DB7-CB973F8B6FF2}"/>
              </a:ext>
            </a:extLst>
          </p:cNvPr>
          <p:cNvCxnSpPr/>
          <p:nvPr/>
        </p:nvCxnSpPr>
        <p:spPr>
          <a:xfrm>
            <a:off x="6883201" y="1940667"/>
            <a:ext cx="0" cy="2055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07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21531-B799-A9E6-4A38-475C3DE0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675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6/10/26</a:t>
            </a:fld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A7D66-292F-C9E5-C758-96CFDBE9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will make a handshake API request to a LLM.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C0E0D-4AD9-F78C-6A8D-0E39BB03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pPr marL="0" marR="0" lvl="0" indent="0" algn="l" defTabSz="914400" rtl="0" eaLnBrk="1" fontAlgn="auto" latinLnBrk="0" hangingPunct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E1298-60F1-396C-079A-AF8F03E8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Kwartler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12B88-8151-8CE6-5F1D-E31EA3DE1523}"/>
              </a:ext>
            </a:extLst>
          </p:cNvPr>
          <p:cNvSpPr txBox="1"/>
          <p:nvPr/>
        </p:nvSpPr>
        <p:spPr>
          <a:xfrm>
            <a:off x="791936" y="2310140"/>
            <a:ext cx="895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=&gt; API Request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3A96B-FFA3-2108-B31E-8CBB02254994}"/>
              </a:ext>
            </a:extLst>
          </p:cNvPr>
          <p:cNvSpPr txBox="1"/>
          <p:nvPr/>
        </p:nvSpPr>
        <p:spPr>
          <a:xfrm>
            <a:off x="6602660" y="1278962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 Light" panose="020F0302020204030204"/>
              </a:rPr>
              <a:t>OpenAI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6356D-BDEB-7610-834E-8A1A79B2A3D4}"/>
              </a:ext>
            </a:extLst>
          </p:cNvPr>
          <p:cNvSpPr txBox="1"/>
          <p:nvPr/>
        </p:nvSpPr>
        <p:spPr>
          <a:xfrm>
            <a:off x="6602660" y="3303421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Grok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7C491-F641-3109-EBB2-EE0D39341B9E}"/>
              </a:ext>
            </a:extLst>
          </p:cNvPr>
          <p:cNvSpPr txBox="1"/>
          <p:nvPr/>
        </p:nvSpPr>
        <p:spPr>
          <a:xfrm>
            <a:off x="6602660" y="3897977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Deepseek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0D439-03FD-CCBB-156D-4AFF27D5EE4B}"/>
              </a:ext>
            </a:extLst>
          </p:cNvPr>
          <p:cNvSpPr txBox="1"/>
          <p:nvPr/>
        </p:nvSpPr>
        <p:spPr>
          <a:xfrm>
            <a:off x="6602659" y="2862753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Anthropic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FE4ED-42F2-A6D9-DD5B-0BB9E471D351}"/>
              </a:ext>
            </a:extLst>
          </p:cNvPr>
          <p:cNvSpPr txBox="1"/>
          <p:nvPr/>
        </p:nvSpPr>
        <p:spPr>
          <a:xfrm>
            <a:off x="6602659" y="2195829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Gemini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2BE6CD-97A0-59C4-7E1F-C982C86B0FE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687033" y="2571750"/>
            <a:ext cx="15165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FCB056-1BFA-F80D-BBDC-8BB37ABBB47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628707" y="1432851"/>
            <a:ext cx="1973953" cy="1138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77EDE2-42EC-2E44-056D-0A877A4D91B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628707" y="2349718"/>
            <a:ext cx="1973952" cy="22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3BFEEB-55C2-D063-0BA9-2A896B6BB54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628707" y="2571750"/>
            <a:ext cx="1973952" cy="444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B841D0-B42C-3D7E-A1EB-4034906A2D0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628707" y="2571750"/>
            <a:ext cx="1973953" cy="88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0737E7-A098-1B83-A794-AFD6561E4FE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28707" y="2571750"/>
            <a:ext cx="1973953" cy="148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8C0D53-FC64-6E72-69ED-F0A6EEB26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55" y="2310139"/>
            <a:ext cx="675180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p Attribution | OpenRouter ...">
            <a:extLst>
              <a:ext uri="{FF2B5EF4-FFF2-40B4-BE49-F238E27FC236}">
                <a16:creationId xmlns:a16="http://schemas.microsoft.com/office/drawing/2014/main" id="{3F328545-90EB-0BB5-8A0F-197D408DA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493" y="2330107"/>
            <a:ext cx="1398213" cy="4636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8236F5-2AE4-6E50-A1E0-CC37A1BCD1ED}"/>
              </a:ext>
            </a:extLst>
          </p:cNvPr>
          <p:cNvCxnSpPr>
            <a:cxnSpLocks/>
            <a:stCxn id="1028" idx="3"/>
          </p:cNvCxnSpPr>
          <p:nvPr/>
        </p:nvCxnSpPr>
        <p:spPr>
          <a:xfrm>
            <a:off x="4628706" y="2561945"/>
            <a:ext cx="1973952" cy="1982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616611-E371-9704-FFC3-AE1D7A735F51}"/>
              </a:ext>
            </a:extLst>
          </p:cNvPr>
          <p:cNvSpPr txBox="1"/>
          <p:nvPr/>
        </p:nvSpPr>
        <p:spPr>
          <a:xfrm>
            <a:off x="6602658" y="4363493"/>
            <a:ext cx="1425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63900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16D-8C68-6CFD-011D-019C9B40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78" y="396949"/>
            <a:ext cx="2970502" cy="382772"/>
          </a:xfrm>
        </p:spPr>
        <p:txBody>
          <a:bodyPr>
            <a:normAutofit fontScale="90000"/>
          </a:bodyPr>
          <a:lstStyle/>
          <a:p>
            <a:r>
              <a:rPr lang="en-US" dirty="0"/>
              <a:t>Open </a:t>
            </a:r>
            <a:r>
              <a:rPr lang="en-US" dirty="0" err="1"/>
              <a:t>C_openrouter.R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E4BA9-DF14-B489-223A-F44D030D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ACD1DB-5316-58CC-AAC3-93012A6D681D}"/>
              </a:ext>
            </a:extLst>
          </p:cNvPr>
          <p:cNvSpPr txBox="1"/>
          <p:nvPr/>
        </p:nvSpPr>
        <p:spPr>
          <a:xfrm>
            <a:off x="225824" y="971331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We will show how R can interact with APIs for LLMs</a:t>
            </a:r>
          </a:p>
        </p:txBody>
      </p:sp>
    </p:spTree>
    <p:extLst>
      <p:ext uri="{BB962C8B-B14F-4D97-AF65-F5344CB8AC3E}">
        <p14:creationId xmlns:p14="http://schemas.microsoft.com/office/powerpoint/2010/main" val="24116381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4219-CB07-A772-B8B6-ABEFAD76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17" y="2111578"/>
            <a:ext cx="3562405" cy="1216238"/>
          </a:xfrm>
        </p:spPr>
        <p:txBody>
          <a:bodyPr>
            <a:normAutofit fontScale="90000"/>
          </a:bodyPr>
          <a:lstStyle/>
          <a:p>
            <a:r>
              <a:rPr lang="en-US" dirty="0"/>
              <a:t>Ask questions carefully when seeking answers or relying on LLMs. </a:t>
            </a:r>
            <a:r>
              <a:rPr lang="en-US" dirty="0">
                <a:solidFill>
                  <a:schemeClr val="accent1"/>
                </a:solidFill>
              </a:rPr>
              <a:t>Prompting makes all the difference.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0A3D3-A529-D41A-C159-E967D9CA9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229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4A54-94CA-7647-F5A2-AE2D1C91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Prompt – Use the R script and change the input.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543A1-7B17-DA78-CB13-00EDA7D26F84}"/>
              </a:ext>
            </a:extLst>
          </p:cNvPr>
          <p:cNvSpPr/>
          <p:nvPr/>
        </p:nvSpPr>
        <p:spPr>
          <a:xfrm>
            <a:off x="310243" y="4385455"/>
            <a:ext cx="8376558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AFAFF"/>
                </a:solidFill>
              </a:rPr>
              <a:t>Simple question with an instruction and specificity.</a:t>
            </a:r>
            <a:endParaRPr kumimoji="0" lang="en-US" sz="1400" b="0" i="1" u="none" strike="noStrike" cap="none" spc="0" normalizeH="0" baseline="0" dirty="0">
              <a:ln>
                <a:noFill/>
              </a:ln>
              <a:solidFill>
                <a:srgbClr val="FAFA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43AA9-9297-0F97-A0D5-E7C58BD21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632"/>
          <a:stretch>
            <a:fillRect/>
          </a:stretch>
        </p:blipFill>
        <p:spPr>
          <a:xfrm>
            <a:off x="685800" y="2049106"/>
            <a:ext cx="7772400" cy="672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37693-C68C-4F4A-D13B-910D03FE90A6}"/>
              </a:ext>
            </a:extLst>
          </p:cNvPr>
          <p:cNvSpPr txBox="1"/>
          <p:nvPr/>
        </p:nvSpPr>
        <p:spPr>
          <a:xfrm>
            <a:off x="310243" y="1475457"/>
            <a:ext cx="407397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FF40FF"/>
                </a:solidFill>
              </a:rPr>
              <a:t>B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_examplePrompts.txt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40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5FDA58-2368-58F9-D763-12A3A64341F4}"/>
              </a:ext>
            </a:extLst>
          </p:cNvPr>
          <p:cNvSpPr txBox="1">
            <a:spLocks/>
          </p:cNvSpPr>
          <p:nvPr/>
        </p:nvSpPr>
        <p:spPr>
          <a:xfrm>
            <a:off x="225824" y="826812"/>
            <a:ext cx="2970502" cy="382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 anchor="ctr">
            <a:normAutofit fontScale="97500" lnSpcReduction="10000"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FFFFFF"/>
                </a:solidFill>
                <a:uFillTx/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hangingPunct="1"/>
            <a:r>
              <a:rPr lang="en-US"/>
              <a:t>Open C_openrouter.R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8600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B8D9-FB0C-815B-EF2A-894ED6DE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460977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In the script, add positive and negative examples to the prompt.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9B0B7-3516-C772-A397-534F35DB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971"/>
          <a:stretch>
            <a:fillRect/>
          </a:stretch>
        </p:blipFill>
        <p:spPr>
          <a:xfrm>
            <a:off x="685800" y="2113522"/>
            <a:ext cx="7772400" cy="6509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C06F18-0606-E456-3EA9-B76FF9F1A6A9}"/>
              </a:ext>
            </a:extLst>
          </p:cNvPr>
          <p:cNvSpPr/>
          <p:nvPr/>
        </p:nvSpPr>
        <p:spPr>
          <a:xfrm>
            <a:off x="310243" y="4277734"/>
            <a:ext cx="8376558" cy="523218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This adds positive vectors for comedy and subtracts vectors related to violent and horror.  The result is honed when searching for tokens for the response. </a:t>
            </a:r>
            <a:r>
              <a:rPr kumimoji="0" lang="en-US" sz="1400" b="0" i="1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Keep in mind we’re using a VERY simplistic model</a:t>
            </a:r>
          </a:p>
        </p:txBody>
      </p:sp>
    </p:spTree>
    <p:extLst>
      <p:ext uri="{BB962C8B-B14F-4D97-AF65-F5344CB8AC3E}">
        <p14:creationId xmlns:p14="http://schemas.microsoft.com/office/powerpoint/2010/main" val="22568313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C1B8-7184-72B4-20B8-FFB2006B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thought prompting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57EEE-E9DF-2B1D-ED46-442ED90F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0871"/>
            <a:ext cx="7772400" cy="42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0520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D43D-2F4E-1F62-A819-4F1F170B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E1F34-69CB-B638-65EC-0326B0A84B56}"/>
              </a:ext>
            </a:extLst>
          </p:cNvPr>
          <p:cNvSpPr/>
          <p:nvPr/>
        </p:nvSpPr>
        <p:spPr>
          <a:xfrm>
            <a:off x="310243" y="4385455"/>
            <a:ext cx="8376558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AFAFF"/>
                </a:solidFill>
              </a:rPr>
              <a:t>There are multiple best-practice frameworks online.  COSTAR is just one and requires a lot of effort.</a:t>
            </a:r>
            <a:endParaRPr kumimoji="0" lang="en-US" sz="1400" b="0" i="1" u="none" strike="noStrike" cap="none" spc="0" normalizeH="0" baseline="0" dirty="0">
              <a:ln>
                <a:noFill/>
              </a:ln>
              <a:solidFill>
                <a:srgbClr val="FAFA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18C80-CBBF-B0C0-A553-B4CA6A8346A9}"/>
              </a:ext>
            </a:extLst>
          </p:cNvPr>
          <p:cNvSpPr/>
          <p:nvPr/>
        </p:nvSpPr>
        <p:spPr>
          <a:xfrm>
            <a:off x="310243" y="915748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Context :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 Providing background information helps the LLM understand the specific scenario.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65336-6C7F-B748-F35F-911F8791498E}"/>
              </a:ext>
            </a:extLst>
          </p:cNvPr>
          <p:cNvSpPr/>
          <p:nvPr/>
        </p:nvSpPr>
        <p:spPr>
          <a:xfrm>
            <a:off x="310243" y="1495607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Objective (O):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 Clearly defining the task directs the LLM’s focus.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EDC71-05A3-159F-DFC9-62FC02E366DA}"/>
              </a:ext>
            </a:extLst>
          </p:cNvPr>
          <p:cNvSpPr/>
          <p:nvPr/>
        </p:nvSpPr>
        <p:spPr>
          <a:xfrm>
            <a:off x="310243" y="2075466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Style (S):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 Specifying the desired writing style aligns the LLM response.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B07644-F7F5-C0FC-9480-CE7D42AEBEAC}"/>
              </a:ext>
            </a:extLst>
          </p:cNvPr>
          <p:cNvSpPr/>
          <p:nvPr/>
        </p:nvSpPr>
        <p:spPr>
          <a:xfrm>
            <a:off x="310243" y="2655325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Tone (T):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 Setting the tone ensures the response resonates with the required sentiment.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54AD95-E945-FDBB-B404-CBFF53E766B4}"/>
              </a:ext>
            </a:extLst>
          </p:cNvPr>
          <p:cNvSpPr/>
          <p:nvPr/>
        </p:nvSpPr>
        <p:spPr>
          <a:xfrm>
            <a:off x="310243" y="3235184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Audience (A): 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Identifying the intended audience tailors the LLM’s response to be targeted to an audience.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86B684-ACF3-CC83-D92E-976EA8C2E6F1}"/>
              </a:ext>
            </a:extLst>
          </p:cNvPr>
          <p:cNvSpPr/>
          <p:nvPr/>
        </p:nvSpPr>
        <p:spPr>
          <a:xfrm>
            <a:off x="310243" y="3815041"/>
            <a:ext cx="8376558" cy="30777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algn="l"/>
            <a:r>
              <a:rPr lang="en-US" b="1" i="0" dirty="0">
                <a:solidFill>
                  <a:srgbClr val="FAFAFF"/>
                </a:solidFill>
                <a:effectLst/>
                <a:latin typeface="source-serif-pro"/>
              </a:rPr>
              <a:t>Response (R):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 Providing the response format, like text or </a:t>
            </a:r>
            <a:r>
              <a:rPr lang="en-US" b="0" i="0" dirty="0" err="1">
                <a:solidFill>
                  <a:srgbClr val="FAFAFF"/>
                </a:solidFill>
                <a:effectLst/>
                <a:latin typeface="source-serif-pro"/>
              </a:rPr>
              <a:t>json</a:t>
            </a:r>
            <a:r>
              <a:rPr lang="en-US" b="0" i="0" dirty="0">
                <a:solidFill>
                  <a:srgbClr val="FAFAFF"/>
                </a:solidFill>
                <a:effectLst/>
                <a:latin typeface="source-serif-pro"/>
              </a:rPr>
              <a:t>, ensures the LLM outputs, and help build pipelines</a:t>
            </a:r>
          </a:p>
        </p:txBody>
      </p:sp>
    </p:spTree>
    <p:extLst>
      <p:ext uri="{BB962C8B-B14F-4D97-AF65-F5344CB8AC3E}">
        <p14:creationId xmlns:p14="http://schemas.microsoft.com/office/powerpoint/2010/main" val="168994665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C3C9-BED9-DAD0-7E33-48621F4F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Longer prompt with specific aspects.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E962D-81C9-B5DE-E764-6C5E3641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1650203"/>
            <a:ext cx="7772400" cy="2143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493A7A-CF18-7D35-6872-DEAB44E2457A}"/>
              </a:ext>
            </a:extLst>
          </p:cNvPr>
          <p:cNvSpPr txBox="1"/>
          <p:nvPr/>
        </p:nvSpPr>
        <p:spPr>
          <a:xfrm>
            <a:off x="302077" y="922564"/>
            <a:ext cx="407397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FF40FF"/>
                </a:solidFill>
              </a:rPr>
              <a:t>C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_costar_prompt.txt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40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998608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A643-8B7E-75D6-028F-7479C8C4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 for citations…risky business!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95EAB-8680-586B-695B-8AECA866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36866"/>
            <a:ext cx="7772400" cy="326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5741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A643-8B7E-75D6-028F-7479C8C4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 for citations…risky business!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95EAB-8680-586B-695B-8AECA86684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41"/>
          <a:stretch/>
        </p:blipFill>
        <p:spPr>
          <a:xfrm>
            <a:off x="225824" y="663030"/>
            <a:ext cx="7772400" cy="1600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7E817F-EBCD-3BAA-3EA8-7C4701F6E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491590"/>
            <a:ext cx="4240040" cy="1913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F74F8D-08FE-4154-9FDB-6A829B2B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24" y="2491590"/>
            <a:ext cx="4240040" cy="191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8382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A0C7-9A01-37AC-2B4C-B91F962AC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533252"/>
            <a:ext cx="3456269" cy="1830434"/>
          </a:xfrm>
        </p:spPr>
        <p:txBody>
          <a:bodyPr>
            <a:normAutofit fontScale="90000"/>
          </a:bodyPr>
          <a:lstStyle/>
          <a:p>
            <a:r>
              <a:rPr lang="en-US" dirty="0"/>
              <a:t>LLMs are usually censored to avoid bias &amp; offensive content.  Jailbreak prompts exist to overcome censorship.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A8A2E-F48B-DA2F-2F90-9C6FC2BA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34" y="0"/>
            <a:ext cx="505986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60929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0B44-4C20-3870-F596-1D4A5F98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Jailbreak.  Frontier models have built in guardrails.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31612-3268-1590-BAAB-03A1064295F1}"/>
              </a:ext>
            </a:extLst>
          </p:cNvPr>
          <p:cNvSpPr txBox="1"/>
          <p:nvPr/>
        </p:nvSpPr>
        <p:spPr>
          <a:xfrm>
            <a:off x="302077" y="922564"/>
            <a:ext cx="407397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FF40FF"/>
                </a:solidFill>
              </a:rPr>
              <a:t>C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_Gemma_DecompRecon_Jailbreak.txt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40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4BD4-B4A0-63FF-D792-C03DEFF1F476}"/>
              </a:ext>
            </a:extLst>
          </p:cNvPr>
          <p:cNvSpPr txBox="1"/>
          <p:nvPr/>
        </p:nvSpPr>
        <p:spPr>
          <a:xfrm>
            <a:off x="302076" y="1263693"/>
            <a:ext cx="695597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accent1"/>
                </a:solidFill>
              </a:rPr>
              <a:t>Open up the text file to examine.  Older models will break down with this input.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It’s really a competition between the </a:t>
            </a:r>
            <a:r>
              <a:rPr lang="en-US" dirty="0">
                <a:solidFill>
                  <a:schemeClr val="accent1"/>
                </a:solidFill>
              </a:rPr>
              <a:t>AI community and AI labs.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820A0-5FB0-ABBC-99F9-D481F596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76" y="2022684"/>
            <a:ext cx="2476500" cy="39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492941-57DB-7867-5632-0D1D1622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76" y="2534888"/>
            <a:ext cx="5110843" cy="16570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A09923-9824-F226-71E9-F1E2C75D9178}"/>
              </a:ext>
            </a:extLst>
          </p:cNvPr>
          <p:cNvSpPr txBox="1"/>
          <p:nvPr/>
        </p:nvSpPr>
        <p:spPr>
          <a:xfrm>
            <a:off x="225824" y="4475429"/>
            <a:ext cx="6955973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accent1"/>
                </a:solidFill>
              </a:rPr>
              <a:t>4. Using this new prompt object rerun your </a:t>
            </a:r>
            <a:r>
              <a:rPr lang="en-US" dirty="0" err="1">
                <a:solidFill>
                  <a:schemeClr val="accent1"/>
                </a:solidFill>
              </a:rPr>
              <a:t>lm</a:t>
            </a:r>
            <a:r>
              <a:rPr lang="en-US" dirty="0">
                <a:solidFill>
                  <a:schemeClr val="accent1"/>
                </a:solidFill>
              </a:rPr>
              <a:t>-studio script.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AC9303-17C0-9D17-C536-3CBAF322F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115" y="1984183"/>
            <a:ext cx="2531868" cy="229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7553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E210-E6D1-543C-4F5F-4D3DCAE5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There are multiple jailbreak prompts, be aware people use them in production systems! Don’t do this.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BC4F0-A858-2EC5-A432-840B0E5600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50" t="26792" r="9812"/>
          <a:stretch/>
        </p:blipFill>
        <p:spPr>
          <a:xfrm>
            <a:off x="80179" y="1812472"/>
            <a:ext cx="2835337" cy="20492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EF727-267E-6E6A-BACA-B4C00AFF36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74"/>
          <a:stretch/>
        </p:blipFill>
        <p:spPr>
          <a:xfrm>
            <a:off x="3019493" y="1722664"/>
            <a:ext cx="3208993" cy="2893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344761-1466-249A-5199-F22E8EA52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57" y="2026991"/>
            <a:ext cx="2745364" cy="15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9970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133F-8533-B07E-3596-B4D024ED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Thus, LLM security &amp; observability is an emerging business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F50DA-B7B5-8D87-583E-06901818F282}"/>
              </a:ext>
            </a:extLst>
          </p:cNvPr>
          <p:cNvSpPr txBox="1"/>
          <p:nvPr/>
        </p:nvSpPr>
        <p:spPr>
          <a:xfrm>
            <a:off x="152400" y="4620280"/>
            <a:ext cx="457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AFAFF"/>
                </a:solidFill>
                <a:hlinkClick r:id="rId2"/>
              </a:rPr>
              <a:t>https://gandalf.lakera.ai/</a:t>
            </a:r>
            <a:endParaRPr lang="en-US" dirty="0">
              <a:solidFill>
                <a:srgbClr val="FAFAFF"/>
              </a:solidFill>
            </a:endParaRPr>
          </a:p>
          <a:p>
            <a:endParaRPr lang="en-US" dirty="0">
              <a:solidFill>
                <a:srgbClr val="FAFA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8A731-12F8-4589-CECD-7964530D0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266" y="675640"/>
            <a:ext cx="43307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29926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A5BE-B177-319D-4647-8DDA76FF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some people prefer broken/uncensored models.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F34A89-09D1-B9A2-B4ED-063D79484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731160"/>
            <a:ext cx="4786202" cy="26080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7DDE0C-D87C-F02F-1C76-0A56B56CF418}"/>
              </a:ext>
            </a:extLst>
          </p:cNvPr>
          <p:cNvSpPr txBox="1"/>
          <p:nvPr/>
        </p:nvSpPr>
        <p:spPr>
          <a:xfrm>
            <a:off x="170121" y="3339247"/>
            <a:ext cx="3778102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https://huggingface.co/OBLITERATUS/Gemma-4-12B-OBLITERATED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EB817F-381E-775C-E3EC-5CB8E4AC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798" y="1417674"/>
            <a:ext cx="3254895" cy="28539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58E51-A6C0-F1BF-3179-F6D93976B431}"/>
              </a:ext>
            </a:extLst>
          </p:cNvPr>
          <p:cNvSpPr txBox="1"/>
          <p:nvPr/>
        </p:nvSpPr>
        <p:spPr>
          <a:xfrm>
            <a:off x="4462797" y="4271630"/>
            <a:ext cx="3254895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900" dirty="0">
                <a:hlinkClick r:id="rId5"/>
              </a:rPr>
              <a:t>https://github.com/p-e-w/heretic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2337639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1D35-5A66-7CD4-97CD-7DA29399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 can efficiently use LLMs in a workflow but be mindful of the instructions.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B05DD-85AC-E5F7-15E4-DAB3DEB8179B}"/>
              </a:ext>
            </a:extLst>
          </p:cNvPr>
          <p:cNvSpPr txBox="1"/>
          <p:nvPr/>
        </p:nvSpPr>
        <p:spPr>
          <a:xfrm>
            <a:off x="225824" y="783954"/>
            <a:ext cx="457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D_llm_content_generation.R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F7C4D4-E04E-DD08-49F5-7BF7AE037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00" y="2150109"/>
            <a:ext cx="1828800" cy="1828800"/>
          </a:xfrm>
          <a:prstGeom prst="ellipse">
            <a:avLst/>
          </a:prstGeom>
          <a:ln>
            <a:solidFill>
              <a:srgbClr val="FF40FF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FDD443-C282-5C70-1E66-91501EF99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0109"/>
            <a:ext cx="1828800" cy="1828800"/>
          </a:xfrm>
          <a:prstGeom prst="ellipse">
            <a:avLst/>
          </a:prstGeom>
          <a:ln>
            <a:solidFill>
              <a:srgbClr val="FF40F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EDEF5C-7A1D-1081-F124-BA77E7963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500" y="2150109"/>
            <a:ext cx="1828800" cy="1828800"/>
          </a:xfrm>
          <a:prstGeom prst="ellipse">
            <a:avLst/>
          </a:prstGeom>
          <a:ln>
            <a:solidFill>
              <a:srgbClr val="FF40F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05C3B4-5D7F-DB5F-0C70-787A3F529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500" y="2150109"/>
            <a:ext cx="1828800" cy="1828800"/>
          </a:xfrm>
          <a:prstGeom prst="ellipse">
            <a:avLst/>
          </a:prstGeom>
          <a:ln>
            <a:solidFill>
              <a:srgbClr val="FF40FF"/>
            </a:solidFill>
          </a:ln>
        </p:spPr>
      </p:pic>
    </p:spTree>
    <p:extLst>
      <p:ext uri="{BB962C8B-B14F-4D97-AF65-F5344CB8AC3E}">
        <p14:creationId xmlns:p14="http://schemas.microsoft.com/office/powerpoint/2010/main" val="220417507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EC59-DF6A-E991-45F3-0D414211D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852" y="894164"/>
            <a:ext cx="3034537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More info on System Prompts.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F38F61-DCE0-135E-F0B2-A3A819E35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740" y="0"/>
            <a:ext cx="572226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51168E-11D0-74A3-D07E-8BEDFBEFED63}"/>
              </a:ext>
            </a:extLst>
          </p:cNvPr>
          <p:cNvSpPr txBox="1"/>
          <p:nvPr/>
        </p:nvSpPr>
        <p:spPr>
          <a:xfrm>
            <a:off x="7551258" y="4897281"/>
            <a:ext cx="1592742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*AI Generated, forgive the typos!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8A60F-03A0-959A-BD43-93360C127C95}"/>
              </a:ext>
            </a:extLst>
          </p:cNvPr>
          <p:cNvSpPr txBox="1"/>
          <p:nvPr/>
        </p:nvSpPr>
        <p:spPr>
          <a:xfrm>
            <a:off x="202852" y="1623062"/>
            <a:ext cx="2825159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A system prompt is a specialized type of prompt used in AI language models that sets the overall context, behavior, or persona for the AI's responses. It acts as a foundational instruction set that guides the model's conduct throughout an interaction, often without being directly visible to the end-user.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5DCD0-5C2F-F637-570B-75B2236E749F}"/>
              </a:ext>
            </a:extLst>
          </p:cNvPr>
          <p:cNvSpPr txBox="1"/>
          <p:nvPr/>
        </p:nvSpPr>
        <p:spPr>
          <a:xfrm>
            <a:off x="202852" y="3501449"/>
            <a:ext cx="2649121" cy="12311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System Prompt Best Practices</a:t>
            </a:r>
          </a:p>
          <a:p>
            <a:pPr marL="120650" marR="0" indent="-1143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Give context</a:t>
            </a:r>
          </a:p>
          <a:p>
            <a:pPr marL="120650" marR="0" indent="-1143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Specify </a:t>
            </a:r>
            <a:r>
              <a:rPr lang="en-US" sz="1200" dirty="0">
                <a:solidFill>
                  <a:schemeClr val="accent4"/>
                </a:solidFill>
              </a:rPr>
              <a:t>Response Format</a:t>
            </a:r>
          </a:p>
          <a:p>
            <a:pPr marL="120650" marR="0" indent="-1143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Clear &amp; Specific</a:t>
            </a:r>
          </a:p>
          <a:p>
            <a:pPr marL="120650" marR="0" indent="-1143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Examples help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  <a:p>
            <a:pPr marL="120650" marR="0" indent="-1143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Breaks task down to subset &amp; steps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927130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C0BE-23EE-4506-7489-0DA65AF3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jailbreak system prompts of all models!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E9A52-CB7A-F384-2EF2-73986A4D8296}"/>
              </a:ext>
            </a:extLst>
          </p:cNvPr>
          <p:cNvSpPr txBox="1"/>
          <p:nvPr/>
        </p:nvSpPr>
        <p:spPr>
          <a:xfrm>
            <a:off x="2640418" y="4698563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AFAFF"/>
                </a:solidFill>
              </a:rPr>
              <a:t>https://</a:t>
            </a:r>
            <a:r>
              <a:rPr lang="en-US" dirty="0" err="1">
                <a:solidFill>
                  <a:srgbClr val="FAFAFF"/>
                </a:solidFill>
              </a:rPr>
              <a:t>github.com</a:t>
            </a:r>
            <a:r>
              <a:rPr lang="en-US" dirty="0">
                <a:solidFill>
                  <a:srgbClr val="FAFAFF"/>
                </a:solidFill>
              </a:rPr>
              <a:t>/elder-</a:t>
            </a:r>
            <a:r>
              <a:rPr lang="en-US" dirty="0" err="1">
                <a:solidFill>
                  <a:srgbClr val="FAFAFF"/>
                </a:solidFill>
              </a:rPr>
              <a:t>plinius</a:t>
            </a:r>
            <a:r>
              <a:rPr lang="en-US" dirty="0">
                <a:solidFill>
                  <a:srgbClr val="FAFAFF"/>
                </a:solidFill>
              </a:rPr>
              <a:t>/CL4R1T4S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98E94-5FD7-D4A1-761C-7E9B3A93F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776797"/>
            <a:ext cx="5449964" cy="30934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A64710-7AD0-AF04-2E87-980612ACB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641" y="1983601"/>
            <a:ext cx="4403651" cy="26526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56354961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C246C-AA22-5F99-0E21-08706A3D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3B813F-3397-AF15-2606-AE8E6215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28" y="273845"/>
            <a:ext cx="8732874" cy="443608"/>
          </a:xfrm>
        </p:spPr>
        <p:txBody>
          <a:bodyPr/>
          <a:lstStyle/>
          <a:p>
            <a:r>
              <a:rPr lang="en-US" dirty="0" err="1"/>
              <a:t>Hagll.com</a:t>
            </a:r>
            <a:r>
              <a:rPr lang="en-US" dirty="0"/>
              <a:t> – My current research is agent to agent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24B8-70E9-E0AD-7FAE-06347A93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BE0A2-0F5B-3BCB-7891-DDAED56F1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49317-AAAB-2367-0880-2BE751A21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6" y="978016"/>
            <a:ext cx="3049784" cy="19636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B52B4-59E5-D286-A6A7-28CBC796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1596822"/>
            <a:ext cx="3764458" cy="22521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33EC41-CF20-C81B-AAD4-2EC84608E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51" y="2364488"/>
            <a:ext cx="3886199" cy="24594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30838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Up-Down Arrow 12">
            <a:extLst>
              <a:ext uri="{FF2B5EF4-FFF2-40B4-BE49-F238E27FC236}">
                <a16:creationId xmlns:a16="http://schemas.microsoft.com/office/drawing/2014/main" id="{884A17F5-6521-87D0-421E-118FF036F650}"/>
              </a:ext>
            </a:extLst>
          </p:cNvPr>
          <p:cNvSpPr/>
          <p:nvPr/>
        </p:nvSpPr>
        <p:spPr>
          <a:xfrm>
            <a:off x="6455383" y="941497"/>
            <a:ext cx="410114" cy="3696999"/>
          </a:xfrm>
          <a:prstGeom prst="upDownArrow">
            <a:avLst/>
          </a:prstGeom>
          <a:solidFill>
            <a:schemeClr val="accent3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E3E95-DDF0-27F8-55EB-697C5E26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 LLM for sentiment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A0558-99E6-BB62-4D33-4561768F2E71}"/>
              </a:ext>
            </a:extLst>
          </p:cNvPr>
          <p:cNvSpPr txBox="1"/>
          <p:nvPr/>
        </p:nvSpPr>
        <p:spPr>
          <a:xfrm>
            <a:off x="225822" y="697962"/>
            <a:ext cx="457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E_llm_sentiment.R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F_openrouter_llm_sentiment_new_sysprompt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02CE4-1F1A-8011-B778-D134BD8F9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862" y="2501142"/>
            <a:ext cx="2076138" cy="2642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C619C9-4824-2C2D-8EBB-DFEE5C8A4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861" y="0"/>
            <a:ext cx="2076139" cy="2642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0218EA-C965-6FB3-D53F-04A5FB700E6C}"/>
              </a:ext>
            </a:extLst>
          </p:cNvPr>
          <p:cNvSpPr txBox="1"/>
          <p:nvPr/>
        </p:nvSpPr>
        <p:spPr>
          <a:xfrm>
            <a:off x="6048532" y="3668569"/>
            <a:ext cx="100513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5"/>
                </a:solidFill>
              </a:rPr>
              <a:t>Positive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8CA11-0B06-F727-E427-FF0D9EC1B4DE}"/>
              </a:ext>
            </a:extLst>
          </p:cNvPr>
          <p:cNvSpPr txBox="1"/>
          <p:nvPr/>
        </p:nvSpPr>
        <p:spPr>
          <a:xfrm>
            <a:off x="6048532" y="1308373"/>
            <a:ext cx="100513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accent2"/>
                </a:solidFill>
              </a:rPr>
              <a:t>Negative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61076-45CA-F5BB-638A-840D4EA3CBB4}"/>
              </a:ext>
            </a:extLst>
          </p:cNvPr>
          <p:cNvSpPr txBox="1"/>
          <p:nvPr/>
        </p:nvSpPr>
        <p:spPr>
          <a:xfrm>
            <a:off x="6048532" y="2488471"/>
            <a:ext cx="100513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</a:rPr>
              <a:t>Neutral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321D4-3356-2EFA-BAA9-52C1944C81FB}"/>
              </a:ext>
            </a:extLst>
          </p:cNvPr>
          <p:cNvSpPr txBox="1"/>
          <p:nvPr/>
        </p:nvSpPr>
        <p:spPr>
          <a:xfrm>
            <a:off x="225823" y="2226860"/>
            <a:ext cx="5808513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LLMs are good are getting polarity because they more aptly pick up on sarcasm and nuance semantic structure then dictionary based approaches.  However, pinpointing/explaining LLM reasoning in a response is not readily understood.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4AE1A-FEA0-3A9F-A360-850D769E50C2}"/>
              </a:ext>
            </a:extLst>
          </p:cNvPr>
          <p:cNvSpPr txBox="1"/>
          <p:nvPr/>
        </p:nvSpPr>
        <p:spPr>
          <a:xfrm>
            <a:off x="225823" y="1200650"/>
            <a:ext cx="595352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G_llm_sentiment_workflow.R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chemeClr val="accent4"/>
                </a:solidFill>
              </a:rPr>
              <a:t>[using a prompt chain &amp; changing system prompts]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3199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C89E-7BF6-D7E3-9BAF-51EBB376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Summarization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DC998-5226-2C85-6EFE-056D408A95C5}"/>
              </a:ext>
            </a:extLst>
          </p:cNvPr>
          <p:cNvSpPr txBox="1"/>
          <p:nvPr/>
        </p:nvSpPr>
        <p:spPr>
          <a:xfrm>
            <a:off x="471487" y="1593503"/>
            <a:ext cx="2007394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accent4"/>
                </a:solidFill>
                <a:effectLst/>
                <a:latin typeface="Google Sans"/>
              </a:rPr>
              <a:t>Text summarization is the process of shortening a piece of text while preserving its key information and overall meaning. </a:t>
            </a:r>
            <a:r>
              <a:rPr lang="en-US" b="0" i="0" dirty="0">
                <a:solidFill>
                  <a:schemeClr val="accent4"/>
                </a:solidFill>
                <a:effectLst/>
                <a:latin typeface="Google Sans"/>
              </a:rPr>
              <a:t>Identifies and extracts the most important points by rephrasing them. 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17FB0-6E8C-0A2F-0F65-0854D39B1E55}"/>
              </a:ext>
            </a:extLst>
          </p:cNvPr>
          <p:cNvSpPr txBox="1"/>
          <p:nvPr/>
        </p:nvSpPr>
        <p:spPr>
          <a:xfrm>
            <a:off x="3357562" y="1593503"/>
            <a:ext cx="2007394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6"/>
                </a:solidFill>
                <a:effectLst/>
                <a:latin typeface="Google Sans"/>
              </a:rPr>
              <a:t>Text summarization allows for the efficient &amp; effective processing of large amounts of text saving time, information access, &amp; may enhances some NLP tasks. 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24F6F-0A6D-0C6D-D551-C6041AC84B56}"/>
              </a:ext>
            </a:extLst>
          </p:cNvPr>
          <p:cNvSpPr txBox="1"/>
          <p:nvPr/>
        </p:nvSpPr>
        <p:spPr>
          <a:xfrm>
            <a:off x="471487" y="1214438"/>
            <a:ext cx="1793082" cy="3071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4021-7AE0-BB44-6BAB-82DA81ACF8B7}"/>
              </a:ext>
            </a:extLst>
          </p:cNvPr>
          <p:cNvSpPr txBox="1"/>
          <p:nvPr/>
        </p:nvSpPr>
        <p:spPr>
          <a:xfrm>
            <a:off x="3357562" y="1214437"/>
            <a:ext cx="1793082" cy="3071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Why it matters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191F2-AE02-FD9A-5589-A3FEA4EF7714}"/>
              </a:ext>
            </a:extLst>
          </p:cNvPr>
          <p:cNvSpPr txBox="1"/>
          <p:nvPr/>
        </p:nvSpPr>
        <p:spPr>
          <a:xfrm>
            <a:off x="557213" y="4050506"/>
            <a:ext cx="116443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Population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ABA7D-D999-0692-7227-F56D5F76D12D}"/>
              </a:ext>
            </a:extLst>
          </p:cNvPr>
          <p:cNvSpPr txBox="1"/>
          <p:nvPr/>
        </p:nvSpPr>
        <p:spPr>
          <a:xfrm>
            <a:off x="3514724" y="4050506"/>
            <a:ext cx="169306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Summary Statistics</a:t>
            </a:r>
          </a:p>
        </p:txBody>
      </p:sp>
      <p:pic>
        <p:nvPicPr>
          <p:cNvPr id="11" name="Picture 26">
            <a:extLst>
              <a:ext uri="{FF2B5EF4-FFF2-40B4-BE49-F238E27FC236}">
                <a16:creationId xmlns:a16="http://schemas.microsoft.com/office/drawing/2014/main" id="{44E448D2-1422-CA62-32CD-87EC404B0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4"/>
          <a:stretch/>
        </p:blipFill>
        <p:spPr bwMode="auto">
          <a:xfrm>
            <a:off x="5815012" y="1214437"/>
            <a:ext cx="2426138" cy="173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5">
            <a:extLst>
              <a:ext uri="{FF2B5EF4-FFF2-40B4-BE49-F238E27FC236}">
                <a16:creationId xmlns:a16="http://schemas.microsoft.com/office/drawing/2014/main" id="{0E513C1D-3D5C-15FA-5D51-DF2ADE1D8410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5"/>
          <a:stretch/>
        </p:blipFill>
        <p:spPr bwMode="auto">
          <a:xfrm>
            <a:off x="6427760" y="1855699"/>
            <a:ext cx="2281648" cy="160043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90780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632B-3827-B421-83F9-F96E8D9FD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DE0A-0072-9DBC-50A2-B510FEF2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measure summarization quality?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D332A-C3BD-8AA9-32D0-30B613587D64}"/>
              </a:ext>
            </a:extLst>
          </p:cNvPr>
          <p:cNvSpPr txBox="1"/>
          <p:nvPr/>
        </p:nvSpPr>
        <p:spPr>
          <a:xfrm>
            <a:off x="121442" y="658833"/>
            <a:ext cx="890111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Jaccard Similarity* </a:t>
            </a:r>
            <a:r>
              <a:rPr lang="en-US" dirty="0">
                <a:solidFill>
                  <a:schemeClr val="accent3"/>
                </a:solidFill>
              </a:rPr>
              <a:t>measures how </a:t>
            </a:r>
            <a:r>
              <a:rPr lang="en-US" i="1" dirty="0">
                <a:solidFill>
                  <a:schemeClr val="accent3"/>
                </a:solidFill>
              </a:rPr>
              <a:t>similar</a:t>
            </a:r>
            <a:r>
              <a:rPr lang="en-US" dirty="0">
                <a:solidFill>
                  <a:schemeClr val="accent3"/>
                </a:solidFill>
              </a:rPr>
              <a:t> two sets are. In NLP, these "sets" are the words in the documents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E560B-0E71-BD71-AD30-2EABFFE2841D}"/>
              </a:ext>
            </a:extLst>
          </p:cNvPr>
          <p:cNvSpPr txBox="1"/>
          <p:nvPr/>
        </p:nvSpPr>
        <p:spPr>
          <a:xfrm>
            <a:off x="121443" y="4698565"/>
            <a:ext cx="8901111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*there are many others that are more complex not covered in class but worth exploring: </a:t>
            </a:r>
          </a:p>
          <a:p>
            <a:r>
              <a:rPr kumimoji="0" lang="en-US" sz="1200" b="1" i="0" u="sng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Cosine Sim</a:t>
            </a:r>
            <a:r>
              <a:rPr kumimoji="0" lang="en-US" sz="120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, BERT, LSA, </a:t>
            </a:r>
            <a:r>
              <a:rPr lang="en-US" sz="1200" dirty="0">
                <a:solidFill>
                  <a:schemeClr val="accent3"/>
                </a:solidFill>
              </a:rPr>
              <a:t>ROUGE, BLEU- you can use APIs for these of check out </a:t>
            </a:r>
            <a:r>
              <a:rPr lang="en-US" sz="1200" dirty="0" err="1">
                <a:solidFill>
                  <a:schemeClr val="accent3"/>
                </a:solidFill>
              </a:rPr>
              <a:t>stringdist</a:t>
            </a:r>
            <a:r>
              <a:rPr lang="en-US" sz="1200" dirty="0">
                <a:solidFill>
                  <a:schemeClr val="accent3"/>
                </a:solidFill>
              </a:rPr>
              <a:t>, </a:t>
            </a:r>
            <a:r>
              <a:rPr lang="en-US" sz="1200" dirty="0" err="1">
                <a:solidFill>
                  <a:schemeClr val="accent3"/>
                </a:solidFill>
              </a:rPr>
              <a:t>textreuse</a:t>
            </a:r>
            <a:r>
              <a:rPr lang="en-US" sz="1200" dirty="0">
                <a:solidFill>
                  <a:schemeClr val="accent3"/>
                </a:solidFill>
              </a:rPr>
              <a:t> &amp; </a:t>
            </a:r>
            <a:r>
              <a:rPr lang="en-US" sz="1200" dirty="0" err="1">
                <a:solidFill>
                  <a:schemeClr val="accent3"/>
                </a:solidFill>
              </a:rPr>
              <a:t>sacRebleu</a:t>
            </a:r>
            <a:r>
              <a:rPr lang="en-US" sz="1200" dirty="0">
                <a:solidFill>
                  <a:schemeClr val="accent3"/>
                </a:solidFill>
              </a:rPr>
              <a:t> packages</a:t>
            </a:r>
            <a:endParaRPr kumimoji="0" lang="en-US" sz="120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A3F12C-671D-8CAF-C55C-F7508FF4F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3" y="1378192"/>
            <a:ext cx="2731294" cy="2731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8BF9AE-032B-1707-2DBC-F8A0E9AD0B42}"/>
              </a:ext>
            </a:extLst>
          </p:cNvPr>
          <p:cNvSpPr txBox="1"/>
          <p:nvPr/>
        </p:nvSpPr>
        <p:spPr>
          <a:xfrm>
            <a:off x="4848224" y="1117356"/>
            <a:ext cx="278218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Set two – summarized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9A3D8-34F7-14C4-967F-F5EBA5D77734}"/>
              </a:ext>
            </a:extLst>
          </p:cNvPr>
          <p:cNvSpPr txBox="1"/>
          <p:nvPr/>
        </p:nvSpPr>
        <p:spPr>
          <a:xfrm>
            <a:off x="576263" y="1084788"/>
            <a:ext cx="273129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Set one – original text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8B8767-F630-2B1A-11A2-24DCA5359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114" y="1378193"/>
            <a:ext cx="2731294" cy="273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5706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FA8A-F992-1A9E-2BEB-47BFE880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Jaccard Similarity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9F6CD-B8F6-9D11-FD41-A4C5B4CA3689}"/>
              </a:ext>
            </a:extLst>
          </p:cNvPr>
          <p:cNvSpPr txBox="1"/>
          <p:nvPr/>
        </p:nvSpPr>
        <p:spPr>
          <a:xfrm>
            <a:off x="121443" y="995719"/>
            <a:ext cx="3629026" cy="2492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Step 1: Tokenization &amp; Set Creation:</a:t>
            </a:r>
            <a:r>
              <a:rPr lang="en-US" sz="1200" dirty="0">
                <a:solidFill>
                  <a:schemeClr val="accent4"/>
                </a:solidFill>
              </a:rPr>
              <a:t> Break down each piece of text into n-grams.  Then each set is created of unique terms.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Step 2: Find the Intersection:</a:t>
            </a:r>
            <a:r>
              <a:rPr lang="en-US" sz="1200" dirty="0">
                <a:solidFill>
                  <a:schemeClr val="accent4"/>
                </a:solidFill>
              </a:rPr>
              <a:t> Count the number of words that are present in </a:t>
            </a:r>
            <a:r>
              <a:rPr lang="en-US" sz="1200" i="1" dirty="0">
                <a:solidFill>
                  <a:schemeClr val="accent4"/>
                </a:solidFill>
              </a:rPr>
              <a:t>both</a:t>
            </a:r>
            <a:r>
              <a:rPr lang="en-US" sz="1200" dirty="0">
                <a:solidFill>
                  <a:schemeClr val="accent4"/>
                </a:solidFill>
              </a:rPr>
              <a:t> sets.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Step 3: Find the Union:</a:t>
            </a:r>
            <a:r>
              <a:rPr lang="en-US" sz="1200" dirty="0">
                <a:solidFill>
                  <a:schemeClr val="accent4"/>
                </a:solidFill>
              </a:rPr>
              <a:t> Count the total number of </a:t>
            </a:r>
            <a:r>
              <a:rPr lang="en-US" sz="1200" i="1" dirty="0">
                <a:solidFill>
                  <a:schemeClr val="accent4"/>
                </a:solidFill>
              </a:rPr>
              <a:t>unique</a:t>
            </a:r>
            <a:r>
              <a:rPr lang="en-US" sz="1200" dirty="0">
                <a:solidFill>
                  <a:schemeClr val="accent4"/>
                </a:solidFill>
              </a:rPr>
              <a:t> words across </a:t>
            </a:r>
            <a:r>
              <a:rPr lang="en-US" sz="1200" i="1" dirty="0">
                <a:solidFill>
                  <a:schemeClr val="accent4"/>
                </a:solidFill>
              </a:rPr>
              <a:t>both</a:t>
            </a:r>
            <a:r>
              <a:rPr lang="en-US" sz="1200" dirty="0">
                <a:solidFill>
                  <a:schemeClr val="accent4"/>
                </a:solidFill>
              </a:rPr>
              <a:t> sets combined.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4"/>
              </a:solidFill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/>
                </a:solidFill>
              </a:rPr>
              <a:t>Step 4: Calculate the Ratio:</a:t>
            </a:r>
            <a:r>
              <a:rPr lang="en-US" sz="1200" dirty="0">
                <a:solidFill>
                  <a:schemeClr val="accent4"/>
                </a:solidFill>
              </a:rPr>
              <a:t> Divide the number of common words (intersection) by the total unique words (union).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399D2-49AF-01E1-10B1-72C7592734D4}"/>
              </a:ext>
            </a:extLst>
          </p:cNvPr>
          <p:cNvSpPr txBox="1"/>
          <p:nvPr/>
        </p:nvSpPr>
        <p:spPr>
          <a:xfrm>
            <a:off x="3957637" y="668685"/>
            <a:ext cx="517207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4"/>
                </a:solidFill>
              </a:rPr>
              <a:t>Example:</a:t>
            </a:r>
            <a:r>
              <a:rPr lang="en-US" dirty="0">
                <a:solidFill>
                  <a:schemeClr val="accent4"/>
                </a:solidFill>
              </a:rPr>
              <a:t> </a:t>
            </a:r>
          </a:p>
          <a:p>
            <a:r>
              <a:rPr lang="en-US" dirty="0">
                <a:solidFill>
                  <a:schemeClr val="accent4"/>
                </a:solidFill>
              </a:rPr>
              <a:t>"The quick brown dog" </a:t>
            </a:r>
            <a:r>
              <a:rPr lang="en-US" dirty="0">
                <a:solidFill>
                  <a:schemeClr val="accent3"/>
                </a:solidFill>
              </a:rPr>
              <a:t>-&gt; {The, quick, brown, dog}</a:t>
            </a:r>
          </a:p>
          <a:p>
            <a:r>
              <a:rPr lang="en-US" dirty="0">
                <a:solidFill>
                  <a:schemeClr val="accent4"/>
                </a:solidFill>
              </a:rPr>
              <a:t>"I like the cat and I like the dog" </a:t>
            </a:r>
            <a:r>
              <a:rPr lang="en-US" dirty="0">
                <a:solidFill>
                  <a:schemeClr val="accent3"/>
                </a:solidFill>
              </a:rPr>
              <a:t>-&gt; {I, like, the, cat, and, dog}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8B2CD-63B8-5BE9-589A-E96A9B533312}"/>
              </a:ext>
            </a:extLst>
          </p:cNvPr>
          <p:cNvSpPr txBox="1"/>
          <p:nvPr/>
        </p:nvSpPr>
        <p:spPr>
          <a:xfrm>
            <a:off x="4056336" y="1688216"/>
            <a:ext cx="517207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4"/>
                </a:solidFill>
              </a:rPr>
              <a:t>Intersection:</a:t>
            </a:r>
            <a:r>
              <a:rPr lang="en-US" dirty="0">
                <a:solidFill>
                  <a:schemeClr val="accent4"/>
                </a:solidFill>
              </a:rPr>
              <a:t> </a:t>
            </a:r>
          </a:p>
          <a:p>
            <a:r>
              <a:rPr lang="en-US" dirty="0">
                <a:solidFill>
                  <a:schemeClr val="accent4"/>
                </a:solidFill>
              </a:rPr>
              <a:t>"The quick brown dog" </a:t>
            </a:r>
            <a:r>
              <a:rPr lang="en-US" dirty="0">
                <a:solidFill>
                  <a:schemeClr val="accent3"/>
                </a:solidFill>
              </a:rPr>
              <a:t>-&gt; {The, dog}</a:t>
            </a:r>
          </a:p>
          <a:p>
            <a:r>
              <a:rPr lang="en-US" dirty="0">
                <a:solidFill>
                  <a:schemeClr val="accent4"/>
                </a:solidFill>
              </a:rPr>
              <a:t>"I like the cat and I like the dog" </a:t>
            </a:r>
            <a:r>
              <a:rPr lang="en-US" dirty="0">
                <a:solidFill>
                  <a:schemeClr val="accent3"/>
                </a:solidFill>
              </a:rPr>
              <a:t>-&gt; {the, dog}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A5329-D397-00CA-A709-E4ACF8B2B444}"/>
              </a:ext>
            </a:extLst>
          </p:cNvPr>
          <p:cNvSpPr txBox="1"/>
          <p:nvPr/>
        </p:nvSpPr>
        <p:spPr>
          <a:xfrm>
            <a:off x="4056336" y="3673375"/>
            <a:ext cx="517207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4"/>
                </a:solidFill>
              </a:rPr>
              <a:t>Ratio:</a:t>
            </a:r>
          </a:p>
          <a:p>
            <a:r>
              <a:rPr lang="en-US" dirty="0">
                <a:solidFill>
                  <a:schemeClr val="accent3"/>
                </a:solidFill>
              </a:rPr>
              <a:t>{the, dog}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/ {the, quick, brown, dog, I, like, cat, and }</a:t>
            </a:r>
            <a:endParaRPr lang="en-US" dirty="0"/>
          </a:p>
          <a:p>
            <a:r>
              <a:rPr lang="en-US" dirty="0">
                <a:solidFill>
                  <a:schemeClr val="accent3"/>
                </a:solidFill>
              </a:rPr>
              <a:t>2 / 8 = .25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6B27A-710D-C122-406B-2053F191253F}"/>
              </a:ext>
            </a:extLst>
          </p:cNvPr>
          <p:cNvSpPr txBox="1"/>
          <p:nvPr/>
        </p:nvSpPr>
        <p:spPr>
          <a:xfrm>
            <a:off x="4056336" y="2703879"/>
            <a:ext cx="517207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4"/>
                </a:solidFill>
              </a:rPr>
              <a:t>Union:</a:t>
            </a:r>
            <a:r>
              <a:rPr lang="en-US" dirty="0">
                <a:solidFill>
                  <a:schemeClr val="accent4"/>
                </a:solidFill>
              </a:rPr>
              <a:t> </a:t>
            </a:r>
          </a:p>
          <a:p>
            <a:r>
              <a:rPr lang="en-US" dirty="0">
                <a:solidFill>
                  <a:schemeClr val="accent4"/>
                </a:solidFill>
              </a:rPr>
              <a:t>"The quick brown dog I like the cat and I like the dog" </a:t>
            </a:r>
            <a:r>
              <a:rPr lang="en-US" dirty="0">
                <a:solidFill>
                  <a:schemeClr val="accent3"/>
                </a:solidFill>
              </a:rPr>
              <a:t>-&gt; </a:t>
            </a:r>
          </a:p>
          <a:p>
            <a:r>
              <a:rPr lang="en-US" dirty="0">
                <a:solidFill>
                  <a:schemeClr val="accent3"/>
                </a:solidFill>
              </a:rPr>
              <a:t>{the, quick, brown, dog, I, like, cat, and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45170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CA6F-5BAD-EE50-841A-7F43D391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Jaccard?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F7F79-FF9A-0468-EA6C-B056585B2168}"/>
              </a:ext>
            </a:extLst>
          </p:cNvPr>
          <p:cNvSpPr txBox="1"/>
          <p:nvPr/>
        </p:nvSpPr>
        <p:spPr>
          <a:xfrm>
            <a:off x="107156" y="1835825"/>
            <a:ext cx="4572000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The Jaccard Similarity score will always be a number between </a:t>
            </a:r>
            <a:r>
              <a:rPr lang="en-US" b="1" u="sng" dirty="0">
                <a:solidFill>
                  <a:schemeClr val="accent6"/>
                </a:solidFill>
              </a:rPr>
              <a:t>0 and 1</a:t>
            </a:r>
            <a:r>
              <a:rPr lang="en-US" dirty="0">
                <a:solidFill>
                  <a:schemeClr val="accent6"/>
                </a:solidFill>
              </a:rPr>
              <a:t>. </a:t>
            </a:r>
          </a:p>
          <a:p>
            <a:pPr marL="120650" indent="-1143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0:</a:t>
            </a:r>
            <a:r>
              <a:rPr lang="en-US" dirty="0">
                <a:solidFill>
                  <a:schemeClr val="accent6"/>
                </a:solidFill>
              </a:rPr>
              <a:t> No words in common (completely different tokens). </a:t>
            </a:r>
          </a:p>
          <a:p>
            <a:pPr marL="120650" indent="-1143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1:</a:t>
            </a:r>
            <a:r>
              <a:rPr lang="en-US" dirty="0">
                <a:solidFill>
                  <a:schemeClr val="accent6"/>
                </a:solidFill>
              </a:rPr>
              <a:t> All words are the same (identical tokens). </a:t>
            </a:r>
          </a:p>
          <a:p>
            <a:pPr marL="120650" indent="-1143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Higher Score = More Similar:</a:t>
            </a:r>
            <a:r>
              <a:rPr lang="en-US" dirty="0">
                <a:solidFill>
                  <a:schemeClr val="accent6"/>
                </a:solidFill>
              </a:rPr>
              <a:t> A higher Jaccard score means the two pieces of text share more words &amp; similarity.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40861-3432-5A56-0FDD-20F5C918C17B}"/>
              </a:ext>
            </a:extLst>
          </p:cNvPr>
          <p:cNvSpPr txBox="1"/>
          <p:nvPr/>
        </p:nvSpPr>
        <p:spPr>
          <a:xfrm>
            <a:off x="157163" y="1528050"/>
            <a:ext cx="302180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Interpretation is easy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485C3-2DF4-36F2-FBBB-3C3B0577B264}"/>
              </a:ext>
            </a:extLst>
          </p:cNvPr>
          <p:cNvSpPr txBox="1"/>
          <p:nvPr/>
        </p:nvSpPr>
        <p:spPr>
          <a:xfrm>
            <a:off x="4729163" y="1835825"/>
            <a:ext cx="4257674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Plagiarism Detection:</a:t>
            </a:r>
            <a:r>
              <a:rPr lang="en-US" dirty="0">
                <a:solidFill>
                  <a:schemeClr val="accent6"/>
                </a:solidFill>
              </a:rPr>
              <a:t> Identifying if documents have similar content. 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Basic Document Similarity:</a:t>
            </a:r>
            <a:r>
              <a:rPr lang="en-US" dirty="0">
                <a:solidFill>
                  <a:schemeClr val="accent6"/>
                </a:solidFill>
              </a:rPr>
              <a:t> Grouping similar news articles, research papers, etc. 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Basic Recommendation Systems:</a:t>
            </a:r>
            <a:r>
              <a:rPr lang="en-US" dirty="0">
                <a:solidFill>
                  <a:schemeClr val="accent6"/>
                </a:solidFill>
              </a:rPr>
              <a:t> Suggesting items based on shared characteristics.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841DD-BA40-4895-7D4F-409F9B0BC919}"/>
              </a:ext>
            </a:extLst>
          </p:cNvPr>
          <p:cNvSpPr txBox="1"/>
          <p:nvPr/>
        </p:nvSpPr>
        <p:spPr>
          <a:xfrm>
            <a:off x="4779170" y="1528050"/>
            <a:ext cx="302180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Where is it used?</a:t>
            </a:r>
          </a:p>
        </p:txBody>
      </p:sp>
    </p:spTree>
    <p:extLst>
      <p:ext uri="{BB962C8B-B14F-4D97-AF65-F5344CB8AC3E}">
        <p14:creationId xmlns:p14="http://schemas.microsoft.com/office/powerpoint/2010/main" val="1333016220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2218-E987-E35E-E696-4C4EE415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 LLM for summarization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5994F-4301-19F3-C314-A1143B8EE230}"/>
              </a:ext>
            </a:extLst>
          </p:cNvPr>
          <p:cNvSpPr txBox="1"/>
          <p:nvPr/>
        </p:nvSpPr>
        <p:spPr>
          <a:xfrm>
            <a:off x="225824" y="577271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H_llm_summarization.R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B18F6-2B83-8D5F-8B2A-97D0E5E728CA}"/>
              </a:ext>
            </a:extLst>
          </p:cNvPr>
          <p:cNvSpPr txBox="1"/>
          <p:nvPr/>
        </p:nvSpPr>
        <p:spPr>
          <a:xfrm>
            <a:off x="225824" y="1013543"/>
            <a:ext cx="43461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Here model choice matters. 1B models can’t really follow instructions too well but can do summarize still.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B1D19-4572-2743-354A-F35969D51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85450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54A8-DCAA-87F9-130F-F6A6F651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D7619D-8192-B7A4-17C1-0FF7EDC3D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20" y="241515"/>
            <a:ext cx="7689601" cy="4016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LLM Based Document Classification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C1ACC6-E0ED-4028-1B67-F1E841C84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679" y="0"/>
            <a:ext cx="4041321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6D1F74-3565-010B-9BAD-572A3DF75CC5}"/>
              </a:ext>
            </a:extLst>
          </p:cNvPr>
          <p:cNvSpPr txBox="1"/>
          <p:nvPr/>
        </p:nvSpPr>
        <p:spPr>
          <a:xfrm>
            <a:off x="710294" y="2052289"/>
            <a:ext cx="3461656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Assigning a document to one or more predefined categories, classes, or labels based on its content or other attributes.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570389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E631-CFA9-BF98-8B28-2AB98208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D7FEE7-900E-CACA-967F-EDC405FBFD48}"/>
              </a:ext>
            </a:extLst>
          </p:cNvPr>
          <p:cNvCxnSpPr>
            <a:cxnSpLocks/>
          </p:cNvCxnSpPr>
          <p:nvPr/>
        </p:nvCxnSpPr>
        <p:spPr>
          <a:xfrm flipV="1">
            <a:off x="6096476" y="4021653"/>
            <a:ext cx="1463625" cy="16738"/>
          </a:xfrm>
          <a:prstGeom prst="straightConnector1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FEEE4E-92D8-6E00-44F0-AE5B28EF200C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6085005" y="2236185"/>
            <a:ext cx="1463625" cy="16738"/>
          </a:xfrm>
          <a:prstGeom prst="straightConnector1">
            <a:avLst/>
          </a:prstGeom>
          <a:noFill/>
          <a:ln w="25400" cap="flat">
            <a:solidFill>
              <a:srgbClr val="FF40FF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EC2405-7A22-55B0-BA40-076622C42080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338943" y="4192073"/>
            <a:ext cx="1928113" cy="6884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E7B9945-E8CF-B6D3-9422-6F8842F4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Methods for document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E4BAA-9302-A6D8-5ABA-71D25BAC6B79}"/>
              </a:ext>
            </a:extLst>
          </p:cNvPr>
          <p:cNvSpPr txBox="1"/>
          <p:nvPr/>
        </p:nvSpPr>
        <p:spPr>
          <a:xfrm>
            <a:off x="225824" y="577271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I_llm_document_classification.R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D38C0E-464A-DCB2-3BBE-C8D925FC5E2D}"/>
              </a:ext>
            </a:extLst>
          </p:cNvPr>
          <p:cNvCxnSpPr/>
          <p:nvPr/>
        </p:nvCxnSpPr>
        <p:spPr>
          <a:xfrm flipV="1">
            <a:off x="1200056" y="2287798"/>
            <a:ext cx="1782047" cy="1377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BCC8169-6D60-A1B3-B6A3-5852DEC16586}"/>
              </a:ext>
            </a:extLst>
          </p:cNvPr>
          <p:cNvSpPr/>
          <p:nvPr/>
        </p:nvSpPr>
        <p:spPr>
          <a:xfrm>
            <a:off x="1564124" y="2146551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0034E-76E7-BB2B-209D-F1EF5D1EC192}"/>
              </a:ext>
            </a:extLst>
          </p:cNvPr>
          <p:cNvSpPr/>
          <p:nvPr/>
        </p:nvSpPr>
        <p:spPr>
          <a:xfrm>
            <a:off x="2964535" y="2040449"/>
            <a:ext cx="1018776" cy="461663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Numeric or 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AEA497-665F-51C3-5C22-1913F1D1F81C}"/>
              </a:ext>
            </a:extLst>
          </p:cNvPr>
          <p:cNvSpPr txBox="1"/>
          <p:nvPr/>
        </p:nvSpPr>
        <p:spPr>
          <a:xfrm>
            <a:off x="285750" y="1126050"/>
            <a:ext cx="429163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spc="0" normalizeH="0" baseline="0" dirty="0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Old Way </a:t>
            </a:r>
            <a:r>
              <a:rPr kumimoji="0" lang="en-US" sz="1200" b="0" i="0" strike="noStrike" cap="none" spc="0" normalizeH="0" baseline="0" dirty="0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– Build a model narrowly focused on the class</a:t>
            </a:r>
            <a:endParaRPr kumimoji="0" lang="en-US" sz="1400" b="0" i="0" strike="noStrike" cap="none" spc="0" normalizeH="0" baseline="0" dirty="0">
              <a:ln>
                <a:noFill/>
              </a:ln>
              <a:solidFill>
                <a:srgbClr val="FF40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452F0-ECBA-6B9D-6E95-F503224EFF69}"/>
              </a:ext>
            </a:extLst>
          </p:cNvPr>
          <p:cNvSpPr txBox="1"/>
          <p:nvPr/>
        </p:nvSpPr>
        <p:spPr>
          <a:xfrm>
            <a:off x="146740" y="3530357"/>
            <a:ext cx="1959429" cy="2616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Logistic Regression Example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7AA50-8050-803C-3B58-4800CB82F407}"/>
              </a:ext>
            </a:extLst>
          </p:cNvPr>
          <p:cNvSpPr/>
          <p:nvPr/>
        </p:nvSpPr>
        <p:spPr>
          <a:xfrm>
            <a:off x="146740" y="3822743"/>
            <a:ext cx="1192203" cy="738662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DTM with Y Variable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CD8D20-B4A2-CCA3-44C6-BDB0239AE716}"/>
              </a:ext>
            </a:extLst>
          </p:cNvPr>
          <p:cNvSpPr/>
          <p:nvPr/>
        </p:nvSpPr>
        <p:spPr>
          <a:xfrm>
            <a:off x="1543050" y="3868909"/>
            <a:ext cx="1445079" cy="646329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Ridge Regression [other methods exist too]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01896F-13E9-A064-A7E3-3F00B8AEFF83}"/>
              </a:ext>
            </a:extLst>
          </p:cNvPr>
          <p:cNvSpPr/>
          <p:nvPr/>
        </p:nvSpPr>
        <p:spPr>
          <a:xfrm>
            <a:off x="163713" y="2163069"/>
            <a:ext cx="1018776" cy="276997"/>
          </a:xfrm>
          <a:prstGeom prst="rect">
            <a:avLst/>
          </a:prstGeom>
          <a:solidFill>
            <a:schemeClr val="accent1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Labeled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0B18EF-4E7E-389F-98D5-26127A7FC162}"/>
              </a:ext>
            </a:extLst>
          </p:cNvPr>
          <p:cNvSpPr/>
          <p:nvPr/>
        </p:nvSpPr>
        <p:spPr>
          <a:xfrm>
            <a:off x="3267056" y="3961241"/>
            <a:ext cx="1157988" cy="461663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Readmission Vs Not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05BAA-DD01-47B7-8870-FB99C3035EEE}"/>
              </a:ext>
            </a:extLst>
          </p:cNvPr>
          <p:cNvSpPr/>
          <p:nvPr/>
        </p:nvSpPr>
        <p:spPr>
          <a:xfrm>
            <a:off x="6354427" y="2036131"/>
            <a:ext cx="846667" cy="400108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Generative AI GPT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F553E0-78A1-0F77-0D81-E7F960E2B0E0}"/>
              </a:ext>
            </a:extLst>
          </p:cNvPr>
          <p:cNvSpPr txBox="1"/>
          <p:nvPr/>
        </p:nvSpPr>
        <p:spPr>
          <a:xfrm>
            <a:off x="4686493" y="1126050"/>
            <a:ext cx="4351365" cy="492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spc="0" normalizeH="0" baseline="0" dirty="0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New Way </a:t>
            </a:r>
            <a:r>
              <a:rPr kumimoji="0" lang="en-US" sz="1200" b="0" i="0" strike="noStrike" cap="none" spc="0" normalizeH="0" baseline="0" dirty="0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– the model has an understanding of many classes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solidFill>
                  <a:srgbClr val="FF40FF"/>
                </a:solidFill>
              </a:rPr>
              <a:t>- Probabilistic not deterministic</a:t>
            </a:r>
            <a:endParaRPr kumimoji="0" lang="en-US" sz="1400" b="1" i="0" strike="noStrike" cap="none" spc="0" normalizeH="0" baseline="0" dirty="0">
              <a:ln>
                <a:noFill/>
              </a:ln>
              <a:solidFill>
                <a:srgbClr val="FF40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E124A-4E0C-B5CA-E318-A847227B13BB}"/>
              </a:ext>
            </a:extLst>
          </p:cNvPr>
          <p:cNvSpPr txBox="1"/>
          <p:nvPr/>
        </p:nvSpPr>
        <p:spPr>
          <a:xfrm>
            <a:off x="5270591" y="2835618"/>
            <a:ext cx="96269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Unlabeled Data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FD5595-815F-35D0-9AFB-FBA630AFC03B}"/>
              </a:ext>
            </a:extLst>
          </p:cNvPr>
          <p:cNvCxnSpPr/>
          <p:nvPr/>
        </p:nvCxnSpPr>
        <p:spPr>
          <a:xfrm>
            <a:off x="4577388" y="1423381"/>
            <a:ext cx="0" cy="3314700"/>
          </a:xfrm>
          <a:prstGeom prst="line">
            <a:avLst/>
          </a:prstGeom>
          <a:noFill/>
          <a:ln w="25400" cap="flat">
            <a:solidFill>
              <a:schemeClr val="accent3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22A2E18-3849-7C03-F8A5-46E180C66D57}"/>
              </a:ext>
            </a:extLst>
          </p:cNvPr>
          <p:cNvSpPr/>
          <p:nvPr/>
        </p:nvSpPr>
        <p:spPr>
          <a:xfrm>
            <a:off x="4729733" y="2099035"/>
            <a:ext cx="1355272" cy="30777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Unlabeled 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424B02-02C8-08B3-D20D-80CF8397D584}"/>
              </a:ext>
            </a:extLst>
          </p:cNvPr>
          <p:cNvSpPr/>
          <p:nvPr/>
        </p:nvSpPr>
        <p:spPr>
          <a:xfrm>
            <a:off x="7548630" y="1866854"/>
            <a:ext cx="1355272" cy="738662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Multiple Types of g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enerated output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272C91-A710-BB4D-902B-70B697C3789C}"/>
              </a:ext>
            </a:extLst>
          </p:cNvPr>
          <p:cNvSpPr/>
          <p:nvPr/>
        </p:nvSpPr>
        <p:spPr>
          <a:xfrm>
            <a:off x="4811376" y="3464022"/>
            <a:ext cx="1355272" cy="1169549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Document Classification System Prompt &amp; Document to classify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083877-B2DB-BF1E-3DBE-0AFDD545B016}"/>
              </a:ext>
            </a:extLst>
          </p:cNvPr>
          <p:cNvSpPr/>
          <p:nvPr/>
        </p:nvSpPr>
        <p:spPr>
          <a:xfrm>
            <a:off x="6414242" y="3860745"/>
            <a:ext cx="846667" cy="400108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Generative AI GPT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1118F0-DF7E-2792-CBCF-45E30821100D}"/>
              </a:ext>
            </a:extLst>
          </p:cNvPr>
          <p:cNvSpPr/>
          <p:nvPr/>
        </p:nvSpPr>
        <p:spPr>
          <a:xfrm>
            <a:off x="7560101" y="3571744"/>
            <a:ext cx="1355272" cy="95410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Document Tagging, Classification, NER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95938-485D-5E4A-DB8B-F1F85DE5ACD9}"/>
              </a:ext>
            </a:extLst>
          </p:cNvPr>
          <p:cNvSpPr txBox="1"/>
          <p:nvPr/>
        </p:nvSpPr>
        <p:spPr>
          <a:xfrm>
            <a:off x="4797824" y="3111677"/>
            <a:ext cx="251460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spc="0" normalizeH="0" baseline="0" dirty="0">
                <a:ln>
                  <a:noFill/>
                </a:ln>
                <a:solidFill>
                  <a:srgbClr val="FF40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Just ask!</a:t>
            </a:r>
          </a:p>
        </p:txBody>
      </p:sp>
    </p:spTree>
    <p:extLst>
      <p:ext uri="{BB962C8B-B14F-4D97-AF65-F5344CB8AC3E}">
        <p14:creationId xmlns:p14="http://schemas.microsoft.com/office/powerpoint/2010/main" val="3713735426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2543-7172-F47A-5092-8C37F46C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617925" cy="594000"/>
          </a:xfrm>
        </p:spPr>
        <p:txBody>
          <a:bodyPr>
            <a:normAutofit/>
          </a:bodyPr>
          <a:lstStyle/>
          <a:p>
            <a:r>
              <a:rPr lang="en-US" dirty="0"/>
              <a:t>Think of LLMS as useful tools for specific tasks like 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7D9DD-6D56-DA3F-EA66-9DD8AE162C64}"/>
              </a:ext>
            </a:extLst>
          </p:cNvPr>
          <p:cNvSpPr txBox="1"/>
          <p:nvPr/>
        </p:nvSpPr>
        <p:spPr>
          <a:xfrm>
            <a:off x="5308978" y="1878646"/>
            <a:ext cx="2913797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DFDFD"/>
                </a:solidFill>
                <a:effectLst/>
                <a:latin typeface="ui-sans-serif"/>
              </a:rPr>
              <a:t>Named </a:t>
            </a:r>
            <a:r>
              <a:rPr lang="en-US" dirty="0">
                <a:solidFill>
                  <a:srgbClr val="FDFDFD"/>
                </a:solidFill>
                <a:latin typeface="ui-sans-serif"/>
              </a:rPr>
              <a:t>Entity Recognition &amp; </a:t>
            </a:r>
            <a:r>
              <a:rPr lang="en-US" b="0" i="0" dirty="0">
                <a:solidFill>
                  <a:srgbClr val="FDFDFD"/>
                </a:solidFill>
                <a:effectLst/>
                <a:latin typeface="ui-sans-serif"/>
              </a:rPr>
              <a:t>Named Entity Extraction (NEE) is a sub-task of Natural Language Processing (NLP) that automatically identifies and categorizes specific entities within unstructured text into predefined categories, such as person, organization, location, date, time, etc.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98CBB-2C3E-344D-B337-857FF4D7CC99}"/>
              </a:ext>
            </a:extLst>
          </p:cNvPr>
          <p:cNvSpPr txBox="1"/>
          <p:nvPr/>
        </p:nvSpPr>
        <p:spPr>
          <a:xfrm>
            <a:off x="225824" y="577271"/>
            <a:ext cx="291379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DFDFD"/>
                </a:solidFill>
                <a:effectLst/>
                <a:latin typeface="ui-sans-serif"/>
              </a:rPr>
              <a:t>Open J_LLM_NER.R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5A229-AB81-8FCC-7FA6-CD0EE0D84705}"/>
              </a:ext>
            </a:extLst>
          </p:cNvPr>
          <p:cNvSpPr/>
          <p:nvPr/>
        </p:nvSpPr>
        <p:spPr>
          <a:xfrm>
            <a:off x="921225" y="1743151"/>
            <a:ext cx="1412542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Lorem ipsum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895DA-234E-58AC-794F-7F0FC9052203}"/>
              </a:ext>
            </a:extLst>
          </p:cNvPr>
          <p:cNvSpPr/>
          <p:nvPr/>
        </p:nvSpPr>
        <p:spPr>
          <a:xfrm>
            <a:off x="1458254" y="2222879"/>
            <a:ext cx="1412542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Lorem ipsum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C58F2-5199-F4D7-4835-902CB43C2846}"/>
              </a:ext>
            </a:extLst>
          </p:cNvPr>
          <p:cNvSpPr/>
          <p:nvPr/>
        </p:nvSpPr>
        <p:spPr>
          <a:xfrm>
            <a:off x="953277" y="2717937"/>
            <a:ext cx="2186344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Went up the hill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E2DA1C-5C3B-FD59-F056-23F30D1DFB06}"/>
              </a:ext>
            </a:extLst>
          </p:cNvPr>
          <p:cNvSpPr/>
          <p:nvPr/>
        </p:nvSpPr>
        <p:spPr>
          <a:xfrm>
            <a:off x="2333767" y="3212995"/>
            <a:ext cx="1403662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….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82895-D250-DE2E-8A46-726756207528}"/>
              </a:ext>
            </a:extLst>
          </p:cNvPr>
          <p:cNvSpPr/>
          <p:nvPr/>
        </p:nvSpPr>
        <p:spPr>
          <a:xfrm>
            <a:off x="953278" y="2222878"/>
            <a:ext cx="418322" cy="30777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Jill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253448-7D96-EC3C-FA34-795FD427FBD8}"/>
              </a:ext>
            </a:extLst>
          </p:cNvPr>
          <p:cNvSpPr/>
          <p:nvPr/>
        </p:nvSpPr>
        <p:spPr>
          <a:xfrm>
            <a:off x="2452473" y="1745842"/>
            <a:ext cx="1284955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ECB53-E7DA-5DEA-1383-0283029194D2}"/>
              </a:ext>
            </a:extLst>
          </p:cNvPr>
          <p:cNvSpPr/>
          <p:nvPr/>
        </p:nvSpPr>
        <p:spPr>
          <a:xfrm>
            <a:off x="2943149" y="2222878"/>
            <a:ext cx="779978" cy="30777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802843-C97B-4A20-160E-FABF149BC828}"/>
              </a:ext>
            </a:extLst>
          </p:cNvPr>
          <p:cNvSpPr/>
          <p:nvPr/>
        </p:nvSpPr>
        <p:spPr>
          <a:xfrm>
            <a:off x="3218708" y="2717937"/>
            <a:ext cx="518720" cy="30777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1462E-927C-2635-E2E7-68A566324465}"/>
              </a:ext>
            </a:extLst>
          </p:cNvPr>
          <p:cNvSpPr/>
          <p:nvPr/>
        </p:nvSpPr>
        <p:spPr>
          <a:xfrm>
            <a:off x="1743180" y="3212994"/>
            <a:ext cx="518720" cy="307775"/>
          </a:xfrm>
          <a:prstGeom prst="rect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Jill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DB0D94-C7C4-0E7C-B521-D43E9CA25A57}"/>
              </a:ext>
            </a:extLst>
          </p:cNvPr>
          <p:cNvSpPr/>
          <p:nvPr/>
        </p:nvSpPr>
        <p:spPr>
          <a:xfrm>
            <a:off x="953277" y="3212994"/>
            <a:ext cx="718035" cy="307775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….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348CA-C174-2315-9577-4AE36C10F3FF}"/>
              </a:ext>
            </a:extLst>
          </p:cNvPr>
          <p:cNvSpPr txBox="1"/>
          <p:nvPr/>
        </p:nvSpPr>
        <p:spPr>
          <a:xfrm>
            <a:off x="432707" y="4471767"/>
            <a:ext cx="5451587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https://www.ecoi.net/en/document/1045535.html</a:t>
            </a:r>
            <a:endParaRPr lang="en-US" dirty="0"/>
          </a:p>
          <a:p>
            <a:r>
              <a:rPr lang="en-US" dirty="0">
                <a:solidFill>
                  <a:schemeClr val="accent3"/>
                </a:solidFill>
              </a:rPr>
              <a:t>ZAF_1985_State_Department.txt</a:t>
            </a:r>
          </a:p>
        </p:txBody>
      </p:sp>
    </p:spTree>
    <p:extLst>
      <p:ext uri="{BB962C8B-B14F-4D97-AF65-F5344CB8AC3E}">
        <p14:creationId xmlns:p14="http://schemas.microsoft.com/office/powerpoint/2010/main" val="3373628232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0F1B-B9E0-679B-5CB4-7C597E88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</a:t>
            </a:r>
            <a:r>
              <a:rPr lang="en-US"/>
              <a:t>stumble easily.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6680E-26AF-2334-B83B-EFA7D2E72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336" y="0"/>
            <a:ext cx="404132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32465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6659F-624D-8F6F-1E24-7E7EC778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Fails relatively simple tasks.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C0DB0-5A8C-2FE1-222B-0DCE7C0CBE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5744" y="0"/>
            <a:ext cx="4778256" cy="5141255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835B1B1E-43DC-FAF8-91B0-5079A83AB510}"/>
              </a:ext>
            </a:extLst>
          </p:cNvPr>
          <p:cNvSpPr/>
          <p:nvPr/>
        </p:nvSpPr>
        <p:spPr>
          <a:xfrm>
            <a:off x="3011332" y="4283242"/>
            <a:ext cx="1732548" cy="233756"/>
          </a:xfrm>
          <a:prstGeom prst="rightArrow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1950301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5960-6DED-217B-7FC3-C46D39A1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window matters.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4AA0EA-9689-77E2-11A9-F3EF63A68F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9472" y="1582628"/>
            <a:ext cx="4624485" cy="2220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243A4F-B9E4-EE3D-AE73-BF5D2A92DD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315" y="1582628"/>
            <a:ext cx="3948691" cy="12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80310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85FE-D39C-888D-59DC-F4534528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2CD90B-BAB0-4FAA-B7F4-A12E75DE60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2215" y="1088939"/>
            <a:ext cx="5189456" cy="34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21156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780B-9414-30FC-9BB6-40B1B45B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really matters.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E8A700-BCD9-3DB4-104F-8DA6EF3EBF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9741" y="1768743"/>
            <a:ext cx="4704606" cy="1757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D71B54-5B97-A7FA-8BC9-CBA89BA2EE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653" y="1768743"/>
            <a:ext cx="3210855" cy="17570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ACF7BD-0CE0-CB71-AE52-CD5DB0C73E0E}"/>
              </a:ext>
            </a:extLst>
          </p:cNvPr>
          <p:cNvSpPr txBox="1"/>
          <p:nvPr/>
        </p:nvSpPr>
        <p:spPr>
          <a:xfrm>
            <a:off x="982798" y="1460968"/>
            <a:ext cx="1663274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Knowledge from A to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2D531-72BA-6CED-DCAC-EEDF98C2A193}"/>
              </a:ext>
            </a:extLst>
          </p:cNvPr>
          <p:cNvSpPr txBox="1"/>
          <p:nvPr/>
        </p:nvSpPr>
        <p:spPr>
          <a:xfrm>
            <a:off x="5666293" y="1460967"/>
            <a:ext cx="1645641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Knowledge from B to ?</a:t>
            </a:r>
          </a:p>
        </p:txBody>
      </p:sp>
    </p:spTree>
    <p:extLst>
      <p:ext uri="{BB962C8B-B14F-4D97-AF65-F5344CB8AC3E}">
        <p14:creationId xmlns:p14="http://schemas.microsoft.com/office/powerpoint/2010/main" val="1318559163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0C59-878D-2F5E-C00D-2F53B9C9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of the physical world is incomplete.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73DDBB-56BB-EC74-22B2-C7D4589D4A6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4794" y="889353"/>
            <a:ext cx="5314411" cy="411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16868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7AFB-0D5B-D117-C788-743FBFD9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746726" cy="594000"/>
          </a:xfrm>
        </p:spPr>
        <p:txBody>
          <a:bodyPr>
            <a:normAutofit fontScale="90000"/>
          </a:bodyPr>
          <a:lstStyle/>
          <a:p>
            <a:r>
              <a:rPr lang="en-US" dirty="0"/>
              <a:t>No concept of what it will do in the future [until “thinking” models].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66D18-209C-44F3-0C96-43368A1DF3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824" y="871361"/>
            <a:ext cx="4599269" cy="13120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FC0834-DD9D-BF6C-99EA-9C0575A6DC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824" y="3006298"/>
            <a:ext cx="4599269" cy="1312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DD55F0-D133-45A0-0DE2-AE3C14171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578" y="2070895"/>
            <a:ext cx="2926443" cy="12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9652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4990-38B0-B8B7-6226-717FF7BD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95265433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A64FB3-BBCD-F7CA-E284-CE4232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3150-0CCC-1314-C6D8-AB92F6E2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LLM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029A3-5CB2-C41C-0293-08D05AF14E06}"/>
              </a:ext>
            </a:extLst>
          </p:cNvPr>
          <p:cNvSpPr txBox="1"/>
          <p:nvPr/>
        </p:nvSpPr>
        <p:spPr>
          <a:xfrm>
            <a:off x="4808764" y="971311"/>
            <a:ext cx="4139292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>
                    <a:lumMod val="10000"/>
                    <a:lumOff val="90000"/>
                  </a:schemeClr>
                </a:solidFill>
              </a:rPr>
              <a:t>Quantizations</a:t>
            </a:r>
            <a:r>
              <a:rPr lang="en-US" b="1" dirty="0">
                <a:solidFill>
                  <a:schemeClr val="bg1">
                    <a:lumMod val="10000"/>
                    <a:lumOff val="90000"/>
                  </a:schemeClr>
                </a:solidFill>
              </a:rPr>
              <a:t>:</a:t>
            </a: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</a:rPr>
              <a:t> Quantization is a process of reducing the precision of the model's weights (e.g., from 16-bit floating point to 8-bit, 6-bit, 5-bit, 4-bit, or even 3-bit integers). This significantly reduces the file size and memory footprint, allowing the model to run on less powerful hardware, often with a trade-off in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CC418-EC59-7704-AAA8-35EE63965492}"/>
              </a:ext>
            </a:extLst>
          </p:cNvPr>
          <p:cNvSpPr txBox="1"/>
          <p:nvPr/>
        </p:nvSpPr>
        <p:spPr>
          <a:xfrm>
            <a:off x="73478" y="1879252"/>
            <a:ext cx="3918858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>
                    <a:lumMod val="10000"/>
                    <a:lumOff val="90000"/>
                  </a:schemeClr>
                </a:solidFill>
              </a:rPr>
              <a:t>GGUF Format:</a:t>
            </a:r>
            <a:r>
              <a:rPr lang="en-US" sz="14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 GGUF (GGML Universal File Format) is a file format specifically designed for efficient loading and inference of large language models on consumer hardware, particularly with </a:t>
            </a:r>
            <a:r>
              <a:rPr lang="en-US" sz="1400" dirty="0" err="1">
                <a:solidFill>
                  <a:schemeClr val="bg1">
                    <a:lumMod val="10000"/>
                    <a:lumOff val="90000"/>
                  </a:schemeClr>
                </a:solidFill>
              </a:rPr>
              <a:t>llama.cpp</a:t>
            </a:r>
            <a:r>
              <a:rPr lang="en-US" sz="14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 and compatible tools (like LM Studio, </a:t>
            </a:r>
            <a:r>
              <a:rPr lang="en-US" sz="1400" dirty="0" err="1">
                <a:solidFill>
                  <a:schemeClr val="bg1">
                    <a:lumMod val="10000"/>
                    <a:lumOff val="90000"/>
                  </a:schemeClr>
                </a:solidFill>
              </a:rPr>
              <a:t>Ollama</a:t>
            </a:r>
            <a:r>
              <a:rPr lang="en-US" sz="1400" dirty="0">
                <a:solidFill>
                  <a:schemeClr val="bg1">
                    <a:lumMod val="10000"/>
                    <a:lumOff val="90000"/>
                  </a:schemeClr>
                </a:solidFill>
              </a:rPr>
              <a:t>, Jan AI). It allows for various quantization levels.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5E6C2D-538B-70AA-6B01-5A2B6BB92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338937"/>
              </p:ext>
            </p:extLst>
          </p:nvPr>
        </p:nvGraphicFramePr>
        <p:xfrm>
          <a:off x="4661807" y="2811900"/>
          <a:ext cx="4336854" cy="20421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908995">
                  <a:extLst>
                    <a:ext uri="{9D8B030D-6E8A-4147-A177-3AD203B41FA5}">
                      <a16:colId xmlns:a16="http://schemas.microsoft.com/office/drawing/2014/main" val="2107847790"/>
                    </a:ext>
                  </a:extLst>
                </a:gridCol>
                <a:gridCol w="918176">
                  <a:extLst>
                    <a:ext uri="{9D8B030D-6E8A-4147-A177-3AD203B41FA5}">
                      <a16:colId xmlns:a16="http://schemas.microsoft.com/office/drawing/2014/main" val="293819761"/>
                    </a:ext>
                  </a:extLst>
                </a:gridCol>
                <a:gridCol w="2509683">
                  <a:extLst>
                    <a:ext uri="{9D8B030D-6E8A-4147-A177-3AD203B41FA5}">
                      <a16:colId xmlns:a16="http://schemas.microsoft.com/office/drawing/2014/main" val="1148656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Example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83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011</a:t>
                      </a:r>
                    </a:p>
                    <a:p>
                      <a:pPr algn="ctr"/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(0 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4) + 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(1 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2) + 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(1 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1) = 0 + 2 + 1 = 3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00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0101</a:t>
                      </a:r>
                    </a:p>
                    <a:p>
                      <a:pPr algn="ctr"/>
                      <a:r>
                        <a:rPr lang="en-US" sz="1000" b="0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(0 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8) + 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(1 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4) + (0 * 2) + (1 * 1) = 0 + 4 + 0+ 1 = 5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792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01011001</a:t>
                      </a:r>
                    </a:p>
                    <a:p>
                      <a:pPr algn="ctr"/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0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2^7)+(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1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*2^6) + 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0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2^5)+(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1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*2^4)+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1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2^3)+(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0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*2^2)+(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0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 2^1)+(</a:t>
                      </a:r>
                      <a:r>
                        <a:rPr lang="en-US" sz="1000" b="1" i="0" u="sng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1</a:t>
                      </a:r>
                      <a:r>
                        <a:rPr lang="en-US" sz="1000" b="0" i="0" u="none" strike="noStrike" cap="none" spc="0" baseline="0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*2^0) = 89</a:t>
                      </a:r>
                      <a:endParaRPr lang="en-US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501569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403A55-9251-CC65-96A5-5C18CC6A5CC3}"/>
              </a:ext>
            </a:extLst>
          </p:cNvPr>
          <p:cNvCxnSpPr/>
          <p:nvPr/>
        </p:nvCxnSpPr>
        <p:spPr>
          <a:xfrm>
            <a:off x="4327071" y="1232807"/>
            <a:ext cx="0" cy="3118757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50507147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08980A-E1FC-4C87-9DF3-46248673B8BA}"/>
              </a:ext>
            </a:extLst>
          </p:cNvPr>
          <p:cNvSpPr/>
          <p:nvPr/>
        </p:nvSpPr>
        <p:spPr>
          <a:xfrm>
            <a:off x="62594" y="833574"/>
            <a:ext cx="2854778" cy="4243910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37D23-F550-898A-B373-66CDE4FF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LLM to Cloud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B9DE7-0BD6-B8E3-DCCE-EED4CD3E21AB}"/>
              </a:ext>
            </a:extLst>
          </p:cNvPr>
          <p:cNvSpPr txBox="1"/>
          <p:nvPr/>
        </p:nvSpPr>
        <p:spPr>
          <a:xfrm>
            <a:off x="62594" y="1168723"/>
            <a:ext cx="2854778" cy="39857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Source:</a:t>
            </a:r>
            <a:r>
              <a:rPr lang="en-US" sz="1200" dirty="0">
                <a:solidFill>
                  <a:schemeClr val="accent3"/>
                </a:solidFill>
              </a:rPr>
              <a:t> Open-source from IBM. Model architecture &amp; weights are publicly accessible.</a:t>
            </a:r>
          </a:p>
          <a:p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Parameters:</a:t>
            </a:r>
            <a:r>
              <a:rPr lang="en-US" sz="1200" dirty="0">
                <a:solidFill>
                  <a:schemeClr val="accent3"/>
                </a:solidFill>
              </a:rPr>
              <a:t> 1 Billion parameters.</a:t>
            </a:r>
          </a:p>
          <a:p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Memory Footprint:</a:t>
            </a:r>
            <a:endParaRPr lang="en-US" sz="1200" dirty="0">
              <a:solidFill>
                <a:schemeClr val="accent3"/>
              </a:solidFill>
            </a:endParaRPr>
          </a:p>
          <a:p>
            <a:pPr marL="211137" lvl="1"/>
            <a:endParaRPr lang="en-US" sz="1100" b="1" dirty="0">
              <a:solidFill>
                <a:schemeClr val="accent3"/>
              </a:solidFill>
            </a:endParaRPr>
          </a:p>
          <a:p>
            <a:pPr marL="211137" lvl="1"/>
            <a:r>
              <a:rPr lang="en-US" sz="1100" b="1" dirty="0">
                <a:solidFill>
                  <a:schemeClr val="accent3"/>
                </a:solidFill>
              </a:rPr>
              <a:t>Full Precision (FP16):</a:t>
            </a:r>
            <a:r>
              <a:rPr lang="en-US" sz="1100" dirty="0">
                <a:solidFill>
                  <a:schemeClr val="accent3"/>
                </a:solidFill>
              </a:rPr>
              <a:t> Around 2 GB (2 bytes per parameter for 16-bit floating point).</a:t>
            </a:r>
          </a:p>
          <a:p>
            <a:pPr marL="211137" lvl="1"/>
            <a:endParaRPr lang="en-US" sz="1100" b="1" dirty="0">
              <a:solidFill>
                <a:schemeClr val="accent3"/>
              </a:solidFill>
            </a:endParaRPr>
          </a:p>
          <a:p>
            <a:pPr marL="211137" lvl="1"/>
            <a:r>
              <a:rPr lang="en-US" sz="1100" b="1" dirty="0">
                <a:solidFill>
                  <a:schemeClr val="accent3"/>
                </a:solidFill>
              </a:rPr>
              <a:t>Typical Quantized (e.g., Q4_K_M GGUF):</a:t>
            </a:r>
            <a:r>
              <a:rPr lang="en-US" sz="1100" dirty="0">
                <a:solidFill>
                  <a:schemeClr val="accent3"/>
                </a:solidFill>
              </a:rPr>
              <a:t> Approximately 0.82 GB. This significant reduction allows it to run efficiently on consumer-grade CPUs and GPUs.</a:t>
            </a:r>
          </a:p>
          <a:p>
            <a:pPr marL="211137" lvl="1"/>
            <a:endParaRPr lang="en-US" sz="11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Inference Location:</a:t>
            </a:r>
            <a:r>
              <a:rPr lang="en-US" sz="1200" dirty="0">
                <a:solidFill>
                  <a:schemeClr val="accent3"/>
                </a:solidFill>
              </a:rPr>
              <a:t> Designed for running directly on your computer</a:t>
            </a:r>
          </a:p>
          <a:p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5"/>
                </a:solidFill>
              </a:rPr>
              <a:t>Cost:</a:t>
            </a:r>
            <a:r>
              <a:rPr lang="en-US" sz="1200" dirty="0">
                <a:solidFill>
                  <a:schemeClr val="accent5"/>
                </a:solidFill>
              </a:rPr>
              <a:t> Free!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AABC16-E58D-DD18-533C-59DBDF5F737D}"/>
              </a:ext>
            </a:extLst>
          </p:cNvPr>
          <p:cNvSpPr/>
          <p:nvPr/>
        </p:nvSpPr>
        <p:spPr>
          <a:xfrm>
            <a:off x="3144611" y="833574"/>
            <a:ext cx="2854778" cy="4243910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E7C3A-C054-CA06-5BC6-B26D4436FA96}"/>
              </a:ext>
            </a:extLst>
          </p:cNvPr>
          <p:cNvSpPr/>
          <p:nvPr/>
        </p:nvSpPr>
        <p:spPr>
          <a:xfrm>
            <a:off x="6226628" y="833574"/>
            <a:ext cx="2854778" cy="4243910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B1AF9-2643-05E6-F4D5-78C7FE584719}"/>
              </a:ext>
            </a:extLst>
          </p:cNvPr>
          <p:cNvSpPr txBox="1"/>
          <p:nvPr/>
        </p:nvSpPr>
        <p:spPr>
          <a:xfrm>
            <a:off x="62594" y="847261"/>
            <a:ext cx="285477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Granite 1B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B462D-928F-B864-6A3E-15C12815730C}"/>
              </a:ext>
            </a:extLst>
          </p:cNvPr>
          <p:cNvSpPr txBox="1"/>
          <p:nvPr/>
        </p:nvSpPr>
        <p:spPr>
          <a:xfrm>
            <a:off x="3144611" y="1339702"/>
            <a:ext cx="2854778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Source</a:t>
            </a:r>
            <a:r>
              <a:rPr lang="en-US" sz="1200" dirty="0">
                <a:solidFill>
                  <a:schemeClr val="accent3"/>
                </a:solidFill>
              </a:rPr>
              <a:t>: Closed-source. Developed &amp; maintained by OpenAI.</a:t>
            </a:r>
          </a:p>
          <a:p>
            <a:endParaRPr lang="en-US" sz="1200" b="1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Parameters</a:t>
            </a:r>
            <a:r>
              <a:rPr lang="en-US" sz="1200" dirty="0">
                <a:solidFill>
                  <a:schemeClr val="accent3"/>
                </a:solidFill>
              </a:rPr>
              <a:t>: Undisclosed by OpenAI. Speculated to be a Mixture-of-Experts (</a:t>
            </a:r>
            <a:r>
              <a:rPr lang="en-US" sz="1200" dirty="0" err="1">
                <a:solidFill>
                  <a:schemeClr val="accent3"/>
                </a:solidFill>
              </a:rPr>
              <a:t>MoE</a:t>
            </a:r>
            <a:r>
              <a:rPr lang="en-US" sz="1200" dirty="0">
                <a:solidFill>
                  <a:schemeClr val="accent3"/>
                </a:solidFill>
              </a:rPr>
              <a:t>) architecture with </a:t>
            </a:r>
            <a:r>
              <a:rPr lang="en-US" sz="1200" dirty="0">
                <a:solidFill>
                  <a:schemeClr val="accent2"/>
                </a:solidFill>
              </a:rPr>
              <a:t>1.8T parameters.</a:t>
            </a:r>
          </a:p>
          <a:p>
            <a:endParaRPr lang="en-US" sz="1200" b="1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Memory Footprint</a:t>
            </a:r>
            <a:r>
              <a:rPr lang="en-US" sz="1200" dirty="0">
                <a:solidFill>
                  <a:schemeClr val="accent3"/>
                </a:solidFill>
              </a:rPr>
              <a:t>: Inference occurs on OpenAI's cloud infrastructure.  Could be rather large 3.6T (3600GBs)</a:t>
            </a:r>
          </a:p>
          <a:p>
            <a:endParaRPr lang="en-US" sz="1200" b="1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Inference Location</a:t>
            </a:r>
            <a:r>
              <a:rPr lang="en-US" sz="1200" dirty="0">
                <a:solidFill>
                  <a:schemeClr val="accent3"/>
                </a:solidFill>
              </a:rPr>
              <a:t>: Cloud-based API</a:t>
            </a:r>
          </a:p>
          <a:p>
            <a:pPr marL="7938" lvl="1"/>
            <a:endParaRPr lang="en-US" sz="1200" b="1" dirty="0">
              <a:solidFill>
                <a:schemeClr val="accent5"/>
              </a:solidFill>
            </a:endParaRPr>
          </a:p>
          <a:p>
            <a:pPr marL="7938" lvl="1"/>
            <a:r>
              <a:rPr lang="en-US" sz="1200" b="1" dirty="0">
                <a:solidFill>
                  <a:schemeClr val="accent5"/>
                </a:solidFill>
              </a:rPr>
              <a:t>Cost (as of mid-2025):</a:t>
            </a:r>
            <a:endParaRPr lang="en-US" sz="1200" dirty="0">
              <a:solidFill>
                <a:schemeClr val="accent5"/>
              </a:solidFill>
            </a:endParaRPr>
          </a:p>
          <a:p>
            <a:pPr marL="234950" lvl="3" indent="-1143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Input: $5.00 per 1 Million tokens</a:t>
            </a:r>
          </a:p>
          <a:p>
            <a:pPr marL="234950" lvl="3" indent="-1143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Output: $15.00 per 1 Million tokens</a:t>
            </a:r>
          </a:p>
          <a:p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7C79D-0C4A-5B32-A2E1-7A6C83A34441}"/>
              </a:ext>
            </a:extLst>
          </p:cNvPr>
          <p:cNvSpPr txBox="1"/>
          <p:nvPr/>
        </p:nvSpPr>
        <p:spPr>
          <a:xfrm>
            <a:off x="3144611" y="860948"/>
            <a:ext cx="285477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OpenAI GPT-4o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A6C40-6A69-3368-BD3E-2DD339D69768}"/>
              </a:ext>
            </a:extLst>
          </p:cNvPr>
          <p:cNvSpPr txBox="1"/>
          <p:nvPr/>
        </p:nvSpPr>
        <p:spPr>
          <a:xfrm>
            <a:off x="6226628" y="1168723"/>
            <a:ext cx="2854778" cy="39087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Source</a:t>
            </a:r>
            <a:r>
              <a:rPr lang="en-US" sz="1200" dirty="0">
                <a:solidFill>
                  <a:schemeClr val="accent3"/>
                </a:solidFill>
              </a:rPr>
              <a:t>: Closed-source. Developed &amp; maintained by Google.</a:t>
            </a:r>
          </a:p>
          <a:p>
            <a:endParaRPr lang="en-US" sz="1200" b="1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Parameters</a:t>
            </a:r>
            <a:r>
              <a:rPr lang="en-US" sz="1200" dirty="0">
                <a:solidFill>
                  <a:schemeClr val="accent3"/>
                </a:solidFill>
              </a:rPr>
              <a:t>: Undisclosed by Google. Optimized for speed and cost-efficiency, it features advanced reasoning capabilities and is </a:t>
            </a:r>
            <a:r>
              <a:rPr lang="en-US" sz="1200" dirty="0">
                <a:solidFill>
                  <a:schemeClr val="accent2"/>
                </a:solidFill>
              </a:rPr>
              <a:t>rumored to be in the hundreds of billions of parameters.</a:t>
            </a:r>
          </a:p>
          <a:p>
            <a:endParaRPr lang="en-US" sz="1200" b="1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Memory Footprint (Estimated): </a:t>
            </a:r>
            <a:r>
              <a:rPr lang="en-US" sz="1200" dirty="0">
                <a:solidFill>
                  <a:schemeClr val="accent3"/>
                </a:solidFill>
              </a:rPr>
              <a:t>Undisclosed but may be 200 GB to 500 GB </a:t>
            </a:r>
          </a:p>
          <a:p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3"/>
                </a:solidFill>
              </a:rPr>
              <a:t>Inference Location</a:t>
            </a:r>
            <a:r>
              <a:rPr lang="en-US" sz="1200" dirty="0">
                <a:solidFill>
                  <a:schemeClr val="accent3"/>
                </a:solidFill>
              </a:rPr>
              <a:t>: Cloud-based API.</a:t>
            </a:r>
          </a:p>
          <a:p>
            <a:endParaRPr lang="en-US" sz="1200" dirty="0">
              <a:solidFill>
                <a:schemeClr val="accent3"/>
              </a:solidFill>
            </a:endParaRPr>
          </a:p>
          <a:p>
            <a:r>
              <a:rPr lang="en-US" sz="1200" b="1" dirty="0">
                <a:solidFill>
                  <a:schemeClr val="accent5"/>
                </a:solidFill>
              </a:rPr>
              <a:t>Cost (as of mid-2025):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Input (text/image/video): $0.30 per 1 Million tokens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Input (audio): $1.00 per 1 Million tokens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/>
                </a:solidFill>
              </a:rPr>
              <a:t>Output: $2.50 per 1 Million tokens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C7310-8FEE-13DF-1B80-93D6B8F14C01}"/>
              </a:ext>
            </a:extLst>
          </p:cNvPr>
          <p:cNvSpPr txBox="1"/>
          <p:nvPr/>
        </p:nvSpPr>
        <p:spPr>
          <a:xfrm>
            <a:off x="6226628" y="860947"/>
            <a:ext cx="285477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Gemini 2.5 Flash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E6527-8C9F-6266-47E7-7E6B6EA6917F}"/>
              </a:ext>
            </a:extLst>
          </p:cNvPr>
          <p:cNvSpPr/>
          <p:nvPr/>
        </p:nvSpPr>
        <p:spPr>
          <a:xfrm>
            <a:off x="6640285" y="137159"/>
            <a:ext cx="2441121" cy="523218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In class we’re using llama 3.2 1B instruct</a:t>
            </a:r>
          </a:p>
        </p:txBody>
      </p:sp>
    </p:spTree>
    <p:extLst>
      <p:ext uri="{BB962C8B-B14F-4D97-AF65-F5344CB8AC3E}">
        <p14:creationId xmlns:p14="http://schemas.microsoft.com/office/powerpoint/2010/main" val="594858004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DC08-4DA8-D39C-E6B4-E5E06688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download LM-Studio*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0E170-57A0-E005-1007-70D51B77692D}"/>
              </a:ext>
            </a:extLst>
          </p:cNvPr>
          <p:cNvSpPr txBox="1"/>
          <p:nvPr/>
        </p:nvSpPr>
        <p:spPr>
          <a:xfrm>
            <a:off x="225824" y="889028"/>
            <a:ext cx="457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https://lmstudio.ai/download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2706C-72AD-6421-D039-D7259741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46" y="1254380"/>
            <a:ext cx="7772400" cy="3248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D3A213-950B-6168-B90C-3C3782E01E95}"/>
              </a:ext>
            </a:extLst>
          </p:cNvPr>
          <p:cNvSpPr txBox="1"/>
          <p:nvPr/>
        </p:nvSpPr>
        <p:spPr>
          <a:xfrm>
            <a:off x="464695" y="4676931"/>
            <a:ext cx="761875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*if you have Mac with Intel chip, you should download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JanAI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 and see the appendix.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A398F-7D31-CDC7-A162-6FF462E945B2}"/>
              </a:ext>
            </a:extLst>
          </p:cNvPr>
          <p:cNvSpPr txBox="1"/>
          <p:nvPr/>
        </p:nvSpPr>
        <p:spPr>
          <a:xfrm>
            <a:off x="225824" y="295028"/>
            <a:ext cx="457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Local LLMs are as secure as your laptop.</a:t>
            </a:r>
          </a:p>
        </p:txBody>
      </p:sp>
    </p:spTree>
    <p:extLst>
      <p:ext uri="{BB962C8B-B14F-4D97-AF65-F5344CB8AC3E}">
        <p14:creationId xmlns:p14="http://schemas.microsoft.com/office/powerpoint/2010/main" val="4041675000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3FB5-5DBB-447A-3025-3000CB62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464414" cy="594000"/>
          </a:xfrm>
        </p:spPr>
        <p:txBody>
          <a:bodyPr>
            <a:normAutofit/>
          </a:bodyPr>
          <a:lstStyle/>
          <a:p>
            <a:r>
              <a:rPr lang="en-US" dirty="0"/>
              <a:t>LM-Studio Setup  - search for “llama3.2-1b-instruct”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895519-D264-A20E-E740-2D6CE1328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33" y="731160"/>
            <a:ext cx="6614410" cy="41270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9BDC81B-AFB3-4296-BE76-CD97800A18E0}"/>
              </a:ext>
            </a:extLst>
          </p:cNvPr>
          <p:cNvSpPr/>
          <p:nvPr/>
        </p:nvSpPr>
        <p:spPr>
          <a:xfrm>
            <a:off x="2540832" y="1037884"/>
            <a:ext cx="734518" cy="196466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37330-D09A-2FEF-AD92-9D293113423D}"/>
              </a:ext>
            </a:extLst>
          </p:cNvPr>
          <p:cNvSpPr/>
          <p:nvPr/>
        </p:nvSpPr>
        <p:spPr>
          <a:xfrm>
            <a:off x="2540832" y="2059714"/>
            <a:ext cx="1379096" cy="35370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EFB53-6D6E-18EA-D561-11D439624E1C}"/>
              </a:ext>
            </a:extLst>
          </p:cNvPr>
          <p:cNvSpPr/>
          <p:nvPr/>
        </p:nvSpPr>
        <p:spPr>
          <a:xfrm>
            <a:off x="6238405" y="4332931"/>
            <a:ext cx="904407" cy="261553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8503567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86F4-B654-CB79-3F7D-2D4BF22B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downloaded, load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45B5E-618B-A1E5-FB9C-475AEF60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96" y="780308"/>
            <a:ext cx="6621905" cy="40997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B92C9C-19B5-BE5C-3D17-3961DF4AB1EE}"/>
              </a:ext>
            </a:extLst>
          </p:cNvPr>
          <p:cNvSpPr/>
          <p:nvPr/>
        </p:nvSpPr>
        <p:spPr>
          <a:xfrm>
            <a:off x="3305330" y="712853"/>
            <a:ext cx="2398427" cy="298477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B802B-4C5E-B666-D23C-D8FD68879FAF}"/>
              </a:ext>
            </a:extLst>
          </p:cNvPr>
          <p:cNvSpPr/>
          <p:nvPr/>
        </p:nvSpPr>
        <p:spPr>
          <a:xfrm>
            <a:off x="4582536" y="3253685"/>
            <a:ext cx="1121221" cy="298477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631663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86F4-B654-CB79-3F7D-2D4BF22B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local LLM using the chat interface.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CBB68-8EFB-1CF1-B76F-6F82E270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881" y="687956"/>
            <a:ext cx="4187979" cy="43183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564891-45C3-9764-1696-84BF487D4FC7}"/>
              </a:ext>
            </a:extLst>
          </p:cNvPr>
          <p:cNvSpPr/>
          <p:nvPr/>
        </p:nvSpPr>
        <p:spPr>
          <a:xfrm>
            <a:off x="2212686" y="1405717"/>
            <a:ext cx="4098174" cy="970224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069489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538CA1-9F69-3B0B-BCE6-FEC0186C4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5104"/>
            <a:ext cx="7465380" cy="4498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53695-E06A-4D0A-C645-5B53E3EF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on the developer icon to start your local server.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736B24-04DA-4CC0-ACB7-4785FB349737}"/>
              </a:ext>
            </a:extLst>
          </p:cNvPr>
          <p:cNvSpPr/>
          <p:nvPr/>
        </p:nvSpPr>
        <p:spPr>
          <a:xfrm>
            <a:off x="1028539" y="1274164"/>
            <a:ext cx="1840321" cy="394386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77D91-6128-A4B2-36BF-640938C39E55}"/>
              </a:ext>
            </a:extLst>
          </p:cNvPr>
          <p:cNvSpPr/>
          <p:nvPr/>
        </p:nvSpPr>
        <p:spPr>
          <a:xfrm>
            <a:off x="4894287" y="841260"/>
            <a:ext cx="1588959" cy="23329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52E9EC-912C-EEBA-CCA3-985385151D9F}"/>
              </a:ext>
            </a:extLst>
          </p:cNvPr>
          <p:cNvSpPr/>
          <p:nvPr/>
        </p:nvSpPr>
        <p:spPr>
          <a:xfrm>
            <a:off x="571499" y="991911"/>
            <a:ext cx="385600" cy="394386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656744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4E3C69-99D5-F98D-1AC7-EB9E365E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82"/>
          <a:stretch>
            <a:fillRect/>
          </a:stretch>
        </p:blipFill>
        <p:spPr>
          <a:xfrm>
            <a:off x="135231" y="731160"/>
            <a:ext cx="3439036" cy="4116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00843-B945-5250-9726-12EB7AAC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use R to interface with the local server.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88773-279E-6A1C-1382-1BD0EEA3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624" y="880672"/>
            <a:ext cx="4640127" cy="3382156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A3A02583-7619-7316-6322-CB64CE6907CE}"/>
              </a:ext>
            </a:extLst>
          </p:cNvPr>
          <p:cNvSpPr/>
          <p:nvPr/>
        </p:nvSpPr>
        <p:spPr>
          <a:xfrm rot="9537665">
            <a:off x="2631958" y="3858990"/>
            <a:ext cx="2436799" cy="226881"/>
          </a:xfrm>
          <a:prstGeom prst="rightArrow">
            <a:avLst/>
          </a:prstGeom>
          <a:solidFill>
            <a:srgbClr val="FF40FF"/>
          </a:solidFill>
          <a:ln w="254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5834408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22EE-38E8-1407-9D10-45931ED4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Inputs to watch out for.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2017A-AD31-597D-BC2E-B4EDBAD0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739" y="1115070"/>
            <a:ext cx="6512521" cy="29133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AC9A5D-A40C-DC73-1A96-03230CD2CBA8}"/>
              </a:ext>
            </a:extLst>
          </p:cNvPr>
          <p:cNvSpPr/>
          <p:nvPr/>
        </p:nvSpPr>
        <p:spPr>
          <a:xfrm>
            <a:off x="2358190" y="2868099"/>
            <a:ext cx="1904427" cy="225735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78A81-F098-5B72-3FF6-65E7754B8AD8}"/>
              </a:ext>
            </a:extLst>
          </p:cNvPr>
          <p:cNvSpPr/>
          <p:nvPr/>
        </p:nvSpPr>
        <p:spPr>
          <a:xfrm>
            <a:off x="4695753" y="2235782"/>
            <a:ext cx="2282562" cy="954105"/>
          </a:xfrm>
          <a:prstGeom prst="rect">
            <a:avLst/>
          </a:prstGeom>
          <a:solidFill>
            <a:srgbClr val="FF40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You may get an error if you loaded another model or multiple models are runnin</a:t>
            </a:r>
            <a:r>
              <a:rPr lang="en-US" dirty="0">
                <a:solidFill>
                  <a:srgbClr val="FAFAFF"/>
                </a:solidFill>
              </a:rPr>
              <a:t>g in the server.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AFA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6727627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0E4B-E1BB-27EC-A16B-40104776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Contrastive Chain of thought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74876-4A2F-E081-149B-102F135B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35" y="731160"/>
            <a:ext cx="6417129" cy="378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7BF53-F0D1-99C3-344D-04216F165493}"/>
              </a:ext>
            </a:extLst>
          </p:cNvPr>
          <p:cNvSpPr txBox="1"/>
          <p:nvPr/>
        </p:nvSpPr>
        <p:spPr>
          <a:xfrm>
            <a:off x="1289957" y="4517321"/>
            <a:ext cx="6417129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https://cobusgreyling.medium.com/contrastive-chain-of-thought-prompting-cc8c5b75a6e0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46429009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A2E7-9F4C-4E23-C72B-CD29C9BF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59DEC-814C-5ECD-A7E9-47A20A26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2905"/>
            <a:ext cx="7772400" cy="17576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1E2FEE-A2E4-C036-9F1C-F68A2FD9BCCE}"/>
              </a:ext>
            </a:extLst>
          </p:cNvPr>
          <p:cNvSpPr/>
          <p:nvPr/>
        </p:nvSpPr>
        <p:spPr>
          <a:xfrm>
            <a:off x="310243" y="4277734"/>
            <a:ext cx="8376558" cy="523218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AFAFF"/>
                </a:solidFill>
                <a:effectLst/>
                <a:uFillTx/>
                <a:latin typeface="+mj-lt"/>
                <a:ea typeface="+mj-ea"/>
                <a:cs typeface="+mj-cs"/>
                <a:sym typeface="Arial"/>
              </a:rPr>
              <a:t>This shows some example math and some poorly ordered math.  This is trying to negate some specific ordering and math combinations.</a:t>
            </a:r>
            <a:endParaRPr kumimoji="0" lang="en-US" sz="1400" b="0" i="1" u="none" strike="noStrike" cap="none" spc="0" normalizeH="0" baseline="0" dirty="0">
              <a:ln>
                <a:noFill/>
              </a:ln>
              <a:solidFill>
                <a:srgbClr val="FAFAFF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8587223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8DE6-AFDA-2454-A1D3-DDF29B9A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2E747-EA27-AF60-4C7A-F274D8605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23209"/>
            <a:ext cx="7772400" cy="329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0438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919F-689A-BD2A-6BFA-1DF884CE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Jailbreak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49074F-A1DB-A1DC-50A2-4A1132B0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1028"/>
            <a:ext cx="5141771" cy="41340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F745BC-D6B4-4366-7880-68EB0D4AE1B3}"/>
              </a:ext>
            </a:extLst>
          </p:cNvPr>
          <p:cNvSpPr/>
          <p:nvPr/>
        </p:nvSpPr>
        <p:spPr>
          <a:xfrm>
            <a:off x="5829300" y="3494314"/>
            <a:ext cx="963386" cy="195944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7AAE36-22D5-02CA-9637-A2A60478A6CE}"/>
              </a:ext>
            </a:extLst>
          </p:cNvPr>
          <p:cNvSpPr/>
          <p:nvPr/>
        </p:nvSpPr>
        <p:spPr>
          <a:xfrm>
            <a:off x="3956957" y="3687537"/>
            <a:ext cx="508907" cy="13334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438C2-E5C8-205D-ADE1-FE3EA1AD5980}"/>
              </a:ext>
            </a:extLst>
          </p:cNvPr>
          <p:cNvSpPr/>
          <p:nvPr/>
        </p:nvSpPr>
        <p:spPr>
          <a:xfrm>
            <a:off x="2770414" y="4035880"/>
            <a:ext cx="1001486" cy="119741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03E6D-DD11-BF5E-F82C-AA4C7B95A358}"/>
              </a:ext>
            </a:extLst>
          </p:cNvPr>
          <p:cNvSpPr/>
          <p:nvPr/>
        </p:nvSpPr>
        <p:spPr>
          <a:xfrm>
            <a:off x="4939393" y="1722666"/>
            <a:ext cx="1540328" cy="130627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B73B3-A760-E530-B976-D97CECDA2FF9}"/>
              </a:ext>
            </a:extLst>
          </p:cNvPr>
          <p:cNvSpPr/>
          <p:nvPr/>
        </p:nvSpPr>
        <p:spPr>
          <a:xfrm>
            <a:off x="5829300" y="2203908"/>
            <a:ext cx="1001486" cy="119741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15221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33CA-C9D3-B0B5-B232-653C8630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Jan AI, then download a local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4699A-5723-A740-D483-E7AED79E1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r="37815" b="36134"/>
          <a:stretch>
            <a:fillRect/>
          </a:stretch>
        </p:blipFill>
        <p:spPr>
          <a:xfrm>
            <a:off x="225824" y="824592"/>
            <a:ext cx="4833257" cy="1992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D1A73E-562A-7C14-39C4-4E51499F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557197"/>
            <a:ext cx="4346176" cy="33903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1DDA2F-D440-23EB-FCE0-8785FD823FEB}"/>
              </a:ext>
            </a:extLst>
          </p:cNvPr>
          <p:cNvSpPr/>
          <p:nvPr/>
        </p:nvSpPr>
        <p:spPr>
          <a:xfrm>
            <a:off x="4343401" y="4620984"/>
            <a:ext cx="811192" cy="22988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2050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8E57F791-DCEF-DA86-2BD9-8D50FFE0D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970374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0BD5-4EC9-3E9D-3BCA-ECD11947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download either model…results will vary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C7740-94B2-FF49-ED2B-A6671F6F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51656"/>
            <a:ext cx="4358139" cy="3399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BFE10-A9AB-478E-697C-66C69D1F38BA}"/>
              </a:ext>
            </a:extLst>
          </p:cNvPr>
          <p:cNvSpPr txBox="1"/>
          <p:nvPr/>
        </p:nvSpPr>
        <p:spPr>
          <a:xfrm>
            <a:off x="4506685" y="1033189"/>
            <a:ext cx="435814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 dirty="0">
                <a:hlinkClick r:id="rId3"/>
              </a:rPr>
              <a:t>https://huggingface.co/lmstudio-community/Qwen2.5-7B-Instruct-GGUF</a:t>
            </a:r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F8242-B648-9B74-C290-15D1856F4C49}"/>
              </a:ext>
            </a:extLst>
          </p:cNvPr>
          <p:cNvSpPr txBox="1"/>
          <p:nvPr/>
        </p:nvSpPr>
        <p:spPr>
          <a:xfrm>
            <a:off x="81643" y="1033189"/>
            <a:ext cx="4163786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1000" dirty="0">
                <a:hlinkClick r:id="rId4"/>
              </a:rPr>
              <a:t>https://huggingface.co/bartowski/granite-3.1-1b-a400m-instruct-GGUF</a:t>
            </a:r>
            <a:endParaRPr lang="en-US" sz="1000" dirty="0"/>
          </a:p>
          <a:p>
            <a:pPr algn="ctr"/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D6401B-4E05-D221-2C44-253243F9E4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31" t="12110" r="20009" b="12373"/>
          <a:stretch>
            <a:fillRect/>
          </a:stretch>
        </p:blipFill>
        <p:spPr>
          <a:xfrm>
            <a:off x="225824" y="1351656"/>
            <a:ext cx="3478007" cy="2710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4478FD-65C9-AB43-A5FE-E39C12527A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431" t="12465" r="19527" b="12465"/>
          <a:stretch>
            <a:fillRect/>
          </a:stretch>
        </p:blipFill>
        <p:spPr>
          <a:xfrm>
            <a:off x="996845" y="2547196"/>
            <a:ext cx="3336328" cy="2564447"/>
          </a:xfrm>
          <a:prstGeom prst="rect">
            <a:avLst/>
          </a:prstGeom>
        </p:spPr>
      </p:pic>
      <p:pic>
        <p:nvPicPr>
          <p:cNvPr id="14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53677494-8679-5B99-EAEA-099233D2E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00810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24852AF-C1C3-105F-DEF7-69EE9668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93D1-482B-4C96-D543-E8971D43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downloaded, load the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33C7B-1BAF-F087-51AD-85566A21D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31" t="12111" r="19817" b="12681"/>
          <a:stretch>
            <a:fillRect/>
          </a:stretch>
        </p:blipFill>
        <p:spPr>
          <a:xfrm>
            <a:off x="2803160" y="1098418"/>
            <a:ext cx="4721902" cy="36534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F6E6FD-72E8-A506-0572-F88B924E73DF}"/>
              </a:ext>
            </a:extLst>
          </p:cNvPr>
          <p:cNvSpPr/>
          <p:nvPr/>
        </p:nvSpPr>
        <p:spPr>
          <a:xfrm>
            <a:off x="4414603" y="1671403"/>
            <a:ext cx="1379095" cy="1986197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7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72C2CD6A-3CBF-BE9A-FEDE-B2E6954D9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894873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7ED9A7-8C4F-225E-39D7-51D4B5D4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A5F2-1E4D-5369-B75E-F06D4267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first time it will take time to load the model into RAM.  Then you can test your local LLM using the chat interface.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9024E-3C0D-F148-F30E-640A0A70F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9" y="1184223"/>
            <a:ext cx="4229970" cy="32997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B0F3B3-07BD-1C83-CEF3-4852297151A5}"/>
              </a:ext>
            </a:extLst>
          </p:cNvPr>
          <p:cNvSpPr/>
          <p:nvPr/>
        </p:nvSpPr>
        <p:spPr>
          <a:xfrm>
            <a:off x="1558978" y="2773181"/>
            <a:ext cx="2181070" cy="704538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0B289-41F8-87FF-571B-6FE2BC48B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21" y="1183286"/>
            <a:ext cx="4229970" cy="32997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A6EA9F-DFDD-4816-1F9C-8D210217EFBB}"/>
              </a:ext>
            </a:extLst>
          </p:cNvPr>
          <p:cNvSpPr/>
          <p:nvPr/>
        </p:nvSpPr>
        <p:spPr>
          <a:xfrm>
            <a:off x="5799871" y="1606446"/>
            <a:ext cx="2181070" cy="704538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10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5B530FA5-EFF1-F47D-DA31-79C523B1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373982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2B7CCD-D3D3-0CD2-B3C2-31B5B57A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9222-72B6-19BC-9832-45E92EF41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on settings, then local API 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A0AC4-29BF-B899-7066-702D91095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1161738"/>
            <a:ext cx="4314041" cy="33652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95AA16-700E-AA37-8A63-34D983E25D7B}"/>
              </a:ext>
            </a:extLst>
          </p:cNvPr>
          <p:cNvSpPr/>
          <p:nvPr/>
        </p:nvSpPr>
        <p:spPr>
          <a:xfrm>
            <a:off x="89940" y="4332158"/>
            <a:ext cx="839451" cy="25483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A306C7-E1BA-7EFE-1634-A9F4D54E3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18" y="1161737"/>
            <a:ext cx="4314042" cy="3365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62C93B-403E-0BF4-1197-F9569C4C82E6}"/>
              </a:ext>
            </a:extLst>
          </p:cNvPr>
          <p:cNvSpPr/>
          <p:nvPr/>
        </p:nvSpPr>
        <p:spPr>
          <a:xfrm>
            <a:off x="5496393" y="2056151"/>
            <a:ext cx="839451" cy="25483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11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662A53E8-2C0A-3385-9A3A-162965470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783403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E2726A-2354-6AD3-B1F6-76C6C23C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9D3-28FF-63EE-43D1-BB9006380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on settings, then local API 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A58234-002D-1361-6CAA-D95AB350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1161738"/>
            <a:ext cx="4314041" cy="33652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C1A273-EEB4-3CB6-8924-E198BF6626A1}"/>
              </a:ext>
            </a:extLst>
          </p:cNvPr>
          <p:cNvSpPr/>
          <p:nvPr/>
        </p:nvSpPr>
        <p:spPr>
          <a:xfrm>
            <a:off x="89940" y="4332158"/>
            <a:ext cx="839451" cy="25483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FFA8A-C7FC-1CCC-9793-E8733E65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18" y="1161737"/>
            <a:ext cx="4314042" cy="3365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4D18ED1-8517-2DAC-516C-FDD655BC6DC7}"/>
              </a:ext>
            </a:extLst>
          </p:cNvPr>
          <p:cNvSpPr/>
          <p:nvPr/>
        </p:nvSpPr>
        <p:spPr>
          <a:xfrm>
            <a:off x="5496393" y="2056151"/>
            <a:ext cx="839451" cy="254832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3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3AA28DD1-C3D9-A931-D35E-E60668737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713053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502E-FB5D-65C0-D424-5C25F1C1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an API Key, click “Start Server” &amp; verify a model is running by clicking “model providers”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ECEB3-2752-D3BC-9414-84D895F68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4" y="858088"/>
            <a:ext cx="4539958" cy="35415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1CE9FA-D97F-B146-7BFA-41E62861EC67}"/>
              </a:ext>
            </a:extLst>
          </p:cNvPr>
          <p:cNvSpPr/>
          <p:nvPr/>
        </p:nvSpPr>
        <p:spPr>
          <a:xfrm>
            <a:off x="1743052" y="2865883"/>
            <a:ext cx="2945566" cy="28980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6CC9B-4B01-B7DA-E2A8-BB7501E29FC5}"/>
              </a:ext>
            </a:extLst>
          </p:cNvPr>
          <p:cNvSpPr/>
          <p:nvPr/>
        </p:nvSpPr>
        <p:spPr>
          <a:xfrm>
            <a:off x="1743052" y="1153071"/>
            <a:ext cx="2945566" cy="28980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6D097-D4E4-95C7-26BC-1ABBF9577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333" y="1082941"/>
            <a:ext cx="3963843" cy="30921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D171F2-A019-A053-4F06-2335444C9048}"/>
              </a:ext>
            </a:extLst>
          </p:cNvPr>
          <p:cNvSpPr/>
          <p:nvPr/>
        </p:nvSpPr>
        <p:spPr>
          <a:xfrm>
            <a:off x="1026826" y="1447388"/>
            <a:ext cx="716226" cy="19705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4CCB6-1D2C-AC04-018C-B00F8978D773}"/>
              </a:ext>
            </a:extLst>
          </p:cNvPr>
          <p:cNvSpPr/>
          <p:nvPr/>
        </p:nvSpPr>
        <p:spPr>
          <a:xfrm>
            <a:off x="6513226" y="1583392"/>
            <a:ext cx="2312679" cy="197059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9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496C9F6B-0857-D9B0-C46C-3EC317A53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22387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52F6BA-0089-CCCD-A41D-AAA40FA1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86C9-D5D7-9590-A140-5B8B5364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4" y="137160"/>
            <a:ext cx="8460976" cy="594000"/>
          </a:xfrm>
        </p:spPr>
        <p:txBody>
          <a:bodyPr>
            <a:normAutofit/>
          </a:bodyPr>
          <a:lstStyle/>
          <a:p>
            <a:r>
              <a:rPr lang="en-US" dirty="0"/>
              <a:t>Now let’s use R to interface with the Jan AI local server.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10C0BA-A1E2-D267-B777-93854A66E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107"/>
          <a:stretch>
            <a:fillRect/>
          </a:stretch>
        </p:blipFill>
        <p:spPr>
          <a:xfrm>
            <a:off x="225824" y="749408"/>
            <a:ext cx="3613194" cy="42694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DE517F-44DF-1F3B-1EA2-DD4C911DE169}"/>
              </a:ext>
            </a:extLst>
          </p:cNvPr>
          <p:cNvSpPr/>
          <p:nvPr/>
        </p:nvSpPr>
        <p:spPr>
          <a:xfrm>
            <a:off x="281510" y="1831561"/>
            <a:ext cx="3196207" cy="541238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F2368-ED10-DAAB-BB2A-33BA14CD87CE}"/>
              </a:ext>
            </a:extLst>
          </p:cNvPr>
          <p:cNvSpPr/>
          <p:nvPr/>
        </p:nvSpPr>
        <p:spPr>
          <a:xfrm>
            <a:off x="168894" y="4609476"/>
            <a:ext cx="1569965" cy="389370"/>
          </a:xfrm>
          <a:prstGeom prst="rect">
            <a:avLst/>
          </a:prstGeom>
          <a:noFill/>
          <a:ln w="25400" cap="flat">
            <a:solidFill>
              <a:srgbClr val="FF40FF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9" name="Picture 2" descr="Jan AI - AI Agent Reviews, Features, Use Cases &amp; Alternatives (2025)">
            <a:extLst>
              <a:ext uri="{FF2B5EF4-FFF2-40B4-BE49-F238E27FC236}">
                <a16:creationId xmlns:a16="http://schemas.microsoft.com/office/drawing/2014/main" id="{0FC718C4-141C-67AF-D6B5-8653A334E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021" y="137160"/>
            <a:ext cx="912155" cy="8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2208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ataRobot – Presentation Master Dark">
  <a:themeElements>
    <a:clrScheme name="DataRobot – Presentation Master Dark">
      <a:dk1>
        <a:srgbClr val="000000"/>
      </a:dk1>
      <a:lt1>
        <a:srgbClr val="0A0A0C"/>
      </a:lt1>
      <a:dk2>
        <a:srgbClr val="A7A7A7"/>
      </a:dk2>
      <a:lt2>
        <a:srgbClr val="535353"/>
      </a:lt2>
      <a:accent1>
        <a:srgbClr val="0099FF"/>
      </a:accent1>
      <a:accent2>
        <a:srgbClr val="FF2E3C"/>
      </a:accent2>
      <a:accent3>
        <a:srgbClr val="762CA0"/>
      </a:accent3>
      <a:accent4>
        <a:srgbClr val="FFC000"/>
      </a:accent4>
      <a:accent5>
        <a:srgbClr val="92CA18"/>
      </a:accent5>
      <a:accent6>
        <a:srgbClr val="27AFF4"/>
      </a:accent6>
      <a:hlink>
        <a:srgbClr val="0000FF"/>
      </a:hlink>
      <a:folHlink>
        <a:srgbClr val="FF00FF"/>
      </a:folHlink>
    </a:clrScheme>
    <a:fontScheme name="DataRobot – Presentation Master Dark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Robot – Presentation Master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taRobot – Presentation Master Dark">
  <a:themeElements>
    <a:clrScheme name="DataRobot – Presentation Master Dar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9FF"/>
      </a:accent1>
      <a:accent2>
        <a:srgbClr val="FF2E3C"/>
      </a:accent2>
      <a:accent3>
        <a:srgbClr val="762CA0"/>
      </a:accent3>
      <a:accent4>
        <a:srgbClr val="FFC000"/>
      </a:accent4>
      <a:accent5>
        <a:srgbClr val="92CA18"/>
      </a:accent5>
      <a:accent6>
        <a:srgbClr val="27AFF4"/>
      </a:accent6>
      <a:hlink>
        <a:srgbClr val="0000FF"/>
      </a:hlink>
      <a:folHlink>
        <a:srgbClr val="FF00FF"/>
      </a:folHlink>
    </a:clrScheme>
    <a:fontScheme name="DataRobot – Presentation Master Dark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ataRobot – Presentation Master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6552</TotalTime>
  <Words>3406</Words>
  <Application>Microsoft Macintosh PowerPoint</Application>
  <PresentationFormat>On-screen Show (16:9)</PresentationFormat>
  <Paragraphs>409</Paragraphs>
  <Slides>86</Slides>
  <Notes>2</Notes>
  <HiddenSlides>21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86</vt:i4>
      </vt:variant>
    </vt:vector>
  </HeadingPairs>
  <TitlesOfParts>
    <vt:vector size="97" baseType="lpstr">
      <vt:lpstr>Arial</vt:lpstr>
      <vt:lpstr>Calibri</vt:lpstr>
      <vt:lpstr>Calibri Light</vt:lpstr>
      <vt:lpstr>Consolas</vt:lpstr>
      <vt:lpstr>Google Sans</vt:lpstr>
      <vt:lpstr>Helvetica</vt:lpstr>
      <vt:lpstr>Roboto</vt:lpstr>
      <vt:lpstr>source-serif-pro</vt:lpstr>
      <vt:lpstr>ui-sans-serif</vt:lpstr>
      <vt:lpstr>DataRobot – Presentation Master Dark</vt:lpstr>
      <vt:lpstr>1_Office Theme</vt:lpstr>
      <vt:lpstr>All aboard the AI Hype Train!</vt:lpstr>
      <vt:lpstr>Get off my lawn! AI is just pattern recognition.</vt:lpstr>
      <vt:lpstr>Difference with AI/ML VS. Calculations</vt:lpstr>
      <vt:lpstr>Even Generative AI is just a pattern recognition.</vt:lpstr>
      <vt:lpstr>Even Generative AI is just a pattern recognition.</vt:lpstr>
      <vt:lpstr>2T tokens in &gt; 208B parameters &gt; </vt:lpstr>
      <vt:lpstr>Neural Nets [in this context] are used to compress information.</vt:lpstr>
      <vt:lpstr>Models come in 2 flavors “open” and “closed” weights</vt:lpstr>
      <vt:lpstr>What do we mean by Model Weight?</vt:lpstr>
      <vt:lpstr>Presence of words can be model weights and activations can be words that are also often co-occuring</vt:lpstr>
      <vt:lpstr>Tokens co-occurrence can be understood as a vector of numbers, these observed interactions represent the token in context.</vt:lpstr>
      <vt:lpstr>In a hyperspace words &amp; concepts are identified in close proximity.</vt:lpstr>
      <vt:lpstr>Responses are built concept by concept, token by token based on the vector embedding relationships.</vt:lpstr>
      <vt:lpstr>LLMs build token by token to construct a response.</vt:lpstr>
      <vt:lpstr>What is an API?</vt:lpstr>
      <vt:lpstr>Data File Format</vt:lpstr>
      <vt:lpstr>Your phone doesn’t have every map in the world.</vt:lpstr>
      <vt:lpstr>Your phone doesn’t have every map in the world.</vt:lpstr>
      <vt:lpstr>APIs are behind many of the sites you use everyday.</vt:lpstr>
      <vt:lpstr>APIs are behind many of the sites you use everyday.</vt:lpstr>
      <vt:lpstr>If you know where to look, you can access APIs for data!</vt:lpstr>
      <vt:lpstr>In chrome access the developer console.</vt:lpstr>
      <vt:lpstr>PowerPoint Presentation</vt:lpstr>
      <vt:lpstr>Closed Caption Data is in JSON</vt:lpstr>
      <vt:lpstr>Let’s Practice…</vt:lpstr>
      <vt:lpstr>A Simple JSON API</vt:lpstr>
      <vt:lpstr>Some APIs require a “handshake” to authenticate</vt:lpstr>
      <vt:lpstr>Now JSON</vt:lpstr>
      <vt:lpstr>Common API Request Components</vt:lpstr>
      <vt:lpstr>Now we will make a handshake API request to a LLM.</vt:lpstr>
      <vt:lpstr>Open C_openrouter.R</vt:lpstr>
      <vt:lpstr>Ask questions carefully when seeking answers or relying on LLMs. Prompting makes all the difference.</vt:lpstr>
      <vt:lpstr>Basic Prompt – Use the R script and change the input.</vt:lpstr>
      <vt:lpstr>In the script, add positive and negative examples to the prompt.</vt:lpstr>
      <vt:lpstr>Chain of thought prompting</vt:lpstr>
      <vt:lpstr>COSTAR</vt:lpstr>
      <vt:lpstr>Longer prompt with specific aspects.</vt:lpstr>
      <vt:lpstr>Asking for citations…risky business!</vt:lpstr>
      <vt:lpstr>Asking for citations…risky business!</vt:lpstr>
      <vt:lpstr>LLMs are usually censored to avoid bias &amp; offensive content.  Jailbreak prompts exist to overcome censorship.</vt:lpstr>
      <vt:lpstr>Example Jailbreak.  Frontier models have built in guardrails.</vt:lpstr>
      <vt:lpstr>There are multiple jailbreak prompts, be aware people use them in production systems! Don’t do this.</vt:lpstr>
      <vt:lpstr>Thus, LLM security &amp; observability is an emerging business</vt:lpstr>
      <vt:lpstr>And some people prefer broken/uncensored models.</vt:lpstr>
      <vt:lpstr>You can efficiently use LLMs in a workflow but be mindful of the instructions.  </vt:lpstr>
      <vt:lpstr>More info on System Prompts.</vt:lpstr>
      <vt:lpstr>People jailbreak system prompts of all models!</vt:lpstr>
      <vt:lpstr>Hagll.com – My current research is agent to agent communication.</vt:lpstr>
      <vt:lpstr>Use an LLM for sentiment</vt:lpstr>
      <vt:lpstr>Text Summarization</vt:lpstr>
      <vt:lpstr>How do you measure summarization quality?</vt:lpstr>
      <vt:lpstr>Jaccard Similarity</vt:lpstr>
      <vt:lpstr>Why Jaccard?</vt:lpstr>
      <vt:lpstr>Use an LLM for summarization</vt:lpstr>
      <vt:lpstr>LLM Based Document Classification</vt:lpstr>
      <vt:lpstr>2 Methods for document classification</vt:lpstr>
      <vt:lpstr>Think of LLMS as useful tools for specific tasks like NER</vt:lpstr>
      <vt:lpstr>LLMs stumble easily.</vt:lpstr>
      <vt:lpstr>Fails relatively simple tasks.</vt:lpstr>
      <vt:lpstr>Context window matters.</vt:lpstr>
      <vt:lpstr>Hallucinations.</vt:lpstr>
      <vt:lpstr>Prompting really matters.</vt:lpstr>
      <vt:lpstr>Knowledge of the physical world is incomplete.</vt:lpstr>
      <vt:lpstr>No concept of what it will do in the future [until “thinking” models].</vt:lpstr>
      <vt:lpstr>Appendix</vt:lpstr>
      <vt:lpstr>Local LLM Models</vt:lpstr>
      <vt:lpstr>Local LLM to Cloud Comparison</vt:lpstr>
      <vt:lpstr>Please download LM-Studio*</vt:lpstr>
      <vt:lpstr>LM-Studio Setup  - search for “llama3.2-1b-instruct”</vt:lpstr>
      <vt:lpstr>Once downloaded, load the model</vt:lpstr>
      <vt:lpstr>Test your local LLM using the chat interface.</vt:lpstr>
      <vt:lpstr>Click on the developer icon to start your local server.</vt:lpstr>
      <vt:lpstr>Now let’s use R to interface with the local server.</vt:lpstr>
      <vt:lpstr>API Inputs to watch out for.</vt:lpstr>
      <vt:lpstr>Contrastive Chain of thought</vt:lpstr>
      <vt:lpstr>PowerPoint Presentation</vt:lpstr>
      <vt:lpstr>PowerPoint Presentation</vt:lpstr>
      <vt:lpstr>Jailbreak</vt:lpstr>
      <vt:lpstr>Download Jan AI, then download a local model.</vt:lpstr>
      <vt:lpstr>You can download either model…results will vary</vt:lpstr>
      <vt:lpstr>Once downloaded, load the model</vt:lpstr>
      <vt:lpstr>The first time it will take time to load the model into RAM.  Then you can test your local LLM using the chat interface.</vt:lpstr>
      <vt:lpstr>Click on settings, then local API server</vt:lpstr>
      <vt:lpstr>Click on settings, then local API server</vt:lpstr>
      <vt:lpstr>Add an API Key, click “Start Server” &amp; verify a model is running by clicking “model providers”</vt:lpstr>
      <vt:lpstr>Now let’s use R to interface with the Jan AI local server.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Ted Kwartler</cp:lastModifiedBy>
  <cp:revision>53</cp:revision>
  <dcterms:modified xsi:type="dcterms:W3CDTF">2026-06-10T19:50:25Z</dcterms:modified>
</cp:coreProperties>
</file>