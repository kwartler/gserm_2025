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0"/>
  </p:notesMasterIdLst>
  <p:sldIdLst>
    <p:sldId id="593" r:id="rId2"/>
    <p:sldId id="678" r:id="rId3"/>
    <p:sldId id="752" r:id="rId4"/>
    <p:sldId id="751" r:id="rId5"/>
    <p:sldId id="754" r:id="rId6"/>
    <p:sldId id="755" r:id="rId7"/>
    <p:sldId id="814" r:id="rId8"/>
    <p:sldId id="756" r:id="rId9"/>
    <p:sldId id="757" r:id="rId10"/>
    <p:sldId id="758" r:id="rId11"/>
    <p:sldId id="759" r:id="rId12"/>
    <p:sldId id="760" r:id="rId13"/>
    <p:sldId id="679" r:id="rId14"/>
    <p:sldId id="681" r:id="rId15"/>
    <p:sldId id="761" r:id="rId16"/>
    <p:sldId id="682" r:id="rId17"/>
    <p:sldId id="762" r:id="rId18"/>
    <p:sldId id="684" r:id="rId19"/>
    <p:sldId id="764" r:id="rId20"/>
    <p:sldId id="765" r:id="rId21"/>
    <p:sldId id="763" r:id="rId22"/>
    <p:sldId id="766" r:id="rId23"/>
    <p:sldId id="768" r:id="rId24"/>
    <p:sldId id="769" r:id="rId25"/>
    <p:sldId id="770" r:id="rId26"/>
    <p:sldId id="773" r:id="rId27"/>
    <p:sldId id="775" r:id="rId28"/>
    <p:sldId id="776" r:id="rId29"/>
    <p:sldId id="771" r:id="rId30"/>
    <p:sldId id="772" r:id="rId31"/>
    <p:sldId id="817" r:id="rId32"/>
    <p:sldId id="778" r:id="rId33"/>
    <p:sldId id="815" r:id="rId34"/>
    <p:sldId id="816" r:id="rId35"/>
    <p:sldId id="820" r:id="rId36"/>
    <p:sldId id="777" r:id="rId37"/>
    <p:sldId id="779" r:id="rId38"/>
    <p:sldId id="780" r:id="rId39"/>
    <p:sldId id="781" r:id="rId40"/>
    <p:sldId id="782" r:id="rId41"/>
    <p:sldId id="800" r:id="rId42"/>
    <p:sldId id="801" r:id="rId43"/>
    <p:sldId id="802" r:id="rId44"/>
    <p:sldId id="803" r:id="rId45"/>
    <p:sldId id="783" r:id="rId46"/>
    <p:sldId id="784" r:id="rId47"/>
    <p:sldId id="786" r:id="rId48"/>
    <p:sldId id="787" r:id="rId49"/>
    <p:sldId id="788" r:id="rId50"/>
    <p:sldId id="789" r:id="rId51"/>
    <p:sldId id="733" r:id="rId52"/>
    <p:sldId id="790" r:id="rId53"/>
    <p:sldId id="792" r:id="rId54"/>
    <p:sldId id="793" r:id="rId55"/>
    <p:sldId id="794" r:id="rId56"/>
    <p:sldId id="797" r:id="rId57"/>
    <p:sldId id="799" r:id="rId58"/>
    <p:sldId id="796" r:id="rId59"/>
    <p:sldId id="821" r:id="rId60"/>
    <p:sldId id="795" r:id="rId61"/>
    <p:sldId id="798" r:id="rId62"/>
    <p:sldId id="791" r:id="rId63"/>
    <p:sldId id="808" r:id="rId64"/>
    <p:sldId id="819" r:id="rId65"/>
    <p:sldId id="813" r:id="rId66"/>
    <p:sldId id="809" r:id="rId67"/>
    <p:sldId id="810" r:id="rId68"/>
    <p:sldId id="811" r:id="rId6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ed Kwartler" initials=""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716" autoAdjust="0"/>
    <p:restoredTop sz="91427" autoAdjust="0"/>
  </p:normalViewPr>
  <p:slideViewPr>
    <p:cSldViewPr snapToGrid="0">
      <p:cViewPr varScale="1">
        <p:scale>
          <a:sx n="111" d="100"/>
          <a:sy n="111" d="100"/>
        </p:scale>
        <p:origin x="824" y="20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Book2"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top</a:t>
            </a:r>
            <a:r>
              <a:rPr lang="en-US" baseline="0" dirty="0"/>
              <a:t> 35 terms from 3m Super Bowl 50 Tweets</a:t>
            </a:r>
            <a:endParaRPr lang="en-US" dirty="0"/>
          </a:p>
        </c:rich>
      </c:tx>
      <c:layout>
        <c:manualLayout>
          <c:xMode val="edge"/>
          <c:yMode val="edge"/>
          <c:x val="0.30885845754611607"/>
          <c:y val="5.8578070147542453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Sheet1!$C$1</c:f>
              <c:strCache>
                <c:ptCount val="1"/>
                <c:pt idx="0">
                  <c:v>freq</c:v>
                </c:pt>
              </c:strCache>
            </c:strRef>
          </c:tx>
          <c:spPr>
            <a:solidFill>
              <a:schemeClr val="accent6">
                <a:lumMod val="60000"/>
                <a:lumOff val="40000"/>
              </a:schemeClr>
            </a:solidFill>
            <a:ln>
              <a:noFill/>
            </a:ln>
            <a:effectLst/>
          </c:spPr>
          <c:invertIfNegative val="0"/>
          <c:cat>
            <c:strRef>
              <c:f>Sheet1!$B$2:$B$36</c:f>
              <c:strCache>
                <c:ptCount val="35"/>
                <c:pt idx="0">
                  <c:v>rt</c:v>
                </c:pt>
                <c:pt idx="1">
                  <c:v>i</c:v>
                </c:pt>
                <c:pt idx="2">
                  <c:v>the</c:v>
                </c:pt>
                <c:pt idx="3">
                  <c:v>to</c:v>
                </c:pt>
                <c:pt idx="4">
                  <c:v>you</c:v>
                </c:pt>
                <c:pt idx="5">
                  <c:v>a</c:v>
                </c:pt>
                <c:pt idx="6">
                  <c:v>and</c:v>
                </c:pt>
                <c:pt idx="7">
                  <c:v>my</c:v>
                </c:pt>
                <c:pt idx="8">
                  <c:v>is</c:v>
                </c:pt>
                <c:pt idx="9">
                  <c:v>in</c:v>
                </c:pt>
                <c:pt idx="10">
                  <c:v>me</c:v>
                </c:pt>
                <c:pt idx="11">
                  <c:v>of</c:v>
                </c:pt>
                <c:pt idx="12">
                  <c:v>for</c:v>
                </c:pt>
                <c:pt idx="13">
                  <c:v>it</c:v>
                </c:pt>
                <c:pt idx="14">
                  <c:v>on</c:v>
                </c:pt>
                <c:pt idx="15">
                  <c:v>that</c:v>
                </c:pt>
                <c:pt idx="16">
                  <c:v>this</c:v>
                </c:pt>
                <c:pt idx="17">
                  <c:v>be</c:v>
                </c:pt>
                <c:pt idx="18">
                  <c:v>so</c:v>
                </c:pt>
                <c:pt idx="19">
                  <c:v>i'm</c:v>
                </c:pt>
                <c:pt idx="20">
                  <c:v>with</c:v>
                </c:pt>
                <c:pt idx="21">
                  <c:v>just</c:v>
                </c:pt>
                <c:pt idx="22">
                  <c:v>your</c:v>
                </c:pt>
                <c:pt idx="23">
                  <c:v>like</c:v>
                </c:pt>
                <c:pt idx="24">
                  <c:v>at</c:v>
                </c:pt>
                <c:pt idx="25">
                  <c:v>have</c:v>
                </c:pt>
                <c:pt idx="26">
                  <c:v>are</c:v>
                </c:pt>
                <c:pt idx="27">
                  <c:v>if</c:v>
                </c:pt>
                <c:pt idx="28">
                  <c:v>love</c:v>
                </c:pt>
                <c:pt idx="29">
                  <c:v>not</c:v>
                </c:pt>
                <c:pt idx="30">
                  <c:v>but</c:v>
                </c:pt>
                <c:pt idx="31">
                  <c:v>all</c:v>
                </c:pt>
                <c:pt idx="32">
                  <c:v>up</c:v>
                </c:pt>
                <c:pt idx="33">
                  <c:v>don't</c:v>
                </c:pt>
                <c:pt idx="34">
                  <c:v>get</c:v>
                </c:pt>
              </c:strCache>
            </c:strRef>
          </c:cat>
          <c:val>
            <c:numRef>
              <c:f>Sheet1!$C$2:$C$36</c:f>
              <c:numCache>
                <c:formatCode>#,##0</c:formatCode>
                <c:ptCount val="35"/>
                <c:pt idx="0">
                  <c:v>833389</c:v>
                </c:pt>
                <c:pt idx="1">
                  <c:v>775401</c:v>
                </c:pt>
                <c:pt idx="2">
                  <c:v>647319</c:v>
                </c:pt>
                <c:pt idx="3">
                  <c:v>598258</c:v>
                </c:pt>
                <c:pt idx="4">
                  <c:v>553918</c:v>
                </c:pt>
                <c:pt idx="5">
                  <c:v>513428</c:v>
                </c:pt>
                <c:pt idx="6">
                  <c:v>355281</c:v>
                </c:pt>
                <c:pt idx="7">
                  <c:v>326127</c:v>
                </c:pt>
                <c:pt idx="8">
                  <c:v>291574</c:v>
                </c:pt>
                <c:pt idx="9">
                  <c:v>288630</c:v>
                </c:pt>
                <c:pt idx="10">
                  <c:v>283898</c:v>
                </c:pt>
                <c:pt idx="11">
                  <c:v>260236</c:v>
                </c:pt>
                <c:pt idx="12">
                  <c:v>256208</c:v>
                </c:pt>
                <c:pt idx="13">
                  <c:v>224443</c:v>
                </c:pt>
                <c:pt idx="14">
                  <c:v>208352</c:v>
                </c:pt>
                <c:pt idx="15">
                  <c:v>184942</c:v>
                </c:pt>
                <c:pt idx="16">
                  <c:v>172278</c:v>
                </c:pt>
                <c:pt idx="17">
                  <c:v>164978</c:v>
                </c:pt>
                <c:pt idx="18">
                  <c:v>161463</c:v>
                </c:pt>
                <c:pt idx="19">
                  <c:v>155037</c:v>
                </c:pt>
                <c:pt idx="20">
                  <c:v>150378</c:v>
                </c:pt>
                <c:pt idx="21">
                  <c:v>147041</c:v>
                </c:pt>
                <c:pt idx="22">
                  <c:v>139756</c:v>
                </c:pt>
                <c:pt idx="23">
                  <c:v>134321</c:v>
                </c:pt>
                <c:pt idx="24">
                  <c:v>131796</c:v>
                </c:pt>
                <c:pt idx="25">
                  <c:v>128607</c:v>
                </c:pt>
                <c:pt idx="26">
                  <c:v>119199</c:v>
                </c:pt>
                <c:pt idx="27">
                  <c:v>117897</c:v>
                </c:pt>
                <c:pt idx="28">
                  <c:v>116478</c:v>
                </c:pt>
                <c:pt idx="29">
                  <c:v>113745</c:v>
                </c:pt>
                <c:pt idx="30">
                  <c:v>112588</c:v>
                </c:pt>
                <c:pt idx="31">
                  <c:v>108893</c:v>
                </c:pt>
                <c:pt idx="32">
                  <c:v>105797</c:v>
                </c:pt>
                <c:pt idx="33">
                  <c:v>102665</c:v>
                </c:pt>
                <c:pt idx="34">
                  <c:v>99674</c:v>
                </c:pt>
              </c:numCache>
            </c:numRef>
          </c:val>
          <c:extLst>
            <c:ext xmlns:c16="http://schemas.microsoft.com/office/drawing/2014/chart" uri="{C3380CC4-5D6E-409C-BE32-E72D297353CC}">
              <c16:uniqueId val="{00000000-4A4A-4697-82AD-214C30CE3E88}"/>
            </c:ext>
          </c:extLst>
        </c:ser>
        <c:dLbls>
          <c:showLegendKey val="0"/>
          <c:showVal val="0"/>
          <c:showCatName val="0"/>
          <c:showSerName val="0"/>
          <c:showPercent val="0"/>
          <c:showBubbleSize val="0"/>
        </c:dLbls>
        <c:gapWidth val="219"/>
        <c:overlap val="-27"/>
        <c:axId val="291901728"/>
        <c:axId val="369966056"/>
      </c:barChart>
      <c:catAx>
        <c:axId val="2919017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9966056"/>
        <c:crosses val="autoZero"/>
        <c:auto val="1"/>
        <c:lblAlgn val="ctr"/>
        <c:lblOffset val="100"/>
        <c:noMultiLvlLbl val="0"/>
      </c:catAx>
      <c:valAx>
        <c:axId val="369966056"/>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9190172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Sheet1!$C$1</c:f>
              <c:strCache>
                <c:ptCount val="1"/>
                <c:pt idx="0">
                  <c:v>freq</c:v>
                </c:pt>
              </c:strCache>
            </c:strRef>
          </c:tx>
          <c:spPr>
            <a:solidFill>
              <a:schemeClr val="accent1"/>
            </a:solidFill>
            <a:ln>
              <a:noFill/>
            </a:ln>
            <a:effectLst/>
          </c:spPr>
          <c:invertIfNegative val="0"/>
          <c:cat>
            <c:strRef>
              <c:f>Sheet1!$B$2:$B$51</c:f>
              <c:strCache>
                <c:ptCount val="50"/>
                <c:pt idx="0">
                  <c:v>rt</c:v>
                </c:pt>
                <c:pt idx="1">
                  <c:v>i</c:v>
                </c:pt>
                <c:pt idx="2">
                  <c:v>the</c:v>
                </c:pt>
                <c:pt idx="3">
                  <c:v>to</c:v>
                </c:pt>
                <c:pt idx="4">
                  <c:v>you</c:v>
                </c:pt>
                <c:pt idx="5">
                  <c:v>a</c:v>
                </c:pt>
                <c:pt idx="6">
                  <c:v>and</c:v>
                </c:pt>
                <c:pt idx="7">
                  <c:v>my</c:v>
                </c:pt>
                <c:pt idx="8">
                  <c:v>is</c:v>
                </c:pt>
                <c:pt idx="9">
                  <c:v>in</c:v>
                </c:pt>
                <c:pt idx="10">
                  <c:v>me</c:v>
                </c:pt>
                <c:pt idx="11">
                  <c:v>of</c:v>
                </c:pt>
                <c:pt idx="12">
                  <c:v>for</c:v>
                </c:pt>
                <c:pt idx="13">
                  <c:v>it</c:v>
                </c:pt>
                <c:pt idx="14">
                  <c:v>on</c:v>
                </c:pt>
                <c:pt idx="15">
                  <c:v>that</c:v>
                </c:pt>
                <c:pt idx="16">
                  <c:v>this</c:v>
                </c:pt>
                <c:pt idx="17">
                  <c:v>be</c:v>
                </c:pt>
                <c:pt idx="18">
                  <c:v>so</c:v>
                </c:pt>
                <c:pt idx="19">
                  <c:v>i'm</c:v>
                </c:pt>
                <c:pt idx="20">
                  <c:v>with</c:v>
                </c:pt>
                <c:pt idx="21">
                  <c:v>just</c:v>
                </c:pt>
                <c:pt idx="22">
                  <c:v>your</c:v>
                </c:pt>
                <c:pt idx="23">
                  <c:v>like</c:v>
                </c:pt>
                <c:pt idx="24">
                  <c:v>at</c:v>
                </c:pt>
                <c:pt idx="25">
                  <c:v>have</c:v>
                </c:pt>
                <c:pt idx="26">
                  <c:v>are</c:v>
                </c:pt>
                <c:pt idx="27">
                  <c:v>if</c:v>
                </c:pt>
                <c:pt idx="28">
                  <c:v>love</c:v>
                </c:pt>
                <c:pt idx="29">
                  <c:v>not</c:v>
                </c:pt>
                <c:pt idx="30">
                  <c:v>but</c:v>
                </c:pt>
                <c:pt idx="31">
                  <c:v>all</c:v>
                </c:pt>
                <c:pt idx="32">
                  <c:v>up</c:v>
                </c:pt>
                <c:pt idx="33">
                  <c:v>don't</c:v>
                </c:pt>
                <c:pt idx="34">
                  <c:v>get</c:v>
                </c:pt>
                <c:pt idx="35">
                  <c:v>do</c:v>
                </c:pt>
                <c:pt idx="36">
                  <c:v>what</c:v>
                </c:pt>
                <c:pt idx="37">
                  <c:v>no</c:v>
                </c:pt>
                <c:pt idx="38">
                  <c:v>when</c:v>
                </c:pt>
                <c:pt idx="39">
                  <c:v>lol</c:v>
                </c:pt>
                <c:pt idx="40">
                  <c:v>we</c:v>
                </c:pt>
                <c:pt idx="41">
                  <c:v>was</c:v>
                </c:pt>
                <c:pt idx="42">
                  <c:v>new</c:v>
                </c:pt>
                <c:pt idx="43">
                  <c:v>one</c:v>
                </c:pt>
                <c:pt idx="44">
                  <c:v>follow</c:v>
                </c:pt>
                <c:pt idx="45">
                  <c:v>out</c:v>
                </c:pt>
                <c:pt idx="46">
                  <c:v>can</c:v>
                </c:pt>
                <c:pt idx="47">
                  <c:v>u</c:v>
                </c:pt>
                <c:pt idx="48">
                  <c:v>now</c:v>
                </c:pt>
                <c:pt idx="49">
                  <c:v>go</c:v>
                </c:pt>
              </c:strCache>
            </c:strRef>
          </c:cat>
          <c:val>
            <c:numRef>
              <c:f>Sheet1!$C$2:$C$51</c:f>
              <c:numCache>
                <c:formatCode>#,##0</c:formatCode>
                <c:ptCount val="50"/>
                <c:pt idx="0">
                  <c:v>833389</c:v>
                </c:pt>
                <c:pt idx="1">
                  <c:v>775401</c:v>
                </c:pt>
                <c:pt idx="2">
                  <c:v>647319</c:v>
                </c:pt>
                <c:pt idx="3">
                  <c:v>598258</c:v>
                </c:pt>
                <c:pt idx="4">
                  <c:v>553918</c:v>
                </c:pt>
                <c:pt idx="5">
                  <c:v>513428</c:v>
                </c:pt>
                <c:pt idx="6">
                  <c:v>355281</c:v>
                </c:pt>
                <c:pt idx="7">
                  <c:v>326127</c:v>
                </c:pt>
                <c:pt idx="8">
                  <c:v>291574</c:v>
                </c:pt>
                <c:pt idx="9">
                  <c:v>288630</c:v>
                </c:pt>
                <c:pt idx="10">
                  <c:v>283898</c:v>
                </c:pt>
                <c:pt idx="11">
                  <c:v>260236</c:v>
                </c:pt>
                <c:pt idx="12">
                  <c:v>256208</c:v>
                </c:pt>
                <c:pt idx="13">
                  <c:v>224443</c:v>
                </c:pt>
                <c:pt idx="14">
                  <c:v>208352</c:v>
                </c:pt>
                <c:pt idx="15">
                  <c:v>184942</c:v>
                </c:pt>
                <c:pt idx="16">
                  <c:v>172278</c:v>
                </c:pt>
                <c:pt idx="17">
                  <c:v>164978</c:v>
                </c:pt>
                <c:pt idx="18">
                  <c:v>161463</c:v>
                </c:pt>
                <c:pt idx="19">
                  <c:v>155037</c:v>
                </c:pt>
                <c:pt idx="20">
                  <c:v>150378</c:v>
                </c:pt>
                <c:pt idx="21">
                  <c:v>147041</c:v>
                </c:pt>
                <c:pt idx="22">
                  <c:v>139756</c:v>
                </c:pt>
                <c:pt idx="23">
                  <c:v>134321</c:v>
                </c:pt>
                <c:pt idx="24">
                  <c:v>131796</c:v>
                </c:pt>
                <c:pt idx="25">
                  <c:v>128607</c:v>
                </c:pt>
                <c:pt idx="26">
                  <c:v>119199</c:v>
                </c:pt>
                <c:pt idx="27">
                  <c:v>117897</c:v>
                </c:pt>
                <c:pt idx="28">
                  <c:v>116478</c:v>
                </c:pt>
                <c:pt idx="29">
                  <c:v>113745</c:v>
                </c:pt>
                <c:pt idx="30">
                  <c:v>112588</c:v>
                </c:pt>
                <c:pt idx="31">
                  <c:v>108893</c:v>
                </c:pt>
                <c:pt idx="32">
                  <c:v>105797</c:v>
                </c:pt>
                <c:pt idx="33">
                  <c:v>102665</c:v>
                </c:pt>
                <c:pt idx="34">
                  <c:v>99674</c:v>
                </c:pt>
                <c:pt idx="35">
                  <c:v>98616</c:v>
                </c:pt>
                <c:pt idx="36">
                  <c:v>95867</c:v>
                </c:pt>
                <c:pt idx="37">
                  <c:v>94985</c:v>
                </c:pt>
                <c:pt idx="38">
                  <c:v>94474</c:v>
                </c:pt>
                <c:pt idx="39">
                  <c:v>91682</c:v>
                </c:pt>
                <c:pt idx="40">
                  <c:v>91550</c:v>
                </c:pt>
                <c:pt idx="41">
                  <c:v>90482</c:v>
                </c:pt>
                <c:pt idx="42">
                  <c:v>90468</c:v>
                </c:pt>
                <c:pt idx="43">
                  <c:v>88664</c:v>
                </c:pt>
                <c:pt idx="44">
                  <c:v>85160</c:v>
                </c:pt>
                <c:pt idx="45">
                  <c:v>84773</c:v>
                </c:pt>
                <c:pt idx="46">
                  <c:v>82708</c:v>
                </c:pt>
                <c:pt idx="47">
                  <c:v>78822</c:v>
                </c:pt>
                <c:pt idx="48">
                  <c:v>76780</c:v>
                </c:pt>
                <c:pt idx="49">
                  <c:v>73745</c:v>
                </c:pt>
              </c:numCache>
            </c:numRef>
          </c:val>
          <c:extLst>
            <c:ext xmlns:c16="http://schemas.microsoft.com/office/drawing/2014/chart" uri="{C3380CC4-5D6E-409C-BE32-E72D297353CC}">
              <c16:uniqueId val="{00000000-D299-485F-9662-189C20C06969}"/>
            </c:ext>
          </c:extLst>
        </c:ser>
        <c:dLbls>
          <c:showLegendKey val="0"/>
          <c:showVal val="0"/>
          <c:showCatName val="0"/>
          <c:showSerName val="0"/>
          <c:showPercent val="0"/>
          <c:showBubbleSize val="0"/>
        </c:dLbls>
        <c:gapWidth val="0"/>
        <c:overlap val="-27"/>
        <c:axId val="369968408"/>
        <c:axId val="369963704"/>
      </c:barChart>
      <c:catAx>
        <c:axId val="369968408"/>
        <c:scaling>
          <c:orientation val="minMax"/>
        </c:scaling>
        <c:delete val="1"/>
        <c:axPos val="b"/>
        <c:numFmt formatCode="General" sourceLinked="1"/>
        <c:majorTickMark val="none"/>
        <c:minorTickMark val="none"/>
        <c:tickLblPos val="nextTo"/>
        <c:crossAx val="369963704"/>
        <c:crosses val="autoZero"/>
        <c:auto val="1"/>
        <c:lblAlgn val="ctr"/>
        <c:lblOffset val="100"/>
        <c:noMultiLvlLbl val="0"/>
      </c:catAx>
      <c:valAx>
        <c:axId val="369963704"/>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996840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spPr>
            <a:solidFill>
              <a:schemeClr val="accent6">
                <a:lumMod val="60000"/>
                <a:lumOff val="40000"/>
              </a:schemeClr>
            </a:solidFill>
            <a:ln>
              <a:noFill/>
            </a:ln>
            <a:effectLst/>
          </c:spPr>
          <c:invertIfNegative val="0"/>
          <c:cat>
            <c:strRef>
              <c:f>Sheet2!$B$1:$B$10</c:f>
              <c:strCache>
                <c:ptCount val="10"/>
                <c:pt idx="0">
                  <c:v>Zurich</c:v>
                </c:pt>
                <c:pt idx="1">
                  <c:v>Geneva</c:v>
                </c:pt>
                <c:pt idx="2">
                  <c:v>Basel</c:v>
                </c:pt>
                <c:pt idx="3">
                  <c:v>Bern</c:v>
                </c:pt>
                <c:pt idx="4">
                  <c:v>Lausanne</c:v>
                </c:pt>
                <c:pt idx="5">
                  <c:v>Lucerne</c:v>
                </c:pt>
                <c:pt idx="6">
                  <c:v>St. Gallen</c:v>
                </c:pt>
                <c:pt idx="7">
                  <c:v>Lugano</c:v>
                </c:pt>
                <c:pt idx="8">
                  <c:v>Fribourg</c:v>
                </c:pt>
                <c:pt idx="9">
                  <c:v>Thun</c:v>
                </c:pt>
              </c:strCache>
            </c:strRef>
          </c:cat>
          <c:val>
            <c:numRef>
              <c:f>Sheet2!$C$1:$C$10</c:f>
              <c:numCache>
                <c:formatCode>#,##0</c:formatCode>
                <c:ptCount val="10"/>
                <c:pt idx="0">
                  <c:v>366445</c:v>
                </c:pt>
                <c:pt idx="1">
                  <c:v>177500</c:v>
                </c:pt>
                <c:pt idx="2">
                  <c:v>165000</c:v>
                </c:pt>
                <c:pt idx="3">
                  <c:v>140228</c:v>
                </c:pt>
                <c:pt idx="4">
                  <c:v>129273</c:v>
                </c:pt>
                <c:pt idx="5">
                  <c:v>77491</c:v>
                </c:pt>
                <c:pt idx="6">
                  <c:v>70000</c:v>
                </c:pt>
                <c:pt idx="7">
                  <c:v>68500</c:v>
                </c:pt>
                <c:pt idx="8">
                  <c:v>32000</c:v>
                </c:pt>
                <c:pt idx="9">
                  <c:v>40000</c:v>
                </c:pt>
              </c:numCache>
            </c:numRef>
          </c:val>
          <c:extLst>
            <c:ext xmlns:c16="http://schemas.microsoft.com/office/drawing/2014/chart" uri="{C3380CC4-5D6E-409C-BE32-E72D297353CC}">
              <c16:uniqueId val="{00000000-A919-4F60-9501-665F188D8F6E}"/>
            </c:ext>
          </c:extLst>
        </c:ser>
        <c:dLbls>
          <c:showLegendKey val="0"/>
          <c:showVal val="0"/>
          <c:showCatName val="0"/>
          <c:showSerName val="0"/>
          <c:showPercent val="0"/>
          <c:showBubbleSize val="0"/>
        </c:dLbls>
        <c:gapWidth val="219"/>
        <c:overlap val="-27"/>
        <c:axId val="369965664"/>
        <c:axId val="369967232"/>
      </c:barChart>
      <c:catAx>
        <c:axId val="369965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9967232"/>
        <c:crosses val="autoZero"/>
        <c:auto val="1"/>
        <c:lblAlgn val="ctr"/>
        <c:lblOffset val="100"/>
        <c:noMultiLvlLbl val="0"/>
      </c:catAx>
      <c:valAx>
        <c:axId val="369967232"/>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99656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Sheet4!$B$1</c:f>
              <c:strCache>
                <c:ptCount val="1"/>
                <c:pt idx="0">
                  <c:v>city </c:v>
                </c:pt>
              </c:strCache>
            </c:strRef>
          </c:tx>
          <c:spPr>
            <a:solidFill>
              <a:schemeClr val="accent1"/>
            </a:solidFill>
            <a:ln>
              <a:noFill/>
            </a:ln>
            <a:effectLst/>
          </c:spPr>
          <c:invertIfNegative val="0"/>
          <c:cat>
            <c:strRef>
              <c:f>Sheet4!$B$2:$B$9</c:f>
              <c:strCache>
                <c:ptCount val="8"/>
                <c:pt idx="0">
                  <c:v>Greater London</c:v>
                </c:pt>
                <c:pt idx="1">
                  <c:v>Birmingham (West Midlands)</c:v>
                </c:pt>
                <c:pt idx="2">
                  <c:v>Greater Manchester</c:v>
                </c:pt>
                <c:pt idx="3">
                  <c:v>West Yorkshire</c:v>
                </c:pt>
                <c:pt idx="4">
                  <c:v>North East</c:v>
                </c:pt>
                <c:pt idx="5">
                  <c:v>Liverpool</c:v>
                </c:pt>
                <c:pt idx="6">
                  <c:v>Sheffield</c:v>
                </c:pt>
                <c:pt idx="7">
                  <c:v>Bristol</c:v>
                </c:pt>
              </c:strCache>
            </c:strRef>
          </c:cat>
          <c:val>
            <c:numRef>
              <c:f>Sheet4!$C$2:$C$9</c:f>
              <c:numCache>
                <c:formatCode>#,##0</c:formatCode>
                <c:ptCount val="8"/>
                <c:pt idx="0">
                  <c:v>8674000</c:v>
                </c:pt>
                <c:pt idx="1">
                  <c:v>2834000</c:v>
                </c:pt>
                <c:pt idx="2" formatCode="General">
                  <c:v>2756000</c:v>
                </c:pt>
                <c:pt idx="3">
                  <c:v>2282000</c:v>
                </c:pt>
                <c:pt idx="4" formatCode="General">
                  <c:v>1957000</c:v>
                </c:pt>
                <c:pt idx="5">
                  <c:v>1525000</c:v>
                </c:pt>
                <c:pt idx="6" formatCode="General">
                  <c:v>1375000</c:v>
                </c:pt>
                <c:pt idx="7">
                  <c:v>1119000</c:v>
                </c:pt>
              </c:numCache>
            </c:numRef>
          </c:val>
          <c:extLst>
            <c:ext xmlns:c16="http://schemas.microsoft.com/office/drawing/2014/chart" uri="{C3380CC4-5D6E-409C-BE32-E72D297353CC}">
              <c16:uniqueId val="{00000000-5CD4-4634-9BD0-2AEC477210B8}"/>
            </c:ext>
          </c:extLst>
        </c:ser>
        <c:dLbls>
          <c:showLegendKey val="0"/>
          <c:showVal val="0"/>
          <c:showCatName val="0"/>
          <c:showSerName val="0"/>
          <c:showPercent val="0"/>
          <c:showBubbleSize val="0"/>
        </c:dLbls>
        <c:gapWidth val="219"/>
        <c:overlap val="-27"/>
        <c:axId val="369964880"/>
        <c:axId val="369969192"/>
      </c:barChart>
      <c:catAx>
        <c:axId val="3699648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9969192"/>
        <c:crosses val="autoZero"/>
        <c:auto val="1"/>
        <c:lblAlgn val="ctr"/>
        <c:lblOffset val="100"/>
        <c:noMultiLvlLbl val="0"/>
      </c:catAx>
      <c:valAx>
        <c:axId val="369969192"/>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9964880"/>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Sheet2!$C$1</c:f>
              <c:strCache>
                <c:ptCount val="1"/>
                <c:pt idx="0">
                  <c:v>2016 Direct Premiums Written ($)</c:v>
                </c:pt>
              </c:strCache>
            </c:strRef>
          </c:tx>
          <c:spPr>
            <a:solidFill>
              <a:schemeClr val="accent1"/>
            </a:solidFill>
            <a:ln>
              <a:noFill/>
            </a:ln>
            <a:effectLst/>
          </c:spPr>
          <c:invertIfNegative val="0"/>
          <c:val>
            <c:numRef>
              <c:f>Sheet2!$C$2:$C$26</c:f>
              <c:numCache>
                <c:formatCode>_("$"* #,##0_);_("$"* \(#,##0\);_("$"* "-"??_);_(@_)</c:formatCode>
                <c:ptCount val="25"/>
                <c:pt idx="0">
                  <c:v>39195117</c:v>
                </c:pt>
                <c:pt idx="1">
                  <c:v>25532051</c:v>
                </c:pt>
                <c:pt idx="2">
                  <c:v>20813858</c:v>
                </c:pt>
                <c:pt idx="3">
                  <c:v>19611981</c:v>
                </c:pt>
                <c:pt idx="4">
                  <c:v>11668187</c:v>
                </c:pt>
                <c:pt idx="5">
                  <c:v>10774426</c:v>
                </c:pt>
                <c:pt idx="6">
                  <c:v>10304622</c:v>
                </c:pt>
                <c:pt idx="7">
                  <c:v>7640558</c:v>
                </c:pt>
                <c:pt idx="8">
                  <c:v>4005549</c:v>
                </c:pt>
                <c:pt idx="9">
                  <c:v>3896786</c:v>
                </c:pt>
                <c:pt idx="10">
                  <c:v>2725033</c:v>
                </c:pt>
                <c:pt idx="11">
                  <c:v>2641336</c:v>
                </c:pt>
                <c:pt idx="12">
                  <c:v>2523701</c:v>
                </c:pt>
                <c:pt idx="13">
                  <c:v>2484129</c:v>
                </c:pt>
                <c:pt idx="14">
                  <c:v>2423830</c:v>
                </c:pt>
                <c:pt idx="15">
                  <c:v>2339246</c:v>
                </c:pt>
                <c:pt idx="16">
                  <c:v>2236697</c:v>
                </c:pt>
                <c:pt idx="17">
                  <c:v>2127640</c:v>
                </c:pt>
                <c:pt idx="18">
                  <c:v>1663843</c:v>
                </c:pt>
                <c:pt idx="19">
                  <c:v>1658119</c:v>
                </c:pt>
                <c:pt idx="20">
                  <c:v>1256106</c:v>
                </c:pt>
                <c:pt idx="21">
                  <c:v>1241752</c:v>
                </c:pt>
                <c:pt idx="22">
                  <c:v>1210728</c:v>
                </c:pt>
                <c:pt idx="23">
                  <c:v>1035499</c:v>
                </c:pt>
                <c:pt idx="24">
                  <c:v>1013636</c:v>
                </c:pt>
              </c:numCache>
            </c:numRef>
          </c:val>
          <c:extLst>
            <c:ext xmlns:c16="http://schemas.microsoft.com/office/drawing/2014/chart" uri="{C3380CC4-5D6E-409C-BE32-E72D297353CC}">
              <c16:uniqueId val="{00000000-DD5A-DB43-8BA4-4FAA68612E7D}"/>
            </c:ext>
          </c:extLst>
        </c:ser>
        <c:dLbls>
          <c:showLegendKey val="0"/>
          <c:showVal val="0"/>
          <c:showCatName val="0"/>
          <c:showSerName val="0"/>
          <c:showPercent val="0"/>
          <c:showBubbleSize val="0"/>
        </c:dLbls>
        <c:gapWidth val="219"/>
        <c:overlap val="-27"/>
        <c:axId val="369970368"/>
        <c:axId val="369966840"/>
      </c:barChart>
      <c:catAx>
        <c:axId val="369970368"/>
        <c:scaling>
          <c:orientation val="minMax"/>
        </c:scaling>
        <c:delete val="1"/>
        <c:axPos val="b"/>
        <c:majorTickMark val="none"/>
        <c:minorTickMark val="none"/>
        <c:tickLblPos val="nextTo"/>
        <c:crossAx val="369966840"/>
        <c:crosses val="autoZero"/>
        <c:auto val="1"/>
        <c:lblAlgn val="ctr"/>
        <c:lblOffset val="100"/>
        <c:noMultiLvlLbl val="0"/>
      </c:catAx>
      <c:valAx>
        <c:axId val="369966840"/>
        <c:scaling>
          <c:orientation val="minMax"/>
        </c:scaling>
        <c:delete val="0"/>
        <c:axPos val="l"/>
        <c:numFmt formatCode="_(&quot;$&quot;* #,##0_);_(&quot;$&quot;* \(#,##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997036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US_Cloud_Mkt_share</c:v>
                </c:pt>
              </c:strCache>
            </c:strRef>
          </c:tx>
          <c:spPr>
            <a:solidFill>
              <a:schemeClr val="accent1"/>
            </a:solidFill>
            <a:ln>
              <a:noFill/>
            </a:ln>
            <a:effectLst/>
          </c:spPr>
          <c:invertIfNegative val="0"/>
          <c:cat>
            <c:strRef>
              <c:f>Sheet1!$A$2:$A$7</c:f>
              <c:strCache>
                <c:ptCount val="6"/>
                <c:pt idx="0">
                  <c:v>AWS</c:v>
                </c:pt>
                <c:pt idx="1">
                  <c:v>MSFT</c:v>
                </c:pt>
                <c:pt idx="2">
                  <c:v>Goog</c:v>
                </c:pt>
                <c:pt idx="3">
                  <c:v>Others</c:v>
                </c:pt>
                <c:pt idx="4">
                  <c:v>Alibaba</c:v>
                </c:pt>
                <c:pt idx="5">
                  <c:v>GOOG</c:v>
                </c:pt>
              </c:strCache>
            </c:strRef>
          </c:cat>
          <c:val>
            <c:numRef>
              <c:f>Sheet1!$B$2:$B$7</c:f>
              <c:numCache>
                <c:formatCode>General</c:formatCode>
                <c:ptCount val="6"/>
                <c:pt idx="0">
                  <c:v>0.32</c:v>
                </c:pt>
                <c:pt idx="1">
                  <c:v>0.16500000000000001</c:v>
                </c:pt>
                <c:pt idx="2">
                  <c:v>9.5000000000000001E-2</c:v>
                </c:pt>
                <c:pt idx="3">
                  <c:v>7.6999999999999999E-2</c:v>
                </c:pt>
                <c:pt idx="4">
                  <c:v>4.2000000000000003E-2</c:v>
                </c:pt>
                <c:pt idx="5">
                  <c:v>3.5999999999999997E-2</c:v>
                </c:pt>
              </c:numCache>
            </c:numRef>
          </c:val>
          <c:extLst>
            <c:ext xmlns:c16="http://schemas.microsoft.com/office/drawing/2014/chart" uri="{C3380CC4-5D6E-409C-BE32-E72D297353CC}">
              <c16:uniqueId val="{00000000-D3EA-2445-A3B0-A5820F7330A0}"/>
            </c:ext>
          </c:extLst>
        </c:ser>
        <c:dLbls>
          <c:showLegendKey val="0"/>
          <c:showVal val="0"/>
          <c:showCatName val="0"/>
          <c:showSerName val="0"/>
          <c:showPercent val="0"/>
          <c:showBubbleSize val="0"/>
        </c:dLbls>
        <c:gapWidth val="219"/>
        <c:overlap val="-27"/>
        <c:axId val="369968800"/>
        <c:axId val="369969584"/>
      </c:barChart>
      <c:catAx>
        <c:axId val="369968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9969584"/>
        <c:crosses val="autoZero"/>
        <c:auto val="1"/>
        <c:lblAlgn val="ctr"/>
        <c:lblOffset val="100"/>
        <c:noMultiLvlLbl val="0"/>
      </c:catAx>
      <c:valAx>
        <c:axId val="369969584"/>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996880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Sheet5!$F$2</c:f>
              <c:strCache>
                <c:ptCount val="1"/>
                <c:pt idx="0">
                  <c:v>income</c:v>
                </c:pt>
              </c:strCache>
            </c:strRef>
          </c:tx>
          <c:spPr>
            <a:solidFill>
              <a:schemeClr val="accent1"/>
            </a:solidFill>
            <a:ln>
              <a:noFill/>
            </a:ln>
            <a:effectLst/>
          </c:spPr>
          <c:invertIfNegative val="0"/>
          <c:cat>
            <c:strRef>
              <c:f>Sheet5!$E$3:$E$27</c:f>
              <c:strCache>
                <c:ptCount val="25"/>
                <c:pt idx="0">
                  <c:v>Monaco</c:v>
                </c:pt>
                <c:pt idx="1">
                  <c:v>Liechtenstein</c:v>
                </c:pt>
                <c:pt idx="2">
                  <c:v>Bermuda</c:v>
                </c:pt>
                <c:pt idx="3">
                  <c:v>Switzerland</c:v>
                </c:pt>
                <c:pt idx="4">
                  <c:v>Norway</c:v>
                </c:pt>
                <c:pt idx="5">
                  <c:v>Macao</c:v>
                </c:pt>
                <c:pt idx="6">
                  <c:v>Luxembourg</c:v>
                </c:pt>
                <c:pt idx="7">
                  <c:v>Iceland</c:v>
                </c:pt>
                <c:pt idx="8">
                  <c:v>United States</c:v>
                </c:pt>
                <c:pt idx="9">
                  <c:v>Denmark</c:v>
                </c:pt>
                <c:pt idx="10">
                  <c:v>Singapore</c:v>
                </c:pt>
                <c:pt idx="11">
                  <c:v>Ireland</c:v>
                </c:pt>
                <c:pt idx="12">
                  <c:v>Sweden</c:v>
                </c:pt>
                <c:pt idx="13">
                  <c:v>Australia</c:v>
                </c:pt>
                <c:pt idx="14">
                  <c:v>Netherlands</c:v>
                </c:pt>
                <c:pt idx="15">
                  <c:v>Hong Kong</c:v>
                </c:pt>
                <c:pt idx="16">
                  <c:v>Austria</c:v>
                </c:pt>
                <c:pt idx="17">
                  <c:v>Finland</c:v>
                </c:pt>
                <c:pt idx="18">
                  <c:v>Germany</c:v>
                </c:pt>
                <c:pt idx="19">
                  <c:v>Canada</c:v>
                </c:pt>
                <c:pt idx="20">
                  <c:v>Belgium</c:v>
                </c:pt>
                <c:pt idx="21">
                  <c:v>United Kingdom</c:v>
                </c:pt>
                <c:pt idx="22">
                  <c:v>United Arab Emirates</c:v>
                </c:pt>
                <c:pt idx="23">
                  <c:v>New Zealand</c:v>
                </c:pt>
                <c:pt idx="24">
                  <c:v>Japan</c:v>
                </c:pt>
              </c:strCache>
            </c:strRef>
          </c:cat>
          <c:val>
            <c:numRef>
              <c:f>Sheet5!$F$3:$F$27</c:f>
              <c:numCache>
                <c:formatCode>General</c:formatCode>
                <c:ptCount val="25"/>
                <c:pt idx="0">
                  <c:v>186080</c:v>
                </c:pt>
                <c:pt idx="1">
                  <c:v>116300</c:v>
                </c:pt>
                <c:pt idx="2">
                  <c:v>106140</c:v>
                </c:pt>
                <c:pt idx="3">
                  <c:v>81130</c:v>
                </c:pt>
                <c:pt idx="4">
                  <c:v>76160</c:v>
                </c:pt>
                <c:pt idx="5">
                  <c:v>72050</c:v>
                </c:pt>
                <c:pt idx="6">
                  <c:v>70790</c:v>
                </c:pt>
                <c:pt idx="7">
                  <c:v>60500</c:v>
                </c:pt>
                <c:pt idx="8">
                  <c:v>59160</c:v>
                </c:pt>
                <c:pt idx="9">
                  <c:v>55330</c:v>
                </c:pt>
                <c:pt idx="10">
                  <c:v>54530</c:v>
                </c:pt>
                <c:pt idx="11">
                  <c:v>53370</c:v>
                </c:pt>
                <c:pt idx="12">
                  <c:v>52270</c:v>
                </c:pt>
                <c:pt idx="13">
                  <c:v>51360</c:v>
                </c:pt>
                <c:pt idx="14">
                  <c:v>46910</c:v>
                </c:pt>
                <c:pt idx="15">
                  <c:v>46310</c:v>
                </c:pt>
                <c:pt idx="16">
                  <c:v>45360</c:v>
                </c:pt>
                <c:pt idx="17">
                  <c:v>44760</c:v>
                </c:pt>
                <c:pt idx="18">
                  <c:v>43700</c:v>
                </c:pt>
                <c:pt idx="19">
                  <c:v>42790</c:v>
                </c:pt>
                <c:pt idx="20">
                  <c:v>42050</c:v>
                </c:pt>
                <c:pt idx="21">
                  <c:v>40600</c:v>
                </c:pt>
                <c:pt idx="22">
                  <c:v>39130</c:v>
                </c:pt>
                <c:pt idx="23">
                  <c:v>38780</c:v>
                </c:pt>
                <c:pt idx="24">
                  <c:v>38520</c:v>
                </c:pt>
              </c:numCache>
            </c:numRef>
          </c:val>
          <c:extLst>
            <c:ext xmlns:c16="http://schemas.microsoft.com/office/drawing/2014/chart" uri="{C3380CC4-5D6E-409C-BE32-E72D297353CC}">
              <c16:uniqueId val="{00000000-8E8B-4DD6-A392-91384B65F12E}"/>
            </c:ext>
          </c:extLst>
        </c:ser>
        <c:dLbls>
          <c:showLegendKey val="0"/>
          <c:showVal val="0"/>
          <c:showCatName val="0"/>
          <c:showSerName val="0"/>
          <c:showPercent val="0"/>
          <c:showBubbleSize val="0"/>
        </c:dLbls>
        <c:gapWidth val="219"/>
        <c:overlap val="-27"/>
        <c:axId val="369963312"/>
        <c:axId val="369965272"/>
      </c:barChart>
      <c:catAx>
        <c:axId val="369963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9965272"/>
        <c:crosses val="autoZero"/>
        <c:auto val="1"/>
        <c:lblAlgn val="ctr"/>
        <c:lblOffset val="100"/>
        <c:noMultiLvlLbl val="0"/>
      </c:catAx>
      <c:valAx>
        <c:axId val="369965272"/>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996331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C0A60C-850A-4EA4-9C14-A8FE98B94505}" type="datetimeFigureOut">
              <a:rPr lang="en-US" smtClean="0"/>
              <a:t>6/2/26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E9AA13-E3FC-4BB6-B68D-5F0F5803D716}" type="slidenum">
              <a:rPr lang="en-US" smtClean="0"/>
              <a:t>‹#›</a:t>
            </a:fld>
            <a:endParaRPr lang="en-US"/>
          </a:p>
        </p:txBody>
      </p:sp>
    </p:spTree>
    <p:extLst>
      <p:ext uri="{BB962C8B-B14F-4D97-AF65-F5344CB8AC3E}">
        <p14:creationId xmlns:p14="http://schemas.microsoft.com/office/powerpoint/2010/main" val="1232405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Pg</a:t>
            </a:r>
            <a:r>
              <a:rPr lang="en-US" dirty="0"/>
              <a:t> 101 in book</a:t>
            </a:r>
            <a:r>
              <a:rPr lang="en-US" baseline="0" dirty="0"/>
              <a:t> has explanation</a:t>
            </a:r>
            <a:endParaRPr lang="en-US" dirty="0"/>
          </a:p>
        </p:txBody>
      </p:sp>
      <p:sp>
        <p:nvSpPr>
          <p:cNvPr id="4" name="Slide Number Placeholder 3"/>
          <p:cNvSpPr>
            <a:spLocks noGrp="1"/>
          </p:cNvSpPr>
          <p:nvPr>
            <p:ph type="sldNum" sz="quarter" idx="10"/>
          </p:nvPr>
        </p:nvSpPr>
        <p:spPr/>
        <p:txBody>
          <a:bodyPr/>
          <a:lstStyle/>
          <a:p>
            <a:fld id="{24E9AA13-E3FC-4BB6-B68D-5F0F5803D716}" type="slidenum">
              <a:rPr lang="en-US" smtClean="0"/>
              <a:t>55</a:t>
            </a:fld>
            <a:endParaRPr lang="en-US"/>
          </a:p>
        </p:txBody>
      </p:sp>
    </p:spTree>
    <p:extLst>
      <p:ext uri="{BB962C8B-B14F-4D97-AF65-F5344CB8AC3E}">
        <p14:creationId xmlns:p14="http://schemas.microsoft.com/office/powerpoint/2010/main" val="16141252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5738B90E-0779-4C36-915C-6F05FCD89456}" type="datetime1">
              <a:rPr lang="en-US" smtClean="0"/>
              <a:t>6/2/26</a:t>
            </a:fld>
            <a:endParaRPr lang="en-US"/>
          </a:p>
        </p:txBody>
      </p:sp>
      <p:sp>
        <p:nvSpPr>
          <p:cNvPr id="8"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a:t>
            </a:r>
          </a:p>
        </p:txBody>
      </p:sp>
      <p:sp>
        <p:nvSpPr>
          <p:cNvPr id="7" name="Slide Number Placeholder 5"/>
          <p:cNvSpPr>
            <a:spLocks noGrp="1"/>
          </p:cNvSpPr>
          <p:nvPr>
            <p:ph type="sldNum" sz="quarter" idx="4"/>
          </p:nvPr>
        </p:nvSpPr>
        <p:spPr>
          <a:xfrm>
            <a:off x="7245743" y="6356351"/>
            <a:ext cx="857250" cy="365125"/>
          </a:xfrm>
          <a:prstGeom prst="rect">
            <a:avLst/>
          </a:prstGeom>
        </p:spPr>
        <p:txBody>
          <a:bodyPr/>
          <a:lstStyle>
            <a:lvl1pPr>
              <a:lnSpc>
                <a:spcPct val="200000"/>
              </a:lnSpc>
              <a:defRPr lang="en-US" sz="900" kern="1200" smtClean="0">
                <a:solidFill>
                  <a:schemeClr val="tx1">
                    <a:tint val="75000"/>
                  </a:schemeClr>
                </a:solidFill>
                <a:latin typeface="+mn-lt"/>
                <a:ea typeface="+mn-ea"/>
                <a:cs typeface="+mn-cs"/>
              </a:defRPr>
            </a:lvl1pPr>
          </a:lstStyle>
          <a:p>
            <a:fld id="{37290FF7-652B-4475-AEAB-8B1A5D23AE09}" type="slidenum">
              <a:rPr lang="en-US" smtClean="0"/>
              <a:pPr/>
              <a:t>‹#›</a:t>
            </a:fld>
            <a:endParaRPr lang="en-US" dirty="0"/>
          </a:p>
        </p:txBody>
      </p:sp>
    </p:spTree>
    <p:extLst>
      <p:ext uri="{BB962C8B-B14F-4D97-AF65-F5344CB8AC3E}">
        <p14:creationId xmlns:p14="http://schemas.microsoft.com/office/powerpoint/2010/main" val="41638820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28650" y="1111347"/>
            <a:ext cx="7886700" cy="51206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753EFC8-4232-4598-94F6-94C0EBAFC469}" type="datetime1">
              <a:rPr lang="en-US" smtClean="0"/>
              <a:t>6/2/26</a:t>
            </a:fld>
            <a:endParaRPr lang="en-US"/>
          </a:p>
        </p:txBody>
      </p:sp>
      <p:sp>
        <p:nvSpPr>
          <p:cNvPr id="9"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a:t>
            </a:r>
          </a:p>
        </p:txBody>
      </p:sp>
      <p:cxnSp>
        <p:nvCxnSpPr>
          <p:cNvPr id="11" name="Straight Connector 10"/>
          <p:cNvCxnSpPr/>
          <p:nvPr userDrawn="1"/>
        </p:nvCxnSpPr>
        <p:spPr>
          <a:xfrm>
            <a:off x="288388" y="1026944"/>
            <a:ext cx="8567225" cy="0"/>
          </a:xfrm>
          <a:prstGeom prst="line">
            <a:avLst/>
          </a:prstGeom>
          <a:ln>
            <a:solidFill>
              <a:srgbClr val="A51C30"/>
            </a:solidFill>
          </a:ln>
        </p:spPr>
        <p:style>
          <a:lnRef idx="1">
            <a:schemeClr val="accent1"/>
          </a:lnRef>
          <a:fillRef idx="0">
            <a:schemeClr val="accent1"/>
          </a:fillRef>
          <a:effectRef idx="0">
            <a:schemeClr val="accent1"/>
          </a:effectRef>
          <a:fontRef idx="minor">
            <a:schemeClr val="tx1"/>
          </a:fontRef>
        </p:style>
      </p:cxnSp>
      <p:sp>
        <p:nvSpPr>
          <p:cNvPr id="8" name="Slide Number Placeholder 5"/>
          <p:cNvSpPr>
            <a:spLocks noGrp="1"/>
          </p:cNvSpPr>
          <p:nvPr>
            <p:ph type="sldNum" sz="quarter" idx="4"/>
          </p:nvPr>
        </p:nvSpPr>
        <p:spPr>
          <a:xfrm>
            <a:off x="7245743" y="6356351"/>
            <a:ext cx="857250" cy="365125"/>
          </a:xfrm>
          <a:prstGeom prst="rect">
            <a:avLst/>
          </a:prstGeom>
        </p:spPr>
        <p:txBody>
          <a:bodyPr/>
          <a:lstStyle>
            <a:lvl1pPr>
              <a:lnSpc>
                <a:spcPct val="200000"/>
              </a:lnSpc>
              <a:defRPr lang="en-US" sz="900" kern="1200" smtClean="0">
                <a:solidFill>
                  <a:schemeClr val="tx1">
                    <a:tint val="75000"/>
                  </a:schemeClr>
                </a:solidFill>
                <a:latin typeface="+mn-lt"/>
                <a:ea typeface="+mn-ea"/>
                <a:cs typeface="+mn-cs"/>
              </a:defRPr>
            </a:lvl1pPr>
          </a:lstStyle>
          <a:p>
            <a:fld id="{37290FF7-652B-4475-AEAB-8B1A5D23AE09}" type="slidenum">
              <a:rPr lang="en-US" smtClean="0"/>
              <a:pPr/>
              <a:t>‹#›</a:t>
            </a:fld>
            <a:endParaRPr lang="en-US" dirty="0"/>
          </a:p>
        </p:txBody>
      </p:sp>
    </p:spTree>
    <p:extLst>
      <p:ext uri="{BB962C8B-B14F-4D97-AF65-F5344CB8AC3E}">
        <p14:creationId xmlns:p14="http://schemas.microsoft.com/office/powerpoint/2010/main" val="436896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prstGeom prst="rect">
            <a:avLst/>
          </a:prstGeo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161074-1C18-4AE7-957D-F18524378C85}" type="datetime1">
              <a:rPr lang="en-US" smtClean="0"/>
              <a:t>6/2/26</a:t>
            </a:fld>
            <a:endParaRPr lang="en-US"/>
          </a:p>
        </p:txBody>
      </p:sp>
      <p:sp>
        <p:nvSpPr>
          <p:cNvPr id="9"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a:t>
            </a:r>
          </a:p>
        </p:txBody>
      </p:sp>
      <p:sp>
        <p:nvSpPr>
          <p:cNvPr id="8" name="Slide Number Placeholder 5"/>
          <p:cNvSpPr>
            <a:spLocks noGrp="1"/>
          </p:cNvSpPr>
          <p:nvPr>
            <p:ph type="sldNum" sz="quarter" idx="4"/>
          </p:nvPr>
        </p:nvSpPr>
        <p:spPr>
          <a:xfrm>
            <a:off x="7245743" y="6356351"/>
            <a:ext cx="857250" cy="365125"/>
          </a:xfrm>
          <a:prstGeom prst="rect">
            <a:avLst/>
          </a:prstGeom>
        </p:spPr>
        <p:txBody>
          <a:bodyPr/>
          <a:lstStyle>
            <a:lvl1pPr>
              <a:lnSpc>
                <a:spcPct val="200000"/>
              </a:lnSpc>
              <a:defRPr lang="en-US" sz="900" kern="1200" smtClean="0">
                <a:solidFill>
                  <a:schemeClr val="tx1">
                    <a:tint val="75000"/>
                  </a:schemeClr>
                </a:solidFill>
                <a:latin typeface="+mn-lt"/>
                <a:ea typeface="+mn-ea"/>
                <a:cs typeface="+mn-cs"/>
              </a:defRPr>
            </a:lvl1pPr>
          </a:lstStyle>
          <a:p>
            <a:fld id="{37290FF7-652B-4475-AEAB-8B1A5D23AE09}" type="slidenum">
              <a:rPr lang="en-US" smtClean="0"/>
              <a:pPr/>
              <a:t>‹#›</a:t>
            </a:fld>
            <a:endParaRPr lang="en-US" dirty="0"/>
          </a:p>
        </p:txBody>
      </p:sp>
    </p:spTree>
    <p:extLst>
      <p:ext uri="{BB962C8B-B14F-4D97-AF65-F5344CB8AC3E}">
        <p14:creationId xmlns:p14="http://schemas.microsoft.com/office/powerpoint/2010/main" val="209145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28650" y="1192583"/>
            <a:ext cx="3886200" cy="4476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192583"/>
            <a:ext cx="3886200" cy="44766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9BE256C-8D9A-4404-B47D-41A1AE514425}" type="datetime1">
              <a:rPr lang="en-US" smtClean="0"/>
              <a:t>6/2/26</a:t>
            </a:fld>
            <a:endParaRPr lang="en-US"/>
          </a:p>
        </p:txBody>
      </p:sp>
      <p:sp>
        <p:nvSpPr>
          <p:cNvPr id="8"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sp>
        <p:nvSpPr>
          <p:cNvPr id="11"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a:t>
            </a:r>
          </a:p>
        </p:txBody>
      </p:sp>
      <p:cxnSp>
        <p:nvCxnSpPr>
          <p:cNvPr id="13" name="Straight Connector 12"/>
          <p:cNvCxnSpPr/>
          <p:nvPr userDrawn="1"/>
        </p:nvCxnSpPr>
        <p:spPr>
          <a:xfrm>
            <a:off x="288388" y="1026944"/>
            <a:ext cx="8567225" cy="0"/>
          </a:xfrm>
          <a:prstGeom prst="line">
            <a:avLst/>
          </a:prstGeom>
          <a:ln>
            <a:solidFill>
              <a:srgbClr val="A51C30"/>
            </a:solidFill>
          </a:ln>
        </p:spPr>
        <p:style>
          <a:lnRef idx="1">
            <a:schemeClr val="accent1"/>
          </a:lnRef>
          <a:fillRef idx="0">
            <a:schemeClr val="accent1"/>
          </a:fillRef>
          <a:effectRef idx="0">
            <a:schemeClr val="accent1"/>
          </a:effectRef>
          <a:fontRef idx="minor">
            <a:schemeClr val="tx1"/>
          </a:fontRef>
        </p:style>
      </p:cxnSp>
      <p:sp>
        <p:nvSpPr>
          <p:cNvPr id="10" name="Slide Number Placeholder 5"/>
          <p:cNvSpPr>
            <a:spLocks noGrp="1"/>
          </p:cNvSpPr>
          <p:nvPr>
            <p:ph type="sldNum" sz="quarter" idx="4"/>
          </p:nvPr>
        </p:nvSpPr>
        <p:spPr>
          <a:xfrm>
            <a:off x="7245743" y="6356351"/>
            <a:ext cx="857250" cy="365125"/>
          </a:xfrm>
          <a:prstGeom prst="rect">
            <a:avLst/>
          </a:prstGeom>
        </p:spPr>
        <p:txBody>
          <a:bodyPr/>
          <a:lstStyle>
            <a:lvl1pPr>
              <a:lnSpc>
                <a:spcPct val="200000"/>
              </a:lnSpc>
              <a:defRPr lang="en-US" sz="900" kern="1200" smtClean="0">
                <a:solidFill>
                  <a:schemeClr val="tx1">
                    <a:tint val="75000"/>
                  </a:schemeClr>
                </a:solidFill>
                <a:latin typeface="+mn-lt"/>
                <a:ea typeface="+mn-ea"/>
                <a:cs typeface="+mn-cs"/>
              </a:defRPr>
            </a:lvl1pPr>
          </a:lstStyle>
          <a:p>
            <a:fld id="{37290FF7-652B-4475-AEAB-8B1A5D23AE09}" type="slidenum">
              <a:rPr lang="en-US" smtClean="0"/>
              <a:pPr/>
              <a:t>‹#›</a:t>
            </a:fld>
            <a:endParaRPr lang="en-US" dirty="0"/>
          </a:p>
        </p:txBody>
      </p:sp>
    </p:spTree>
    <p:extLst>
      <p:ext uri="{BB962C8B-B14F-4D97-AF65-F5344CB8AC3E}">
        <p14:creationId xmlns:p14="http://schemas.microsoft.com/office/powerpoint/2010/main" val="790321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1132519"/>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956431"/>
            <a:ext cx="3868340" cy="37128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132519"/>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956431"/>
            <a:ext cx="3887391" cy="37128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6CB2154-9035-4012-8189-BAAB61C5A5EE}" type="datetime1">
              <a:rPr lang="en-US" smtClean="0"/>
              <a:t>6/2/26</a:t>
            </a:fld>
            <a:endParaRPr lang="en-US"/>
          </a:p>
        </p:txBody>
      </p:sp>
      <p:sp>
        <p:nvSpPr>
          <p:cNvPr id="8" name="Footer Placeholder 7"/>
          <p:cNvSpPr>
            <a:spLocks noGrp="1"/>
          </p:cNvSpPr>
          <p:nvPr>
            <p:ph type="ftr" sz="quarter" idx="11"/>
          </p:nvPr>
        </p:nvSpPr>
        <p:spPr/>
        <p:txBody>
          <a:bodyPr/>
          <a:lstStyle/>
          <a:p>
            <a:r>
              <a:rPr lang="en-US" dirty="0"/>
              <a:t>Kwartler</a:t>
            </a:r>
          </a:p>
        </p:txBody>
      </p:sp>
      <p:sp>
        <p:nvSpPr>
          <p:cNvPr id="10"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cxnSp>
        <p:nvCxnSpPr>
          <p:cNvPr id="14" name="Straight Connector 13"/>
          <p:cNvCxnSpPr/>
          <p:nvPr userDrawn="1"/>
        </p:nvCxnSpPr>
        <p:spPr>
          <a:xfrm>
            <a:off x="288388" y="1026944"/>
            <a:ext cx="8567225" cy="0"/>
          </a:xfrm>
          <a:prstGeom prst="line">
            <a:avLst/>
          </a:prstGeom>
          <a:ln>
            <a:solidFill>
              <a:srgbClr val="A51C30"/>
            </a:solidFill>
          </a:ln>
        </p:spPr>
        <p:style>
          <a:lnRef idx="1">
            <a:schemeClr val="accent1"/>
          </a:lnRef>
          <a:fillRef idx="0">
            <a:schemeClr val="accent1"/>
          </a:fillRef>
          <a:effectRef idx="0">
            <a:schemeClr val="accent1"/>
          </a:effectRef>
          <a:fontRef idx="minor">
            <a:schemeClr val="tx1"/>
          </a:fontRef>
        </p:style>
      </p:cxnSp>
      <p:sp>
        <p:nvSpPr>
          <p:cNvPr id="12" name="Slide Number Placeholder 5"/>
          <p:cNvSpPr>
            <a:spLocks noGrp="1"/>
          </p:cNvSpPr>
          <p:nvPr>
            <p:ph type="sldNum" sz="quarter" idx="12"/>
          </p:nvPr>
        </p:nvSpPr>
        <p:spPr>
          <a:xfrm>
            <a:off x="7245743" y="6356351"/>
            <a:ext cx="857250" cy="365125"/>
          </a:xfrm>
          <a:prstGeom prst="rect">
            <a:avLst/>
          </a:prstGeom>
        </p:spPr>
        <p:txBody>
          <a:bodyPr/>
          <a:lstStyle>
            <a:lvl1pPr>
              <a:lnSpc>
                <a:spcPct val="200000"/>
              </a:lnSpc>
              <a:defRPr lang="en-US" sz="900" kern="1200" smtClean="0">
                <a:solidFill>
                  <a:schemeClr val="tx1">
                    <a:tint val="75000"/>
                  </a:schemeClr>
                </a:solidFill>
                <a:latin typeface="+mn-lt"/>
                <a:ea typeface="+mn-ea"/>
                <a:cs typeface="+mn-cs"/>
              </a:defRPr>
            </a:lvl1pPr>
          </a:lstStyle>
          <a:p>
            <a:fld id="{37290FF7-652B-4475-AEAB-8B1A5D23AE09}" type="slidenum">
              <a:rPr lang="en-US" smtClean="0"/>
              <a:pPr/>
              <a:t>‹#›</a:t>
            </a:fld>
            <a:endParaRPr lang="en-US" dirty="0"/>
          </a:p>
        </p:txBody>
      </p:sp>
    </p:spTree>
    <p:extLst>
      <p:ext uri="{BB962C8B-B14F-4D97-AF65-F5344CB8AC3E}">
        <p14:creationId xmlns:p14="http://schemas.microsoft.com/office/powerpoint/2010/main" val="3637502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6700A58B-DD98-43D0-B791-721480A02982}" type="datetime1">
              <a:rPr lang="en-US" smtClean="0"/>
              <a:t>6/2/26</a:t>
            </a:fld>
            <a:endParaRPr lang="en-US"/>
          </a:p>
        </p:txBody>
      </p:sp>
      <p:sp>
        <p:nvSpPr>
          <p:cNvPr id="6"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sp>
        <p:nvSpPr>
          <p:cNvPr id="9"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a:t>
            </a:r>
          </a:p>
        </p:txBody>
      </p:sp>
      <p:cxnSp>
        <p:nvCxnSpPr>
          <p:cNvPr id="11" name="Straight Connector 10"/>
          <p:cNvCxnSpPr/>
          <p:nvPr userDrawn="1"/>
        </p:nvCxnSpPr>
        <p:spPr>
          <a:xfrm>
            <a:off x="288388" y="1026944"/>
            <a:ext cx="8567225" cy="0"/>
          </a:xfrm>
          <a:prstGeom prst="line">
            <a:avLst/>
          </a:prstGeom>
          <a:ln>
            <a:solidFill>
              <a:srgbClr val="A51C30"/>
            </a:solidFill>
          </a:ln>
        </p:spPr>
        <p:style>
          <a:lnRef idx="1">
            <a:schemeClr val="accent1"/>
          </a:lnRef>
          <a:fillRef idx="0">
            <a:schemeClr val="accent1"/>
          </a:fillRef>
          <a:effectRef idx="0">
            <a:schemeClr val="accent1"/>
          </a:effectRef>
          <a:fontRef idx="minor">
            <a:schemeClr val="tx1"/>
          </a:fontRef>
        </p:style>
      </p:cxnSp>
      <p:sp>
        <p:nvSpPr>
          <p:cNvPr id="8" name="Slide Number Placeholder 5"/>
          <p:cNvSpPr>
            <a:spLocks noGrp="1"/>
          </p:cNvSpPr>
          <p:nvPr>
            <p:ph type="sldNum" sz="quarter" idx="4"/>
          </p:nvPr>
        </p:nvSpPr>
        <p:spPr>
          <a:xfrm>
            <a:off x="7245743" y="6356351"/>
            <a:ext cx="857250" cy="365125"/>
          </a:xfrm>
          <a:prstGeom prst="rect">
            <a:avLst/>
          </a:prstGeom>
        </p:spPr>
        <p:txBody>
          <a:bodyPr/>
          <a:lstStyle>
            <a:lvl1pPr>
              <a:lnSpc>
                <a:spcPct val="200000"/>
              </a:lnSpc>
              <a:defRPr lang="en-US" sz="900" kern="1200" smtClean="0">
                <a:solidFill>
                  <a:schemeClr val="tx1">
                    <a:tint val="75000"/>
                  </a:schemeClr>
                </a:solidFill>
                <a:latin typeface="+mn-lt"/>
                <a:ea typeface="+mn-ea"/>
                <a:cs typeface="+mn-cs"/>
              </a:defRPr>
            </a:lvl1pPr>
          </a:lstStyle>
          <a:p>
            <a:fld id="{37290FF7-652B-4475-AEAB-8B1A5D23AE09}" type="slidenum">
              <a:rPr lang="en-US" smtClean="0"/>
              <a:pPr/>
              <a:t>‹#›</a:t>
            </a:fld>
            <a:endParaRPr lang="en-US" dirty="0"/>
          </a:p>
        </p:txBody>
      </p:sp>
    </p:spTree>
    <p:extLst>
      <p:ext uri="{BB962C8B-B14F-4D97-AF65-F5344CB8AC3E}">
        <p14:creationId xmlns:p14="http://schemas.microsoft.com/office/powerpoint/2010/main" val="4285218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B6E382-4F61-4E24-BE1A-377EC83D0E3A}" type="datetime1">
              <a:rPr lang="en-US" smtClean="0"/>
              <a:t>6/2/26</a:t>
            </a:fld>
            <a:endParaRPr lang="en-US"/>
          </a:p>
        </p:txBody>
      </p:sp>
      <p:sp>
        <p:nvSpPr>
          <p:cNvPr id="7"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a:t>
            </a:r>
          </a:p>
        </p:txBody>
      </p:sp>
      <p:cxnSp>
        <p:nvCxnSpPr>
          <p:cNvPr id="9" name="Straight Connector 8"/>
          <p:cNvCxnSpPr/>
          <p:nvPr userDrawn="1"/>
        </p:nvCxnSpPr>
        <p:spPr>
          <a:xfrm>
            <a:off x="288388" y="1026944"/>
            <a:ext cx="8567225" cy="0"/>
          </a:xfrm>
          <a:prstGeom prst="line">
            <a:avLst/>
          </a:prstGeom>
          <a:ln>
            <a:solidFill>
              <a:srgbClr val="A51C30"/>
            </a:solidFill>
          </a:ln>
        </p:spPr>
        <p:style>
          <a:lnRef idx="1">
            <a:schemeClr val="accent1"/>
          </a:lnRef>
          <a:fillRef idx="0">
            <a:schemeClr val="accent1"/>
          </a:fillRef>
          <a:effectRef idx="0">
            <a:schemeClr val="accent1"/>
          </a:effectRef>
          <a:fontRef idx="minor">
            <a:schemeClr val="tx1"/>
          </a:fontRef>
        </p:style>
      </p:cxnSp>
      <p:sp>
        <p:nvSpPr>
          <p:cNvPr id="6" name="Slide Number Placeholder 5"/>
          <p:cNvSpPr txBox="1">
            <a:spLocks/>
          </p:cNvSpPr>
          <p:nvPr userDrawn="1"/>
        </p:nvSpPr>
        <p:spPr>
          <a:xfrm>
            <a:off x="7245743" y="6356351"/>
            <a:ext cx="857250" cy="365125"/>
          </a:xfrm>
          <a:prstGeom prst="rect">
            <a:avLst/>
          </a:prstGeom>
        </p:spPr>
        <p:txBody>
          <a:bodyPr/>
          <a:lstStyle>
            <a:defPPr>
              <a:defRPr lang="en-US"/>
            </a:defPPr>
            <a:lvl1pPr marL="0" algn="l" defTabSz="914400" rtl="0" eaLnBrk="1" latinLnBrk="0" hangingPunct="1">
              <a:lnSpc>
                <a:spcPct val="200000"/>
              </a:lnSpc>
              <a:defRPr lang="en-US" sz="900" kern="1200" smtClean="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7290FF7-652B-4475-AEAB-8B1A5D23AE09}" type="slidenum">
              <a:rPr lang="en-US" smtClean="0"/>
              <a:pPr/>
              <a:t>‹#›</a:t>
            </a:fld>
            <a:endParaRPr lang="en-US" dirty="0"/>
          </a:p>
        </p:txBody>
      </p:sp>
    </p:spTree>
    <p:extLst>
      <p:ext uri="{BB962C8B-B14F-4D97-AF65-F5344CB8AC3E}">
        <p14:creationId xmlns:p14="http://schemas.microsoft.com/office/powerpoint/2010/main" val="22413343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887391" y="1083212"/>
            <a:ext cx="4629150" cy="461420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1097279"/>
            <a:ext cx="2949178" cy="460142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142EED6-FC16-45B9-B8C4-2BC5DBA88325}" type="datetime1">
              <a:rPr lang="en-US" smtClean="0"/>
              <a:t>6/2/26</a:t>
            </a:fld>
            <a:endParaRPr lang="en-US"/>
          </a:p>
        </p:txBody>
      </p:sp>
      <p:sp>
        <p:nvSpPr>
          <p:cNvPr id="10"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sp>
        <p:nvSpPr>
          <p:cNvPr id="11"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a:t>
            </a:r>
          </a:p>
        </p:txBody>
      </p:sp>
      <p:cxnSp>
        <p:nvCxnSpPr>
          <p:cNvPr id="13" name="Straight Connector 12"/>
          <p:cNvCxnSpPr/>
          <p:nvPr userDrawn="1"/>
        </p:nvCxnSpPr>
        <p:spPr>
          <a:xfrm>
            <a:off x="288388" y="1026944"/>
            <a:ext cx="8567225" cy="0"/>
          </a:xfrm>
          <a:prstGeom prst="line">
            <a:avLst/>
          </a:prstGeom>
          <a:ln>
            <a:solidFill>
              <a:srgbClr val="A51C30"/>
            </a:solidFill>
          </a:ln>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7245743" y="6356351"/>
            <a:ext cx="857250" cy="365125"/>
          </a:xfrm>
          <a:prstGeom prst="rect">
            <a:avLst/>
          </a:prstGeom>
        </p:spPr>
        <p:txBody>
          <a:bodyPr/>
          <a:lstStyle>
            <a:lvl1pPr>
              <a:lnSpc>
                <a:spcPct val="200000"/>
              </a:lnSpc>
              <a:defRPr lang="en-US" sz="900" kern="1200" smtClean="0">
                <a:solidFill>
                  <a:schemeClr val="tx1">
                    <a:tint val="75000"/>
                  </a:schemeClr>
                </a:solidFill>
                <a:latin typeface="+mn-lt"/>
                <a:ea typeface="+mn-ea"/>
                <a:cs typeface="+mn-cs"/>
              </a:defRPr>
            </a:lvl1pPr>
          </a:lstStyle>
          <a:p>
            <a:fld id="{37290FF7-652B-4475-AEAB-8B1A5D23AE09}" type="slidenum">
              <a:rPr lang="en-US" smtClean="0"/>
              <a:pPr/>
              <a:t>‹#›</a:t>
            </a:fld>
            <a:endParaRPr lang="en-US" dirty="0"/>
          </a:p>
        </p:txBody>
      </p:sp>
    </p:spTree>
    <p:extLst>
      <p:ext uri="{BB962C8B-B14F-4D97-AF65-F5344CB8AC3E}">
        <p14:creationId xmlns:p14="http://schemas.microsoft.com/office/powerpoint/2010/main" val="3586237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3887391" y="1139483"/>
            <a:ext cx="4629150" cy="451572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181686"/>
            <a:ext cx="2949178" cy="4477782"/>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DF59512B-4F1D-43D7-8819-2F53FEF69650}" type="datetime1">
              <a:rPr lang="en-US" smtClean="0"/>
              <a:t>6/2/26</a:t>
            </a:fld>
            <a:endParaRPr lang="en-US"/>
          </a:p>
        </p:txBody>
      </p:sp>
      <p:sp>
        <p:nvSpPr>
          <p:cNvPr id="10"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sp>
        <p:nvSpPr>
          <p:cNvPr id="11"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a:t>
            </a:r>
          </a:p>
        </p:txBody>
      </p:sp>
      <p:cxnSp>
        <p:nvCxnSpPr>
          <p:cNvPr id="13" name="Straight Connector 12"/>
          <p:cNvCxnSpPr/>
          <p:nvPr userDrawn="1"/>
        </p:nvCxnSpPr>
        <p:spPr>
          <a:xfrm>
            <a:off x="288388" y="1026944"/>
            <a:ext cx="8567225" cy="0"/>
          </a:xfrm>
          <a:prstGeom prst="line">
            <a:avLst/>
          </a:prstGeom>
          <a:ln>
            <a:solidFill>
              <a:srgbClr val="A51C30"/>
            </a:solidFill>
          </a:ln>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7245743" y="6356351"/>
            <a:ext cx="857250" cy="365125"/>
          </a:xfrm>
          <a:prstGeom prst="rect">
            <a:avLst/>
          </a:prstGeom>
        </p:spPr>
        <p:txBody>
          <a:bodyPr/>
          <a:lstStyle>
            <a:lvl1pPr>
              <a:lnSpc>
                <a:spcPct val="200000"/>
              </a:lnSpc>
              <a:defRPr lang="en-US" sz="900" kern="1200" smtClean="0">
                <a:solidFill>
                  <a:schemeClr val="tx1">
                    <a:tint val="75000"/>
                  </a:schemeClr>
                </a:solidFill>
                <a:latin typeface="+mn-lt"/>
                <a:ea typeface="+mn-ea"/>
                <a:cs typeface="+mn-cs"/>
              </a:defRPr>
            </a:lvl1pPr>
          </a:lstStyle>
          <a:p>
            <a:fld id="{37290FF7-652B-4475-AEAB-8B1A5D23AE09}" type="slidenum">
              <a:rPr lang="en-US" smtClean="0"/>
              <a:pPr/>
              <a:t>‹#›</a:t>
            </a:fld>
            <a:endParaRPr lang="en-US" dirty="0"/>
          </a:p>
        </p:txBody>
      </p:sp>
    </p:spTree>
    <p:extLst>
      <p:ext uri="{BB962C8B-B14F-4D97-AF65-F5344CB8AC3E}">
        <p14:creationId xmlns:p14="http://schemas.microsoft.com/office/powerpoint/2010/main" val="1954247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628650" y="1080030"/>
            <a:ext cx="7886700" cy="461738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9EA29D-D431-42FE-B7B6-AAE4454C77D3}" type="datetime1">
              <a:rPr lang="en-US" smtClean="0"/>
              <a:t>6/2/26</a:t>
            </a:fld>
            <a:endParaRPr lang="en-US"/>
          </a:p>
        </p:txBody>
      </p:sp>
      <p:sp>
        <p:nvSpPr>
          <p:cNvPr id="5" name="Footer Placeholder 4"/>
          <p:cNvSpPr>
            <a:spLocks noGrp="1"/>
          </p:cNvSpPr>
          <p:nvPr>
            <p:ph type="ftr" sz="quarter" idx="11"/>
          </p:nvPr>
        </p:nvSpPr>
        <p:spPr/>
        <p:txBody>
          <a:bodyPr/>
          <a:lstStyle/>
          <a:p>
            <a:r>
              <a:rPr lang="en-US" dirty="0"/>
              <a:t>Kwartler</a:t>
            </a:r>
          </a:p>
        </p:txBody>
      </p:sp>
      <p:sp>
        <p:nvSpPr>
          <p:cNvPr id="7" name="Title 1"/>
          <p:cNvSpPr>
            <a:spLocks noGrp="1"/>
          </p:cNvSpPr>
          <p:nvPr>
            <p:ph type="title"/>
          </p:nvPr>
        </p:nvSpPr>
        <p:spPr>
          <a:xfrm>
            <a:off x="628650" y="365126"/>
            <a:ext cx="7886700" cy="591477"/>
          </a:xfrm>
          <a:prstGeom prst="rect">
            <a:avLst/>
          </a:prstGeom>
        </p:spPr>
        <p:txBody>
          <a:bodyPr/>
          <a:lstStyle/>
          <a:p>
            <a:r>
              <a:rPr lang="en-US"/>
              <a:t>Click to edit Master title style</a:t>
            </a:r>
          </a:p>
        </p:txBody>
      </p:sp>
      <p:cxnSp>
        <p:nvCxnSpPr>
          <p:cNvPr id="11" name="Straight Connector 10"/>
          <p:cNvCxnSpPr/>
          <p:nvPr userDrawn="1"/>
        </p:nvCxnSpPr>
        <p:spPr>
          <a:xfrm>
            <a:off x="288388" y="1026944"/>
            <a:ext cx="8567225" cy="0"/>
          </a:xfrm>
          <a:prstGeom prst="line">
            <a:avLst/>
          </a:prstGeom>
          <a:ln>
            <a:solidFill>
              <a:srgbClr val="A51C30"/>
            </a:solidFill>
          </a:ln>
        </p:spPr>
        <p:style>
          <a:lnRef idx="1">
            <a:schemeClr val="accent1"/>
          </a:lnRef>
          <a:fillRef idx="0">
            <a:schemeClr val="accent1"/>
          </a:fillRef>
          <a:effectRef idx="0">
            <a:schemeClr val="accent1"/>
          </a:effectRef>
          <a:fontRef idx="minor">
            <a:schemeClr val="tx1"/>
          </a:fontRef>
        </p:style>
      </p:cxnSp>
      <p:sp>
        <p:nvSpPr>
          <p:cNvPr id="9" name="Slide Number Placeholder 5"/>
          <p:cNvSpPr txBox="1">
            <a:spLocks/>
          </p:cNvSpPr>
          <p:nvPr userDrawn="1"/>
        </p:nvSpPr>
        <p:spPr>
          <a:xfrm>
            <a:off x="7245743" y="6356351"/>
            <a:ext cx="857250" cy="365125"/>
          </a:xfrm>
          <a:prstGeom prst="rect">
            <a:avLst/>
          </a:prstGeom>
        </p:spPr>
        <p:txBody>
          <a:bodyPr/>
          <a:lstStyle>
            <a:defPPr>
              <a:defRPr lang="en-US"/>
            </a:defPPr>
            <a:lvl1pPr marL="0" algn="l" defTabSz="914400" rtl="0" eaLnBrk="1" latinLnBrk="0" hangingPunct="1">
              <a:lnSpc>
                <a:spcPct val="200000"/>
              </a:lnSpc>
              <a:defRPr lang="en-US" sz="900" kern="1200" smtClean="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7290FF7-652B-4475-AEAB-8B1A5D23AE09}" type="slidenum">
              <a:rPr lang="en-US" smtClean="0"/>
              <a:pPr/>
              <a:t>‹#›</a:t>
            </a:fld>
            <a:endParaRPr lang="en-US" dirty="0"/>
          </a:p>
        </p:txBody>
      </p:sp>
    </p:spTree>
    <p:extLst>
      <p:ext uri="{BB962C8B-B14F-4D97-AF65-F5344CB8AC3E}">
        <p14:creationId xmlns:p14="http://schemas.microsoft.com/office/powerpoint/2010/main" val="1606545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1209822"/>
            <a:ext cx="1971675" cy="4487594"/>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1223889"/>
            <a:ext cx="5800725" cy="447488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690D8A1E-EA8F-46C1-B891-AE0C00D9C314}" type="datetime1">
              <a:rPr lang="en-US" smtClean="0"/>
              <a:t>6/2/26</a:t>
            </a:fld>
            <a:endParaRPr lang="en-US"/>
          </a:p>
        </p:txBody>
      </p:sp>
      <p:sp>
        <p:nvSpPr>
          <p:cNvPr id="9" name="Title 1"/>
          <p:cNvSpPr txBox="1">
            <a:spLocks/>
          </p:cNvSpPr>
          <p:nvPr userDrawn="1"/>
        </p:nvSpPr>
        <p:spPr>
          <a:xfrm>
            <a:off x="628650" y="365126"/>
            <a:ext cx="7886700" cy="591477"/>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t>Click to edit Master title style</a:t>
            </a:r>
          </a:p>
        </p:txBody>
      </p:sp>
      <p:sp>
        <p:nvSpPr>
          <p:cNvPr id="10"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a:t>
            </a:r>
          </a:p>
        </p:txBody>
      </p:sp>
      <p:cxnSp>
        <p:nvCxnSpPr>
          <p:cNvPr id="12" name="Straight Connector 11"/>
          <p:cNvCxnSpPr/>
          <p:nvPr userDrawn="1"/>
        </p:nvCxnSpPr>
        <p:spPr>
          <a:xfrm>
            <a:off x="288388" y="1026944"/>
            <a:ext cx="8567225" cy="0"/>
          </a:xfrm>
          <a:prstGeom prst="line">
            <a:avLst/>
          </a:prstGeom>
          <a:ln>
            <a:solidFill>
              <a:srgbClr val="A51C30"/>
            </a:solidFill>
          </a:ln>
        </p:spPr>
        <p:style>
          <a:lnRef idx="1">
            <a:schemeClr val="accent1"/>
          </a:lnRef>
          <a:fillRef idx="0">
            <a:schemeClr val="accent1"/>
          </a:fillRef>
          <a:effectRef idx="0">
            <a:schemeClr val="accent1"/>
          </a:effectRef>
          <a:fontRef idx="minor">
            <a:schemeClr val="tx1"/>
          </a:fontRef>
        </p:style>
      </p:cxnSp>
      <p:sp>
        <p:nvSpPr>
          <p:cNvPr id="11" name="Slide Number Placeholder 5"/>
          <p:cNvSpPr>
            <a:spLocks noGrp="1"/>
          </p:cNvSpPr>
          <p:nvPr>
            <p:ph type="sldNum" sz="quarter" idx="4"/>
          </p:nvPr>
        </p:nvSpPr>
        <p:spPr>
          <a:xfrm>
            <a:off x="7245743" y="6356351"/>
            <a:ext cx="857250" cy="365125"/>
          </a:xfrm>
          <a:prstGeom prst="rect">
            <a:avLst/>
          </a:prstGeom>
        </p:spPr>
        <p:txBody>
          <a:bodyPr/>
          <a:lstStyle>
            <a:lvl1pPr>
              <a:lnSpc>
                <a:spcPct val="200000"/>
              </a:lnSpc>
              <a:defRPr lang="en-US" sz="900" kern="1200" smtClean="0">
                <a:solidFill>
                  <a:schemeClr val="tx1">
                    <a:tint val="75000"/>
                  </a:schemeClr>
                </a:solidFill>
                <a:latin typeface="+mn-lt"/>
                <a:ea typeface="+mn-ea"/>
                <a:cs typeface="+mn-cs"/>
              </a:defRPr>
            </a:lvl1pPr>
          </a:lstStyle>
          <a:p>
            <a:fld id="{37290FF7-652B-4475-AEAB-8B1A5D23AE09}" type="slidenum">
              <a:rPr lang="en-US" smtClean="0"/>
              <a:pPr/>
              <a:t>‹#›</a:t>
            </a:fld>
            <a:endParaRPr lang="en-US" dirty="0"/>
          </a:p>
        </p:txBody>
      </p:sp>
    </p:spTree>
    <p:extLst>
      <p:ext uri="{BB962C8B-B14F-4D97-AF65-F5344CB8AC3E}">
        <p14:creationId xmlns:p14="http://schemas.microsoft.com/office/powerpoint/2010/main" val="32568280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8650" y="1108176"/>
            <a:ext cx="7886700" cy="512064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8437B94-E2BF-44DC-ADC5-B05FC9934E9D}" type="datetime1">
              <a:rPr lang="en-US" smtClean="0"/>
              <a:t>6/2/26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Kwartler</a:t>
            </a:r>
          </a:p>
        </p:txBody>
      </p:sp>
      <p:sp>
        <p:nvSpPr>
          <p:cNvPr id="8" name="Slide Number Placeholder 5"/>
          <p:cNvSpPr>
            <a:spLocks noGrp="1"/>
          </p:cNvSpPr>
          <p:nvPr>
            <p:ph type="sldNum" sz="quarter" idx="4"/>
          </p:nvPr>
        </p:nvSpPr>
        <p:spPr>
          <a:xfrm>
            <a:off x="7245743" y="6356351"/>
            <a:ext cx="857250" cy="365125"/>
          </a:xfrm>
          <a:prstGeom prst="rect">
            <a:avLst/>
          </a:prstGeom>
        </p:spPr>
        <p:txBody>
          <a:bodyPr/>
          <a:lstStyle>
            <a:lvl1pPr>
              <a:lnSpc>
                <a:spcPct val="200000"/>
              </a:lnSpc>
              <a:defRPr lang="en-US" sz="900" kern="1200" smtClean="0">
                <a:solidFill>
                  <a:schemeClr val="tx1">
                    <a:tint val="75000"/>
                  </a:schemeClr>
                </a:solidFill>
                <a:latin typeface="+mn-lt"/>
                <a:ea typeface="+mn-ea"/>
                <a:cs typeface="+mn-cs"/>
              </a:defRPr>
            </a:lvl1pPr>
          </a:lstStyle>
          <a:p>
            <a:fld id="{37290FF7-652B-4475-AEAB-8B1A5D23AE09}" type="slidenum">
              <a:rPr lang="en-US" smtClean="0"/>
              <a:pPr/>
              <a:t>‹#›</a:t>
            </a:fld>
            <a:endParaRPr lang="en-US" dirty="0"/>
          </a:p>
        </p:txBody>
      </p:sp>
    </p:spTree>
    <p:extLst>
      <p:ext uri="{BB962C8B-B14F-4D97-AF65-F5344CB8AC3E}">
        <p14:creationId xmlns:p14="http://schemas.microsoft.com/office/powerpoint/2010/main" val="329020960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s://www.canalys.com/newsroom/cloud-market-share-q4-2018-and-full-year-2018" TargetMode="External"/><Relationship Id="rId2" Type="http://schemas.openxmlformats.org/officeDocument/2006/relationships/hyperlink" Target="https://www.insure.com/car-insurance/largest-auto-insurance-companies-by-market-share.html" TargetMode="External"/><Relationship Id="rId1" Type="http://schemas.openxmlformats.org/officeDocument/2006/relationships/slideLayout" Target="../slideLayouts/slideLayout6.xml"/><Relationship Id="rId5" Type="http://schemas.openxmlformats.org/officeDocument/2006/relationships/chart" Target="../charts/chart6.xml"/><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hyperlink" Target="https://www.worlddata.info/average-income.php" TargetMode="Externa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6.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17.tiff"/><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8.tiff"/><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image" Target="../media/image39.tiff"/><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40.png"/><Relationship Id="rId1" Type="http://schemas.openxmlformats.org/officeDocument/2006/relationships/slideLayout" Target="../slideLayouts/slideLayout6.xml"/><Relationship Id="rId4" Type="http://schemas.openxmlformats.org/officeDocument/2006/relationships/image" Target="../media/image41.png"/></Relationships>
</file>

<file path=ppt/slides/_rels/slide6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6.xml"/><Relationship Id="rId4" Type="http://schemas.openxmlformats.org/officeDocument/2006/relationships/image" Target="../media/image34.png"/></Relationships>
</file>

<file path=ppt/slides/_rels/slide68.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Text Mining &amp; NLP</a:t>
            </a:r>
            <a:br>
              <a:rPr lang="en-US" dirty="0"/>
            </a:br>
            <a:r>
              <a:rPr lang="en-US" dirty="0"/>
              <a:t>Common TM Visuals</a:t>
            </a:r>
          </a:p>
        </p:txBody>
      </p:sp>
      <p:sp>
        <p:nvSpPr>
          <p:cNvPr id="3" name="Subtitle 2"/>
          <p:cNvSpPr>
            <a:spLocks noGrp="1"/>
          </p:cNvSpPr>
          <p:nvPr>
            <p:ph type="subTitle" idx="1"/>
          </p:nvPr>
        </p:nvSpPr>
        <p:spPr/>
        <p:txBody>
          <a:bodyPr/>
          <a:lstStyle/>
          <a:p>
            <a:r>
              <a:rPr lang="en-US" dirty="0"/>
              <a:t>Ted Kwartler</a:t>
            </a:r>
          </a:p>
        </p:txBody>
      </p:sp>
      <p:sp>
        <p:nvSpPr>
          <p:cNvPr id="4" name="Date Placeholder 3"/>
          <p:cNvSpPr>
            <a:spLocks noGrp="1"/>
          </p:cNvSpPr>
          <p:nvPr>
            <p:ph type="dt" sz="half" idx="10"/>
          </p:nvPr>
        </p:nvSpPr>
        <p:spPr/>
        <p:txBody>
          <a:bodyPr/>
          <a:lstStyle/>
          <a:p>
            <a:fld id="{5738B90E-0779-4C36-915C-6F05FCD89456}" type="datetime1">
              <a:rPr lang="en-US" smtClean="0"/>
              <a:pPr/>
              <a:t>6/2/26</a:t>
            </a:fld>
            <a:endParaRPr lang="en-US"/>
          </a:p>
        </p:txBody>
      </p:sp>
      <p:sp>
        <p:nvSpPr>
          <p:cNvPr id="6" name="Footer Placeholder 5"/>
          <p:cNvSpPr>
            <a:spLocks noGrp="1"/>
          </p:cNvSpPr>
          <p:nvPr>
            <p:ph type="ftr" sz="quarter" idx="3"/>
          </p:nvPr>
        </p:nvSpPr>
        <p:spPr/>
        <p:txBody>
          <a:bodyPr/>
          <a:lstStyle/>
          <a:p>
            <a:r>
              <a:rPr lang="en-US"/>
              <a:t>Kwartler</a:t>
            </a:r>
            <a:endParaRPr lang="en-US" dirty="0"/>
          </a:p>
        </p:txBody>
      </p:sp>
      <p:sp>
        <p:nvSpPr>
          <p:cNvPr id="5" name="Slide Number Placeholder 4"/>
          <p:cNvSpPr>
            <a:spLocks noGrp="1"/>
          </p:cNvSpPr>
          <p:nvPr>
            <p:ph type="sldNum" sz="quarter" idx="4"/>
          </p:nvPr>
        </p:nvSpPr>
        <p:spPr/>
        <p:txBody>
          <a:bodyPr/>
          <a:lstStyle/>
          <a:p>
            <a:fld id="{37290FF7-652B-4475-AEAB-8B1A5D23AE09}" type="slidenum">
              <a:rPr lang="en-US" smtClean="0"/>
              <a:pPr/>
              <a:t>1</a:t>
            </a:fld>
            <a:endParaRPr lang="en-US"/>
          </a:p>
        </p:txBody>
      </p:sp>
      <p:cxnSp>
        <p:nvCxnSpPr>
          <p:cNvPr id="7" name="Straight Connector 6">
            <a:extLst>
              <a:ext uri="{FF2B5EF4-FFF2-40B4-BE49-F238E27FC236}">
                <a16:creationId xmlns:a16="http://schemas.microsoft.com/office/drawing/2014/main" id="{D6E0C0F2-FEDE-924C-A47A-F797AD8DDB13}"/>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C58DB39-B8C8-7345-AFAD-FCBD0E9C8B4D}"/>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2304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061A48-CB41-4DDC-B8B9-5FFA68FF2634}"/>
              </a:ext>
            </a:extLst>
          </p:cNvPr>
          <p:cNvSpPr txBox="1">
            <a:spLocks/>
          </p:cNvSpPr>
          <p:nvPr/>
        </p:nvSpPr>
        <p:spPr>
          <a:xfrm>
            <a:off x="628650" y="365126"/>
            <a:ext cx="7886700" cy="591477"/>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dirty="0"/>
              <a:t>Getting a Word Frequency Matrix</a:t>
            </a:r>
          </a:p>
        </p:txBody>
      </p:sp>
      <p:sp>
        <p:nvSpPr>
          <p:cNvPr id="6" name="Date Placeholder 1">
            <a:extLst>
              <a:ext uri="{FF2B5EF4-FFF2-40B4-BE49-F238E27FC236}">
                <a16:creationId xmlns:a16="http://schemas.microsoft.com/office/drawing/2014/main" id="{A5024E83-7248-49C6-83CE-0C52F416FEF7}"/>
              </a:ext>
            </a:extLst>
          </p:cNvPr>
          <p:cNvSpPr>
            <a:spLocks noGrp="1"/>
          </p:cNvSpPr>
          <p:nvPr>
            <p:ph type="dt" sz="half" idx="10"/>
          </p:nvPr>
        </p:nvSpPr>
        <p:spPr/>
        <p:txBody>
          <a:bodyPr/>
          <a:lstStyle/>
          <a:p>
            <a:fld id="{6700A58B-DD98-43D0-B791-721480A02982}" type="datetime1">
              <a:rPr lang="en-US" smtClean="0"/>
              <a:t>6/2/26</a:t>
            </a:fld>
            <a:endParaRPr lang="en-US"/>
          </a:p>
        </p:txBody>
      </p:sp>
      <p:sp>
        <p:nvSpPr>
          <p:cNvPr id="8" name="Footer Placeholder 4">
            <a:extLst>
              <a:ext uri="{FF2B5EF4-FFF2-40B4-BE49-F238E27FC236}">
                <a16:creationId xmlns:a16="http://schemas.microsoft.com/office/drawing/2014/main" id="{831F0EBF-9545-4BDE-B6B2-0D32BABD5667}"/>
              </a:ext>
            </a:extLst>
          </p:cNvPr>
          <p:cNvSpPr>
            <a:spLocks noGrp="1"/>
          </p:cNvSpPr>
          <p:nvPr>
            <p:ph type="ftr" sz="quarter" idx="3"/>
          </p:nvPr>
        </p:nvSpPr>
        <p:spPr/>
        <p:txBody>
          <a:bodyPr/>
          <a:lstStyle/>
          <a:p>
            <a:r>
              <a:rPr lang="en-US" dirty="0"/>
              <a:t>Kwartler CSCI -96</a:t>
            </a:r>
          </a:p>
        </p:txBody>
      </p:sp>
      <p:sp>
        <p:nvSpPr>
          <p:cNvPr id="7" name="Slide Number Placeholder 3">
            <a:extLst>
              <a:ext uri="{FF2B5EF4-FFF2-40B4-BE49-F238E27FC236}">
                <a16:creationId xmlns:a16="http://schemas.microsoft.com/office/drawing/2014/main" id="{269E8134-5ACB-40D1-8C0C-86324C8FEF4A}"/>
              </a:ext>
            </a:extLst>
          </p:cNvPr>
          <p:cNvSpPr>
            <a:spLocks noGrp="1"/>
          </p:cNvSpPr>
          <p:nvPr>
            <p:ph type="sldNum" sz="quarter" idx="4"/>
          </p:nvPr>
        </p:nvSpPr>
        <p:spPr/>
        <p:txBody>
          <a:bodyPr/>
          <a:lstStyle/>
          <a:p>
            <a:fld id="{37290FF7-652B-4475-AEAB-8B1A5D23AE09}" type="slidenum">
              <a:rPr lang="en-US" smtClean="0"/>
              <a:t>2</a:t>
            </a:fld>
            <a:endParaRPr lang="en-US"/>
          </a:p>
        </p:txBody>
      </p:sp>
      <p:sp>
        <p:nvSpPr>
          <p:cNvPr id="9" name="Rectangle 8">
            <a:extLst>
              <a:ext uri="{FF2B5EF4-FFF2-40B4-BE49-F238E27FC236}">
                <a16:creationId xmlns:a16="http://schemas.microsoft.com/office/drawing/2014/main" id="{F5CD4F4D-781D-474A-9BAC-BB83839CDCE1}"/>
              </a:ext>
            </a:extLst>
          </p:cNvPr>
          <p:cNvSpPr/>
          <p:nvPr/>
        </p:nvSpPr>
        <p:spPr>
          <a:xfrm>
            <a:off x="365758" y="1102344"/>
            <a:ext cx="7653397" cy="584775"/>
          </a:xfrm>
          <a:prstGeom prst="rect">
            <a:avLst/>
          </a:prstGeom>
          <a:solidFill>
            <a:schemeClr val="bg1">
              <a:lumMod val="85000"/>
            </a:schemeClr>
          </a:solidFill>
        </p:spPr>
        <p:txBody>
          <a:bodyPr wrap="square">
            <a:spAutoFit/>
          </a:bodyPr>
          <a:lstStyle/>
          <a:p>
            <a:pPr defTabSz="457200"/>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beerFreq</a:t>
            </a:r>
            <a:r>
              <a:rPr lang="en-US" sz="1600" dirty="0">
                <a:solidFill>
                  <a:prstClr val="black"/>
                </a:solidFill>
                <a:latin typeface="Consolas" panose="020B0609020204030204" pitchFamily="49" charset="0"/>
                <a:ea typeface="Arial Unicode MS" panose="020B0604020202020204" pitchFamily="34" charset="-128"/>
              </a:rPr>
              <a:t>&lt;-</a:t>
            </a:r>
            <a:r>
              <a:rPr lang="en-US" sz="1600" dirty="0" err="1">
                <a:solidFill>
                  <a:prstClr val="black"/>
                </a:solidFill>
                <a:latin typeface="Consolas" panose="020B0609020204030204" pitchFamily="49" charset="0"/>
                <a:ea typeface="Arial Unicode MS" panose="020B0604020202020204" pitchFamily="34" charset="-128"/>
              </a:rPr>
              <a:t>colSums</a:t>
            </a:r>
            <a:r>
              <a:rPr lang="en-US" sz="1600" dirty="0">
                <a:solidFill>
                  <a:prstClr val="black"/>
                </a:solidFill>
                <a:latin typeface="Consolas" panose="020B0609020204030204" pitchFamily="49" charset="0"/>
                <a:ea typeface="Arial Unicode MS" panose="020B0604020202020204" pitchFamily="34" charset="-128"/>
              </a:rPr>
              <a:t>(</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beerDTMm</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a:p>
            <a:pPr defTabSz="457200"/>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beerFreq</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&lt;-</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data.frame</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(word=names(</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beerFreq</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),frequency=</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beerFreq</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p:txBody>
      </p:sp>
      <p:sp>
        <p:nvSpPr>
          <p:cNvPr id="13" name="Isosceles Triangle 12">
            <a:extLst>
              <a:ext uri="{FF2B5EF4-FFF2-40B4-BE49-F238E27FC236}">
                <a16:creationId xmlns:a16="http://schemas.microsoft.com/office/drawing/2014/main" id="{86C9C44B-67F3-4E36-8102-211D5F3F934C}"/>
              </a:ext>
            </a:extLst>
          </p:cNvPr>
          <p:cNvSpPr/>
          <p:nvPr/>
        </p:nvSpPr>
        <p:spPr>
          <a:xfrm rot="5400000">
            <a:off x="4382414" y="3135665"/>
            <a:ext cx="1339350" cy="402476"/>
          </a:xfrm>
          <a:prstGeom prst="triangle">
            <a:avLst/>
          </a:prstGeom>
          <a:solidFill>
            <a:schemeClr val="accent5"/>
          </a:soli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kern="1200" dirty="0">
              <a:solidFill>
                <a:prstClr val="white"/>
              </a:solidFill>
              <a:latin typeface="Arial Unicode MS" panose="020B0604020202020204" pitchFamily="34" charset="-128"/>
            </a:endParaRPr>
          </a:p>
        </p:txBody>
      </p:sp>
      <p:graphicFrame>
        <p:nvGraphicFramePr>
          <p:cNvPr id="14" name="Table 13">
            <a:extLst>
              <a:ext uri="{FF2B5EF4-FFF2-40B4-BE49-F238E27FC236}">
                <a16:creationId xmlns:a16="http://schemas.microsoft.com/office/drawing/2014/main" id="{88D87AD9-BE81-4811-80B4-0B3567211CA3}"/>
              </a:ext>
            </a:extLst>
          </p:cNvPr>
          <p:cNvGraphicFramePr>
            <a:graphicFrameLocks noGrp="1"/>
          </p:cNvGraphicFramePr>
          <p:nvPr>
            <p:extLst>
              <p:ext uri="{D42A27DB-BD31-4B8C-83A1-F6EECF244321}">
                <p14:modId xmlns:p14="http://schemas.microsoft.com/office/powerpoint/2010/main" val="4170914845"/>
              </p:ext>
            </p:extLst>
          </p:nvPr>
        </p:nvGraphicFramePr>
        <p:xfrm>
          <a:off x="5962071" y="2427492"/>
          <a:ext cx="2057083" cy="2225040"/>
        </p:xfrm>
        <a:graphic>
          <a:graphicData uri="http://schemas.openxmlformats.org/drawingml/2006/table">
            <a:tbl>
              <a:tblPr firstRow="1" bandRow="1">
                <a:tableStyleId>{5C22544A-7EE6-4342-B048-85BDC9FD1C3A}</a:tableStyleId>
              </a:tblPr>
              <a:tblGrid>
                <a:gridCol w="1142720">
                  <a:extLst>
                    <a:ext uri="{9D8B030D-6E8A-4147-A177-3AD203B41FA5}">
                      <a16:colId xmlns:a16="http://schemas.microsoft.com/office/drawing/2014/main" val="20000"/>
                    </a:ext>
                  </a:extLst>
                </a:gridCol>
                <a:gridCol w="914363">
                  <a:extLst>
                    <a:ext uri="{9D8B030D-6E8A-4147-A177-3AD203B41FA5}">
                      <a16:colId xmlns:a16="http://schemas.microsoft.com/office/drawing/2014/main" val="20001"/>
                    </a:ext>
                  </a:extLst>
                </a:gridCol>
              </a:tblGrid>
              <a:tr h="370840">
                <a:tc>
                  <a:txBody>
                    <a:bodyPr/>
                    <a:lstStyle/>
                    <a:p>
                      <a:r>
                        <a:rPr lang="en-US" dirty="0">
                          <a:latin typeface="Arial Unicode MS" panose="020B0604020202020204" pitchFamily="34" charset="-128"/>
                        </a:rPr>
                        <a:t>word</a:t>
                      </a:r>
                    </a:p>
                  </a:txBody>
                  <a:tcPr/>
                </a:tc>
                <a:tc>
                  <a:txBody>
                    <a:bodyPr/>
                    <a:lstStyle/>
                    <a:p>
                      <a:r>
                        <a:rPr lang="en-US" dirty="0" err="1">
                          <a:latin typeface="Arial Unicode MS" panose="020B0604020202020204" pitchFamily="34" charset="-128"/>
                        </a:rPr>
                        <a:t>freq</a:t>
                      </a:r>
                      <a:endParaRPr lang="en-US" dirty="0">
                        <a:latin typeface="Arial Unicode MS" panose="020B0604020202020204" pitchFamily="34" charset="-128"/>
                      </a:endParaRPr>
                    </a:p>
                  </a:txBody>
                  <a:tcPr/>
                </a:tc>
                <a:extLst>
                  <a:ext uri="{0D108BD9-81ED-4DB2-BD59-A6C34878D82A}">
                    <a16:rowId xmlns:a16="http://schemas.microsoft.com/office/drawing/2014/main" val="10000"/>
                  </a:ext>
                </a:extLst>
              </a:tr>
              <a:tr h="370840">
                <a:tc>
                  <a:txBody>
                    <a:bodyPr/>
                    <a:lstStyle/>
                    <a:p>
                      <a:r>
                        <a:rPr lang="en-US" dirty="0">
                          <a:latin typeface="Arial Unicode MS" panose="020B0604020202020204" pitchFamily="34" charset="-128"/>
                        </a:rPr>
                        <a:t>Term1</a:t>
                      </a:r>
                    </a:p>
                  </a:txBody>
                  <a:tcPr/>
                </a:tc>
                <a:tc>
                  <a:txBody>
                    <a:bodyPr/>
                    <a:lstStyle/>
                    <a:p>
                      <a:r>
                        <a:rPr lang="en-US" dirty="0">
                          <a:latin typeface="Arial Unicode MS" panose="020B0604020202020204" pitchFamily="34" charset="-128"/>
                        </a:rPr>
                        <a:t>0</a:t>
                      </a:r>
                    </a:p>
                  </a:txBody>
                  <a:tcPr/>
                </a:tc>
                <a:extLst>
                  <a:ext uri="{0D108BD9-81ED-4DB2-BD59-A6C34878D82A}">
                    <a16:rowId xmlns:a16="http://schemas.microsoft.com/office/drawing/2014/main" val="10001"/>
                  </a:ext>
                </a:extLst>
              </a:tr>
              <a:tr h="370840">
                <a:tc>
                  <a:txBody>
                    <a:bodyPr/>
                    <a:lstStyle/>
                    <a:p>
                      <a:r>
                        <a:rPr lang="en-US" dirty="0">
                          <a:latin typeface="Arial Unicode MS" panose="020B0604020202020204" pitchFamily="34" charset="-128"/>
                        </a:rPr>
                        <a:t>Term2</a:t>
                      </a:r>
                    </a:p>
                  </a:txBody>
                  <a:tcPr/>
                </a:tc>
                <a:tc>
                  <a:txBody>
                    <a:bodyPr/>
                    <a:lstStyle/>
                    <a:p>
                      <a:r>
                        <a:rPr lang="en-US" dirty="0">
                          <a:latin typeface="Arial Unicode MS" panose="020B0604020202020204" pitchFamily="34" charset="-128"/>
                        </a:rPr>
                        <a:t>2</a:t>
                      </a:r>
                    </a:p>
                  </a:txBody>
                  <a:tcPr/>
                </a:tc>
                <a:extLst>
                  <a:ext uri="{0D108BD9-81ED-4DB2-BD59-A6C34878D82A}">
                    <a16:rowId xmlns:a16="http://schemas.microsoft.com/office/drawing/2014/main" val="10002"/>
                  </a:ext>
                </a:extLst>
              </a:tr>
              <a:tr h="370840">
                <a:tc>
                  <a:txBody>
                    <a:bodyPr/>
                    <a:lstStyle/>
                    <a:p>
                      <a:r>
                        <a:rPr lang="en-US" dirty="0">
                          <a:latin typeface="Arial Unicode MS" panose="020B0604020202020204" pitchFamily="34" charset="-128"/>
                        </a:rPr>
                        <a:t>Term3</a:t>
                      </a:r>
                    </a:p>
                  </a:txBody>
                  <a:tcPr/>
                </a:tc>
                <a:tc>
                  <a:txBody>
                    <a:bodyPr/>
                    <a:lstStyle/>
                    <a:p>
                      <a:r>
                        <a:rPr lang="en-US" dirty="0">
                          <a:latin typeface="Arial Unicode MS" panose="020B0604020202020204" pitchFamily="34" charset="-128"/>
                        </a:rPr>
                        <a:t>3</a:t>
                      </a:r>
                    </a:p>
                  </a:txBody>
                  <a:tcPr/>
                </a:tc>
                <a:extLst>
                  <a:ext uri="{0D108BD9-81ED-4DB2-BD59-A6C34878D82A}">
                    <a16:rowId xmlns:a16="http://schemas.microsoft.com/office/drawing/2014/main" val="10003"/>
                  </a:ext>
                </a:extLst>
              </a:tr>
              <a:tr h="370840">
                <a:tc>
                  <a:txBody>
                    <a:bodyPr/>
                    <a:lstStyle/>
                    <a:p>
                      <a:r>
                        <a:rPr lang="en-US" dirty="0">
                          <a:latin typeface="Arial Unicode MS" panose="020B0604020202020204" pitchFamily="34" charset="-128"/>
                        </a:rPr>
                        <a:t>…</a:t>
                      </a:r>
                    </a:p>
                  </a:txBody>
                  <a:tcPr/>
                </a:tc>
                <a:tc>
                  <a:txBody>
                    <a:bodyPr/>
                    <a:lstStyle/>
                    <a:p>
                      <a:r>
                        <a:rPr lang="en-US" dirty="0">
                          <a:latin typeface="Arial Unicode MS" panose="020B0604020202020204" pitchFamily="34" charset="-128"/>
                        </a:rPr>
                        <a:t>5</a:t>
                      </a:r>
                    </a:p>
                  </a:txBody>
                  <a:tcPr/>
                </a:tc>
                <a:extLst>
                  <a:ext uri="{0D108BD9-81ED-4DB2-BD59-A6C34878D82A}">
                    <a16:rowId xmlns:a16="http://schemas.microsoft.com/office/drawing/2014/main" val="10004"/>
                  </a:ext>
                </a:extLst>
              </a:tr>
              <a:tr h="370840">
                <a:tc>
                  <a:txBody>
                    <a:bodyPr/>
                    <a:lstStyle/>
                    <a:p>
                      <a:r>
                        <a:rPr lang="en-US" dirty="0" err="1">
                          <a:latin typeface="Arial Unicode MS" panose="020B0604020202020204" pitchFamily="34" charset="-128"/>
                        </a:rPr>
                        <a:t>Term_n</a:t>
                      </a:r>
                      <a:endParaRPr lang="en-US" dirty="0">
                        <a:latin typeface="Arial Unicode MS" panose="020B0604020202020204" pitchFamily="34" charset="-128"/>
                      </a:endParaRPr>
                    </a:p>
                  </a:txBody>
                  <a:tcPr/>
                </a:tc>
                <a:tc>
                  <a:txBody>
                    <a:bodyPr/>
                    <a:lstStyle/>
                    <a:p>
                      <a:r>
                        <a:rPr lang="en-US" dirty="0">
                          <a:latin typeface="Arial Unicode MS" panose="020B0604020202020204" pitchFamily="34" charset="-128"/>
                        </a:rPr>
                        <a:t>2</a:t>
                      </a:r>
                    </a:p>
                  </a:txBody>
                  <a:tcPr/>
                </a:tc>
                <a:extLst>
                  <a:ext uri="{0D108BD9-81ED-4DB2-BD59-A6C34878D82A}">
                    <a16:rowId xmlns:a16="http://schemas.microsoft.com/office/drawing/2014/main" val="10005"/>
                  </a:ext>
                </a:extLst>
              </a:tr>
            </a:tbl>
          </a:graphicData>
        </a:graphic>
      </p:graphicFrame>
      <p:sp>
        <p:nvSpPr>
          <p:cNvPr id="17" name="Rectangle 16">
            <a:extLst>
              <a:ext uri="{FF2B5EF4-FFF2-40B4-BE49-F238E27FC236}">
                <a16:creationId xmlns:a16="http://schemas.microsoft.com/office/drawing/2014/main" id="{381F82B2-C164-4D27-B9E8-F79273567423}"/>
              </a:ext>
            </a:extLst>
          </p:cNvPr>
          <p:cNvSpPr/>
          <p:nvPr/>
        </p:nvSpPr>
        <p:spPr>
          <a:xfrm>
            <a:off x="5962071" y="2061732"/>
            <a:ext cx="2057083" cy="365760"/>
          </a:xfrm>
          <a:prstGeom prst="rect">
            <a:avLst/>
          </a:prstGeom>
          <a:solidFill>
            <a:schemeClr val="accent3"/>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bg1"/>
                </a:solidFill>
              </a:rPr>
              <a:t>Word Frequency Matrix</a:t>
            </a:r>
          </a:p>
        </p:txBody>
      </p:sp>
      <p:graphicFrame>
        <p:nvGraphicFramePr>
          <p:cNvPr id="12" name="Table 11">
            <a:extLst>
              <a:ext uri="{FF2B5EF4-FFF2-40B4-BE49-F238E27FC236}">
                <a16:creationId xmlns:a16="http://schemas.microsoft.com/office/drawing/2014/main" id="{4C4D17DA-10C0-4D66-98BE-6ADB82890F25}"/>
              </a:ext>
            </a:extLst>
          </p:cNvPr>
          <p:cNvGraphicFramePr>
            <a:graphicFrameLocks noGrp="1"/>
          </p:cNvGraphicFramePr>
          <p:nvPr>
            <p:extLst>
              <p:ext uri="{D42A27DB-BD31-4B8C-83A1-F6EECF244321}">
                <p14:modId xmlns:p14="http://schemas.microsoft.com/office/powerpoint/2010/main" val="3889852672"/>
              </p:ext>
            </p:extLst>
          </p:nvPr>
        </p:nvGraphicFramePr>
        <p:xfrm>
          <a:off x="628650" y="2427492"/>
          <a:ext cx="3513457" cy="2225040"/>
        </p:xfrm>
        <a:graphic>
          <a:graphicData uri="http://schemas.openxmlformats.org/drawingml/2006/table">
            <a:tbl>
              <a:tblPr firstRow="1" bandRow="1">
                <a:tableStyleId>{69C7853C-536D-4A76-A0AE-DD22124D55A5}</a:tableStyleId>
              </a:tblPr>
              <a:tblGrid>
                <a:gridCol w="701993">
                  <a:extLst>
                    <a:ext uri="{9D8B030D-6E8A-4147-A177-3AD203B41FA5}">
                      <a16:colId xmlns:a16="http://schemas.microsoft.com/office/drawing/2014/main" val="20000"/>
                    </a:ext>
                  </a:extLst>
                </a:gridCol>
                <a:gridCol w="597218">
                  <a:extLst>
                    <a:ext uri="{9D8B030D-6E8A-4147-A177-3AD203B41FA5}">
                      <a16:colId xmlns:a16="http://schemas.microsoft.com/office/drawing/2014/main" val="20001"/>
                    </a:ext>
                  </a:extLst>
                </a:gridCol>
                <a:gridCol w="597218">
                  <a:extLst>
                    <a:ext uri="{9D8B030D-6E8A-4147-A177-3AD203B41FA5}">
                      <a16:colId xmlns:a16="http://schemas.microsoft.com/office/drawing/2014/main" val="20002"/>
                    </a:ext>
                  </a:extLst>
                </a:gridCol>
                <a:gridCol w="597218">
                  <a:extLst>
                    <a:ext uri="{9D8B030D-6E8A-4147-A177-3AD203B41FA5}">
                      <a16:colId xmlns:a16="http://schemas.microsoft.com/office/drawing/2014/main" val="20003"/>
                    </a:ext>
                  </a:extLst>
                </a:gridCol>
                <a:gridCol w="344805">
                  <a:extLst>
                    <a:ext uri="{9D8B030D-6E8A-4147-A177-3AD203B41FA5}">
                      <a16:colId xmlns:a16="http://schemas.microsoft.com/office/drawing/2014/main" val="20004"/>
                    </a:ext>
                  </a:extLst>
                </a:gridCol>
                <a:gridCol w="675005">
                  <a:extLst>
                    <a:ext uri="{9D8B030D-6E8A-4147-A177-3AD203B41FA5}">
                      <a16:colId xmlns:a16="http://schemas.microsoft.com/office/drawing/2014/main" val="20005"/>
                    </a:ext>
                  </a:extLst>
                </a:gridCol>
              </a:tblGrid>
              <a:tr h="370840">
                <a:tc>
                  <a:txBody>
                    <a:bodyPr/>
                    <a:lstStyle/>
                    <a:p>
                      <a:endParaRPr lang="en-US" sz="1000" kern="1200" dirty="0">
                        <a:solidFill>
                          <a:schemeClr val="dk1"/>
                        </a:solidFill>
                        <a:latin typeface="Arial Unicode MS" panose="020B0604020202020204" pitchFamily="34" charset="-128"/>
                        <a:ea typeface="+mn-ea"/>
                        <a:cs typeface="+mn-cs"/>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solidFill>
                  </a:tcPr>
                </a:tc>
                <a:tc>
                  <a:txBody>
                    <a:bodyPr/>
                    <a:lstStyle/>
                    <a:p>
                      <a:r>
                        <a:rPr lang="en-US" sz="1000" dirty="0">
                          <a:latin typeface="Arial Unicode MS" panose="020B0604020202020204" pitchFamily="34" charset="-128"/>
                        </a:rPr>
                        <a:t>Term1</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r>
                        <a:rPr lang="en-US" sz="1000" dirty="0">
                          <a:latin typeface="Arial Unicode MS" panose="020B0604020202020204" pitchFamily="34" charset="-128"/>
                        </a:rPr>
                        <a:t>Term2</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r>
                        <a:rPr lang="en-US" sz="1000" dirty="0">
                          <a:latin typeface="Arial Unicode MS" panose="020B0604020202020204" pitchFamily="34" charset="-128"/>
                        </a:rPr>
                        <a:t>Term3</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r>
                        <a:rPr lang="en-US" sz="1000" dirty="0">
                          <a:latin typeface="Arial Unicode MS" panose="020B0604020202020204" pitchFamily="34" charset="-128"/>
                        </a:rPr>
                        <a:t>…</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tc>
                  <a:txBody>
                    <a:bodyPr/>
                    <a:lstStyle/>
                    <a:p>
                      <a:r>
                        <a:rPr lang="en-US" sz="1000" dirty="0">
                          <a:latin typeface="Arial Unicode MS" panose="020B0604020202020204" pitchFamily="34" charset="-128"/>
                        </a:rPr>
                        <a:t>Term_n</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370840">
                <a:tc>
                  <a:txBody>
                    <a:bodyPr/>
                    <a:lstStyle/>
                    <a:p>
                      <a:r>
                        <a:rPr lang="en-US" sz="1000" dirty="0">
                          <a:solidFill>
                            <a:schemeClr val="bg1"/>
                          </a:solidFill>
                          <a:latin typeface="Arial Unicode MS" panose="020B0604020202020204" pitchFamily="34" charset="-128"/>
                        </a:rPr>
                        <a:t>Tweet1</a:t>
                      </a:r>
                    </a:p>
                  </a:txBody>
                  <a:tcPr>
                    <a:lnT w="12700" cap="flat" cmpd="sng" algn="ctr">
                      <a:solidFill>
                        <a:srgbClr val="FFFFFF"/>
                      </a:solidFill>
                      <a:prstDash val="solid"/>
                      <a:round/>
                      <a:headEnd type="none" w="med" len="med"/>
                      <a:tailEnd type="none" w="med" len="med"/>
                    </a:lnT>
                    <a:solidFill>
                      <a:schemeClr val="accent1"/>
                    </a:solidFill>
                  </a:tcPr>
                </a:tc>
                <a:tc>
                  <a:txBody>
                    <a:bodyPr/>
                    <a:lstStyle/>
                    <a:p>
                      <a:r>
                        <a:rPr lang="en-US" sz="1000" dirty="0">
                          <a:latin typeface="Arial Unicode MS" panose="020B0604020202020204" pitchFamily="34" charset="-128"/>
                        </a:rPr>
                        <a:t>0</a:t>
                      </a:r>
                    </a:p>
                  </a:txBody>
                  <a:tcPr>
                    <a:lnT w="12700" cap="flat" cmpd="sng" algn="ctr">
                      <a:solidFill>
                        <a:srgbClr val="FFFFFF"/>
                      </a:solidFill>
                      <a:prstDash val="solid"/>
                      <a:round/>
                      <a:headEnd type="none" w="med" len="med"/>
                      <a:tailEnd type="none" w="med" len="med"/>
                    </a:lnT>
                    <a:solidFill>
                      <a:schemeClr val="accent5"/>
                    </a:solidFill>
                  </a:tcPr>
                </a:tc>
                <a:tc>
                  <a:txBody>
                    <a:bodyPr/>
                    <a:lstStyle/>
                    <a:p>
                      <a:r>
                        <a:rPr lang="en-US" sz="1000" dirty="0">
                          <a:latin typeface="Arial Unicode MS" panose="020B0604020202020204" pitchFamily="34" charset="-128"/>
                        </a:rPr>
                        <a:t>1</a:t>
                      </a:r>
                    </a:p>
                  </a:txBody>
                  <a:tcPr>
                    <a:lnT w="12700" cap="flat" cmpd="sng" algn="ctr">
                      <a:solidFill>
                        <a:srgbClr val="FFFFFF"/>
                      </a:solidFill>
                      <a:prstDash val="solid"/>
                      <a:round/>
                      <a:headEnd type="none" w="med" len="med"/>
                      <a:tailEnd type="none" w="med" len="med"/>
                    </a:lnT>
                    <a:solidFill>
                      <a:schemeClr val="accent5"/>
                    </a:solidFill>
                  </a:tcPr>
                </a:tc>
                <a:tc>
                  <a:txBody>
                    <a:bodyPr/>
                    <a:lstStyle/>
                    <a:p>
                      <a:r>
                        <a:rPr lang="en-US" sz="1000" dirty="0">
                          <a:latin typeface="Arial Unicode MS" panose="020B0604020202020204" pitchFamily="34" charset="-128"/>
                        </a:rPr>
                        <a:t>1</a:t>
                      </a:r>
                    </a:p>
                  </a:txBody>
                  <a:tcPr>
                    <a:lnT w="12700" cap="flat" cmpd="sng" algn="ctr">
                      <a:solidFill>
                        <a:srgbClr val="FFFFFF"/>
                      </a:solidFill>
                      <a:prstDash val="solid"/>
                      <a:round/>
                      <a:headEnd type="none" w="med" len="med"/>
                      <a:tailEnd type="none" w="med" len="med"/>
                    </a:lnT>
                    <a:solidFill>
                      <a:schemeClr val="accent5"/>
                    </a:solidFill>
                  </a:tcPr>
                </a:tc>
                <a:tc>
                  <a:txBody>
                    <a:bodyPr/>
                    <a:lstStyle/>
                    <a:p>
                      <a:r>
                        <a:rPr lang="en-US" sz="1000" dirty="0">
                          <a:latin typeface="Arial Unicode MS" panose="020B0604020202020204" pitchFamily="34" charset="-128"/>
                        </a:rPr>
                        <a:t>0</a:t>
                      </a:r>
                    </a:p>
                  </a:txBody>
                  <a:tcPr>
                    <a:lnT w="12700" cap="flat" cmpd="sng" algn="ctr">
                      <a:solidFill>
                        <a:srgbClr val="FFFFFF"/>
                      </a:solidFill>
                      <a:prstDash val="solid"/>
                      <a:round/>
                      <a:headEnd type="none" w="med" len="med"/>
                      <a:tailEnd type="none" w="med" len="med"/>
                    </a:lnT>
                    <a:solidFill>
                      <a:schemeClr val="accent5"/>
                    </a:solidFill>
                  </a:tcPr>
                </a:tc>
                <a:tc>
                  <a:txBody>
                    <a:bodyPr/>
                    <a:lstStyle/>
                    <a:p>
                      <a:r>
                        <a:rPr lang="en-US" sz="1000" dirty="0">
                          <a:latin typeface="Arial Unicode MS" panose="020B0604020202020204" pitchFamily="34" charset="-128"/>
                        </a:rPr>
                        <a:t>0</a:t>
                      </a:r>
                    </a:p>
                  </a:txBody>
                  <a:tcPr>
                    <a:lnT w="12700" cap="flat" cmpd="sng" algn="ctr">
                      <a:solidFill>
                        <a:srgbClr val="FFFFFF"/>
                      </a:solidFill>
                      <a:prstDash val="solid"/>
                      <a:round/>
                      <a:headEnd type="none" w="med" len="med"/>
                      <a:tailEnd type="none" w="med" len="med"/>
                    </a:lnT>
                    <a:solidFill>
                      <a:schemeClr val="accent5"/>
                    </a:solidFill>
                  </a:tcPr>
                </a:tc>
                <a:extLst>
                  <a:ext uri="{0D108BD9-81ED-4DB2-BD59-A6C34878D82A}">
                    <a16:rowId xmlns:a16="http://schemas.microsoft.com/office/drawing/2014/main" val="10001"/>
                  </a:ext>
                </a:extLst>
              </a:tr>
              <a:tr h="370840">
                <a:tc>
                  <a:txBody>
                    <a:bodyPr/>
                    <a:lstStyle/>
                    <a:p>
                      <a:r>
                        <a:rPr lang="en-US" sz="1000" dirty="0">
                          <a:solidFill>
                            <a:schemeClr val="bg1"/>
                          </a:solidFill>
                          <a:latin typeface="Arial Unicode MS" panose="020B0604020202020204" pitchFamily="34" charset="-128"/>
                        </a:rPr>
                        <a:t>Tweet2</a:t>
                      </a:r>
                    </a:p>
                  </a:txBody>
                  <a:tcPr>
                    <a:solidFill>
                      <a:schemeClr val="accent1"/>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1</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extLst>
                  <a:ext uri="{0D108BD9-81ED-4DB2-BD59-A6C34878D82A}">
                    <a16:rowId xmlns:a16="http://schemas.microsoft.com/office/drawing/2014/main" val="10002"/>
                  </a:ext>
                </a:extLst>
              </a:tr>
              <a:tr h="370840">
                <a:tc>
                  <a:txBody>
                    <a:bodyPr/>
                    <a:lstStyle/>
                    <a:p>
                      <a:r>
                        <a:rPr lang="en-US" sz="1000" dirty="0">
                          <a:solidFill>
                            <a:schemeClr val="bg1"/>
                          </a:solidFill>
                          <a:latin typeface="Arial Unicode MS" panose="020B0604020202020204" pitchFamily="34" charset="-128"/>
                        </a:rPr>
                        <a:t>Tweet3</a:t>
                      </a:r>
                    </a:p>
                  </a:txBody>
                  <a:tcPr>
                    <a:solidFill>
                      <a:schemeClr val="accent1"/>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3</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extLst>
                  <a:ext uri="{0D108BD9-81ED-4DB2-BD59-A6C34878D82A}">
                    <a16:rowId xmlns:a16="http://schemas.microsoft.com/office/drawing/2014/main" val="10003"/>
                  </a:ext>
                </a:extLst>
              </a:tr>
              <a:tr h="370840">
                <a:tc>
                  <a:txBody>
                    <a:bodyPr/>
                    <a:lstStyle/>
                    <a:p>
                      <a:r>
                        <a:rPr lang="en-US" sz="1000" dirty="0">
                          <a:solidFill>
                            <a:schemeClr val="bg1"/>
                          </a:solidFill>
                          <a:latin typeface="Arial Unicode MS" panose="020B0604020202020204" pitchFamily="34" charset="-128"/>
                        </a:rPr>
                        <a:t>…</a:t>
                      </a:r>
                    </a:p>
                  </a:txBody>
                  <a:tcPr>
                    <a:solidFill>
                      <a:schemeClr val="accent1"/>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1</a:t>
                      </a:r>
                    </a:p>
                  </a:txBody>
                  <a:tcPr>
                    <a:solidFill>
                      <a:schemeClr val="accent5"/>
                    </a:solidFill>
                  </a:tcPr>
                </a:tc>
                <a:tc>
                  <a:txBody>
                    <a:bodyPr/>
                    <a:lstStyle/>
                    <a:p>
                      <a:r>
                        <a:rPr lang="en-US" sz="1000" dirty="0">
                          <a:latin typeface="Arial Unicode MS" panose="020B0604020202020204" pitchFamily="34" charset="-128"/>
                        </a:rPr>
                        <a:t>1</a:t>
                      </a:r>
                    </a:p>
                  </a:txBody>
                  <a:tcPr>
                    <a:solidFill>
                      <a:schemeClr val="accent5"/>
                    </a:solidFill>
                  </a:tcPr>
                </a:tc>
                <a:extLst>
                  <a:ext uri="{0D108BD9-81ED-4DB2-BD59-A6C34878D82A}">
                    <a16:rowId xmlns:a16="http://schemas.microsoft.com/office/drawing/2014/main" val="10004"/>
                  </a:ext>
                </a:extLst>
              </a:tr>
              <a:tr h="370840">
                <a:tc>
                  <a:txBody>
                    <a:bodyPr/>
                    <a:lstStyle/>
                    <a:p>
                      <a:r>
                        <a:rPr lang="en-US" sz="1000" dirty="0">
                          <a:solidFill>
                            <a:schemeClr val="bg1"/>
                          </a:solidFill>
                          <a:latin typeface="Arial Unicode MS" panose="020B0604020202020204" pitchFamily="34" charset="-128"/>
                        </a:rPr>
                        <a:t>Tweet_n</a:t>
                      </a:r>
                    </a:p>
                  </a:txBody>
                  <a:tcPr>
                    <a:solidFill>
                      <a:schemeClr val="accent1"/>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tc>
                  <a:txBody>
                    <a:bodyPr/>
                    <a:lstStyle/>
                    <a:p>
                      <a:r>
                        <a:rPr lang="en-US" sz="1000" dirty="0">
                          <a:latin typeface="Arial Unicode MS" panose="020B0604020202020204" pitchFamily="34" charset="-128"/>
                        </a:rPr>
                        <a:t>1</a:t>
                      </a:r>
                    </a:p>
                  </a:txBody>
                  <a:tcPr>
                    <a:solidFill>
                      <a:schemeClr val="accent5"/>
                    </a:solidFill>
                  </a:tcPr>
                </a:tc>
                <a:tc>
                  <a:txBody>
                    <a:bodyPr/>
                    <a:lstStyle/>
                    <a:p>
                      <a:r>
                        <a:rPr lang="en-US" sz="1000" dirty="0">
                          <a:latin typeface="Arial Unicode MS" panose="020B0604020202020204" pitchFamily="34" charset="-128"/>
                        </a:rPr>
                        <a:t>0</a:t>
                      </a:r>
                    </a:p>
                  </a:txBody>
                  <a:tcPr>
                    <a:solidFill>
                      <a:schemeClr val="accent5"/>
                    </a:solidFill>
                  </a:tcPr>
                </a:tc>
                <a:extLst>
                  <a:ext uri="{0D108BD9-81ED-4DB2-BD59-A6C34878D82A}">
                    <a16:rowId xmlns:a16="http://schemas.microsoft.com/office/drawing/2014/main" val="10005"/>
                  </a:ext>
                </a:extLst>
              </a:tr>
            </a:tbl>
          </a:graphicData>
        </a:graphic>
      </p:graphicFrame>
      <p:sp>
        <p:nvSpPr>
          <p:cNvPr id="18" name="Rectangle 17">
            <a:extLst>
              <a:ext uri="{FF2B5EF4-FFF2-40B4-BE49-F238E27FC236}">
                <a16:creationId xmlns:a16="http://schemas.microsoft.com/office/drawing/2014/main" id="{954BE713-5D5B-4EF8-BA05-3C4EC246EE00}"/>
              </a:ext>
            </a:extLst>
          </p:cNvPr>
          <p:cNvSpPr/>
          <p:nvPr/>
        </p:nvSpPr>
        <p:spPr>
          <a:xfrm>
            <a:off x="628650" y="2047261"/>
            <a:ext cx="3513457" cy="365760"/>
          </a:xfrm>
          <a:prstGeom prst="rect">
            <a:avLst/>
          </a:prstGeom>
          <a:solidFill>
            <a:schemeClr val="accent3"/>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bg1"/>
                </a:solidFill>
              </a:rPr>
              <a:t>Document Term Matrix</a:t>
            </a:r>
          </a:p>
        </p:txBody>
      </p:sp>
      <p:cxnSp>
        <p:nvCxnSpPr>
          <p:cNvPr id="15" name="Straight Connector 14">
            <a:extLst>
              <a:ext uri="{FF2B5EF4-FFF2-40B4-BE49-F238E27FC236}">
                <a16:creationId xmlns:a16="http://schemas.microsoft.com/office/drawing/2014/main" id="{E68DCEDB-E716-0F41-9B9C-F63D6340F5FE}"/>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E639B12-F934-A24A-A9B8-93C632F5A1D8}"/>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80575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BA1056-19FF-48BC-9CC7-3D40BDA50429}"/>
              </a:ext>
            </a:extLst>
          </p:cNvPr>
          <p:cNvSpPr>
            <a:spLocks noGrp="1"/>
          </p:cNvSpPr>
          <p:nvPr>
            <p:ph type="dt" sz="half" idx="10"/>
          </p:nvPr>
        </p:nvSpPr>
        <p:spPr/>
        <p:txBody>
          <a:bodyPr/>
          <a:lstStyle/>
          <a:p>
            <a:fld id="{6700A58B-DD98-43D0-B791-721480A02982}" type="datetime1">
              <a:rPr lang="en-US" smtClean="0"/>
              <a:t>6/2/26</a:t>
            </a:fld>
            <a:endParaRPr lang="en-US"/>
          </a:p>
        </p:txBody>
      </p:sp>
      <p:sp>
        <p:nvSpPr>
          <p:cNvPr id="3" name="Title 2">
            <a:extLst>
              <a:ext uri="{FF2B5EF4-FFF2-40B4-BE49-F238E27FC236}">
                <a16:creationId xmlns:a16="http://schemas.microsoft.com/office/drawing/2014/main" id="{2434F8DF-F554-433A-8EE5-4F16800D1286}"/>
              </a:ext>
            </a:extLst>
          </p:cNvPr>
          <p:cNvSpPr>
            <a:spLocks noGrp="1"/>
          </p:cNvSpPr>
          <p:nvPr>
            <p:ph type="title"/>
          </p:nvPr>
        </p:nvSpPr>
        <p:spPr/>
        <p:txBody>
          <a:bodyPr/>
          <a:lstStyle/>
          <a:p>
            <a:r>
              <a:rPr lang="en-US" dirty="0"/>
              <a:t>Open </a:t>
            </a:r>
            <a:r>
              <a:rPr lang="en-US" dirty="0" err="1"/>
              <a:t>A_text_organization_REVIEW.R</a:t>
            </a:r>
            <a:endParaRPr lang="en-US" dirty="0"/>
          </a:p>
        </p:txBody>
      </p:sp>
      <p:sp>
        <p:nvSpPr>
          <p:cNvPr id="5" name="Footer Placeholder 4">
            <a:extLst>
              <a:ext uri="{FF2B5EF4-FFF2-40B4-BE49-F238E27FC236}">
                <a16:creationId xmlns:a16="http://schemas.microsoft.com/office/drawing/2014/main" id="{5ACE5D42-20B5-4E71-B2A5-D0861AA68DD7}"/>
              </a:ext>
            </a:extLst>
          </p:cNvPr>
          <p:cNvSpPr>
            <a:spLocks noGrp="1"/>
          </p:cNvSpPr>
          <p:nvPr>
            <p:ph type="ftr" sz="quarter" idx="3"/>
          </p:nvPr>
        </p:nvSpPr>
        <p:spPr/>
        <p:txBody>
          <a:bodyPr/>
          <a:lstStyle/>
          <a:p>
            <a:r>
              <a:rPr lang="en-US"/>
              <a:t>Kwartler</a:t>
            </a:r>
            <a:endParaRPr lang="en-US" dirty="0"/>
          </a:p>
        </p:txBody>
      </p:sp>
      <p:sp>
        <p:nvSpPr>
          <p:cNvPr id="4" name="Slide Number Placeholder 3">
            <a:extLst>
              <a:ext uri="{FF2B5EF4-FFF2-40B4-BE49-F238E27FC236}">
                <a16:creationId xmlns:a16="http://schemas.microsoft.com/office/drawing/2014/main" id="{A0D746E4-0630-4728-A9B3-035C2C9630DE}"/>
              </a:ext>
            </a:extLst>
          </p:cNvPr>
          <p:cNvSpPr>
            <a:spLocks noGrp="1"/>
          </p:cNvSpPr>
          <p:nvPr>
            <p:ph type="sldNum" sz="quarter" idx="4"/>
          </p:nvPr>
        </p:nvSpPr>
        <p:spPr/>
        <p:txBody>
          <a:bodyPr/>
          <a:lstStyle/>
          <a:p>
            <a:fld id="{37290FF7-652B-4475-AEAB-8B1A5D23AE09}" type="slidenum">
              <a:rPr lang="en-US" smtClean="0"/>
              <a:t>3</a:t>
            </a:fld>
            <a:endParaRPr lang="en-US"/>
          </a:p>
        </p:txBody>
      </p:sp>
      <p:sp>
        <p:nvSpPr>
          <p:cNvPr id="6" name="Rectangle 5">
            <a:extLst>
              <a:ext uri="{FF2B5EF4-FFF2-40B4-BE49-F238E27FC236}">
                <a16:creationId xmlns:a16="http://schemas.microsoft.com/office/drawing/2014/main" id="{ADE617B1-ABCB-4F13-8496-D34B559E009A}"/>
              </a:ext>
            </a:extLst>
          </p:cNvPr>
          <p:cNvSpPr/>
          <p:nvPr/>
        </p:nvSpPr>
        <p:spPr>
          <a:xfrm>
            <a:off x="179917" y="3133261"/>
            <a:ext cx="8784167" cy="59147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Learning Objective: Review text cleaning, organization and the word frequency matrix.</a:t>
            </a:r>
          </a:p>
        </p:txBody>
      </p:sp>
      <p:cxnSp>
        <p:nvCxnSpPr>
          <p:cNvPr id="7" name="Straight Connector 6">
            <a:extLst>
              <a:ext uri="{FF2B5EF4-FFF2-40B4-BE49-F238E27FC236}">
                <a16:creationId xmlns:a16="http://schemas.microsoft.com/office/drawing/2014/main" id="{207B37BB-F347-7B41-A2AB-4DCECF5E1F5B}"/>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B3A5F92-42FF-2246-8A72-BC1CA952A359}"/>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23068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AF5771-B35D-48F0-A28C-C4C255046893}"/>
              </a:ext>
            </a:extLst>
          </p:cNvPr>
          <p:cNvSpPr>
            <a:spLocks noGrp="1"/>
          </p:cNvSpPr>
          <p:nvPr>
            <p:ph type="dt" sz="half" idx="10"/>
          </p:nvPr>
        </p:nvSpPr>
        <p:spPr/>
        <p:txBody>
          <a:bodyPr/>
          <a:lstStyle/>
          <a:p>
            <a:fld id="{6700A58B-DD98-43D0-B791-721480A02982}" type="datetime1">
              <a:rPr lang="en-US" smtClean="0"/>
              <a:t>6/2/26</a:t>
            </a:fld>
            <a:endParaRPr lang="en-US"/>
          </a:p>
        </p:txBody>
      </p:sp>
      <p:sp>
        <p:nvSpPr>
          <p:cNvPr id="3" name="Title 2">
            <a:extLst>
              <a:ext uri="{FF2B5EF4-FFF2-40B4-BE49-F238E27FC236}">
                <a16:creationId xmlns:a16="http://schemas.microsoft.com/office/drawing/2014/main" id="{50305F6F-3594-4B08-9795-F573A3B350DE}"/>
              </a:ext>
            </a:extLst>
          </p:cNvPr>
          <p:cNvSpPr>
            <a:spLocks noGrp="1"/>
          </p:cNvSpPr>
          <p:nvPr>
            <p:ph type="title"/>
          </p:nvPr>
        </p:nvSpPr>
        <p:spPr/>
        <p:txBody>
          <a:bodyPr/>
          <a:lstStyle/>
          <a:p>
            <a:r>
              <a:rPr lang="en-US" dirty="0"/>
              <a:t>Basic Bar Charts</a:t>
            </a:r>
          </a:p>
        </p:txBody>
      </p:sp>
      <p:sp>
        <p:nvSpPr>
          <p:cNvPr id="5" name="Footer Placeholder 4">
            <a:extLst>
              <a:ext uri="{FF2B5EF4-FFF2-40B4-BE49-F238E27FC236}">
                <a16:creationId xmlns:a16="http://schemas.microsoft.com/office/drawing/2014/main" id="{F6CFD30B-27DE-41D3-A458-E7DAF56D700D}"/>
              </a:ext>
            </a:extLst>
          </p:cNvPr>
          <p:cNvSpPr>
            <a:spLocks noGrp="1"/>
          </p:cNvSpPr>
          <p:nvPr>
            <p:ph type="ftr" sz="quarter" idx="3"/>
          </p:nvPr>
        </p:nvSpPr>
        <p:spPr/>
        <p:txBody>
          <a:bodyPr/>
          <a:lstStyle/>
          <a:p>
            <a:r>
              <a:rPr lang="en-US"/>
              <a:t>Kwartler</a:t>
            </a:r>
            <a:endParaRPr lang="en-US" dirty="0"/>
          </a:p>
        </p:txBody>
      </p:sp>
      <p:sp>
        <p:nvSpPr>
          <p:cNvPr id="4" name="Slide Number Placeholder 3">
            <a:extLst>
              <a:ext uri="{FF2B5EF4-FFF2-40B4-BE49-F238E27FC236}">
                <a16:creationId xmlns:a16="http://schemas.microsoft.com/office/drawing/2014/main" id="{5273F46B-C5EC-4EE1-A910-C4D3B2512ED8}"/>
              </a:ext>
            </a:extLst>
          </p:cNvPr>
          <p:cNvSpPr>
            <a:spLocks noGrp="1"/>
          </p:cNvSpPr>
          <p:nvPr>
            <p:ph type="sldNum" sz="quarter" idx="4"/>
          </p:nvPr>
        </p:nvSpPr>
        <p:spPr/>
        <p:txBody>
          <a:bodyPr/>
          <a:lstStyle/>
          <a:p>
            <a:fld id="{37290FF7-652B-4475-AEAB-8B1A5D23AE09}" type="slidenum">
              <a:rPr lang="en-US" smtClean="0"/>
              <a:t>4</a:t>
            </a:fld>
            <a:endParaRPr lang="en-US"/>
          </a:p>
        </p:txBody>
      </p:sp>
      <p:pic>
        <p:nvPicPr>
          <p:cNvPr id="2050" name="Picture 2">
            <a:extLst>
              <a:ext uri="{FF2B5EF4-FFF2-40B4-BE49-F238E27FC236}">
                <a16:creationId xmlns:a16="http://schemas.microsoft.com/office/drawing/2014/main" id="{236558CE-E1C9-4FC3-B1BA-AEE7B52A01D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2000" y="2121032"/>
            <a:ext cx="4257675" cy="2632958"/>
          </a:xfrm>
          <a:prstGeom prst="rect">
            <a:avLst/>
          </a:prstGeom>
          <a:noFill/>
          <a:extLst>
            <a:ext uri="{909E8E84-426E-40DD-AFC4-6F175D3DCCD1}">
              <a14:hiddenFill xmlns:a14="http://schemas.microsoft.com/office/drawing/2010/main">
                <a:solidFill>
                  <a:srgbClr val="FFFFFF"/>
                </a:solidFill>
              </a14:hiddenFill>
            </a:ext>
          </a:extLst>
        </p:spPr>
      </p:pic>
      <p:sp>
        <p:nvSpPr>
          <p:cNvPr id="7" name="Isosceles Triangle 6">
            <a:extLst>
              <a:ext uri="{FF2B5EF4-FFF2-40B4-BE49-F238E27FC236}">
                <a16:creationId xmlns:a16="http://schemas.microsoft.com/office/drawing/2014/main" id="{7693E49B-DFB8-4430-AE8B-129A5819C4E0}"/>
              </a:ext>
            </a:extLst>
          </p:cNvPr>
          <p:cNvSpPr/>
          <p:nvPr/>
        </p:nvSpPr>
        <p:spPr>
          <a:xfrm rot="5400000">
            <a:off x="3130800" y="3236273"/>
            <a:ext cx="1339350" cy="402476"/>
          </a:xfrm>
          <a:prstGeom prst="triangle">
            <a:avLst/>
          </a:prstGeom>
          <a:solidFill>
            <a:schemeClr val="accent5"/>
          </a:solidFill>
          <a:ln>
            <a:solidFill>
              <a:schemeClr val="accent5"/>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kern="1200" dirty="0">
              <a:solidFill>
                <a:prstClr val="white"/>
              </a:solidFill>
              <a:latin typeface="Arial Unicode MS" panose="020B0604020202020204" pitchFamily="34" charset="-128"/>
            </a:endParaRPr>
          </a:p>
        </p:txBody>
      </p:sp>
      <p:graphicFrame>
        <p:nvGraphicFramePr>
          <p:cNvPr id="8" name="Table 7">
            <a:extLst>
              <a:ext uri="{FF2B5EF4-FFF2-40B4-BE49-F238E27FC236}">
                <a16:creationId xmlns:a16="http://schemas.microsoft.com/office/drawing/2014/main" id="{46885211-A7A4-4ACC-A3CE-396B10F4E163}"/>
              </a:ext>
            </a:extLst>
          </p:cNvPr>
          <p:cNvGraphicFramePr>
            <a:graphicFrameLocks noGrp="1"/>
          </p:cNvGraphicFramePr>
          <p:nvPr>
            <p:extLst>
              <p:ext uri="{D42A27DB-BD31-4B8C-83A1-F6EECF244321}">
                <p14:modId xmlns:p14="http://schemas.microsoft.com/office/powerpoint/2010/main" val="1418804876"/>
              </p:ext>
            </p:extLst>
          </p:nvPr>
        </p:nvGraphicFramePr>
        <p:xfrm>
          <a:off x="971867" y="2558964"/>
          <a:ext cx="2057083" cy="2225040"/>
        </p:xfrm>
        <a:graphic>
          <a:graphicData uri="http://schemas.openxmlformats.org/drawingml/2006/table">
            <a:tbl>
              <a:tblPr firstRow="1" bandRow="1">
                <a:tableStyleId>{5C22544A-7EE6-4342-B048-85BDC9FD1C3A}</a:tableStyleId>
              </a:tblPr>
              <a:tblGrid>
                <a:gridCol w="1142720">
                  <a:extLst>
                    <a:ext uri="{9D8B030D-6E8A-4147-A177-3AD203B41FA5}">
                      <a16:colId xmlns:a16="http://schemas.microsoft.com/office/drawing/2014/main" val="20000"/>
                    </a:ext>
                  </a:extLst>
                </a:gridCol>
                <a:gridCol w="914363">
                  <a:extLst>
                    <a:ext uri="{9D8B030D-6E8A-4147-A177-3AD203B41FA5}">
                      <a16:colId xmlns:a16="http://schemas.microsoft.com/office/drawing/2014/main" val="20001"/>
                    </a:ext>
                  </a:extLst>
                </a:gridCol>
              </a:tblGrid>
              <a:tr h="370840">
                <a:tc>
                  <a:txBody>
                    <a:bodyPr/>
                    <a:lstStyle/>
                    <a:p>
                      <a:r>
                        <a:rPr lang="en-US" dirty="0">
                          <a:latin typeface="Arial Unicode MS" panose="020B0604020202020204" pitchFamily="34" charset="-128"/>
                        </a:rPr>
                        <a:t>word</a:t>
                      </a:r>
                    </a:p>
                  </a:txBody>
                  <a:tcPr/>
                </a:tc>
                <a:tc>
                  <a:txBody>
                    <a:bodyPr/>
                    <a:lstStyle/>
                    <a:p>
                      <a:r>
                        <a:rPr lang="en-US" dirty="0" err="1">
                          <a:latin typeface="Arial Unicode MS" panose="020B0604020202020204" pitchFamily="34" charset="-128"/>
                        </a:rPr>
                        <a:t>freq</a:t>
                      </a:r>
                      <a:endParaRPr lang="en-US" dirty="0">
                        <a:latin typeface="Arial Unicode MS" panose="020B0604020202020204" pitchFamily="34" charset="-128"/>
                      </a:endParaRPr>
                    </a:p>
                  </a:txBody>
                  <a:tcPr/>
                </a:tc>
                <a:extLst>
                  <a:ext uri="{0D108BD9-81ED-4DB2-BD59-A6C34878D82A}">
                    <a16:rowId xmlns:a16="http://schemas.microsoft.com/office/drawing/2014/main" val="10000"/>
                  </a:ext>
                </a:extLst>
              </a:tr>
              <a:tr h="370840">
                <a:tc>
                  <a:txBody>
                    <a:bodyPr/>
                    <a:lstStyle/>
                    <a:p>
                      <a:r>
                        <a:rPr lang="en-US" dirty="0">
                          <a:latin typeface="Arial Unicode MS" panose="020B0604020202020204" pitchFamily="34" charset="-128"/>
                        </a:rPr>
                        <a:t>Term1</a:t>
                      </a:r>
                    </a:p>
                  </a:txBody>
                  <a:tcPr/>
                </a:tc>
                <a:tc>
                  <a:txBody>
                    <a:bodyPr/>
                    <a:lstStyle/>
                    <a:p>
                      <a:r>
                        <a:rPr lang="en-US" dirty="0">
                          <a:latin typeface="Arial Unicode MS" panose="020B0604020202020204" pitchFamily="34" charset="-128"/>
                        </a:rPr>
                        <a:t>0</a:t>
                      </a:r>
                    </a:p>
                  </a:txBody>
                  <a:tcPr/>
                </a:tc>
                <a:extLst>
                  <a:ext uri="{0D108BD9-81ED-4DB2-BD59-A6C34878D82A}">
                    <a16:rowId xmlns:a16="http://schemas.microsoft.com/office/drawing/2014/main" val="10001"/>
                  </a:ext>
                </a:extLst>
              </a:tr>
              <a:tr h="370840">
                <a:tc>
                  <a:txBody>
                    <a:bodyPr/>
                    <a:lstStyle/>
                    <a:p>
                      <a:r>
                        <a:rPr lang="en-US" dirty="0">
                          <a:latin typeface="Arial Unicode MS" panose="020B0604020202020204" pitchFamily="34" charset="-128"/>
                        </a:rPr>
                        <a:t>Term2</a:t>
                      </a:r>
                    </a:p>
                  </a:txBody>
                  <a:tcPr/>
                </a:tc>
                <a:tc>
                  <a:txBody>
                    <a:bodyPr/>
                    <a:lstStyle/>
                    <a:p>
                      <a:r>
                        <a:rPr lang="en-US" dirty="0">
                          <a:latin typeface="Arial Unicode MS" panose="020B0604020202020204" pitchFamily="34" charset="-128"/>
                        </a:rPr>
                        <a:t>2</a:t>
                      </a:r>
                    </a:p>
                  </a:txBody>
                  <a:tcPr/>
                </a:tc>
                <a:extLst>
                  <a:ext uri="{0D108BD9-81ED-4DB2-BD59-A6C34878D82A}">
                    <a16:rowId xmlns:a16="http://schemas.microsoft.com/office/drawing/2014/main" val="10002"/>
                  </a:ext>
                </a:extLst>
              </a:tr>
              <a:tr h="370840">
                <a:tc>
                  <a:txBody>
                    <a:bodyPr/>
                    <a:lstStyle/>
                    <a:p>
                      <a:r>
                        <a:rPr lang="en-US" dirty="0">
                          <a:latin typeface="Arial Unicode MS" panose="020B0604020202020204" pitchFamily="34" charset="-128"/>
                        </a:rPr>
                        <a:t>Term3</a:t>
                      </a:r>
                    </a:p>
                  </a:txBody>
                  <a:tcPr/>
                </a:tc>
                <a:tc>
                  <a:txBody>
                    <a:bodyPr/>
                    <a:lstStyle/>
                    <a:p>
                      <a:r>
                        <a:rPr lang="en-US" dirty="0">
                          <a:latin typeface="Arial Unicode MS" panose="020B0604020202020204" pitchFamily="34" charset="-128"/>
                        </a:rPr>
                        <a:t>3</a:t>
                      </a:r>
                    </a:p>
                  </a:txBody>
                  <a:tcPr/>
                </a:tc>
                <a:extLst>
                  <a:ext uri="{0D108BD9-81ED-4DB2-BD59-A6C34878D82A}">
                    <a16:rowId xmlns:a16="http://schemas.microsoft.com/office/drawing/2014/main" val="10003"/>
                  </a:ext>
                </a:extLst>
              </a:tr>
              <a:tr h="370840">
                <a:tc>
                  <a:txBody>
                    <a:bodyPr/>
                    <a:lstStyle/>
                    <a:p>
                      <a:r>
                        <a:rPr lang="en-US" dirty="0">
                          <a:latin typeface="Arial Unicode MS" panose="020B0604020202020204" pitchFamily="34" charset="-128"/>
                        </a:rPr>
                        <a:t>…</a:t>
                      </a:r>
                    </a:p>
                  </a:txBody>
                  <a:tcPr/>
                </a:tc>
                <a:tc>
                  <a:txBody>
                    <a:bodyPr/>
                    <a:lstStyle/>
                    <a:p>
                      <a:r>
                        <a:rPr lang="en-US" dirty="0">
                          <a:latin typeface="Arial Unicode MS" panose="020B0604020202020204" pitchFamily="34" charset="-128"/>
                        </a:rPr>
                        <a:t>5</a:t>
                      </a:r>
                    </a:p>
                  </a:txBody>
                  <a:tcPr/>
                </a:tc>
                <a:extLst>
                  <a:ext uri="{0D108BD9-81ED-4DB2-BD59-A6C34878D82A}">
                    <a16:rowId xmlns:a16="http://schemas.microsoft.com/office/drawing/2014/main" val="10004"/>
                  </a:ext>
                </a:extLst>
              </a:tr>
              <a:tr h="370840">
                <a:tc>
                  <a:txBody>
                    <a:bodyPr/>
                    <a:lstStyle/>
                    <a:p>
                      <a:r>
                        <a:rPr lang="en-US" dirty="0" err="1">
                          <a:latin typeface="Arial Unicode MS" panose="020B0604020202020204" pitchFamily="34" charset="-128"/>
                        </a:rPr>
                        <a:t>Term_n</a:t>
                      </a:r>
                      <a:endParaRPr lang="en-US" dirty="0">
                        <a:latin typeface="Arial Unicode MS" panose="020B0604020202020204" pitchFamily="34" charset="-128"/>
                      </a:endParaRPr>
                    </a:p>
                  </a:txBody>
                  <a:tcPr/>
                </a:tc>
                <a:tc>
                  <a:txBody>
                    <a:bodyPr/>
                    <a:lstStyle/>
                    <a:p>
                      <a:r>
                        <a:rPr lang="en-US" dirty="0">
                          <a:latin typeface="Arial Unicode MS" panose="020B0604020202020204" pitchFamily="34" charset="-128"/>
                        </a:rPr>
                        <a:t>2</a:t>
                      </a:r>
                    </a:p>
                  </a:txBody>
                  <a:tcPr/>
                </a:tc>
                <a:extLst>
                  <a:ext uri="{0D108BD9-81ED-4DB2-BD59-A6C34878D82A}">
                    <a16:rowId xmlns:a16="http://schemas.microsoft.com/office/drawing/2014/main" val="10005"/>
                  </a:ext>
                </a:extLst>
              </a:tr>
            </a:tbl>
          </a:graphicData>
        </a:graphic>
      </p:graphicFrame>
      <p:sp>
        <p:nvSpPr>
          <p:cNvPr id="9" name="Rectangle 8">
            <a:extLst>
              <a:ext uri="{FF2B5EF4-FFF2-40B4-BE49-F238E27FC236}">
                <a16:creationId xmlns:a16="http://schemas.microsoft.com/office/drawing/2014/main" id="{4A43C334-E1CB-40E7-A933-85F785969827}"/>
              </a:ext>
            </a:extLst>
          </p:cNvPr>
          <p:cNvSpPr/>
          <p:nvPr/>
        </p:nvSpPr>
        <p:spPr>
          <a:xfrm>
            <a:off x="971867" y="2222938"/>
            <a:ext cx="2039347" cy="315310"/>
          </a:xfrm>
          <a:prstGeom prst="rect">
            <a:avLst/>
          </a:prstGeom>
          <a:solidFill>
            <a:schemeClr val="accent3"/>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bg1"/>
                </a:solidFill>
              </a:rPr>
              <a:t>Word Frequency Matrix</a:t>
            </a:r>
          </a:p>
        </p:txBody>
      </p:sp>
      <p:sp>
        <p:nvSpPr>
          <p:cNvPr id="10" name="Rectangle 9">
            <a:extLst>
              <a:ext uri="{FF2B5EF4-FFF2-40B4-BE49-F238E27FC236}">
                <a16:creationId xmlns:a16="http://schemas.microsoft.com/office/drawing/2014/main" id="{DC1615A4-7D78-40B9-8D26-9E13A200687F}"/>
              </a:ext>
            </a:extLst>
          </p:cNvPr>
          <p:cNvSpPr/>
          <p:nvPr/>
        </p:nvSpPr>
        <p:spPr>
          <a:xfrm>
            <a:off x="179917" y="1285465"/>
            <a:ext cx="8784167" cy="25038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Rectangles are representative of frequency of term</a:t>
            </a:r>
          </a:p>
        </p:txBody>
      </p:sp>
      <p:cxnSp>
        <p:nvCxnSpPr>
          <p:cNvPr id="11" name="Straight Connector 10">
            <a:extLst>
              <a:ext uri="{FF2B5EF4-FFF2-40B4-BE49-F238E27FC236}">
                <a16:creationId xmlns:a16="http://schemas.microsoft.com/office/drawing/2014/main" id="{07C19FF0-5A9E-C246-B52E-D9577CE39A33}"/>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550BB3C-E54A-D048-9842-95E681E868EC}"/>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1350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57B443-9142-4AAE-B588-62F14411296C}"/>
              </a:ext>
            </a:extLst>
          </p:cNvPr>
          <p:cNvSpPr>
            <a:spLocks noGrp="1"/>
          </p:cNvSpPr>
          <p:nvPr>
            <p:ph type="dt" sz="half" idx="10"/>
          </p:nvPr>
        </p:nvSpPr>
        <p:spPr/>
        <p:txBody>
          <a:bodyPr/>
          <a:lstStyle/>
          <a:p>
            <a:fld id="{6700A58B-DD98-43D0-B791-721480A02982}" type="datetime1">
              <a:rPr lang="en-US" smtClean="0"/>
              <a:t>6/2/26</a:t>
            </a:fld>
            <a:endParaRPr lang="en-US"/>
          </a:p>
        </p:txBody>
      </p:sp>
      <p:sp>
        <p:nvSpPr>
          <p:cNvPr id="3" name="Title 2">
            <a:extLst>
              <a:ext uri="{FF2B5EF4-FFF2-40B4-BE49-F238E27FC236}">
                <a16:creationId xmlns:a16="http://schemas.microsoft.com/office/drawing/2014/main" id="{9B10CCF3-C862-49D6-924F-A681713256E9}"/>
              </a:ext>
            </a:extLst>
          </p:cNvPr>
          <p:cNvSpPr>
            <a:spLocks noGrp="1"/>
          </p:cNvSpPr>
          <p:nvPr>
            <p:ph type="title"/>
          </p:nvPr>
        </p:nvSpPr>
        <p:spPr/>
        <p:txBody>
          <a:bodyPr/>
          <a:lstStyle/>
          <a:p>
            <a:r>
              <a:rPr lang="en-US" dirty="0"/>
              <a:t>Side by Side Charts</a:t>
            </a:r>
          </a:p>
        </p:txBody>
      </p:sp>
      <p:sp>
        <p:nvSpPr>
          <p:cNvPr id="5" name="Footer Placeholder 4">
            <a:extLst>
              <a:ext uri="{FF2B5EF4-FFF2-40B4-BE49-F238E27FC236}">
                <a16:creationId xmlns:a16="http://schemas.microsoft.com/office/drawing/2014/main" id="{425EE7B4-1BDD-443B-AACB-4CD383F9A9C5}"/>
              </a:ext>
            </a:extLst>
          </p:cNvPr>
          <p:cNvSpPr>
            <a:spLocks noGrp="1"/>
          </p:cNvSpPr>
          <p:nvPr>
            <p:ph type="ftr" sz="quarter" idx="3"/>
          </p:nvPr>
        </p:nvSpPr>
        <p:spPr/>
        <p:txBody>
          <a:bodyPr/>
          <a:lstStyle/>
          <a:p>
            <a:r>
              <a:rPr lang="en-US"/>
              <a:t>Kwartler</a:t>
            </a:r>
            <a:endParaRPr lang="en-US" dirty="0"/>
          </a:p>
        </p:txBody>
      </p:sp>
      <p:sp>
        <p:nvSpPr>
          <p:cNvPr id="4" name="Slide Number Placeholder 3">
            <a:extLst>
              <a:ext uri="{FF2B5EF4-FFF2-40B4-BE49-F238E27FC236}">
                <a16:creationId xmlns:a16="http://schemas.microsoft.com/office/drawing/2014/main" id="{E64A4C85-9C36-4C31-98DD-184F2BE82630}"/>
              </a:ext>
            </a:extLst>
          </p:cNvPr>
          <p:cNvSpPr>
            <a:spLocks noGrp="1"/>
          </p:cNvSpPr>
          <p:nvPr>
            <p:ph type="sldNum" sz="quarter" idx="4"/>
          </p:nvPr>
        </p:nvSpPr>
        <p:spPr/>
        <p:txBody>
          <a:bodyPr/>
          <a:lstStyle/>
          <a:p>
            <a:fld id="{37290FF7-652B-4475-AEAB-8B1A5D23AE09}" type="slidenum">
              <a:rPr lang="en-US" smtClean="0"/>
              <a:t>5</a:t>
            </a:fld>
            <a:endParaRPr lang="en-US"/>
          </a:p>
        </p:txBody>
      </p:sp>
      <p:sp>
        <p:nvSpPr>
          <p:cNvPr id="6" name="Rectangle 5">
            <a:extLst>
              <a:ext uri="{FF2B5EF4-FFF2-40B4-BE49-F238E27FC236}">
                <a16:creationId xmlns:a16="http://schemas.microsoft.com/office/drawing/2014/main" id="{6A1AB944-CD57-4BCD-8927-ADAFAA8C82F2}"/>
              </a:ext>
            </a:extLst>
          </p:cNvPr>
          <p:cNvSpPr/>
          <p:nvPr/>
        </p:nvSpPr>
        <p:spPr>
          <a:xfrm>
            <a:off x="179917" y="1191336"/>
            <a:ext cx="8784167" cy="25038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Compare in common words frequency between two groups i.e. speeches of different political parties </a:t>
            </a:r>
          </a:p>
        </p:txBody>
      </p:sp>
      <p:pic>
        <p:nvPicPr>
          <p:cNvPr id="1026" name="Picture 2" descr="enter image description he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501611"/>
            <a:ext cx="6553200" cy="4067176"/>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11817D92-A472-A948-8D93-083D69AC0A8F}"/>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9439165-2954-AF4B-8729-CE57A94DBEA3}"/>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39431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F8B3E3-365C-48CC-ACC2-5A49D428A726}"/>
              </a:ext>
            </a:extLst>
          </p:cNvPr>
          <p:cNvSpPr>
            <a:spLocks noGrp="1"/>
          </p:cNvSpPr>
          <p:nvPr>
            <p:ph type="dt" sz="half" idx="10"/>
          </p:nvPr>
        </p:nvSpPr>
        <p:spPr/>
        <p:txBody>
          <a:bodyPr/>
          <a:lstStyle/>
          <a:p>
            <a:fld id="{6700A58B-DD98-43D0-B791-721480A02982}" type="datetime1">
              <a:rPr lang="en-US" smtClean="0"/>
              <a:t>6/2/26</a:t>
            </a:fld>
            <a:endParaRPr lang="en-US"/>
          </a:p>
        </p:txBody>
      </p:sp>
      <p:sp>
        <p:nvSpPr>
          <p:cNvPr id="3" name="Title 2">
            <a:extLst>
              <a:ext uri="{FF2B5EF4-FFF2-40B4-BE49-F238E27FC236}">
                <a16:creationId xmlns:a16="http://schemas.microsoft.com/office/drawing/2014/main" id="{41198A7C-9056-41AA-81EE-0A923F1F978C}"/>
              </a:ext>
            </a:extLst>
          </p:cNvPr>
          <p:cNvSpPr>
            <a:spLocks noGrp="1"/>
          </p:cNvSpPr>
          <p:nvPr>
            <p:ph type="title"/>
          </p:nvPr>
        </p:nvSpPr>
        <p:spPr/>
        <p:txBody>
          <a:bodyPr/>
          <a:lstStyle/>
          <a:p>
            <a:r>
              <a:rPr lang="en-US" dirty="0"/>
              <a:t>Stacked Bar Charts</a:t>
            </a:r>
          </a:p>
        </p:txBody>
      </p:sp>
      <p:sp>
        <p:nvSpPr>
          <p:cNvPr id="5" name="Footer Placeholder 4">
            <a:extLst>
              <a:ext uri="{FF2B5EF4-FFF2-40B4-BE49-F238E27FC236}">
                <a16:creationId xmlns:a16="http://schemas.microsoft.com/office/drawing/2014/main" id="{B43115E9-36AC-4130-B5E5-0233B14BC6C8}"/>
              </a:ext>
            </a:extLst>
          </p:cNvPr>
          <p:cNvSpPr>
            <a:spLocks noGrp="1"/>
          </p:cNvSpPr>
          <p:nvPr>
            <p:ph type="ftr" sz="quarter" idx="3"/>
          </p:nvPr>
        </p:nvSpPr>
        <p:spPr/>
        <p:txBody>
          <a:bodyPr/>
          <a:lstStyle/>
          <a:p>
            <a:r>
              <a:rPr lang="en-US"/>
              <a:t>Kwartler</a:t>
            </a:r>
            <a:endParaRPr lang="en-US" dirty="0"/>
          </a:p>
        </p:txBody>
      </p:sp>
      <p:sp>
        <p:nvSpPr>
          <p:cNvPr id="4" name="Slide Number Placeholder 3">
            <a:extLst>
              <a:ext uri="{FF2B5EF4-FFF2-40B4-BE49-F238E27FC236}">
                <a16:creationId xmlns:a16="http://schemas.microsoft.com/office/drawing/2014/main" id="{656858DC-289D-4205-97DF-6D198382ADA5}"/>
              </a:ext>
            </a:extLst>
          </p:cNvPr>
          <p:cNvSpPr>
            <a:spLocks noGrp="1"/>
          </p:cNvSpPr>
          <p:nvPr>
            <p:ph type="sldNum" sz="quarter" idx="4"/>
          </p:nvPr>
        </p:nvSpPr>
        <p:spPr/>
        <p:txBody>
          <a:bodyPr/>
          <a:lstStyle/>
          <a:p>
            <a:fld id="{37290FF7-652B-4475-AEAB-8B1A5D23AE09}" type="slidenum">
              <a:rPr lang="en-US" smtClean="0"/>
              <a:t>6</a:t>
            </a:fld>
            <a:endParaRPr lang="en-US"/>
          </a:p>
        </p:txBody>
      </p:sp>
      <p:sp>
        <p:nvSpPr>
          <p:cNvPr id="6" name="Rectangle 5">
            <a:extLst>
              <a:ext uri="{FF2B5EF4-FFF2-40B4-BE49-F238E27FC236}">
                <a16:creationId xmlns:a16="http://schemas.microsoft.com/office/drawing/2014/main" id="{42B0F298-4595-4EDA-9FF2-6C47C2C2404E}"/>
              </a:ext>
            </a:extLst>
          </p:cNvPr>
          <p:cNvSpPr/>
          <p:nvPr/>
        </p:nvSpPr>
        <p:spPr>
          <a:xfrm>
            <a:off x="179917" y="1204782"/>
            <a:ext cx="8784167" cy="25038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Stacked bar charts lets you compare </a:t>
            </a:r>
            <a:r>
              <a:rPr lang="en-US" i="1" dirty="0"/>
              <a:t>proportion</a:t>
            </a:r>
            <a:r>
              <a:rPr lang="en-US" dirty="0"/>
              <a:t> </a:t>
            </a:r>
            <a:r>
              <a:rPr lang="en-US" b="1" u="sng" dirty="0"/>
              <a:t>within</a:t>
            </a:r>
            <a:r>
              <a:rPr lang="en-US" dirty="0"/>
              <a:t> a category</a:t>
            </a:r>
          </a:p>
        </p:txBody>
      </p:sp>
      <p:pic>
        <p:nvPicPr>
          <p:cNvPr id="2050" name="Picture 2" descr="Image result for ggplot2 stacked bar cha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3261" y="1502445"/>
            <a:ext cx="5137478" cy="385311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B5FC64E2-489A-1A4D-B729-F784EF036696}"/>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32F8717-1090-964F-849F-43EFFFECCBB9}"/>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10E6FCBD-551E-58FB-E851-4C6E60DA200A}"/>
              </a:ext>
            </a:extLst>
          </p:cNvPr>
          <p:cNvSpPr/>
          <p:nvPr/>
        </p:nvSpPr>
        <p:spPr>
          <a:xfrm>
            <a:off x="179917" y="5712182"/>
            <a:ext cx="8784167" cy="644155"/>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If you have a category of documents and a word list you can measure the density of terms from the list within the document groups.</a:t>
            </a:r>
          </a:p>
        </p:txBody>
      </p:sp>
    </p:spTree>
    <p:extLst>
      <p:ext uri="{BB962C8B-B14F-4D97-AF65-F5344CB8AC3E}">
        <p14:creationId xmlns:p14="http://schemas.microsoft.com/office/powerpoint/2010/main" val="2315779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6/2/26</a:t>
            </a:fld>
            <a:endParaRPr lang="en-US"/>
          </a:p>
        </p:txBody>
      </p:sp>
      <p:sp>
        <p:nvSpPr>
          <p:cNvPr id="3" name="Title 2"/>
          <p:cNvSpPr>
            <a:spLocks noGrp="1"/>
          </p:cNvSpPr>
          <p:nvPr>
            <p:ph type="title"/>
          </p:nvPr>
        </p:nvSpPr>
        <p:spPr/>
        <p:txBody>
          <a:bodyPr/>
          <a:lstStyle/>
          <a:p>
            <a:r>
              <a:rPr lang="en-US" dirty="0"/>
              <a:t>Proportional Stacked Bar Charts</a:t>
            </a:r>
          </a:p>
        </p:txBody>
      </p:sp>
      <p:sp>
        <p:nvSpPr>
          <p:cNvPr id="4" name="Footer Placeholder 3"/>
          <p:cNvSpPr>
            <a:spLocks noGrp="1"/>
          </p:cNvSpPr>
          <p:nvPr>
            <p:ph type="ftr" sz="quarter" idx="3"/>
          </p:nvPr>
        </p:nvSpPr>
        <p:spPr/>
        <p:txBody>
          <a:bodyPr/>
          <a:lstStyle/>
          <a:p>
            <a:r>
              <a:rPr lang="en-US"/>
              <a:t>Kwartler</a:t>
            </a:r>
            <a:endParaRPr lang="en-US" dirty="0"/>
          </a:p>
        </p:txBody>
      </p:sp>
      <p:sp>
        <p:nvSpPr>
          <p:cNvPr id="5" name="Slide Number Placeholder 4"/>
          <p:cNvSpPr>
            <a:spLocks noGrp="1"/>
          </p:cNvSpPr>
          <p:nvPr>
            <p:ph type="sldNum" sz="quarter" idx="4"/>
          </p:nvPr>
        </p:nvSpPr>
        <p:spPr/>
        <p:txBody>
          <a:bodyPr/>
          <a:lstStyle/>
          <a:p>
            <a:fld id="{37290FF7-652B-4475-AEAB-8B1A5D23AE09}" type="slidenum">
              <a:rPr lang="en-US" smtClean="0"/>
              <a:pPr/>
              <a:t>7</a:t>
            </a:fld>
            <a:endParaRPr lang="en-US" dirty="0"/>
          </a:p>
        </p:txBody>
      </p:sp>
      <p:pic>
        <p:nvPicPr>
          <p:cNvPr id="3074" name="Picture 2" descr="Image result for ggplot2 stacked bar cha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73671" y="1430392"/>
            <a:ext cx="4796659" cy="3997216"/>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a:extLst>
              <a:ext uri="{FF2B5EF4-FFF2-40B4-BE49-F238E27FC236}">
                <a16:creationId xmlns:a16="http://schemas.microsoft.com/office/drawing/2014/main" id="{353356AD-85E2-DC4C-A145-393616D59213}"/>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50FD732-7C89-054B-BBAD-86C738CAB797}"/>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D1CC170-238C-6E59-83A9-9FB6885D22BB}"/>
              </a:ext>
            </a:extLst>
          </p:cNvPr>
          <p:cNvSpPr/>
          <p:nvPr/>
        </p:nvSpPr>
        <p:spPr>
          <a:xfrm>
            <a:off x="179916" y="5593507"/>
            <a:ext cx="8784167" cy="679894"/>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Sometimes you have different length documents so a simple frequency wouldn’t work.  Thus the density can be shown as a proportion.</a:t>
            </a:r>
            <a:endParaRPr lang="en-US" i="1" dirty="0"/>
          </a:p>
        </p:txBody>
      </p:sp>
    </p:spTree>
    <p:extLst>
      <p:ext uri="{BB962C8B-B14F-4D97-AF65-F5344CB8AC3E}">
        <p14:creationId xmlns:p14="http://schemas.microsoft.com/office/powerpoint/2010/main" val="1830454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CAEBDC-A022-42FC-8B92-BDD83F961C50}"/>
              </a:ext>
            </a:extLst>
          </p:cNvPr>
          <p:cNvSpPr>
            <a:spLocks noGrp="1"/>
          </p:cNvSpPr>
          <p:nvPr>
            <p:ph type="dt" sz="half" idx="10"/>
          </p:nvPr>
        </p:nvSpPr>
        <p:spPr/>
        <p:txBody>
          <a:bodyPr/>
          <a:lstStyle/>
          <a:p>
            <a:fld id="{6700A58B-DD98-43D0-B791-721480A02982}" type="datetime1">
              <a:rPr lang="en-US" smtClean="0"/>
              <a:t>6/2/26</a:t>
            </a:fld>
            <a:endParaRPr lang="en-US"/>
          </a:p>
        </p:txBody>
      </p:sp>
      <p:sp>
        <p:nvSpPr>
          <p:cNvPr id="3" name="Title 2">
            <a:extLst>
              <a:ext uri="{FF2B5EF4-FFF2-40B4-BE49-F238E27FC236}">
                <a16:creationId xmlns:a16="http://schemas.microsoft.com/office/drawing/2014/main" id="{37B78173-5947-4F35-9667-F563D71FF454}"/>
              </a:ext>
            </a:extLst>
          </p:cNvPr>
          <p:cNvSpPr>
            <a:spLocks noGrp="1"/>
          </p:cNvSpPr>
          <p:nvPr>
            <p:ph type="title"/>
          </p:nvPr>
        </p:nvSpPr>
        <p:spPr>
          <a:xfrm>
            <a:off x="102869" y="365126"/>
            <a:ext cx="8789335" cy="591477"/>
          </a:xfrm>
        </p:spPr>
        <p:txBody>
          <a:bodyPr/>
          <a:lstStyle/>
          <a:p>
            <a:r>
              <a:rPr lang="en-US" sz="2800" dirty="0"/>
              <a:t>Overall, what frequency distribution should we expect?</a:t>
            </a:r>
          </a:p>
        </p:txBody>
      </p:sp>
      <p:sp>
        <p:nvSpPr>
          <p:cNvPr id="14" name="Footer Placeholder 5">
            <a:extLst>
              <a:ext uri="{FF2B5EF4-FFF2-40B4-BE49-F238E27FC236}">
                <a16:creationId xmlns:a16="http://schemas.microsoft.com/office/drawing/2014/main" id="{545F3542-284F-40CB-AA56-2D2C37D0AC7A}"/>
              </a:ext>
            </a:extLst>
          </p:cNvPr>
          <p:cNvSpPr>
            <a:spLocks noGrp="1"/>
          </p:cNvSpPr>
          <p:nvPr>
            <p:ph type="ftr" sz="quarter" idx="3"/>
          </p:nvPr>
        </p:nvSpPr>
        <p:spPr/>
        <p:txBody>
          <a:bodyPr/>
          <a:lstStyle/>
          <a:p>
            <a:r>
              <a:rPr lang="en-US" dirty="0"/>
              <a:t>Kwartler</a:t>
            </a:r>
          </a:p>
        </p:txBody>
      </p:sp>
      <p:sp>
        <p:nvSpPr>
          <p:cNvPr id="4" name="Slide Number Placeholder 3">
            <a:extLst>
              <a:ext uri="{FF2B5EF4-FFF2-40B4-BE49-F238E27FC236}">
                <a16:creationId xmlns:a16="http://schemas.microsoft.com/office/drawing/2014/main" id="{A93F5FA2-CF1A-47D7-B82C-0D8B23383AC1}"/>
              </a:ext>
            </a:extLst>
          </p:cNvPr>
          <p:cNvSpPr>
            <a:spLocks noGrp="1"/>
          </p:cNvSpPr>
          <p:nvPr>
            <p:ph type="sldNum" sz="quarter" idx="4"/>
          </p:nvPr>
        </p:nvSpPr>
        <p:spPr/>
        <p:txBody>
          <a:bodyPr/>
          <a:lstStyle/>
          <a:p>
            <a:fld id="{37290FF7-652B-4475-AEAB-8B1A5D23AE09}" type="slidenum">
              <a:rPr lang="en-US" smtClean="0"/>
              <a:t>8</a:t>
            </a:fld>
            <a:endParaRPr lang="en-US"/>
          </a:p>
        </p:txBody>
      </p:sp>
      <p:sp>
        <p:nvSpPr>
          <p:cNvPr id="9" name="Rectangle 8">
            <a:extLst>
              <a:ext uri="{FF2B5EF4-FFF2-40B4-BE49-F238E27FC236}">
                <a16:creationId xmlns:a16="http://schemas.microsoft.com/office/drawing/2014/main" id="{0333D30C-20D1-44FC-B08B-ACA17FBC705D}"/>
              </a:ext>
            </a:extLst>
          </p:cNvPr>
          <p:cNvSpPr/>
          <p:nvPr/>
        </p:nvSpPr>
        <p:spPr>
          <a:xfrm>
            <a:off x="0" y="1062757"/>
            <a:ext cx="8651575" cy="31208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dirty="0">
                <a:solidFill>
                  <a:schemeClr val="bg1"/>
                </a:solidFill>
              </a:rPr>
              <a:t>Many words in natural language but also a steep decline in actual usage.  Follows a predictable pattern.  </a:t>
            </a:r>
          </a:p>
        </p:txBody>
      </p:sp>
      <p:graphicFrame>
        <p:nvGraphicFramePr>
          <p:cNvPr id="15" name="Chart 14">
            <a:extLst>
              <a:ext uri="{FF2B5EF4-FFF2-40B4-BE49-F238E27FC236}">
                <a16:creationId xmlns:a16="http://schemas.microsoft.com/office/drawing/2014/main" id="{46136ABA-20CD-447A-86B8-098953EDEA13}"/>
              </a:ext>
            </a:extLst>
          </p:cNvPr>
          <p:cNvGraphicFramePr>
            <a:graphicFrameLocks/>
          </p:cNvGraphicFramePr>
          <p:nvPr>
            <p:extLst>
              <p:ext uri="{D42A27DB-BD31-4B8C-83A1-F6EECF244321}">
                <p14:modId xmlns:p14="http://schemas.microsoft.com/office/powerpoint/2010/main" val="3216790837"/>
              </p:ext>
            </p:extLst>
          </p:nvPr>
        </p:nvGraphicFramePr>
        <p:xfrm>
          <a:off x="284194" y="1231643"/>
          <a:ext cx="8608011" cy="4119289"/>
        </p:xfrm>
        <a:graphic>
          <a:graphicData uri="http://schemas.openxmlformats.org/drawingml/2006/chart">
            <c:chart xmlns:c="http://schemas.openxmlformats.org/drawingml/2006/chart" xmlns:r="http://schemas.openxmlformats.org/officeDocument/2006/relationships" r:id="rId2"/>
          </a:graphicData>
        </a:graphic>
      </p:graphicFrame>
      <p:pic>
        <p:nvPicPr>
          <p:cNvPr id="3074" name="Picture 2" descr="Image result for super bowl 50">
            <a:extLst>
              <a:ext uri="{FF2B5EF4-FFF2-40B4-BE49-F238E27FC236}">
                <a16:creationId xmlns:a16="http://schemas.microsoft.com/office/drawing/2014/main" id="{B3B529D3-42E8-4F1B-B80F-271ECB39D54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49734" y="2301066"/>
            <a:ext cx="2326078" cy="1308419"/>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7EA8E469-61AB-9343-9488-4A8E14C75B74}"/>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D50CC66-2711-A04F-A974-11F964686EBA}"/>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72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416430C-E508-4238-883B-1D404A3AA942}"/>
              </a:ext>
            </a:extLst>
          </p:cNvPr>
          <p:cNvSpPr>
            <a:spLocks noGrp="1"/>
          </p:cNvSpPr>
          <p:nvPr>
            <p:ph type="dt" sz="half" idx="10"/>
          </p:nvPr>
        </p:nvSpPr>
        <p:spPr/>
        <p:txBody>
          <a:bodyPr/>
          <a:lstStyle/>
          <a:p>
            <a:fld id="{6700A58B-DD98-43D0-B791-721480A02982}" type="datetime1">
              <a:rPr lang="en-US" smtClean="0"/>
              <a:t>6/2/26</a:t>
            </a:fld>
            <a:endParaRPr lang="en-US"/>
          </a:p>
        </p:txBody>
      </p:sp>
      <p:sp>
        <p:nvSpPr>
          <p:cNvPr id="3" name="Title 2">
            <a:extLst>
              <a:ext uri="{FF2B5EF4-FFF2-40B4-BE49-F238E27FC236}">
                <a16:creationId xmlns:a16="http://schemas.microsoft.com/office/drawing/2014/main" id="{ECC61181-812B-460C-9982-78B0E319CADD}"/>
              </a:ext>
            </a:extLst>
          </p:cNvPr>
          <p:cNvSpPr>
            <a:spLocks noGrp="1"/>
          </p:cNvSpPr>
          <p:nvPr>
            <p:ph type="title"/>
          </p:nvPr>
        </p:nvSpPr>
        <p:spPr/>
        <p:txBody>
          <a:bodyPr/>
          <a:lstStyle/>
          <a:p>
            <a:r>
              <a:rPr lang="en-US" dirty="0"/>
              <a:t>Top 100 terms</a:t>
            </a:r>
          </a:p>
        </p:txBody>
      </p:sp>
      <p:sp>
        <p:nvSpPr>
          <p:cNvPr id="5" name="Footer Placeholder 4">
            <a:extLst>
              <a:ext uri="{FF2B5EF4-FFF2-40B4-BE49-F238E27FC236}">
                <a16:creationId xmlns:a16="http://schemas.microsoft.com/office/drawing/2014/main" id="{AE6557E7-740F-4E78-9E5A-BC2F6699C38D}"/>
              </a:ext>
            </a:extLst>
          </p:cNvPr>
          <p:cNvSpPr>
            <a:spLocks noGrp="1"/>
          </p:cNvSpPr>
          <p:nvPr>
            <p:ph type="ftr" sz="quarter" idx="3"/>
          </p:nvPr>
        </p:nvSpPr>
        <p:spPr/>
        <p:txBody>
          <a:bodyPr/>
          <a:lstStyle/>
          <a:p>
            <a:r>
              <a:rPr lang="en-US"/>
              <a:t>Kwartler</a:t>
            </a:r>
            <a:endParaRPr lang="en-US" dirty="0"/>
          </a:p>
        </p:txBody>
      </p:sp>
      <p:sp>
        <p:nvSpPr>
          <p:cNvPr id="4" name="Slide Number Placeholder 3">
            <a:extLst>
              <a:ext uri="{FF2B5EF4-FFF2-40B4-BE49-F238E27FC236}">
                <a16:creationId xmlns:a16="http://schemas.microsoft.com/office/drawing/2014/main" id="{73D6AB63-6B8D-4C52-88BF-3ED38FA26903}"/>
              </a:ext>
            </a:extLst>
          </p:cNvPr>
          <p:cNvSpPr>
            <a:spLocks noGrp="1"/>
          </p:cNvSpPr>
          <p:nvPr>
            <p:ph type="sldNum" sz="quarter" idx="4"/>
          </p:nvPr>
        </p:nvSpPr>
        <p:spPr/>
        <p:txBody>
          <a:bodyPr/>
          <a:lstStyle/>
          <a:p>
            <a:fld id="{37290FF7-652B-4475-AEAB-8B1A5D23AE09}" type="slidenum">
              <a:rPr lang="en-US" smtClean="0"/>
              <a:t>9</a:t>
            </a:fld>
            <a:endParaRPr lang="en-US"/>
          </a:p>
        </p:txBody>
      </p:sp>
      <p:graphicFrame>
        <p:nvGraphicFramePr>
          <p:cNvPr id="6" name="Chart 5">
            <a:extLst>
              <a:ext uri="{FF2B5EF4-FFF2-40B4-BE49-F238E27FC236}">
                <a16:creationId xmlns:a16="http://schemas.microsoft.com/office/drawing/2014/main" id="{8CF6CE9C-A57B-4745-A109-34703F38C5D0}"/>
              </a:ext>
            </a:extLst>
          </p:cNvPr>
          <p:cNvGraphicFramePr>
            <a:graphicFrameLocks/>
          </p:cNvGraphicFramePr>
          <p:nvPr>
            <p:extLst>
              <p:ext uri="{D42A27DB-BD31-4B8C-83A1-F6EECF244321}">
                <p14:modId xmlns:p14="http://schemas.microsoft.com/office/powerpoint/2010/main" val="2891329876"/>
              </p:ext>
            </p:extLst>
          </p:nvPr>
        </p:nvGraphicFramePr>
        <p:xfrm>
          <a:off x="840940" y="1111050"/>
          <a:ext cx="7462121" cy="3514738"/>
        </p:xfrm>
        <a:graphic>
          <a:graphicData uri="http://schemas.openxmlformats.org/drawingml/2006/chart">
            <c:chart xmlns:c="http://schemas.openxmlformats.org/drawingml/2006/chart" xmlns:r="http://schemas.openxmlformats.org/officeDocument/2006/relationships" r:id="rId2"/>
          </a:graphicData>
        </a:graphic>
      </p:graphicFrame>
      <p:sp>
        <p:nvSpPr>
          <p:cNvPr id="7" name="Rectangle 6">
            <a:extLst>
              <a:ext uri="{FF2B5EF4-FFF2-40B4-BE49-F238E27FC236}">
                <a16:creationId xmlns:a16="http://schemas.microsoft.com/office/drawing/2014/main" id="{32D70CB0-BE1E-4D83-B964-8AD7B68B9253}"/>
              </a:ext>
            </a:extLst>
          </p:cNvPr>
          <p:cNvSpPr/>
          <p:nvPr/>
        </p:nvSpPr>
        <p:spPr>
          <a:xfrm>
            <a:off x="179917" y="1097205"/>
            <a:ext cx="8784167" cy="25038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This predictable pattern is called “</a:t>
            </a:r>
            <a:r>
              <a:rPr lang="en-US" dirty="0" err="1"/>
              <a:t>Zipf’s</a:t>
            </a:r>
            <a:r>
              <a:rPr lang="en-US" dirty="0"/>
              <a:t> Law”</a:t>
            </a:r>
          </a:p>
        </p:txBody>
      </p:sp>
      <p:cxnSp>
        <p:nvCxnSpPr>
          <p:cNvPr id="8" name="Straight Connector 7">
            <a:extLst>
              <a:ext uri="{FF2B5EF4-FFF2-40B4-BE49-F238E27FC236}">
                <a16:creationId xmlns:a16="http://schemas.microsoft.com/office/drawing/2014/main" id="{858CB044-EC12-614D-9AD6-10DF05F047F2}"/>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2CFB61F-A670-614F-B8CE-7D7D9AAA4B39}"/>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4906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5D32A2-4747-4EC1-8212-CD2AC569D72E}"/>
              </a:ext>
            </a:extLst>
          </p:cNvPr>
          <p:cNvSpPr>
            <a:spLocks noGrp="1"/>
          </p:cNvSpPr>
          <p:nvPr>
            <p:ph type="dt" sz="half" idx="10"/>
          </p:nvPr>
        </p:nvSpPr>
        <p:spPr/>
        <p:txBody>
          <a:bodyPr/>
          <a:lstStyle/>
          <a:p>
            <a:fld id="{6700A58B-DD98-43D0-B791-721480A02982}" type="datetime1">
              <a:rPr lang="en-US" smtClean="0"/>
              <a:t>6/2/26</a:t>
            </a:fld>
            <a:endParaRPr lang="en-US"/>
          </a:p>
        </p:txBody>
      </p:sp>
      <p:sp>
        <p:nvSpPr>
          <p:cNvPr id="3" name="Title 2">
            <a:extLst>
              <a:ext uri="{FF2B5EF4-FFF2-40B4-BE49-F238E27FC236}">
                <a16:creationId xmlns:a16="http://schemas.microsoft.com/office/drawing/2014/main" id="{912BA66A-B598-4C74-880F-8FB3646926A4}"/>
              </a:ext>
            </a:extLst>
          </p:cNvPr>
          <p:cNvSpPr>
            <a:spLocks noGrp="1"/>
          </p:cNvSpPr>
          <p:nvPr>
            <p:ph type="title"/>
          </p:nvPr>
        </p:nvSpPr>
        <p:spPr/>
        <p:txBody>
          <a:bodyPr/>
          <a:lstStyle/>
          <a:p>
            <a:r>
              <a:rPr lang="en-US" dirty="0" err="1"/>
              <a:t>Zipf’s</a:t>
            </a:r>
            <a:r>
              <a:rPr lang="en-US" dirty="0"/>
              <a:t> Law is observed in human behavior</a:t>
            </a:r>
          </a:p>
        </p:txBody>
      </p:sp>
      <p:sp>
        <p:nvSpPr>
          <p:cNvPr id="5" name="Footer Placeholder 4">
            <a:extLst>
              <a:ext uri="{FF2B5EF4-FFF2-40B4-BE49-F238E27FC236}">
                <a16:creationId xmlns:a16="http://schemas.microsoft.com/office/drawing/2014/main" id="{35253794-E996-4868-8202-CB70CE854E59}"/>
              </a:ext>
            </a:extLst>
          </p:cNvPr>
          <p:cNvSpPr>
            <a:spLocks noGrp="1"/>
          </p:cNvSpPr>
          <p:nvPr>
            <p:ph type="ftr" sz="quarter" idx="3"/>
          </p:nvPr>
        </p:nvSpPr>
        <p:spPr/>
        <p:txBody>
          <a:bodyPr/>
          <a:lstStyle/>
          <a:p>
            <a:r>
              <a:rPr lang="en-US"/>
              <a:t>Kwartler</a:t>
            </a:r>
            <a:endParaRPr lang="en-US" dirty="0"/>
          </a:p>
        </p:txBody>
      </p:sp>
      <p:sp>
        <p:nvSpPr>
          <p:cNvPr id="4" name="Slide Number Placeholder 3">
            <a:extLst>
              <a:ext uri="{FF2B5EF4-FFF2-40B4-BE49-F238E27FC236}">
                <a16:creationId xmlns:a16="http://schemas.microsoft.com/office/drawing/2014/main" id="{12524991-A1DD-4F6F-B22D-447575F982EA}"/>
              </a:ext>
            </a:extLst>
          </p:cNvPr>
          <p:cNvSpPr>
            <a:spLocks noGrp="1"/>
          </p:cNvSpPr>
          <p:nvPr>
            <p:ph type="sldNum" sz="quarter" idx="4"/>
          </p:nvPr>
        </p:nvSpPr>
        <p:spPr/>
        <p:txBody>
          <a:bodyPr/>
          <a:lstStyle/>
          <a:p>
            <a:fld id="{37290FF7-652B-4475-AEAB-8B1A5D23AE09}" type="slidenum">
              <a:rPr lang="en-US" smtClean="0"/>
              <a:t>10</a:t>
            </a:fld>
            <a:endParaRPr lang="en-US"/>
          </a:p>
        </p:txBody>
      </p:sp>
      <p:graphicFrame>
        <p:nvGraphicFramePr>
          <p:cNvPr id="6" name="Chart 5">
            <a:extLst>
              <a:ext uri="{FF2B5EF4-FFF2-40B4-BE49-F238E27FC236}">
                <a16:creationId xmlns:a16="http://schemas.microsoft.com/office/drawing/2014/main" id="{31872CF9-5105-4657-A448-B56431070689}"/>
              </a:ext>
            </a:extLst>
          </p:cNvPr>
          <p:cNvGraphicFramePr>
            <a:graphicFrameLocks/>
          </p:cNvGraphicFramePr>
          <p:nvPr>
            <p:extLst>
              <p:ext uri="{D42A27DB-BD31-4B8C-83A1-F6EECF244321}">
                <p14:modId xmlns:p14="http://schemas.microsoft.com/office/powerpoint/2010/main" val="2636735622"/>
              </p:ext>
            </p:extLst>
          </p:nvPr>
        </p:nvGraphicFramePr>
        <p:xfrm>
          <a:off x="285135" y="1866826"/>
          <a:ext cx="4166349"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7" name="Rectangle 6">
            <a:extLst>
              <a:ext uri="{FF2B5EF4-FFF2-40B4-BE49-F238E27FC236}">
                <a16:creationId xmlns:a16="http://schemas.microsoft.com/office/drawing/2014/main" id="{99430CCE-28C5-4B42-9F1B-6EEFBF06FD81}"/>
              </a:ext>
            </a:extLst>
          </p:cNvPr>
          <p:cNvSpPr/>
          <p:nvPr/>
        </p:nvSpPr>
        <p:spPr>
          <a:xfrm>
            <a:off x="179917" y="1191335"/>
            <a:ext cx="8784167" cy="25038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Population density often falls into this type of distribution</a:t>
            </a:r>
          </a:p>
        </p:txBody>
      </p:sp>
      <p:sp>
        <p:nvSpPr>
          <p:cNvPr id="8" name="TextBox 7">
            <a:extLst>
              <a:ext uri="{FF2B5EF4-FFF2-40B4-BE49-F238E27FC236}">
                <a16:creationId xmlns:a16="http://schemas.microsoft.com/office/drawing/2014/main" id="{F2BDF6AF-90EE-4B7B-A53D-4D976C0A68FA}"/>
              </a:ext>
            </a:extLst>
          </p:cNvPr>
          <p:cNvSpPr txBox="1"/>
          <p:nvPr/>
        </p:nvSpPr>
        <p:spPr>
          <a:xfrm flipH="1">
            <a:off x="292786" y="1465016"/>
            <a:ext cx="4166349" cy="369332"/>
          </a:xfrm>
          <a:prstGeom prst="rect">
            <a:avLst/>
          </a:prstGeom>
          <a:solidFill>
            <a:schemeClr val="accent5">
              <a:lumMod val="75000"/>
            </a:schemeClr>
          </a:solidFill>
        </p:spPr>
        <p:txBody>
          <a:bodyPr wrap="square" rtlCol="0">
            <a:spAutoFit/>
          </a:bodyPr>
          <a:lstStyle/>
          <a:p>
            <a:r>
              <a:rPr lang="en-US" dirty="0">
                <a:solidFill>
                  <a:schemeClr val="bg1"/>
                </a:solidFill>
              </a:rPr>
              <a:t>Swiss Cities</a:t>
            </a:r>
          </a:p>
        </p:txBody>
      </p:sp>
      <p:graphicFrame>
        <p:nvGraphicFramePr>
          <p:cNvPr id="9" name="Chart 8">
            <a:extLst>
              <a:ext uri="{FF2B5EF4-FFF2-40B4-BE49-F238E27FC236}">
                <a16:creationId xmlns:a16="http://schemas.microsoft.com/office/drawing/2014/main" id="{C77E2C32-B628-4375-B13A-838877BF2C02}"/>
              </a:ext>
            </a:extLst>
          </p:cNvPr>
          <p:cNvGraphicFramePr>
            <a:graphicFrameLocks/>
          </p:cNvGraphicFramePr>
          <p:nvPr>
            <p:extLst>
              <p:ext uri="{D42A27DB-BD31-4B8C-83A1-F6EECF244321}">
                <p14:modId xmlns:p14="http://schemas.microsoft.com/office/powerpoint/2010/main" val="721883974"/>
              </p:ext>
            </p:extLst>
          </p:nvPr>
        </p:nvGraphicFramePr>
        <p:xfrm>
          <a:off x="4571999" y="1897511"/>
          <a:ext cx="4392085" cy="3378650"/>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a:extLst>
              <a:ext uri="{FF2B5EF4-FFF2-40B4-BE49-F238E27FC236}">
                <a16:creationId xmlns:a16="http://schemas.microsoft.com/office/drawing/2014/main" id="{1F9D35EB-DDAD-4E92-B07D-2646799116DE}"/>
              </a:ext>
            </a:extLst>
          </p:cNvPr>
          <p:cNvSpPr txBox="1"/>
          <p:nvPr/>
        </p:nvSpPr>
        <p:spPr>
          <a:xfrm flipH="1">
            <a:off x="4571998" y="1465016"/>
            <a:ext cx="4392085" cy="369332"/>
          </a:xfrm>
          <a:prstGeom prst="rect">
            <a:avLst/>
          </a:prstGeom>
          <a:solidFill>
            <a:schemeClr val="accent5">
              <a:lumMod val="75000"/>
            </a:schemeClr>
          </a:solidFill>
        </p:spPr>
        <p:txBody>
          <a:bodyPr wrap="square" rtlCol="0">
            <a:spAutoFit/>
          </a:bodyPr>
          <a:lstStyle/>
          <a:p>
            <a:r>
              <a:rPr lang="en-US" dirty="0">
                <a:solidFill>
                  <a:schemeClr val="bg1"/>
                </a:solidFill>
              </a:rPr>
              <a:t>UK Cities</a:t>
            </a:r>
          </a:p>
        </p:txBody>
      </p:sp>
      <p:cxnSp>
        <p:nvCxnSpPr>
          <p:cNvPr id="11" name="Straight Connector 10">
            <a:extLst>
              <a:ext uri="{FF2B5EF4-FFF2-40B4-BE49-F238E27FC236}">
                <a16:creationId xmlns:a16="http://schemas.microsoft.com/office/drawing/2014/main" id="{3C1030B8-3766-624A-BCAD-4B0BFA419E09}"/>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C3C6DBB-309D-9049-AD01-6451E6157CCF}"/>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06843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3CAA6D-9B22-4025-A828-540F80A29EEA}"/>
              </a:ext>
            </a:extLst>
          </p:cNvPr>
          <p:cNvSpPr>
            <a:spLocks noGrp="1"/>
          </p:cNvSpPr>
          <p:nvPr>
            <p:ph type="dt" sz="half" idx="10"/>
          </p:nvPr>
        </p:nvSpPr>
        <p:spPr/>
        <p:txBody>
          <a:bodyPr/>
          <a:lstStyle/>
          <a:p>
            <a:fld id="{6700A58B-DD98-43D0-B791-721480A02982}" type="datetime1">
              <a:rPr lang="en-US" smtClean="0"/>
              <a:t>6/2/26</a:t>
            </a:fld>
            <a:endParaRPr lang="en-US"/>
          </a:p>
        </p:txBody>
      </p:sp>
      <p:sp>
        <p:nvSpPr>
          <p:cNvPr id="3" name="Title 2">
            <a:extLst>
              <a:ext uri="{FF2B5EF4-FFF2-40B4-BE49-F238E27FC236}">
                <a16:creationId xmlns:a16="http://schemas.microsoft.com/office/drawing/2014/main" id="{F37AB7D3-98B7-4934-90CE-E060474AFA48}"/>
              </a:ext>
            </a:extLst>
          </p:cNvPr>
          <p:cNvSpPr>
            <a:spLocks noGrp="1"/>
          </p:cNvSpPr>
          <p:nvPr>
            <p:ph type="title"/>
          </p:nvPr>
        </p:nvSpPr>
        <p:spPr/>
        <p:txBody>
          <a:bodyPr/>
          <a:lstStyle/>
          <a:p>
            <a:r>
              <a:rPr lang="en-US" dirty="0" err="1"/>
              <a:t>Zipf’s</a:t>
            </a:r>
            <a:r>
              <a:rPr lang="en-US" dirty="0"/>
              <a:t> Law is observed in business</a:t>
            </a:r>
          </a:p>
        </p:txBody>
      </p:sp>
      <p:sp>
        <p:nvSpPr>
          <p:cNvPr id="5" name="Footer Placeholder 4">
            <a:extLst>
              <a:ext uri="{FF2B5EF4-FFF2-40B4-BE49-F238E27FC236}">
                <a16:creationId xmlns:a16="http://schemas.microsoft.com/office/drawing/2014/main" id="{B500B84D-8A02-420F-A059-837051A1BD42}"/>
              </a:ext>
            </a:extLst>
          </p:cNvPr>
          <p:cNvSpPr>
            <a:spLocks noGrp="1"/>
          </p:cNvSpPr>
          <p:nvPr>
            <p:ph type="ftr" sz="quarter" idx="3"/>
          </p:nvPr>
        </p:nvSpPr>
        <p:spPr/>
        <p:txBody>
          <a:bodyPr/>
          <a:lstStyle/>
          <a:p>
            <a:r>
              <a:rPr lang="en-US"/>
              <a:t>Kwartler</a:t>
            </a:r>
            <a:endParaRPr lang="en-US" dirty="0"/>
          </a:p>
        </p:txBody>
      </p:sp>
      <p:sp>
        <p:nvSpPr>
          <p:cNvPr id="4" name="Slide Number Placeholder 3">
            <a:extLst>
              <a:ext uri="{FF2B5EF4-FFF2-40B4-BE49-F238E27FC236}">
                <a16:creationId xmlns:a16="http://schemas.microsoft.com/office/drawing/2014/main" id="{7449A6EF-1CB8-497B-AFD9-B8CCDE5556A8}"/>
              </a:ext>
            </a:extLst>
          </p:cNvPr>
          <p:cNvSpPr>
            <a:spLocks noGrp="1"/>
          </p:cNvSpPr>
          <p:nvPr>
            <p:ph type="sldNum" sz="quarter" idx="4"/>
          </p:nvPr>
        </p:nvSpPr>
        <p:spPr/>
        <p:txBody>
          <a:bodyPr/>
          <a:lstStyle/>
          <a:p>
            <a:fld id="{37290FF7-652B-4475-AEAB-8B1A5D23AE09}" type="slidenum">
              <a:rPr lang="en-US" smtClean="0"/>
              <a:t>11</a:t>
            </a:fld>
            <a:endParaRPr lang="en-US"/>
          </a:p>
        </p:txBody>
      </p:sp>
      <p:sp>
        <p:nvSpPr>
          <p:cNvPr id="6" name="TextBox 5">
            <a:extLst>
              <a:ext uri="{FF2B5EF4-FFF2-40B4-BE49-F238E27FC236}">
                <a16:creationId xmlns:a16="http://schemas.microsoft.com/office/drawing/2014/main" id="{057CAD2F-D46D-42EA-945D-4E82BBA60CCC}"/>
              </a:ext>
            </a:extLst>
          </p:cNvPr>
          <p:cNvSpPr txBox="1"/>
          <p:nvPr/>
        </p:nvSpPr>
        <p:spPr>
          <a:xfrm>
            <a:off x="0" y="5964077"/>
            <a:ext cx="5482591" cy="415498"/>
          </a:xfrm>
          <a:prstGeom prst="rect">
            <a:avLst/>
          </a:prstGeom>
          <a:noFill/>
        </p:spPr>
        <p:txBody>
          <a:bodyPr wrap="none" rtlCol="0">
            <a:spAutoFit/>
          </a:bodyPr>
          <a:lstStyle/>
          <a:p>
            <a:r>
              <a:rPr lang="en-US" sz="1050" dirty="0">
                <a:hlinkClick r:id="rId2"/>
              </a:rPr>
              <a:t>https://www.insure.com/car-insurance/largest-auto-insurance-companies-by-market-share.html</a:t>
            </a:r>
            <a:endParaRPr lang="en-US" sz="1050" dirty="0"/>
          </a:p>
          <a:p>
            <a:r>
              <a:rPr lang="en-US" sz="1050" dirty="0">
                <a:hlinkClick r:id="rId3"/>
              </a:rPr>
              <a:t>https://www.canalys.com/newsroom/cloud-market-share-q4-2018-and-full-year-2018</a:t>
            </a:r>
            <a:endParaRPr lang="en-US" sz="1050" dirty="0"/>
          </a:p>
        </p:txBody>
      </p:sp>
      <p:sp>
        <p:nvSpPr>
          <p:cNvPr id="10" name="TextBox 9">
            <a:extLst>
              <a:ext uri="{FF2B5EF4-FFF2-40B4-BE49-F238E27FC236}">
                <a16:creationId xmlns:a16="http://schemas.microsoft.com/office/drawing/2014/main" id="{463081DC-3AE3-4F43-AEDB-B75090970E2C}"/>
              </a:ext>
            </a:extLst>
          </p:cNvPr>
          <p:cNvSpPr txBox="1"/>
          <p:nvPr/>
        </p:nvSpPr>
        <p:spPr>
          <a:xfrm flipH="1">
            <a:off x="208937" y="1712298"/>
            <a:ext cx="4363060" cy="369332"/>
          </a:xfrm>
          <a:prstGeom prst="rect">
            <a:avLst/>
          </a:prstGeom>
          <a:solidFill>
            <a:schemeClr val="accent5">
              <a:lumMod val="75000"/>
            </a:schemeClr>
          </a:solidFill>
        </p:spPr>
        <p:txBody>
          <a:bodyPr wrap="square" rtlCol="0">
            <a:spAutoFit/>
          </a:bodyPr>
          <a:lstStyle/>
          <a:p>
            <a:r>
              <a:rPr lang="en-US" dirty="0">
                <a:solidFill>
                  <a:schemeClr val="bg1"/>
                </a:solidFill>
              </a:rPr>
              <a:t>Insurance </a:t>
            </a:r>
            <a:r>
              <a:rPr lang="en-US" sz="1600" dirty="0">
                <a:solidFill>
                  <a:schemeClr val="bg1"/>
                </a:solidFill>
              </a:rPr>
              <a:t>- 2016 Direct Premiums Written ($)</a:t>
            </a:r>
            <a:endParaRPr lang="en-US" dirty="0">
              <a:solidFill>
                <a:schemeClr val="bg1"/>
              </a:solidFill>
            </a:endParaRPr>
          </a:p>
        </p:txBody>
      </p:sp>
      <p:sp>
        <p:nvSpPr>
          <p:cNvPr id="12" name="TextBox 11">
            <a:extLst>
              <a:ext uri="{FF2B5EF4-FFF2-40B4-BE49-F238E27FC236}">
                <a16:creationId xmlns:a16="http://schemas.microsoft.com/office/drawing/2014/main" id="{0A31F90A-215F-43E0-B2C9-11BCB424422E}"/>
              </a:ext>
            </a:extLst>
          </p:cNvPr>
          <p:cNvSpPr txBox="1"/>
          <p:nvPr/>
        </p:nvSpPr>
        <p:spPr>
          <a:xfrm flipH="1">
            <a:off x="4768714" y="1712298"/>
            <a:ext cx="4166349" cy="369332"/>
          </a:xfrm>
          <a:prstGeom prst="rect">
            <a:avLst/>
          </a:prstGeom>
          <a:solidFill>
            <a:schemeClr val="accent5">
              <a:lumMod val="75000"/>
            </a:schemeClr>
          </a:solidFill>
        </p:spPr>
        <p:txBody>
          <a:bodyPr wrap="square" rtlCol="0">
            <a:spAutoFit/>
          </a:bodyPr>
          <a:lstStyle/>
          <a:p>
            <a:r>
              <a:rPr lang="en-US" dirty="0">
                <a:solidFill>
                  <a:schemeClr val="bg1"/>
                </a:solidFill>
              </a:rPr>
              <a:t>Tech – </a:t>
            </a:r>
            <a:r>
              <a:rPr lang="en-US" sz="1600" dirty="0">
                <a:solidFill>
                  <a:schemeClr val="bg1"/>
                </a:solidFill>
              </a:rPr>
              <a:t>2018 US Cloud Compute Mkt Share  </a:t>
            </a:r>
            <a:endParaRPr lang="en-US" dirty="0">
              <a:solidFill>
                <a:schemeClr val="bg1"/>
              </a:solidFill>
            </a:endParaRPr>
          </a:p>
        </p:txBody>
      </p:sp>
      <p:sp>
        <p:nvSpPr>
          <p:cNvPr id="13" name="Rectangle 12">
            <a:extLst>
              <a:ext uri="{FF2B5EF4-FFF2-40B4-BE49-F238E27FC236}">
                <a16:creationId xmlns:a16="http://schemas.microsoft.com/office/drawing/2014/main" id="{8E57DA10-90FE-48D3-A387-2CA0E4D140D4}"/>
              </a:ext>
            </a:extLst>
          </p:cNvPr>
          <p:cNvSpPr/>
          <p:nvPr/>
        </p:nvSpPr>
        <p:spPr>
          <a:xfrm>
            <a:off x="179917" y="1237129"/>
            <a:ext cx="8784167" cy="292874"/>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Many industries become natural monopolies.  Without this natural maturing the industry is hyper competitive “Coke vs Pepsi” </a:t>
            </a:r>
          </a:p>
        </p:txBody>
      </p:sp>
      <p:graphicFrame>
        <p:nvGraphicFramePr>
          <p:cNvPr id="14" name="Chart 13"/>
          <p:cNvGraphicFramePr>
            <a:graphicFrameLocks/>
          </p:cNvGraphicFramePr>
          <p:nvPr>
            <p:extLst>
              <p:ext uri="{D42A27DB-BD31-4B8C-83A1-F6EECF244321}">
                <p14:modId xmlns:p14="http://schemas.microsoft.com/office/powerpoint/2010/main" val="2019963759"/>
              </p:ext>
            </p:extLst>
          </p:nvPr>
        </p:nvGraphicFramePr>
        <p:xfrm>
          <a:off x="0" y="2034675"/>
          <a:ext cx="4572000" cy="274320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5" name="Chart 14"/>
          <p:cNvGraphicFramePr>
            <a:graphicFrameLocks/>
          </p:cNvGraphicFramePr>
          <p:nvPr>
            <p:extLst>
              <p:ext uri="{D42A27DB-BD31-4B8C-83A1-F6EECF244321}">
                <p14:modId xmlns:p14="http://schemas.microsoft.com/office/powerpoint/2010/main" val="635946884"/>
              </p:ext>
            </p:extLst>
          </p:nvPr>
        </p:nvGraphicFramePr>
        <p:xfrm>
          <a:off x="4572000" y="2176564"/>
          <a:ext cx="4235824" cy="2529907"/>
        </p:xfrm>
        <a:graphic>
          <a:graphicData uri="http://schemas.openxmlformats.org/drawingml/2006/chart">
            <c:chart xmlns:c="http://schemas.openxmlformats.org/drawingml/2006/chart" xmlns:r="http://schemas.openxmlformats.org/officeDocument/2006/relationships" r:id="rId5"/>
          </a:graphicData>
        </a:graphic>
      </p:graphicFrame>
      <p:cxnSp>
        <p:nvCxnSpPr>
          <p:cNvPr id="16" name="Straight Connector 15">
            <a:extLst>
              <a:ext uri="{FF2B5EF4-FFF2-40B4-BE49-F238E27FC236}">
                <a16:creationId xmlns:a16="http://schemas.microsoft.com/office/drawing/2014/main" id="{1731AC9A-7527-1B4C-B733-45D6F204A31C}"/>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9032D9B-996D-244B-87E8-98929D43E816}"/>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00832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C1C347-821A-4A53-BE6F-AA598F2BC52D}"/>
              </a:ext>
            </a:extLst>
          </p:cNvPr>
          <p:cNvSpPr>
            <a:spLocks noGrp="1"/>
          </p:cNvSpPr>
          <p:nvPr>
            <p:ph type="dt" sz="half" idx="10"/>
          </p:nvPr>
        </p:nvSpPr>
        <p:spPr/>
        <p:txBody>
          <a:bodyPr/>
          <a:lstStyle/>
          <a:p>
            <a:fld id="{6700A58B-DD98-43D0-B791-721480A02982}" type="datetime1">
              <a:rPr lang="en-US" smtClean="0"/>
              <a:t>6/2/26</a:t>
            </a:fld>
            <a:endParaRPr lang="en-US"/>
          </a:p>
        </p:txBody>
      </p:sp>
      <p:sp>
        <p:nvSpPr>
          <p:cNvPr id="3" name="Title 2">
            <a:extLst>
              <a:ext uri="{FF2B5EF4-FFF2-40B4-BE49-F238E27FC236}">
                <a16:creationId xmlns:a16="http://schemas.microsoft.com/office/drawing/2014/main" id="{07B611A7-1CF9-40F4-B19C-B798B0C80BCC}"/>
              </a:ext>
            </a:extLst>
          </p:cNvPr>
          <p:cNvSpPr>
            <a:spLocks noGrp="1"/>
          </p:cNvSpPr>
          <p:nvPr>
            <p:ph type="title"/>
          </p:nvPr>
        </p:nvSpPr>
        <p:spPr>
          <a:xfrm>
            <a:off x="0" y="365126"/>
            <a:ext cx="9144000" cy="591477"/>
          </a:xfrm>
        </p:spPr>
        <p:txBody>
          <a:bodyPr/>
          <a:lstStyle/>
          <a:p>
            <a:r>
              <a:rPr lang="en-US" dirty="0" err="1"/>
              <a:t>Zipf’s</a:t>
            </a:r>
            <a:r>
              <a:rPr lang="en-US" dirty="0"/>
              <a:t> Law: </a:t>
            </a:r>
            <a:r>
              <a:rPr lang="en-US" sz="1600" dirty="0"/>
              <a:t>The frequency of a word is inversely related to its rank in a word frequency matrix.</a:t>
            </a:r>
            <a:br>
              <a:rPr lang="en-US" sz="1600" dirty="0"/>
            </a:br>
            <a:endParaRPr lang="en-US" dirty="0"/>
          </a:p>
        </p:txBody>
      </p:sp>
      <p:sp>
        <p:nvSpPr>
          <p:cNvPr id="4" name="Slide Number Placeholder 3">
            <a:extLst>
              <a:ext uri="{FF2B5EF4-FFF2-40B4-BE49-F238E27FC236}">
                <a16:creationId xmlns:a16="http://schemas.microsoft.com/office/drawing/2014/main" id="{DB678605-D47F-487D-B818-8649427177BA}"/>
              </a:ext>
            </a:extLst>
          </p:cNvPr>
          <p:cNvSpPr>
            <a:spLocks noGrp="1"/>
          </p:cNvSpPr>
          <p:nvPr>
            <p:ph type="sldNum" sz="quarter" idx="4"/>
          </p:nvPr>
        </p:nvSpPr>
        <p:spPr>
          <a:xfrm>
            <a:off x="6457950" y="6356351"/>
            <a:ext cx="857250" cy="365125"/>
          </a:xfrm>
        </p:spPr>
        <p:txBody>
          <a:bodyPr/>
          <a:lstStyle/>
          <a:p>
            <a:fld id="{37290FF7-652B-4475-AEAB-8B1A5D23AE09}" type="slidenum">
              <a:rPr lang="en-US" smtClean="0"/>
              <a:t>12</a:t>
            </a:fld>
            <a:endParaRPr lang="en-US"/>
          </a:p>
        </p:txBody>
      </p:sp>
      <p:sp>
        <p:nvSpPr>
          <p:cNvPr id="5" name="Footer Placeholder 4">
            <a:extLst>
              <a:ext uri="{FF2B5EF4-FFF2-40B4-BE49-F238E27FC236}">
                <a16:creationId xmlns:a16="http://schemas.microsoft.com/office/drawing/2014/main" id="{F22089D5-76B3-4F96-8A7C-A58AB148B7F5}"/>
              </a:ext>
            </a:extLst>
          </p:cNvPr>
          <p:cNvSpPr>
            <a:spLocks noGrp="1"/>
          </p:cNvSpPr>
          <p:nvPr>
            <p:ph type="ftr" sz="quarter" idx="3"/>
          </p:nvPr>
        </p:nvSpPr>
        <p:spPr/>
        <p:txBody>
          <a:bodyPr/>
          <a:lstStyle/>
          <a:p>
            <a:r>
              <a:rPr lang="en-US"/>
              <a:t>Kwartler</a:t>
            </a:r>
            <a:endParaRPr lang="en-US" dirty="0"/>
          </a:p>
        </p:txBody>
      </p:sp>
      <p:sp>
        <p:nvSpPr>
          <p:cNvPr id="6" name="Rectangle 5">
            <a:extLst>
              <a:ext uri="{FF2B5EF4-FFF2-40B4-BE49-F238E27FC236}">
                <a16:creationId xmlns:a16="http://schemas.microsoft.com/office/drawing/2014/main" id="{AE05F16E-B7E1-4316-A709-6BF9303EDE99}"/>
              </a:ext>
            </a:extLst>
          </p:cNvPr>
          <p:cNvSpPr/>
          <p:nvPr/>
        </p:nvSpPr>
        <p:spPr>
          <a:xfrm>
            <a:off x="179917" y="1262641"/>
            <a:ext cx="8784167" cy="25391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In language this means we should expect coming words to dominate.</a:t>
            </a:r>
          </a:p>
        </p:txBody>
      </p:sp>
      <p:sp>
        <p:nvSpPr>
          <p:cNvPr id="8" name="TextBox 7">
            <a:extLst>
              <a:ext uri="{FF2B5EF4-FFF2-40B4-BE49-F238E27FC236}">
                <a16:creationId xmlns:a16="http://schemas.microsoft.com/office/drawing/2014/main" id="{4FD79347-3F95-4D61-A765-8971986126DA}"/>
              </a:ext>
            </a:extLst>
          </p:cNvPr>
          <p:cNvSpPr txBox="1"/>
          <p:nvPr/>
        </p:nvSpPr>
        <p:spPr>
          <a:xfrm>
            <a:off x="459955" y="2644170"/>
            <a:ext cx="3991897" cy="1569660"/>
          </a:xfrm>
          <a:prstGeom prst="rect">
            <a:avLst/>
          </a:prstGeom>
          <a:noFill/>
        </p:spPr>
        <p:txBody>
          <a:bodyPr wrap="square" rtlCol="0">
            <a:spAutoFit/>
          </a:bodyPr>
          <a:lstStyle/>
          <a:p>
            <a:pPr marL="342900" indent="-342900">
              <a:buAutoNum type="arabicPeriod"/>
            </a:pPr>
            <a:r>
              <a:rPr lang="en-US" sz="1600" dirty="0"/>
              <a:t>Observation or Word A appears N times</a:t>
            </a:r>
          </a:p>
          <a:p>
            <a:pPr marL="342900" indent="-342900">
              <a:buAutoNum type="arabicPeriod"/>
            </a:pPr>
            <a:r>
              <a:rPr lang="en-US" sz="1600" dirty="0"/>
              <a:t>Word B is expected to appear N/2</a:t>
            </a:r>
          </a:p>
          <a:p>
            <a:pPr marL="342900" indent="-342900">
              <a:buAutoNum type="arabicPeriod"/>
            </a:pPr>
            <a:r>
              <a:rPr lang="en-US" sz="1600" dirty="0"/>
              <a:t>Word C is expected to appear N/3</a:t>
            </a:r>
          </a:p>
          <a:p>
            <a:pPr marL="342900" indent="-342900">
              <a:buAutoNum type="arabicPeriod"/>
            </a:pPr>
            <a:r>
              <a:rPr lang="en-US" sz="1600" dirty="0"/>
              <a:t>Word D is expected to appear N/4</a:t>
            </a:r>
          </a:p>
          <a:p>
            <a:pPr marL="342900" indent="-342900">
              <a:buAutoNum type="arabicPeriod"/>
            </a:pPr>
            <a:r>
              <a:rPr lang="en-US" sz="1600" dirty="0"/>
              <a:t>…</a:t>
            </a:r>
          </a:p>
          <a:p>
            <a:pPr marL="342900" indent="-342900">
              <a:buAutoNum type="arabicPeriod"/>
            </a:pPr>
            <a:r>
              <a:rPr lang="en-US" sz="1600" dirty="0"/>
              <a:t>…</a:t>
            </a:r>
          </a:p>
        </p:txBody>
      </p:sp>
      <p:sp>
        <p:nvSpPr>
          <p:cNvPr id="9" name="TextBox 8">
            <a:extLst>
              <a:ext uri="{FF2B5EF4-FFF2-40B4-BE49-F238E27FC236}">
                <a16:creationId xmlns:a16="http://schemas.microsoft.com/office/drawing/2014/main" id="{461B53F2-E7B8-45E4-87B0-2426B549AAFE}"/>
              </a:ext>
            </a:extLst>
          </p:cNvPr>
          <p:cNvSpPr txBox="1"/>
          <p:nvPr/>
        </p:nvSpPr>
        <p:spPr>
          <a:xfrm rot="16200000">
            <a:off x="-370032" y="3343501"/>
            <a:ext cx="1170833" cy="369332"/>
          </a:xfrm>
          <a:prstGeom prst="rect">
            <a:avLst/>
          </a:prstGeom>
          <a:noFill/>
        </p:spPr>
        <p:txBody>
          <a:bodyPr wrap="none" rtlCol="0">
            <a:spAutoFit/>
          </a:bodyPr>
          <a:lstStyle/>
          <a:p>
            <a:r>
              <a:rPr lang="en-US" u="sng" dirty="0"/>
              <a:t>Term Rank</a:t>
            </a:r>
          </a:p>
        </p:txBody>
      </p:sp>
      <p:sp>
        <p:nvSpPr>
          <p:cNvPr id="12" name="TextBox 11">
            <a:extLst>
              <a:ext uri="{FF2B5EF4-FFF2-40B4-BE49-F238E27FC236}">
                <a16:creationId xmlns:a16="http://schemas.microsoft.com/office/drawing/2014/main" id="{BE2300B3-1357-4B03-A779-79D15FB87EE3}"/>
              </a:ext>
            </a:extLst>
          </p:cNvPr>
          <p:cNvSpPr txBox="1"/>
          <p:nvPr/>
        </p:nvSpPr>
        <p:spPr>
          <a:xfrm>
            <a:off x="119179" y="6114626"/>
            <a:ext cx="2909771" cy="253916"/>
          </a:xfrm>
          <a:prstGeom prst="rect">
            <a:avLst/>
          </a:prstGeom>
          <a:noFill/>
        </p:spPr>
        <p:txBody>
          <a:bodyPr wrap="none" rtlCol="0">
            <a:spAutoFit/>
          </a:bodyPr>
          <a:lstStyle/>
          <a:p>
            <a:r>
              <a:rPr lang="en-US" sz="1050" dirty="0">
                <a:hlinkClick r:id="rId2"/>
              </a:rPr>
              <a:t>https://www.worlddata.info/average-income.php</a:t>
            </a:r>
            <a:endParaRPr lang="en-US" sz="1050" dirty="0"/>
          </a:p>
        </p:txBody>
      </p:sp>
      <p:graphicFrame>
        <p:nvGraphicFramePr>
          <p:cNvPr id="13" name="Chart 12">
            <a:extLst>
              <a:ext uri="{FF2B5EF4-FFF2-40B4-BE49-F238E27FC236}">
                <a16:creationId xmlns:a16="http://schemas.microsoft.com/office/drawing/2014/main" id="{8652AAF0-C231-4BF5-ACB1-A81F25076C75}"/>
              </a:ext>
            </a:extLst>
          </p:cNvPr>
          <p:cNvGraphicFramePr>
            <a:graphicFrameLocks/>
          </p:cNvGraphicFramePr>
          <p:nvPr>
            <p:extLst>
              <p:ext uri="{D42A27DB-BD31-4B8C-83A1-F6EECF244321}">
                <p14:modId xmlns:p14="http://schemas.microsoft.com/office/powerpoint/2010/main" val="1363951777"/>
              </p:ext>
            </p:extLst>
          </p:nvPr>
        </p:nvGraphicFramePr>
        <p:xfrm>
          <a:off x="4385186" y="1968886"/>
          <a:ext cx="4578893" cy="3118562"/>
        </p:xfrm>
        <a:graphic>
          <a:graphicData uri="http://schemas.openxmlformats.org/drawingml/2006/chart">
            <c:chart xmlns:c="http://schemas.openxmlformats.org/drawingml/2006/chart" xmlns:r="http://schemas.openxmlformats.org/officeDocument/2006/relationships" r:id="rId3"/>
          </a:graphicData>
        </a:graphic>
      </p:graphicFrame>
      <p:cxnSp>
        <p:nvCxnSpPr>
          <p:cNvPr id="14" name="Straight Connector 13">
            <a:extLst>
              <a:ext uri="{FF2B5EF4-FFF2-40B4-BE49-F238E27FC236}">
                <a16:creationId xmlns:a16="http://schemas.microsoft.com/office/drawing/2014/main" id="{E2492C65-9AAA-3044-A8A2-FB800E5D9F81}"/>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FC444F-31DF-2F42-9D53-1532A366437F}"/>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11926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061A48-CB41-4DDC-B8B9-5FFA68FF2634}"/>
              </a:ext>
            </a:extLst>
          </p:cNvPr>
          <p:cNvSpPr txBox="1">
            <a:spLocks/>
          </p:cNvSpPr>
          <p:nvPr/>
        </p:nvSpPr>
        <p:spPr>
          <a:xfrm>
            <a:off x="191729" y="136524"/>
            <a:ext cx="8760542" cy="591477"/>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2800" dirty="0"/>
              <a:t>Open </a:t>
            </a:r>
            <a:r>
              <a:rPr lang="en-US" sz="2800" dirty="0" err="1"/>
              <a:t>B_Frequency_Associations.R</a:t>
            </a:r>
            <a:r>
              <a:rPr lang="en-US" sz="2800" dirty="0"/>
              <a:t> </a:t>
            </a:r>
          </a:p>
          <a:p>
            <a:r>
              <a:rPr lang="en-US" sz="2800" dirty="0"/>
              <a:t>Visualizing the WFM</a:t>
            </a:r>
          </a:p>
        </p:txBody>
      </p:sp>
      <p:sp>
        <p:nvSpPr>
          <p:cNvPr id="6" name="Date Placeholder 1">
            <a:extLst>
              <a:ext uri="{FF2B5EF4-FFF2-40B4-BE49-F238E27FC236}">
                <a16:creationId xmlns:a16="http://schemas.microsoft.com/office/drawing/2014/main" id="{A5024E83-7248-49C6-83CE-0C52F416FEF7}"/>
              </a:ext>
            </a:extLst>
          </p:cNvPr>
          <p:cNvSpPr>
            <a:spLocks noGrp="1"/>
          </p:cNvSpPr>
          <p:nvPr>
            <p:ph type="dt" sz="half" idx="10"/>
          </p:nvPr>
        </p:nvSpPr>
        <p:spPr/>
        <p:txBody>
          <a:bodyPr/>
          <a:lstStyle/>
          <a:p>
            <a:fld id="{6700A58B-DD98-43D0-B791-721480A02982}" type="datetime1">
              <a:rPr lang="en-US" smtClean="0"/>
              <a:t>6/2/26</a:t>
            </a:fld>
            <a:endParaRPr lang="en-US"/>
          </a:p>
        </p:txBody>
      </p:sp>
      <p:sp>
        <p:nvSpPr>
          <p:cNvPr id="8" name="Footer Placeholder 5">
            <a:extLst>
              <a:ext uri="{FF2B5EF4-FFF2-40B4-BE49-F238E27FC236}">
                <a16:creationId xmlns:a16="http://schemas.microsoft.com/office/drawing/2014/main" id="{93E54B3B-632C-44FD-A3F2-BCFDAA237369}"/>
              </a:ext>
            </a:extLst>
          </p:cNvPr>
          <p:cNvSpPr>
            <a:spLocks noGrp="1"/>
          </p:cNvSpPr>
          <p:nvPr>
            <p:ph type="ftr" sz="quarter" idx="3"/>
          </p:nvPr>
        </p:nvSpPr>
        <p:spPr/>
        <p:txBody>
          <a:bodyPr/>
          <a:lstStyle/>
          <a:p>
            <a:r>
              <a:rPr lang="en-US" dirty="0"/>
              <a:t>Kwartler</a:t>
            </a:r>
          </a:p>
        </p:txBody>
      </p:sp>
      <p:sp>
        <p:nvSpPr>
          <p:cNvPr id="7" name="Slide Number Placeholder 3">
            <a:extLst>
              <a:ext uri="{FF2B5EF4-FFF2-40B4-BE49-F238E27FC236}">
                <a16:creationId xmlns:a16="http://schemas.microsoft.com/office/drawing/2014/main" id="{269E8134-5ACB-40D1-8C0C-86324C8FEF4A}"/>
              </a:ext>
            </a:extLst>
          </p:cNvPr>
          <p:cNvSpPr>
            <a:spLocks noGrp="1"/>
          </p:cNvSpPr>
          <p:nvPr>
            <p:ph type="sldNum" sz="quarter" idx="4"/>
          </p:nvPr>
        </p:nvSpPr>
        <p:spPr/>
        <p:txBody>
          <a:bodyPr/>
          <a:lstStyle/>
          <a:p>
            <a:fld id="{37290FF7-652B-4475-AEAB-8B1A5D23AE09}" type="slidenum">
              <a:rPr lang="en-US" smtClean="0"/>
              <a:t>13</a:t>
            </a:fld>
            <a:endParaRPr lang="en-US"/>
          </a:p>
        </p:txBody>
      </p:sp>
      <p:sp>
        <p:nvSpPr>
          <p:cNvPr id="10" name="Rectangle 9">
            <a:extLst>
              <a:ext uri="{FF2B5EF4-FFF2-40B4-BE49-F238E27FC236}">
                <a16:creationId xmlns:a16="http://schemas.microsoft.com/office/drawing/2014/main" id="{19F375A7-365D-4D80-BBA7-9EF1E12B6151}"/>
              </a:ext>
            </a:extLst>
          </p:cNvPr>
          <p:cNvSpPr/>
          <p:nvPr/>
        </p:nvSpPr>
        <p:spPr>
          <a:xfrm>
            <a:off x="179913" y="5759656"/>
            <a:ext cx="8784167" cy="269471"/>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Brewdog</a:t>
            </a:r>
            <a:r>
              <a:rPr lang="en-US" dirty="0"/>
              <a:t>?!  Let’s investigate</a:t>
            </a:r>
          </a:p>
        </p:txBody>
      </p:sp>
      <p:cxnSp>
        <p:nvCxnSpPr>
          <p:cNvPr id="11" name="Straight Connector 10">
            <a:extLst>
              <a:ext uri="{FF2B5EF4-FFF2-40B4-BE49-F238E27FC236}">
                <a16:creationId xmlns:a16="http://schemas.microsoft.com/office/drawing/2014/main" id="{8D6C2681-2203-C24D-A40D-352CCAA23DEE}"/>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6C7D451-755A-8745-B3AE-6C5CD3762CE9}"/>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0CDC9F2B-E62A-6665-1E06-ACBBB2157856}"/>
              </a:ext>
            </a:extLst>
          </p:cNvPr>
          <p:cNvPicPr>
            <a:picLocks noChangeAspect="1"/>
          </p:cNvPicPr>
          <p:nvPr/>
        </p:nvPicPr>
        <p:blipFill>
          <a:blip r:embed="rId2"/>
          <a:stretch>
            <a:fillRect/>
          </a:stretch>
        </p:blipFill>
        <p:spPr>
          <a:xfrm>
            <a:off x="191729" y="1241341"/>
            <a:ext cx="8784167" cy="4354703"/>
          </a:xfrm>
          <a:prstGeom prst="rect">
            <a:avLst/>
          </a:prstGeom>
        </p:spPr>
      </p:pic>
      <p:sp>
        <p:nvSpPr>
          <p:cNvPr id="9" name="Arrow: Right 4">
            <a:extLst>
              <a:ext uri="{FF2B5EF4-FFF2-40B4-BE49-F238E27FC236}">
                <a16:creationId xmlns:a16="http://schemas.microsoft.com/office/drawing/2014/main" id="{DBD60762-D798-1AE7-30DD-E0F177B67F86}"/>
              </a:ext>
            </a:extLst>
          </p:cNvPr>
          <p:cNvSpPr/>
          <p:nvPr/>
        </p:nvSpPr>
        <p:spPr>
          <a:xfrm>
            <a:off x="87464" y="3813673"/>
            <a:ext cx="450276" cy="1222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645876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061A48-CB41-4DDC-B8B9-5FFA68FF2634}"/>
              </a:ext>
            </a:extLst>
          </p:cNvPr>
          <p:cNvSpPr txBox="1">
            <a:spLocks/>
          </p:cNvSpPr>
          <p:nvPr/>
        </p:nvSpPr>
        <p:spPr>
          <a:xfrm>
            <a:off x="628650" y="365126"/>
            <a:ext cx="7886700" cy="591477"/>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dirty="0"/>
              <a:t>Word Association</a:t>
            </a:r>
          </a:p>
        </p:txBody>
      </p:sp>
      <p:sp>
        <p:nvSpPr>
          <p:cNvPr id="6" name="Date Placeholder 1">
            <a:extLst>
              <a:ext uri="{FF2B5EF4-FFF2-40B4-BE49-F238E27FC236}">
                <a16:creationId xmlns:a16="http://schemas.microsoft.com/office/drawing/2014/main" id="{A5024E83-7248-49C6-83CE-0C52F416FEF7}"/>
              </a:ext>
            </a:extLst>
          </p:cNvPr>
          <p:cNvSpPr>
            <a:spLocks noGrp="1"/>
          </p:cNvSpPr>
          <p:nvPr>
            <p:ph type="dt" sz="half" idx="10"/>
          </p:nvPr>
        </p:nvSpPr>
        <p:spPr/>
        <p:txBody>
          <a:bodyPr/>
          <a:lstStyle/>
          <a:p>
            <a:fld id="{6700A58B-DD98-43D0-B791-721480A02982}" type="datetime1">
              <a:rPr lang="en-US" smtClean="0"/>
              <a:t>6/2/26</a:t>
            </a:fld>
            <a:endParaRPr lang="en-US"/>
          </a:p>
        </p:txBody>
      </p:sp>
      <p:sp>
        <p:nvSpPr>
          <p:cNvPr id="15" name="Footer Placeholder 5">
            <a:extLst>
              <a:ext uri="{FF2B5EF4-FFF2-40B4-BE49-F238E27FC236}">
                <a16:creationId xmlns:a16="http://schemas.microsoft.com/office/drawing/2014/main" id="{FD3090C5-5CE1-4A44-97C8-EB04849527B4}"/>
              </a:ext>
            </a:extLst>
          </p:cNvPr>
          <p:cNvSpPr>
            <a:spLocks noGrp="1"/>
          </p:cNvSpPr>
          <p:nvPr>
            <p:ph type="ftr" sz="quarter" idx="3"/>
          </p:nvPr>
        </p:nvSpPr>
        <p:spPr/>
        <p:txBody>
          <a:bodyPr/>
          <a:lstStyle/>
          <a:p>
            <a:r>
              <a:rPr lang="en-US" dirty="0"/>
              <a:t>Kwartler</a:t>
            </a:r>
          </a:p>
        </p:txBody>
      </p:sp>
      <p:sp>
        <p:nvSpPr>
          <p:cNvPr id="7" name="Slide Number Placeholder 3">
            <a:extLst>
              <a:ext uri="{FF2B5EF4-FFF2-40B4-BE49-F238E27FC236}">
                <a16:creationId xmlns:a16="http://schemas.microsoft.com/office/drawing/2014/main" id="{269E8134-5ACB-40D1-8C0C-86324C8FEF4A}"/>
              </a:ext>
            </a:extLst>
          </p:cNvPr>
          <p:cNvSpPr>
            <a:spLocks noGrp="1"/>
          </p:cNvSpPr>
          <p:nvPr>
            <p:ph type="sldNum" sz="quarter" idx="4"/>
          </p:nvPr>
        </p:nvSpPr>
        <p:spPr/>
        <p:txBody>
          <a:bodyPr/>
          <a:lstStyle/>
          <a:p>
            <a:fld id="{37290FF7-652B-4475-AEAB-8B1A5D23AE09}" type="slidenum">
              <a:rPr lang="en-US" smtClean="0"/>
              <a:t>14</a:t>
            </a:fld>
            <a:endParaRPr lang="en-US"/>
          </a:p>
        </p:txBody>
      </p:sp>
      <p:sp>
        <p:nvSpPr>
          <p:cNvPr id="11" name="Rectangle 10">
            <a:extLst>
              <a:ext uri="{FF2B5EF4-FFF2-40B4-BE49-F238E27FC236}">
                <a16:creationId xmlns:a16="http://schemas.microsoft.com/office/drawing/2014/main" id="{CA5C07CD-04D0-4BD9-BE39-864FC85CDE83}"/>
              </a:ext>
            </a:extLst>
          </p:cNvPr>
          <p:cNvSpPr/>
          <p:nvPr/>
        </p:nvSpPr>
        <p:spPr>
          <a:xfrm>
            <a:off x="273153" y="4080516"/>
            <a:ext cx="8611737" cy="738664"/>
          </a:xfrm>
          <a:prstGeom prst="rect">
            <a:avLst/>
          </a:prstGeom>
          <a:solidFill>
            <a:schemeClr val="accent1"/>
          </a:solidFill>
        </p:spPr>
        <p:txBody>
          <a:bodyPr wrap="square">
            <a:spAutoFit/>
          </a:bodyPr>
          <a:lstStyle/>
          <a:p>
            <a:pPr defTabSz="457200"/>
            <a:r>
              <a:rPr lang="en-US" sz="1400" dirty="0">
                <a:solidFill>
                  <a:schemeClr val="bg1"/>
                </a:solidFill>
                <a:latin typeface="+mj-lt"/>
                <a:ea typeface="Arial Unicode MS" panose="020B0604020202020204" pitchFamily="34" charset="-128"/>
              </a:rPr>
              <a:t>Word Association uses Pearson correlation but only returns positive values.  Thus, terms can only be positively associated.  This is because there are so many terms that most everything would be negatively “correlated” in that is appears without the term you’re searching for( actually associated).  </a:t>
            </a:r>
          </a:p>
        </p:txBody>
      </p:sp>
      <p:grpSp>
        <p:nvGrpSpPr>
          <p:cNvPr id="2" name="Group 1">
            <a:extLst>
              <a:ext uri="{FF2B5EF4-FFF2-40B4-BE49-F238E27FC236}">
                <a16:creationId xmlns:a16="http://schemas.microsoft.com/office/drawing/2014/main" id="{EB6AEF77-A24C-45ED-A28A-80640EF08A83}"/>
              </a:ext>
            </a:extLst>
          </p:cNvPr>
          <p:cNvGrpSpPr/>
          <p:nvPr/>
        </p:nvGrpSpPr>
        <p:grpSpPr>
          <a:xfrm>
            <a:off x="259305" y="2499738"/>
            <a:ext cx="8611738" cy="584775"/>
            <a:chOff x="259307" y="1102102"/>
            <a:chExt cx="8611738" cy="584775"/>
          </a:xfrm>
        </p:grpSpPr>
        <p:sp>
          <p:nvSpPr>
            <p:cNvPr id="10" name="Rectangle 9">
              <a:extLst>
                <a:ext uri="{FF2B5EF4-FFF2-40B4-BE49-F238E27FC236}">
                  <a16:creationId xmlns:a16="http://schemas.microsoft.com/office/drawing/2014/main" id="{36A3BFF8-5C6D-4FAD-980D-98BA8B6D4B46}"/>
                </a:ext>
              </a:extLst>
            </p:cNvPr>
            <p:cNvSpPr/>
            <p:nvPr/>
          </p:nvSpPr>
          <p:spPr>
            <a:xfrm>
              <a:off x="259307" y="1102102"/>
              <a:ext cx="8611738" cy="584775"/>
            </a:xfrm>
            <a:prstGeom prst="rect">
              <a:avLst/>
            </a:prstGeom>
            <a:solidFill>
              <a:schemeClr val="bg1">
                <a:lumMod val="85000"/>
              </a:schemeClr>
            </a:solidFill>
          </p:spPr>
          <p:txBody>
            <a:bodyPr wrap="square">
              <a:spAutoFit/>
            </a:bodyPr>
            <a:lstStyle/>
            <a:p>
              <a:pPr defTabSz="457200"/>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Inspect word associations</a:t>
              </a:r>
            </a:p>
            <a:p>
              <a:pPr defTabSz="457200"/>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associations&lt;-</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findAssocs</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txtDTMa</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never</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0.30)</a:t>
              </a:r>
            </a:p>
          </p:txBody>
        </p:sp>
        <p:sp>
          <p:nvSpPr>
            <p:cNvPr id="12" name="Oval 11">
              <a:extLst>
                <a:ext uri="{FF2B5EF4-FFF2-40B4-BE49-F238E27FC236}">
                  <a16:creationId xmlns:a16="http://schemas.microsoft.com/office/drawing/2014/main" id="{C57E16E0-0E42-427E-A641-3FD778FEFA8D}"/>
                </a:ext>
              </a:extLst>
            </p:cNvPr>
            <p:cNvSpPr/>
            <p:nvPr/>
          </p:nvSpPr>
          <p:spPr>
            <a:xfrm>
              <a:off x="4105701" y="1317234"/>
              <a:ext cx="973540" cy="369058"/>
            </a:xfrm>
            <a:prstGeom prst="ellipse">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TextBox 12">
            <a:extLst>
              <a:ext uri="{FF2B5EF4-FFF2-40B4-BE49-F238E27FC236}">
                <a16:creationId xmlns:a16="http://schemas.microsoft.com/office/drawing/2014/main" id="{D7A7185D-FC3A-4F10-8DE7-174F92904FA2}"/>
              </a:ext>
            </a:extLst>
          </p:cNvPr>
          <p:cNvSpPr txBox="1"/>
          <p:nvPr/>
        </p:nvSpPr>
        <p:spPr>
          <a:xfrm>
            <a:off x="259306" y="1319240"/>
            <a:ext cx="8611737" cy="584775"/>
          </a:xfrm>
          <a:prstGeom prst="rect">
            <a:avLst/>
          </a:prstGeom>
          <a:solidFill>
            <a:schemeClr val="accent3"/>
          </a:solidFill>
        </p:spPr>
        <p:txBody>
          <a:bodyPr wrap="square" rtlCol="0">
            <a:spAutoFit/>
          </a:bodyPr>
          <a:lstStyle/>
          <a:p>
            <a:pPr defTabSz="457200"/>
            <a:r>
              <a:rPr lang="en-US" sz="1600" kern="1200" dirty="0">
                <a:solidFill>
                  <a:prstClr val="white"/>
                </a:solidFill>
                <a:latin typeface="+mj-lt"/>
                <a:ea typeface="Arial Unicode MS" panose="020B0604020202020204" pitchFamily="34" charset="-128"/>
                <a:cs typeface="Arial Unicode MS" panose="020B0604020202020204" pitchFamily="34" charset="-128"/>
              </a:rPr>
              <a:t>Tuning Parameter: Adjust 0.30  to get the terms that are associated/correlated .30 or more with the unexpected term term</a:t>
            </a:r>
            <a:r>
              <a:rPr lang="en-US" sz="1600" dirty="0">
                <a:solidFill>
                  <a:prstClr val="white"/>
                </a:solidFill>
                <a:latin typeface="+mj-lt"/>
                <a:ea typeface="Arial Unicode MS" panose="020B0604020202020204" pitchFamily="34" charset="-128"/>
                <a:cs typeface="Arial Unicode MS" panose="020B0604020202020204" pitchFamily="34" charset="-128"/>
              </a:rPr>
              <a:t>s.</a:t>
            </a:r>
            <a:endParaRPr lang="en-US" sz="1600" kern="1200" dirty="0">
              <a:solidFill>
                <a:prstClr val="white"/>
              </a:solidFill>
              <a:latin typeface="+mj-lt"/>
              <a:ea typeface="Arial Unicode MS" panose="020B0604020202020204" pitchFamily="34" charset="-128"/>
              <a:cs typeface="Arial Unicode MS" panose="020B0604020202020204" pitchFamily="34" charset="-128"/>
            </a:endParaRPr>
          </a:p>
        </p:txBody>
      </p:sp>
      <p:sp>
        <p:nvSpPr>
          <p:cNvPr id="4" name="TextBox 3">
            <a:extLst>
              <a:ext uri="{FF2B5EF4-FFF2-40B4-BE49-F238E27FC236}">
                <a16:creationId xmlns:a16="http://schemas.microsoft.com/office/drawing/2014/main" id="{DFD4763B-7D08-4C14-A8ED-25C6AD97BD71}"/>
              </a:ext>
            </a:extLst>
          </p:cNvPr>
          <p:cNvSpPr txBox="1"/>
          <p:nvPr/>
        </p:nvSpPr>
        <p:spPr>
          <a:xfrm>
            <a:off x="0" y="3034780"/>
            <a:ext cx="8684237" cy="369332"/>
          </a:xfrm>
          <a:prstGeom prst="rect">
            <a:avLst/>
          </a:prstGeom>
          <a:noFill/>
        </p:spPr>
        <p:txBody>
          <a:bodyPr wrap="none" rtlCol="0">
            <a:spAutoFit/>
          </a:bodyPr>
          <a:lstStyle/>
          <a:p>
            <a:r>
              <a:rPr lang="en-US" i="1" dirty="0"/>
              <a:t>Any word that appears at least 30% of the time with “never” in  document will be returned.</a:t>
            </a:r>
          </a:p>
        </p:txBody>
      </p:sp>
      <p:cxnSp>
        <p:nvCxnSpPr>
          <p:cNvPr id="14" name="Straight Connector 13">
            <a:extLst>
              <a:ext uri="{FF2B5EF4-FFF2-40B4-BE49-F238E27FC236}">
                <a16:creationId xmlns:a16="http://schemas.microsoft.com/office/drawing/2014/main" id="{2C3D6179-EE5A-904E-9A8E-9DC0233554DF}"/>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38848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061A48-CB41-4DDC-B8B9-5FFA68FF2634}"/>
              </a:ext>
            </a:extLst>
          </p:cNvPr>
          <p:cNvSpPr txBox="1">
            <a:spLocks/>
          </p:cNvSpPr>
          <p:nvPr/>
        </p:nvSpPr>
        <p:spPr>
          <a:xfrm>
            <a:off x="628650" y="365126"/>
            <a:ext cx="7886700" cy="591477"/>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dirty="0"/>
              <a:t>Word Association to plot</a:t>
            </a:r>
          </a:p>
        </p:txBody>
      </p:sp>
      <p:sp>
        <p:nvSpPr>
          <p:cNvPr id="6" name="Date Placeholder 1">
            <a:extLst>
              <a:ext uri="{FF2B5EF4-FFF2-40B4-BE49-F238E27FC236}">
                <a16:creationId xmlns:a16="http://schemas.microsoft.com/office/drawing/2014/main" id="{A5024E83-7248-49C6-83CE-0C52F416FEF7}"/>
              </a:ext>
            </a:extLst>
          </p:cNvPr>
          <p:cNvSpPr>
            <a:spLocks noGrp="1"/>
          </p:cNvSpPr>
          <p:nvPr>
            <p:ph type="dt" sz="half" idx="10"/>
          </p:nvPr>
        </p:nvSpPr>
        <p:spPr/>
        <p:txBody>
          <a:bodyPr/>
          <a:lstStyle/>
          <a:p>
            <a:fld id="{6700A58B-DD98-43D0-B791-721480A02982}" type="datetime1">
              <a:rPr lang="en-US" smtClean="0"/>
              <a:t>6/2/26</a:t>
            </a:fld>
            <a:endParaRPr lang="en-US"/>
          </a:p>
        </p:txBody>
      </p:sp>
      <p:sp>
        <p:nvSpPr>
          <p:cNvPr id="15" name="Footer Placeholder 5">
            <a:extLst>
              <a:ext uri="{FF2B5EF4-FFF2-40B4-BE49-F238E27FC236}">
                <a16:creationId xmlns:a16="http://schemas.microsoft.com/office/drawing/2014/main" id="{FD3090C5-5CE1-4A44-97C8-EB04849527B4}"/>
              </a:ext>
            </a:extLst>
          </p:cNvPr>
          <p:cNvSpPr>
            <a:spLocks noGrp="1"/>
          </p:cNvSpPr>
          <p:nvPr>
            <p:ph type="ftr" sz="quarter" idx="3"/>
          </p:nvPr>
        </p:nvSpPr>
        <p:spPr/>
        <p:txBody>
          <a:bodyPr/>
          <a:lstStyle/>
          <a:p>
            <a:r>
              <a:rPr lang="en-US" dirty="0"/>
              <a:t>Kwartler</a:t>
            </a:r>
          </a:p>
        </p:txBody>
      </p:sp>
      <p:sp>
        <p:nvSpPr>
          <p:cNvPr id="7" name="Slide Number Placeholder 3">
            <a:extLst>
              <a:ext uri="{FF2B5EF4-FFF2-40B4-BE49-F238E27FC236}">
                <a16:creationId xmlns:a16="http://schemas.microsoft.com/office/drawing/2014/main" id="{269E8134-5ACB-40D1-8C0C-86324C8FEF4A}"/>
              </a:ext>
            </a:extLst>
          </p:cNvPr>
          <p:cNvSpPr>
            <a:spLocks noGrp="1"/>
          </p:cNvSpPr>
          <p:nvPr>
            <p:ph type="sldNum" sz="quarter" idx="4"/>
          </p:nvPr>
        </p:nvSpPr>
        <p:spPr/>
        <p:txBody>
          <a:bodyPr/>
          <a:lstStyle/>
          <a:p>
            <a:fld id="{37290FF7-652B-4475-AEAB-8B1A5D23AE09}" type="slidenum">
              <a:rPr lang="en-US" smtClean="0"/>
              <a:t>15</a:t>
            </a:fld>
            <a:endParaRPr lang="en-US"/>
          </a:p>
        </p:txBody>
      </p:sp>
      <p:sp>
        <p:nvSpPr>
          <p:cNvPr id="10" name="Rectangle 9">
            <a:extLst>
              <a:ext uri="{FF2B5EF4-FFF2-40B4-BE49-F238E27FC236}">
                <a16:creationId xmlns:a16="http://schemas.microsoft.com/office/drawing/2014/main" id="{36A3BFF8-5C6D-4FAD-980D-98BA8B6D4B46}"/>
              </a:ext>
            </a:extLst>
          </p:cNvPr>
          <p:cNvSpPr/>
          <p:nvPr/>
        </p:nvSpPr>
        <p:spPr>
          <a:xfrm>
            <a:off x="266131" y="1859185"/>
            <a:ext cx="8611738" cy="2800767"/>
          </a:xfrm>
          <a:prstGeom prst="rect">
            <a:avLst/>
          </a:prstGeom>
          <a:solidFill>
            <a:schemeClr val="bg1">
              <a:lumMod val="85000"/>
            </a:schemeClr>
          </a:solidFill>
        </p:spPr>
        <p:txBody>
          <a:bodyPr wrap="square">
            <a:spAutoFit/>
          </a:bodyPr>
          <a:lstStyle/>
          <a:p>
            <a:pPr defTabSz="457200"/>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Make a dot plot</a:t>
            </a:r>
          </a:p>
          <a:p>
            <a:pPr defTabSz="457200"/>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assocDF</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&lt;- </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data.frame</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(terms=names(associations[[1]]),</a:t>
            </a:r>
          </a:p>
          <a:p>
            <a:pPr defTabSz="457200"/>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value=</a:t>
            </a:r>
            <a:r>
              <a:rPr lang="en-US" sz="16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unlist</a:t>
            </a:r>
            <a:r>
              <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(associations))</a:t>
            </a:r>
          </a:p>
          <a:p>
            <a:pPr defTabSz="457200"/>
            <a:endPar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endParaRPr>
          </a:p>
          <a:p>
            <a:pPr defTabSz="457200"/>
            <a:r>
              <a:rPr lang="en-US" sz="1600" dirty="0" err="1">
                <a:solidFill>
                  <a:schemeClr val="accent1">
                    <a:lumMod val="60000"/>
                    <a:lumOff val="40000"/>
                  </a:schemeClr>
                </a:solidFill>
                <a:latin typeface="Consolas" panose="020B0609020204030204" pitchFamily="49" charset="0"/>
                <a:ea typeface="Arial Unicode MS" panose="020B0604020202020204" pitchFamily="34" charset="-128"/>
                <a:cs typeface="Consolas" panose="020B0609020204030204" pitchFamily="49" charset="0"/>
              </a:rPr>
              <a:t>assocDF$</a:t>
            </a:r>
            <a:r>
              <a:rPr lang="en-US" sz="1600" kern="1200" dirty="0" err="1">
                <a:solidFill>
                  <a:schemeClr val="accent1">
                    <a:lumMod val="60000"/>
                    <a:lumOff val="40000"/>
                  </a:schemeClr>
                </a:solidFill>
                <a:latin typeface="Consolas" panose="020B0609020204030204" pitchFamily="49" charset="0"/>
                <a:ea typeface="Arial Unicode MS" panose="020B0604020202020204" pitchFamily="34" charset="-128"/>
                <a:cs typeface="Consolas" panose="020B0609020204030204" pitchFamily="49" charset="0"/>
              </a:rPr>
              <a:t>terms</a:t>
            </a:r>
            <a:r>
              <a:rPr lang="en-US" sz="1600" kern="1200" dirty="0">
                <a:solidFill>
                  <a:schemeClr val="accent1">
                    <a:lumMod val="60000"/>
                    <a:lumOff val="40000"/>
                  </a:schemeClr>
                </a:solidFill>
                <a:latin typeface="Consolas" panose="020B0609020204030204" pitchFamily="49" charset="0"/>
                <a:ea typeface="Arial Unicode MS" panose="020B0604020202020204" pitchFamily="34" charset="-128"/>
                <a:cs typeface="Consolas" panose="020B0609020204030204" pitchFamily="49" charset="0"/>
              </a:rPr>
              <a:t> &lt;- factor(</a:t>
            </a:r>
            <a:r>
              <a:rPr lang="en-US" sz="1600" dirty="0" err="1">
                <a:solidFill>
                  <a:schemeClr val="accent1">
                    <a:lumMod val="60000"/>
                    <a:lumOff val="40000"/>
                  </a:schemeClr>
                </a:solidFill>
                <a:latin typeface="Consolas" panose="020B0609020204030204" pitchFamily="49" charset="0"/>
                <a:ea typeface="Arial Unicode MS" panose="020B0604020202020204" pitchFamily="34" charset="-128"/>
                <a:cs typeface="Consolas" panose="020B0609020204030204" pitchFamily="49" charset="0"/>
              </a:rPr>
              <a:t>assocDF</a:t>
            </a:r>
            <a:r>
              <a:rPr lang="en-US" sz="1600" dirty="0">
                <a:solidFill>
                  <a:schemeClr val="accent1">
                    <a:lumMod val="60000"/>
                    <a:lumOff val="40000"/>
                  </a:schemeClr>
                </a:solidFill>
                <a:latin typeface="Consolas" panose="020B0609020204030204" pitchFamily="49" charset="0"/>
                <a:ea typeface="Arial Unicode MS" panose="020B0604020202020204" pitchFamily="34" charset="-128"/>
                <a:cs typeface="Consolas" panose="020B0609020204030204" pitchFamily="49" charset="0"/>
              </a:rPr>
              <a:t> </a:t>
            </a:r>
            <a:r>
              <a:rPr lang="en-US" sz="1600" kern="1200" dirty="0">
                <a:solidFill>
                  <a:schemeClr val="accent1">
                    <a:lumMod val="60000"/>
                    <a:lumOff val="40000"/>
                  </a:schemeClr>
                </a:solidFill>
                <a:latin typeface="Consolas" panose="020B0609020204030204" pitchFamily="49" charset="0"/>
                <a:ea typeface="Arial Unicode MS" panose="020B0604020202020204" pitchFamily="34" charset="-128"/>
                <a:cs typeface="Consolas" panose="020B0609020204030204" pitchFamily="49" charset="0"/>
              </a:rPr>
              <a:t>$terms, levels=</a:t>
            </a:r>
            <a:r>
              <a:rPr lang="en-US" sz="1600" dirty="0">
                <a:solidFill>
                  <a:schemeClr val="accent1">
                    <a:lumMod val="60000"/>
                    <a:lumOff val="40000"/>
                  </a:schemeClr>
                </a:solidFill>
                <a:latin typeface="Consolas" panose="020B0609020204030204" pitchFamily="49" charset="0"/>
                <a:ea typeface="Arial Unicode MS" panose="020B0604020202020204" pitchFamily="34" charset="-128"/>
                <a:cs typeface="Consolas" panose="020B0609020204030204" pitchFamily="49" charset="0"/>
              </a:rPr>
              <a:t> </a:t>
            </a:r>
            <a:r>
              <a:rPr lang="en-US" sz="1600" dirty="0" err="1">
                <a:solidFill>
                  <a:schemeClr val="accent1">
                    <a:lumMod val="60000"/>
                    <a:lumOff val="40000"/>
                  </a:schemeClr>
                </a:solidFill>
                <a:latin typeface="Consolas" panose="020B0609020204030204" pitchFamily="49" charset="0"/>
                <a:ea typeface="Arial Unicode MS" panose="020B0604020202020204" pitchFamily="34" charset="-128"/>
                <a:cs typeface="Consolas" panose="020B0609020204030204" pitchFamily="49" charset="0"/>
              </a:rPr>
              <a:t>assocDF</a:t>
            </a:r>
            <a:r>
              <a:rPr lang="en-US" sz="1600" dirty="0">
                <a:solidFill>
                  <a:schemeClr val="accent1">
                    <a:lumMod val="60000"/>
                    <a:lumOff val="40000"/>
                  </a:schemeClr>
                </a:solidFill>
                <a:latin typeface="Consolas" panose="020B0609020204030204" pitchFamily="49" charset="0"/>
                <a:ea typeface="Arial Unicode MS" panose="020B0604020202020204" pitchFamily="34" charset="-128"/>
                <a:cs typeface="Consolas" panose="020B0609020204030204" pitchFamily="49" charset="0"/>
              </a:rPr>
              <a:t> </a:t>
            </a:r>
            <a:r>
              <a:rPr lang="en-US" sz="1600" kern="1200" dirty="0">
                <a:solidFill>
                  <a:schemeClr val="accent1">
                    <a:lumMod val="60000"/>
                    <a:lumOff val="40000"/>
                  </a:schemeClr>
                </a:solidFill>
                <a:latin typeface="Consolas" panose="020B0609020204030204" pitchFamily="49" charset="0"/>
                <a:ea typeface="Arial Unicode MS" panose="020B0604020202020204" pitchFamily="34" charset="-128"/>
                <a:cs typeface="Consolas" panose="020B0609020204030204" pitchFamily="49" charset="0"/>
              </a:rPr>
              <a:t>$terms)</a:t>
            </a:r>
          </a:p>
          <a:p>
            <a:pPr defTabSz="457200"/>
            <a:endPar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endParaRPr>
          </a:p>
          <a:p>
            <a:pPr defTabSz="457200"/>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ggplot</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assocDF</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aes</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(y=terms)) +  </a:t>
            </a:r>
          </a:p>
          <a:p>
            <a:pPr defTabSz="457200"/>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geom_point</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aes</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(x=value), data=</a:t>
            </a:r>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assocDF</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col='#c00c00') +  </a:t>
            </a:r>
          </a:p>
          <a:p>
            <a:pPr defTabSz="457200"/>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theme_gdocs</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 </a:t>
            </a:r>
          </a:p>
          <a:p>
            <a:pPr defTabSz="457200"/>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geom_text</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aes</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(x=</a:t>
            </a:r>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value,label</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=value), </a:t>
            </a:r>
          </a:p>
          <a:p>
            <a:pPr defTabSz="457200"/>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colour</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="red",</a:t>
            </a:r>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hjust</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="inward", </a:t>
            </a:r>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vjust</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="inward" , size=3)</a:t>
            </a:r>
            <a:endParaRPr lang="en-US" sz="16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endParaRPr>
          </a:p>
        </p:txBody>
      </p:sp>
      <p:sp>
        <p:nvSpPr>
          <p:cNvPr id="14" name="Rectangle 13">
            <a:extLst>
              <a:ext uri="{FF2B5EF4-FFF2-40B4-BE49-F238E27FC236}">
                <a16:creationId xmlns:a16="http://schemas.microsoft.com/office/drawing/2014/main" id="{6247FB40-E1FC-465B-8AC4-135E069F6E7A}"/>
              </a:ext>
            </a:extLst>
          </p:cNvPr>
          <p:cNvSpPr/>
          <p:nvPr/>
        </p:nvSpPr>
        <p:spPr>
          <a:xfrm>
            <a:off x="179917" y="1302982"/>
            <a:ext cx="8784167" cy="25391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Changing terms into factors lets ggplot2 order them</a:t>
            </a:r>
          </a:p>
        </p:txBody>
      </p:sp>
      <p:cxnSp>
        <p:nvCxnSpPr>
          <p:cNvPr id="8" name="Straight Connector 7">
            <a:extLst>
              <a:ext uri="{FF2B5EF4-FFF2-40B4-BE49-F238E27FC236}">
                <a16:creationId xmlns:a16="http://schemas.microsoft.com/office/drawing/2014/main" id="{A68C1A0A-774F-F241-8E78-4A40880FBE3D}"/>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AF2C155-BC5D-784A-A2F0-7EA366D1C884}"/>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87212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210D5C-D4DA-42F2-9C4A-993DFC77B30A}"/>
              </a:ext>
            </a:extLst>
          </p:cNvPr>
          <p:cNvSpPr>
            <a:spLocks noGrp="1"/>
          </p:cNvSpPr>
          <p:nvPr>
            <p:ph type="dt" sz="half" idx="10"/>
          </p:nvPr>
        </p:nvSpPr>
        <p:spPr/>
        <p:txBody>
          <a:bodyPr/>
          <a:lstStyle/>
          <a:p>
            <a:fld id="{6700A58B-DD98-43D0-B791-721480A02982}" type="datetime1">
              <a:rPr lang="en-US" smtClean="0"/>
              <a:t>6/2/26</a:t>
            </a:fld>
            <a:endParaRPr lang="en-US"/>
          </a:p>
        </p:txBody>
      </p:sp>
      <p:sp>
        <p:nvSpPr>
          <p:cNvPr id="3" name="Title 2">
            <a:extLst>
              <a:ext uri="{FF2B5EF4-FFF2-40B4-BE49-F238E27FC236}">
                <a16:creationId xmlns:a16="http://schemas.microsoft.com/office/drawing/2014/main" id="{82C34DE6-46FB-47F0-9733-C3D27E997C9C}"/>
              </a:ext>
            </a:extLst>
          </p:cNvPr>
          <p:cNvSpPr>
            <a:spLocks noGrp="1"/>
          </p:cNvSpPr>
          <p:nvPr>
            <p:ph type="title"/>
          </p:nvPr>
        </p:nvSpPr>
        <p:spPr>
          <a:xfrm>
            <a:off x="628650" y="112873"/>
            <a:ext cx="7886700" cy="591477"/>
          </a:xfrm>
        </p:spPr>
        <p:txBody>
          <a:bodyPr/>
          <a:lstStyle/>
          <a:p>
            <a:r>
              <a:rPr lang="en-US" sz="3200" dirty="0"/>
              <a:t>Back to </a:t>
            </a:r>
            <a:r>
              <a:rPr lang="en-US" sz="3200" dirty="0" err="1"/>
              <a:t>B_Frequency_Associations.R</a:t>
            </a:r>
            <a:r>
              <a:rPr lang="en-US" sz="3200" dirty="0"/>
              <a:t> </a:t>
            </a:r>
          </a:p>
        </p:txBody>
      </p:sp>
      <p:sp>
        <p:nvSpPr>
          <p:cNvPr id="6" name="Footer Placeholder 5">
            <a:extLst>
              <a:ext uri="{FF2B5EF4-FFF2-40B4-BE49-F238E27FC236}">
                <a16:creationId xmlns:a16="http://schemas.microsoft.com/office/drawing/2014/main" id="{9AEE3B0A-243D-4D84-82C8-9D7223818081}"/>
              </a:ext>
            </a:extLst>
          </p:cNvPr>
          <p:cNvSpPr>
            <a:spLocks noGrp="1"/>
          </p:cNvSpPr>
          <p:nvPr>
            <p:ph type="ftr" sz="quarter" idx="3"/>
          </p:nvPr>
        </p:nvSpPr>
        <p:spPr/>
        <p:txBody>
          <a:bodyPr/>
          <a:lstStyle/>
          <a:p>
            <a:r>
              <a:rPr lang="en-US" dirty="0"/>
              <a:t>Kwartler </a:t>
            </a:r>
          </a:p>
        </p:txBody>
      </p:sp>
      <p:sp>
        <p:nvSpPr>
          <p:cNvPr id="4" name="Slide Number Placeholder 3">
            <a:extLst>
              <a:ext uri="{FF2B5EF4-FFF2-40B4-BE49-F238E27FC236}">
                <a16:creationId xmlns:a16="http://schemas.microsoft.com/office/drawing/2014/main" id="{DE6123B4-98F7-4DC5-97DE-E4E470717960}"/>
              </a:ext>
            </a:extLst>
          </p:cNvPr>
          <p:cNvSpPr>
            <a:spLocks noGrp="1"/>
          </p:cNvSpPr>
          <p:nvPr>
            <p:ph type="sldNum" sz="quarter" idx="4"/>
          </p:nvPr>
        </p:nvSpPr>
        <p:spPr/>
        <p:txBody>
          <a:bodyPr/>
          <a:lstStyle/>
          <a:p>
            <a:fld id="{37290FF7-652B-4475-AEAB-8B1A5D23AE09}" type="slidenum">
              <a:rPr lang="en-US" smtClean="0"/>
              <a:t>16</a:t>
            </a:fld>
            <a:endParaRPr lang="en-US"/>
          </a:p>
        </p:txBody>
      </p:sp>
      <p:sp>
        <p:nvSpPr>
          <p:cNvPr id="9" name="TextBox 8">
            <a:extLst>
              <a:ext uri="{FF2B5EF4-FFF2-40B4-BE49-F238E27FC236}">
                <a16:creationId xmlns:a16="http://schemas.microsoft.com/office/drawing/2014/main" id="{0D38C65D-DB44-46A4-800F-3896BD9C6EA5}"/>
              </a:ext>
            </a:extLst>
          </p:cNvPr>
          <p:cNvSpPr txBox="1"/>
          <p:nvPr/>
        </p:nvSpPr>
        <p:spPr>
          <a:xfrm>
            <a:off x="266085" y="639207"/>
            <a:ext cx="8249265" cy="338554"/>
          </a:xfrm>
          <a:prstGeom prst="rect">
            <a:avLst/>
          </a:prstGeom>
          <a:solidFill>
            <a:schemeClr val="accent3"/>
          </a:solidFill>
        </p:spPr>
        <p:txBody>
          <a:bodyPr wrap="square" rtlCol="0">
            <a:spAutoFit/>
          </a:bodyPr>
          <a:lstStyle/>
          <a:p>
            <a:pPr defTabSz="457200"/>
            <a:r>
              <a:rPr lang="en-US" sz="1600" kern="1200" dirty="0">
                <a:solidFill>
                  <a:prstClr val="white"/>
                </a:solidFill>
                <a:latin typeface="+mj-lt"/>
                <a:ea typeface="Arial Unicode MS" panose="020B0604020202020204" pitchFamily="34" charset="-128"/>
                <a:cs typeface="Arial Unicode MS" panose="020B0604020202020204" pitchFamily="34" charset="-128"/>
              </a:rPr>
              <a:t>“received” &amp; “sent” have the highest word association with “never”</a:t>
            </a:r>
          </a:p>
        </p:txBody>
      </p:sp>
      <p:cxnSp>
        <p:nvCxnSpPr>
          <p:cNvPr id="13" name="Straight Connector 12">
            <a:extLst>
              <a:ext uri="{FF2B5EF4-FFF2-40B4-BE49-F238E27FC236}">
                <a16:creationId xmlns:a16="http://schemas.microsoft.com/office/drawing/2014/main" id="{F80EB2F3-9756-4E4E-8856-E88DF8B5B7D1}"/>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E29A8BF1-9A2B-9414-65F8-7790031B9F7C}"/>
              </a:ext>
            </a:extLst>
          </p:cNvPr>
          <p:cNvPicPr>
            <a:picLocks noChangeAspect="1"/>
          </p:cNvPicPr>
          <p:nvPr/>
        </p:nvPicPr>
        <p:blipFill>
          <a:blip r:embed="rId2"/>
          <a:stretch>
            <a:fillRect/>
          </a:stretch>
        </p:blipFill>
        <p:spPr>
          <a:xfrm>
            <a:off x="266085" y="1126913"/>
            <a:ext cx="7265395" cy="3604729"/>
          </a:xfrm>
          <a:prstGeom prst="rect">
            <a:avLst/>
          </a:prstGeom>
        </p:spPr>
      </p:pic>
      <p:sp>
        <p:nvSpPr>
          <p:cNvPr id="8" name="TextBox 7">
            <a:extLst>
              <a:ext uri="{FF2B5EF4-FFF2-40B4-BE49-F238E27FC236}">
                <a16:creationId xmlns:a16="http://schemas.microsoft.com/office/drawing/2014/main" id="{B32437E3-8862-1327-7E86-8F064D73294A}"/>
              </a:ext>
            </a:extLst>
          </p:cNvPr>
          <p:cNvSpPr txBox="1"/>
          <p:nvPr/>
        </p:nvSpPr>
        <p:spPr>
          <a:xfrm>
            <a:off x="408973" y="5013557"/>
            <a:ext cx="8697947" cy="584775"/>
          </a:xfrm>
          <a:prstGeom prst="rect">
            <a:avLst/>
          </a:prstGeom>
          <a:noFill/>
        </p:spPr>
        <p:txBody>
          <a:bodyPr wrap="square">
            <a:spAutoFit/>
          </a:bodyPr>
          <a:lstStyle/>
          <a:p>
            <a:r>
              <a:rPr lang="en-US" sz="1600" dirty="0">
                <a:latin typeface="Consolas" panose="020B0609020204030204" pitchFamily="49" charset="0"/>
                <a:cs typeface="Consolas" panose="020B0609020204030204" pitchFamily="49" charset="0"/>
              </a:rPr>
              <a:t>grep("never.*</a:t>
            </a:r>
            <a:r>
              <a:rPr lang="en-US" sz="1600" dirty="0" err="1">
                <a:latin typeface="Consolas" panose="020B0609020204030204" pitchFamily="49" charset="0"/>
                <a:cs typeface="Consolas" panose="020B0609020204030204" pitchFamily="49" charset="0"/>
              </a:rPr>
              <a:t>received|received</a:t>
            </a:r>
            <a:r>
              <a:rPr lang="en-US" sz="1600" dirty="0">
                <a:latin typeface="Consolas" panose="020B0609020204030204" pitchFamily="49" charset="0"/>
                <a:cs typeface="Consolas" panose="020B0609020204030204" pitchFamily="49" charset="0"/>
              </a:rPr>
              <a:t>.*never", </a:t>
            </a:r>
            <a:r>
              <a:rPr lang="en-US" sz="1600" dirty="0" err="1">
                <a:latin typeface="Consolas" panose="020B0609020204030204" pitchFamily="49" charset="0"/>
                <a:cs typeface="Consolas" panose="020B0609020204030204" pitchFamily="49" charset="0"/>
              </a:rPr>
              <a:t>text$Consumer.complaint.narrative</a:t>
            </a:r>
            <a:r>
              <a:rPr lang="en-US" sz="1600" dirty="0">
                <a:latin typeface="Consolas" panose="020B0609020204030204" pitchFamily="49" charset="0"/>
                <a:cs typeface="Consolas" panose="020B0609020204030204" pitchFamily="49" charset="0"/>
              </a:rPr>
              <a:t>)</a:t>
            </a:r>
          </a:p>
          <a:p>
            <a:r>
              <a:rPr lang="en-US" sz="1600" dirty="0" err="1">
                <a:latin typeface="Consolas" panose="020B0609020204030204" pitchFamily="49" charset="0"/>
                <a:cs typeface="Consolas" panose="020B0609020204030204" pitchFamily="49" charset="0"/>
              </a:rPr>
              <a:t>text$Consumer.complaint.narrative</a:t>
            </a:r>
            <a:r>
              <a:rPr lang="en-US" sz="1600" dirty="0">
                <a:latin typeface="Consolas" panose="020B0609020204030204" pitchFamily="49" charset="0"/>
                <a:cs typeface="Consolas" panose="020B0609020204030204" pitchFamily="49" charset="0"/>
              </a:rPr>
              <a:t>[</a:t>
            </a:r>
            <a:r>
              <a:rPr lang="en-US" sz="1600" dirty="0" err="1">
                <a:latin typeface="Consolas" panose="020B0609020204030204" pitchFamily="49" charset="0"/>
                <a:cs typeface="Consolas" panose="020B0609020204030204" pitchFamily="49" charset="0"/>
              </a:rPr>
              <a:t>matches_never_received</a:t>
            </a:r>
            <a:r>
              <a:rPr lang="en-US" sz="1600" dirty="0">
                <a:latin typeface="Consolas" panose="020B0609020204030204" pitchFamily="49" charset="0"/>
                <a:cs typeface="Consolas" panose="020B0609020204030204" pitchFamily="49" charset="0"/>
              </a:rPr>
              <a:t>[3]]</a:t>
            </a:r>
          </a:p>
        </p:txBody>
      </p:sp>
      <p:pic>
        <p:nvPicPr>
          <p:cNvPr id="10" name="Picture 9">
            <a:extLst>
              <a:ext uri="{FF2B5EF4-FFF2-40B4-BE49-F238E27FC236}">
                <a16:creationId xmlns:a16="http://schemas.microsoft.com/office/drawing/2014/main" id="{F3F4899B-86AE-ED7B-5850-B3DF834DD16C}"/>
              </a:ext>
            </a:extLst>
          </p:cNvPr>
          <p:cNvPicPr>
            <a:picLocks noChangeAspect="1"/>
          </p:cNvPicPr>
          <p:nvPr/>
        </p:nvPicPr>
        <p:blipFill>
          <a:blip r:embed="rId3"/>
          <a:stretch>
            <a:fillRect/>
          </a:stretch>
        </p:blipFill>
        <p:spPr>
          <a:xfrm>
            <a:off x="408973" y="5598332"/>
            <a:ext cx="7772400" cy="476104"/>
          </a:xfrm>
          <a:prstGeom prst="rect">
            <a:avLst/>
          </a:prstGeom>
        </p:spPr>
      </p:pic>
      <p:sp>
        <p:nvSpPr>
          <p:cNvPr id="14" name="Rectangle 13">
            <a:extLst>
              <a:ext uri="{FF2B5EF4-FFF2-40B4-BE49-F238E27FC236}">
                <a16:creationId xmlns:a16="http://schemas.microsoft.com/office/drawing/2014/main" id="{1BC8D719-ACBF-3F5B-BD38-EAA2235452A0}"/>
              </a:ext>
            </a:extLst>
          </p:cNvPr>
          <p:cNvSpPr/>
          <p:nvPr/>
        </p:nvSpPr>
        <p:spPr>
          <a:xfrm>
            <a:off x="5239910" y="5904100"/>
            <a:ext cx="1558453" cy="193534"/>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40599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A1E927-42A1-4F18-98B4-B2286686F93B}"/>
              </a:ext>
            </a:extLst>
          </p:cNvPr>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a:extLst>
              <a:ext uri="{FF2B5EF4-FFF2-40B4-BE49-F238E27FC236}">
                <a16:creationId xmlns:a16="http://schemas.microsoft.com/office/drawing/2014/main" id="{9E9892C0-018C-4DD0-97A5-7FC4FD6EB37D}"/>
              </a:ext>
            </a:extLst>
          </p:cNvPr>
          <p:cNvSpPr>
            <a:spLocks noGrp="1"/>
          </p:cNvSpPr>
          <p:nvPr>
            <p:ph type="title"/>
          </p:nvPr>
        </p:nvSpPr>
        <p:spPr/>
        <p:txBody>
          <a:bodyPr/>
          <a:lstStyle/>
          <a:p>
            <a:r>
              <a:rPr lang="en-US"/>
              <a:t>Association is NOT frequency.</a:t>
            </a:r>
            <a:endParaRPr lang="en-US" dirty="0"/>
          </a:p>
        </p:txBody>
      </p:sp>
      <p:sp>
        <p:nvSpPr>
          <p:cNvPr id="5" name="Footer Placeholder 4">
            <a:extLst>
              <a:ext uri="{FF2B5EF4-FFF2-40B4-BE49-F238E27FC236}">
                <a16:creationId xmlns:a16="http://schemas.microsoft.com/office/drawing/2014/main" id="{5A2500E2-DA47-4E11-95C9-97ABE6F857AD}"/>
              </a:ext>
            </a:extLst>
          </p:cNvPr>
          <p:cNvSpPr>
            <a:spLocks noGrp="1"/>
          </p:cNvSpPr>
          <p:nvPr>
            <p:ph type="ftr" sz="quarter" idx="3"/>
          </p:nvPr>
        </p:nvSpPr>
        <p:spPr/>
        <p:txBody>
          <a:bodyPr/>
          <a:lstStyle/>
          <a:p>
            <a:r>
              <a:rPr lang="en-US"/>
              <a:t>Kwartler</a:t>
            </a:r>
            <a:endParaRPr lang="en-US" dirty="0"/>
          </a:p>
        </p:txBody>
      </p:sp>
      <p:sp>
        <p:nvSpPr>
          <p:cNvPr id="4" name="Slide Number Placeholder 3">
            <a:extLst>
              <a:ext uri="{FF2B5EF4-FFF2-40B4-BE49-F238E27FC236}">
                <a16:creationId xmlns:a16="http://schemas.microsoft.com/office/drawing/2014/main" id="{630852DE-7F9F-4D93-B347-B6A4CEFF2F31}"/>
              </a:ext>
            </a:extLst>
          </p:cNvPr>
          <p:cNvSpPr>
            <a:spLocks noGrp="1"/>
          </p:cNvSpPr>
          <p:nvPr>
            <p:ph type="sldNum" sz="quarter" idx="4"/>
          </p:nvPr>
        </p:nvSpPr>
        <p:spPr/>
        <p:txBody>
          <a:bodyPr/>
          <a:lstStyle/>
          <a:p>
            <a:fld id="{37290FF7-652B-4475-AEAB-8B1A5D23AE09}" type="slidenum">
              <a:rPr lang="en-US" smtClean="0"/>
              <a:pPr/>
              <a:t>17</a:t>
            </a:fld>
            <a:endParaRPr lang="en-US"/>
          </a:p>
        </p:txBody>
      </p:sp>
      <p:pic>
        <p:nvPicPr>
          <p:cNvPr id="2050" name="Picture 2" descr="Image result for trap meme">
            <a:extLst>
              <a:ext uri="{FF2B5EF4-FFF2-40B4-BE49-F238E27FC236}">
                <a16:creationId xmlns:a16="http://schemas.microsoft.com/office/drawing/2014/main" id="{EDF7E365-FED3-4323-966C-BAFC885B13B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8650" y="2046954"/>
            <a:ext cx="4257368" cy="239477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816C205-326A-44F0-9783-879DB3FC3CCD}"/>
              </a:ext>
            </a:extLst>
          </p:cNvPr>
          <p:cNvSpPr txBox="1"/>
          <p:nvPr/>
        </p:nvSpPr>
        <p:spPr>
          <a:xfrm>
            <a:off x="5126600" y="2046954"/>
            <a:ext cx="3519949" cy="923330"/>
          </a:xfrm>
          <a:prstGeom prst="rect">
            <a:avLst/>
          </a:prstGeom>
          <a:noFill/>
        </p:spPr>
        <p:txBody>
          <a:bodyPr wrap="square" rtlCol="0">
            <a:spAutoFit/>
          </a:bodyPr>
          <a:lstStyle/>
          <a:p>
            <a:pPr marL="285750" indent="-285750">
              <a:buFont typeface="Arial" panose="020B0604020202020204" pitchFamily="34" charset="0"/>
              <a:buChar char="•"/>
            </a:pPr>
            <a:r>
              <a:rPr lang="en-US" dirty="0"/>
              <a:t>“never” appears 929 times</a:t>
            </a:r>
          </a:p>
          <a:p>
            <a:pPr marL="285750" indent="-285750">
              <a:buFont typeface="Arial" panose="020B0604020202020204" pitchFamily="34" charset="0"/>
              <a:buChar char="•"/>
            </a:pPr>
            <a:r>
              <a:rPr lang="en-US" dirty="0"/>
              <a:t>“received” is the most associated term</a:t>
            </a:r>
          </a:p>
        </p:txBody>
      </p:sp>
      <p:sp>
        <p:nvSpPr>
          <p:cNvPr id="7" name="Rectangle 6">
            <a:extLst>
              <a:ext uri="{FF2B5EF4-FFF2-40B4-BE49-F238E27FC236}">
                <a16:creationId xmlns:a16="http://schemas.microsoft.com/office/drawing/2014/main" id="{9948CBF8-7AD5-452D-AE91-266CDE3F3E88}"/>
              </a:ext>
            </a:extLst>
          </p:cNvPr>
          <p:cNvSpPr/>
          <p:nvPr/>
        </p:nvSpPr>
        <p:spPr>
          <a:xfrm>
            <a:off x="5201265" y="3244339"/>
            <a:ext cx="3086100" cy="173317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“received” appears 1252 times.  So Received is more frequent but association merely states when “never” appears it is highly correlated with “received”</a:t>
            </a:r>
          </a:p>
        </p:txBody>
      </p:sp>
      <p:cxnSp>
        <p:nvCxnSpPr>
          <p:cNvPr id="10" name="Straight Connector 9">
            <a:extLst>
              <a:ext uri="{FF2B5EF4-FFF2-40B4-BE49-F238E27FC236}">
                <a16:creationId xmlns:a16="http://schemas.microsoft.com/office/drawing/2014/main" id="{2AF50721-4658-F94D-A1CB-0E9CB433E144}"/>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8346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061A48-CB41-4DDC-B8B9-5FFA68FF2634}"/>
              </a:ext>
            </a:extLst>
          </p:cNvPr>
          <p:cNvSpPr txBox="1">
            <a:spLocks/>
          </p:cNvSpPr>
          <p:nvPr/>
        </p:nvSpPr>
        <p:spPr>
          <a:xfrm>
            <a:off x="628650" y="365126"/>
            <a:ext cx="7886700" cy="591477"/>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a:t>Dendrograms</a:t>
            </a:r>
            <a:r>
              <a:rPr lang="en-US" dirty="0"/>
              <a:t>: Hierarchical Clusters</a:t>
            </a:r>
          </a:p>
        </p:txBody>
      </p:sp>
      <p:sp>
        <p:nvSpPr>
          <p:cNvPr id="6" name="Date Placeholder 1">
            <a:extLst>
              <a:ext uri="{FF2B5EF4-FFF2-40B4-BE49-F238E27FC236}">
                <a16:creationId xmlns:a16="http://schemas.microsoft.com/office/drawing/2014/main" id="{A5024E83-7248-49C6-83CE-0C52F416FEF7}"/>
              </a:ext>
            </a:extLst>
          </p:cNvPr>
          <p:cNvSpPr>
            <a:spLocks noGrp="1"/>
          </p:cNvSpPr>
          <p:nvPr>
            <p:ph type="dt" sz="half" idx="10"/>
          </p:nvPr>
        </p:nvSpPr>
        <p:spPr/>
        <p:txBody>
          <a:bodyPr/>
          <a:lstStyle/>
          <a:p>
            <a:fld id="{6700A58B-DD98-43D0-B791-721480A02982}" type="datetime1">
              <a:rPr lang="en-US" smtClean="0"/>
              <a:pPr/>
              <a:t>6/2/26</a:t>
            </a:fld>
            <a:endParaRPr lang="en-US"/>
          </a:p>
        </p:txBody>
      </p:sp>
      <p:sp>
        <p:nvSpPr>
          <p:cNvPr id="39" name="Footer Placeholder 5">
            <a:extLst>
              <a:ext uri="{FF2B5EF4-FFF2-40B4-BE49-F238E27FC236}">
                <a16:creationId xmlns:a16="http://schemas.microsoft.com/office/drawing/2014/main" id="{D1D3783E-01A5-469C-B82C-CDF73DEAFA52}"/>
              </a:ext>
            </a:extLst>
          </p:cNvPr>
          <p:cNvSpPr>
            <a:spLocks noGrp="1"/>
          </p:cNvSpPr>
          <p:nvPr>
            <p:ph type="ftr" sz="quarter" idx="3"/>
          </p:nvPr>
        </p:nvSpPr>
        <p:spPr/>
        <p:txBody>
          <a:bodyPr/>
          <a:lstStyle/>
          <a:p>
            <a:r>
              <a:rPr lang="en-US"/>
              <a:t>Kwartler</a:t>
            </a:r>
            <a:endParaRPr lang="en-US" dirty="0"/>
          </a:p>
        </p:txBody>
      </p:sp>
      <p:sp>
        <p:nvSpPr>
          <p:cNvPr id="7" name="Slide Number Placeholder 3">
            <a:extLst>
              <a:ext uri="{FF2B5EF4-FFF2-40B4-BE49-F238E27FC236}">
                <a16:creationId xmlns:a16="http://schemas.microsoft.com/office/drawing/2014/main" id="{269E8134-5ACB-40D1-8C0C-86324C8FEF4A}"/>
              </a:ext>
            </a:extLst>
          </p:cNvPr>
          <p:cNvSpPr>
            <a:spLocks noGrp="1"/>
          </p:cNvSpPr>
          <p:nvPr>
            <p:ph type="sldNum" sz="quarter" idx="4"/>
          </p:nvPr>
        </p:nvSpPr>
        <p:spPr/>
        <p:txBody>
          <a:bodyPr/>
          <a:lstStyle/>
          <a:p>
            <a:fld id="{37290FF7-652B-4475-AEAB-8B1A5D23AE09}" type="slidenum">
              <a:rPr lang="en-US" smtClean="0"/>
              <a:pPr/>
              <a:t>18</a:t>
            </a:fld>
            <a:endParaRPr lang="en-US"/>
          </a:p>
        </p:txBody>
      </p:sp>
      <p:sp>
        <p:nvSpPr>
          <p:cNvPr id="11" name="Rectangle 10">
            <a:extLst>
              <a:ext uri="{FF2B5EF4-FFF2-40B4-BE49-F238E27FC236}">
                <a16:creationId xmlns:a16="http://schemas.microsoft.com/office/drawing/2014/main" id="{8EBEC10D-BA36-46F0-9B26-B7041C9D73F1}"/>
              </a:ext>
            </a:extLst>
          </p:cNvPr>
          <p:cNvSpPr/>
          <p:nvPr/>
        </p:nvSpPr>
        <p:spPr>
          <a:xfrm>
            <a:off x="2514600" y="2323087"/>
            <a:ext cx="4114800" cy="1920240"/>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t" anchorCtr="0"/>
          <a:lstStyle/>
          <a:p>
            <a:pPr defTabSz="457200"/>
            <a:endParaRPr lang="en-US" sz="1000" dirty="0">
              <a:solidFill>
                <a:schemeClr val="tx2"/>
              </a:solidFill>
            </a:endParaRPr>
          </a:p>
        </p:txBody>
      </p:sp>
      <p:sp>
        <p:nvSpPr>
          <p:cNvPr id="13" name="Rectangle 12">
            <a:extLst>
              <a:ext uri="{FF2B5EF4-FFF2-40B4-BE49-F238E27FC236}">
                <a16:creationId xmlns:a16="http://schemas.microsoft.com/office/drawing/2014/main" id="{6B2FAC6F-EF38-48BA-860E-5A21249ABE98}"/>
              </a:ext>
            </a:extLst>
          </p:cNvPr>
          <p:cNvSpPr/>
          <p:nvPr/>
        </p:nvSpPr>
        <p:spPr>
          <a:xfrm>
            <a:off x="2514600" y="1954084"/>
            <a:ext cx="4114800" cy="365760"/>
          </a:xfrm>
          <a:prstGeom prst="rect">
            <a:avLst/>
          </a:prstGeom>
          <a:solidFill>
            <a:schemeClr val="accent3"/>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bg1"/>
                </a:solidFill>
              </a:rPr>
              <a:t>Real Rainfall Data</a:t>
            </a:r>
          </a:p>
        </p:txBody>
      </p:sp>
      <p:graphicFrame>
        <p:nvGraphicFramePr>
          <p:cNvPr id="23" name="Table 22">
            <a:extLst>
              <a:ext uri="{FF2B5EF4-FFF2-40B4-BE49-F238E27FC236}">
                <a16:creationId xmlns:a16="http://schemas.microsoft.com/office/drawing/2014/main" id="{96BC8BFB-0E3D-472B-BA07-1DD44E0CF5D4}"/>
              </a:ext>
            </a:extLst>
          </p:cNvPr>
          <p:cNvGraphicFramePr>
            <a:graphicFrameLocks noGrp="1"/>
          </p:cNvGraphicFramePr>
          <p:nvPr/>
        </p:nvGraphicFramePr>
        <p:xfrm>
          <a:off x="2686050" y="2538389"/>
          <a:ext cx="3771900" cy="1483360"/>
        </p:xfrm>
        <a:graphic>
          <a:graphicData uri="http://schemas.openxmlformats.org/drawingml/2006/table">
            <a:tbl>
              <a:tblPr firstRow="1" bandRow="1">
                <a:tableStyleId>{F2DE63D5-997A-4646-A377-4702673A728D}</a:tableStyleId>
              </a:tblPr>
              <a:tblGrid>
                <a:gridCol w="1775812">
                  <a:extLst>
                    <a:ext uri="{9D8B030D-6E8A-4147-A177-3AD203B41FA5}">
                      <a16:colId xmlns:a16="http://schemas.microsoft.com/office/drawing/2014/main" val="20000"/>
                    </a:ext>
                  </a:extLst>
                </a:gridCol>
                <a:gridCol w="1996088">
                  <a:extLst>
                    <a:ext uri="{9D8B030D-6E8A-4147-A177-3AD203B41FA5}">
                      <a16:colId xmlns:a16="http://schemas.microsoft.com/office/drawing/2014/main" val="20001"/>
                    </a:ext>
                  </a:extLst>
                </a:gridCol>
              </a:tblGrid>
              <a:tr h="370840">
                <a:tc>
                  <a:txBody>
                    <a:bodyPr/>
                    <a:lstStyle/>
                    <a:p>
                      <a:pPr algn="ctr"/>
                      <a:r>
                        <a:rPr lang="en-US" sz="1800" kern="1200" dirty="0"/>
                        <a:t>City</a:t>
                      </a:r>
                      <a:endParaRPr lang="en-US" sz="1800" kern="1200" dirty="0">
                        <a:solidFill>
                          <a:srgbClr val="FFFFFF"/>
                        </a:solidFill>
                        <a:latin typeface="+mj-lt"/>
                        <a:ea typeface="+mn-ea"/>
                        <a:cs typeface="Arial Unicode MS" panose="020B0604020202020204" pitchFamily="34" charset="-128"/>
                      </a:endParaRPr>
                    </a:p>
                  </a:txBody>
                  <a:tcPr/>
                </a:tc>
                <a:tc>
                  <a:txBody>
                    <a:bodyPr/>
                    <a:lstStyle/>
                    <a:p>
                      <a:pPr algn="ctr"/>
                      <a:r>
                        <a:rPr lang="en-US" sz="1800" dirty="0"/>
                        <a:t>Annual Rainfall (in)</a:t>
                      </a:r>
                      <a:endParaRPr lang="en-US" sz="1800" dirty="0">
                        <a:latin typeface="+mj-lt"/>
                        <a:cs typeface="Arial Unicode MS" panose="020B0604020202020204" pitchFamily="34" charset="-128"/>
                      </a:endParaRPr>
                    </a:p>
                  </a:txBody>
                  <a:tcPr/>
                </a:tc>
                <a:extLst>
                  <a:ext uri="{0D108BD9-81ED-4DB2-BD59-A6C34878D82A}">
                    <a16:rowId xmlns:a16="http://schemas.microsoft.com/office/drawing/2014/main" val="10000"/>
                  </a:ext>
                </a:extLst>
              </a:tr>
              <a:tr h="370840">
                <a:tc>
                  <a:txBody>
                    <a:bodyPr/>
                    <a:lstStyle/>
                    <a:p>
                      <a:pPr algn="ctr"/>
                      <a:r>
                        <a:rPr lang="en-US" sz="1800" dirty="0"/>
                        <a:t>Portland</a:t>
                      </a:r>
                      <a:endParaRPr lang="en-US" sz="1800" dirty="0">
                        <a:solidFill>
                          <a:srgbClr val="FFFFFF"/>
                        </a:solidFill>
                        <a:latin typeface="+mj-lt"/>
                        <a:cs typeface="Arial Unicode MS" panose="020B0604020202020204" pitchFamily="34" charset="-128"/>
                      </a:endParaRPr>
                    </a:p>
                  </a:txBody>
                  <a:tcPr/>
                </a:tc>
                <a:tc>
                  <a:txBody>
                    <a:bodyPr/>
                    <a:lstStyle/>
                    <a:p>
                      <a:pPr algn="ctr"/>
                      <a:r>
                        <a:rPr lang="en-US" sz="1800" dirty="0"/>
                        <a:t>43.5</a:t>
                      </a:r>
                      <a:endParaRPr lang="en-US" sz="1800" dirty="0">
                        <a:solidFill>
                          <a:schemeClr val="bg1"/>
                        </a:solidFill>
                        <a:latin typeface="+mj-lt"/>
                        <a:cs typeface="Arial Unicode MS" panose="020B0604020202020204" pitchFamily="34" charset="-128"/>
                      </a:endParaRPr>
                    </a:p>
                  </a:txBody>
                  <a:tcPr/>
                </a:tc>
                <a:extLst>
                  <a:ext uri="{0D108BD9-81ED-4DB2-BD59-A6C34878D82A}">
                    <a16:rowId xmlns:a16="http://schemas.microsoft.com/office/drawing/2014/main" val="10001"/>
                  </a:ext>
                </a:extLst>
              </a:tr>
              <a:tr h="370840">
                <a:tc>
                  <a:txBody>
                    <a:bodyPr/>
                    <a:lstStyle/>
                    <a:p>
                      <a:pPr algn="ctr"/>
                      <a:r>
                        <a:rPr lang="en-US" sz="1800" dirty="0"/>
                        <a:t>Boston</a:t>
                      </a:r>
                      <a:endParaRPr lang="en-US" sz="1800" dirty="0">
                        <a:solidFill>
                          <a:srgbClr val="FFFFFF"/>
                        </a:solidFill>
                        <a:latin typeface="+mj-lt"/>
                        <a:cs typeface="Arial Unicode MS" panose="020B0604020202020204" pitchFamily="34" charset="-128"/>
                      </a:endParaRPr>
                    </a:p>
                  </a:txBody>
                  <a:tcPr/>
                </a:tc>
                <a:tc>
                  <a:txBody>
                    <a:bodyPr/>
                    <a:lstStyle/>
                    <a:p>
                      <a:pPr algn="ctr"/>
                      <a:r>
                        <a:rPr lang="en-US" sz="1800" dirty="0"/>
                        <a:t>43.8</a:t>
                      </a:r>
                      <a:endParaRPr lang="en-US" sz="1800" dirty="0">
                        <a:solidFill>
                          <a:schemeClr val="bg1"/>
                        </a:solidFill>
                        <a:latin typeface="+mj-lt"/>
                        <a:cs typeface="Arial Unicode MS" panose="020B0604020202020204" pitchFamily="34" charset="-128"/>
                      </a:endParaRPr>
                    </a:p>
                  </a:txBody>
                  <a:tcPr/>
                </a:tc>
                <a:extLst>
                  <a:ext uri="{0D108BD9-81ED-4DB2-BD59-A6C34878D82A}">
                    <a16:rowId xmlns:a16="http://schemas.microsoft.com/office/drawing/2014/main" val="10002"/>
                  </a:ext>
                </a:extLst>
              </a:tr>
              <a:tr h="370840">
                <a:tc>
                  <a:txBody>
                    <a:bodyPr/>
                    <a:lstStyle/>
                    <a:p>
                      <a:pPr algn="ctr"/>
                      <a:r>
                        <a:rPr lang="en-US" sz="1800" dirty="0"/>
                        <a:t>New Orleans</a:t>
                      </a:r>
                      <a:endParaRPr lang="en-US" sz="1800" dirty="0">
                        <a:solidFill>
                          <a:srgbClr val="FFFFFF"/>
                        </a:solidFill>
                        <a:latin typeface="+mj-lt"/>
                        <a:cs typeface="Arial Unicode MS" panose="020B0604020202020204" pitchFamily="34" charset="-128"/>
                      </a:endParaRPr>
                    </a:p>
                  </a:txBody>
                  <a:tcPr/>
                </a:tc>
                <a:tc>
                  <a:txBody>
                    <a:bodyPr/>
                    <a:lstStyle/>
                    <a:p>
                      <a:pPr algn="ctr"/>
                      <a:r>
                        <a:rPr lang="en-US" sz="1800" dirty="0"/>
                        <a:t>62.7</a:t>
                      </a:r>
                      <a:endParaRPr lang="en-US" sz="1800" dirty="0">
                        <a:solidFill>
                          <a:schemeClr val="bg1"/>
                        </a:solidFill>
                        <a:latin typeface="+mj-lt"/>
                        <a:cs typeface="Arial Unicode MS" panose="020B0604020202020204" pitchFamily="34" charset="-128"/>
                      </a:endParaRPr>
                    </a:p>
                  </a:txBody>
                  <a:tcPr/>
                </a:tc>
                <a:extLst>
                  <a:ext uri="{0D108BD9-81ED-4DB2-BD59-A6C34878D82A}">
                    <a16:rowId xmlns:a16="http://schemas.microsoft.com/office/drawing/2014/main" val="10003"/>
                  </a:ext>
                </a:extLst>
              </a:tr>
            </a:tbl>
          </a:graphicData>
        </a:graphic>
      </p:graphicFrame>
      <p:sp>
        <p:nvSpPr>
          <p:cNvPr id="40" name="Rectangle 39">
            <a:extLst>
              <a:ext uri="{FF2B5EF4-FFF2-40B4-BE49-F238E27FC236}">
                <a16:creationId xmlns:a16="http://schemas.microsoft.com/office/drawing/2014/main" id="{81012F0F-BB26-479E-89B7-89A1CF7DC8BD}"/>
              </a:ext>
            </a:extLst>
          </p:cNvPr>
          <p:cNvSpPr/>
          <p:nvPr/>
        </p:nvSpPr>
        <p:spPr>
          <a:xfrm>
            <a:off x="179917" y="1192740"/>
            <a:ext cx="8784167" cy="296923"/>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Which two are most similar?  What approximate value would “connect” the two?</a:t>
            </a:r>
          </a:p>
        </p:txBody>
      </p:sp>
      <p:cxnSp>
        <p:nvCxnSpPr>
          <p:cNvPr id="10" name="Straight Connector 9">
            <a:extLst>
              <a:ext uri="{FF2B5EF4-FFF2-40B4-BE49-F238E27FC236}">
                <a16:creationId xmlns:a16="http://schemas.microsoft.com/office/drawing/2014/main" id="{3BFC43A6-08E4-9747-83C4-D3F53B887202}"/>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DB0A1D4-602C-954F-A3D1-446EEFC1CF98}"/>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82013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197406C-DFBC-4F87-B64C-5BFAB29DF079}"/>
              </a:ext>
            </a:extLst>
          </p:cNvPr>
          <p:cNvSpPr/>
          <p:nvPr/>
        </p:nvSpPr>
        <p:spPr>
          <a:xfrm>
            <a:off x="2514600" y="1497176"/>
            <a:ext cx="4114800" cy="4381501"/>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t" anchorCtr="0"/>
          <a:lstStyle/>
          <a:p>
            <a:pPr marL="114300" lvl="1" indent="-114300">
              <a:spcBef>
                <a:spcPts val="600"/>
              </a:spcBef>
              <a:buSzPct val="100000"/>
              <a:buFont typeface="Arial"/>
              <a:buChar char="•"/>
            </a:pPr>
            <a:endParaRPr lang="en-US" sz="1100" dirty="0">
              <a:solidFill>
                <a:schemeClr val="tx2"/>
              </a:solidFill>
            </a:endParaRPr>
          </a:p>
        </p:txBody>
      </p:sp>
      <p:sp>
        <p:nvSpPr>
          <p:cNvPr id="16" name="Rectangle 15">
            <a:extLst>
              <a:ext uri="{FF2B5EF4-FFF2-40B4-BE49-F238E27FC236}">
                <a16:creationId xmlns:a16="http://schemas.microsoft.com/office/drawing/2014/main" id="{FEE6A673-DE2C-4210-A54A-DC994611B17B}"/>
              </a:ext>
            </a:extLst>
          </p:cNvPr>
          <p:cNvSpPr/>
          <p:nvPr/>
        </p:nvSpPr>
        <p:spPr>
          <a:xfrm>
            <a:off x="2514600" y="1128174"/>
            <a:ext cx="4114800" cy="365760"/>
          </a:xfrm>
          <a:prstGeom prst="rect">
            <a:avLst/>
          </a:prstGeom>
          <a:solidFill>
            <a:schemeClr val="accent3"/>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bg1"/>
                </a:solidFill>
              </a:rPr>
              <a:t>Rainfall Data as a Dendrogram</a:t>
            </a:r>
          </a:p>
        </p:txBody>
      </p:sp>
      <p:grpSp>
        <p:nvGrpSpPr>
          <p:cNvPr id="24" name="Group 23">
            <a:extLst>
              <a:ext uri="{FF2B5EF4-FFF2-40B4-BE49-F238E27FC236}">
                <a16:creationId xmlns:a16="http://schemas.microsoft.com/office/drawing/2014/main" id="{1FC863D7-E617-4659-9D8A-5FABFA4A07BF}"/>
              </a:ext>
            </a:extLst>
          </p:cNvPr>
          <p:cNvGrpSpPr/>
          <p:nvPr/>
        </p:nvGrpSpPr>
        <p:grpSpPr>
          <a:xfrm>
            <a:off x="3109509" y="1706449"/>
            <a:ext cx="2924981" cy="3465767"/>
            <a:chOff x="5846529" y="2604459"/>
            <a:chExt cx="2924981" cy="3465767"/>
          </a:xfrm>
        </p:grpSpPr>
        <p:sp>
          <p:nvSpPr>
            <p:cNvPr id="26" name="TextBox 25">
              <a:extLst>
                <a:ext uri="{FF2B5EF4-FFF2-40B4-BE49-F238E27FC236}">
                  <a16:creationId xmlns:a16="http://schemas.microsoft.com/office/drawing/2014/main" id="{AA5D650F-D200-4398-957F-57CC08202615}"/>
                </a:ext>
              </a:extLst>
            </p:cNvPr>
            <p:cNvSpPr txBox="1"/>
            <p:nvPr/>
          </p:nvSpPr>
          <p:spPr>
            <a:xfrm rot="5400000">
              <a:off x="5918018" y="4852106"/>
              <a:ext cx="827501" cy="338554"/>
            </a:xfrm>
            <a:prstGeom prst="rect">
              <a:avLst/>
            </a:prstGeom>
            <a:noFill/>
          </p:spPr>
          <p:txBody>
            <a:bodyPr wrap="none" rtlCol="0">
              <a:spAutoFit/>
            </a:bodyPr>
            <a:lstStyle/>
            <a:p>
              <a:pPr defTabSz="457200"/>
              <a:r>
                <a:rPr lang="en-US" sz="1600" kern="1200" dirty="0">
                  <a:solidFill>
                    <a:srgbClr val="13705B"/>
                  </a:solidFill>
                  <a:latin typeface="Arial Unicode MS" panose="020B0604020202020204" pitchFamily="34" charset="-128"/>
                  <a:ea typeface="Arial Unicode MS" panose="020B0604020202020204" pitchFamily="34" charset="-128"/>
                  <a:cs typeface="Arial Unicode MS" panose="020B0604020202020204" pitchFamily="34" charset="-128"/>
                </a:rPr>
                <a:t>Boston</a:t>
              </a:r>
            </a:p>
          </p:txBody>
        </p:sp>
        <p:sp>
          <p:nvSpPr>
            <p:cNvPr id="27" name="TextBox 26">
              <a:extLst>
                <a:ext uri="{FF2B5EF4-FFF2-40B4-BE49-F238E27FC236}">
                  <a16:creationId xmlns:a16="http://schemas.microsoft.com/office/drawing/2014/main" id="{1E8F3D48-AD55-4711-98A2-828AF2F18BB7}"/>
                </a:ext>
              </a:extLst>
            </p:cNvPr>
            <p:cNvSpPr txBox="1"/>
            <p:nvPr/>
          </p:nvSpPr>
          <p:spPr>
            <a:xfrm rot="5400000">
              <a:off x="6823312" y="4924585"/>
              <a:ext cx="956354" cy="338554"/>
            </a:xfrm>
            <a:prstGeom prst="rect">
              <a:avLst/>
            </a:prstGeom>
            <a:noFill/>
          </p:spPr>
          <p:txBody>
            <a:bodyPr wrap="none" rtlCol="0">
              <a:spAutoFit/>
            </a:bodyPr>
            <a:lstStyle/>
            <a:p>
              <a:pPr defTabSz="457200"/>
              <a:r>
                <a:rPr lang="en-US" sz="1600" kern="1200" dirty="0">
                  <a:solidFill>
                    <a:srgbClr val="13705B"/>
                  </a:solidFill>
                  <a:latin typeface="Arial Unicode MS" panose="020B0604020202020204" pitchFamily="34" charset="-128"/>
                  <a:ea typeface="Arial Unicode MS" panose="020B0604020202020204" pitchFamily="34" charset="-128"/>
                  <a:cs typeface="Arial Unicode MS" panose="020B0604020202020204" pitchFamily="34" charset="-128"/>
                </a:rPr>
                <a:t>Portland</a:t>
              </a:r>
            </a:p>
          </p:txBody>
        </p:sp>
        <p:sp>
          <p:nvSpPr>
            <p:cNvPr id="28" name="TextBox 27">
              <a:extLst>
                <a:ext uri="{FF2B5EF4-FFF2-40B4-BE49-F238E27FC236}">
                  <a16:creationId xmlns:a16="http://schemas.microsoft.com/office/drawing/2014/main" id="{5AD15AC0-0BF8-4BAC-8A1F-77E63D3E5E5E}"/>
                </a:ext>
              </a:extLst>
            </p:cNvPr>
            <p:cNvSpPr txBox="1"/>
            <p:nvPr/>
          </p:nvSpPr>
          <p:spPr>
            <a:xfrm rot="5400000">
              <a:off x="7918767" y="5217484"/>
              <a:ext cx="1366931" cy="338554"/>
            </a:xfrm>
            <a:prstGeom prst="rect">
              <a:avLst/>
            </a:prstGeom>
            <a:noFill/>
          </p:spPr>
          <p:txBody>
            <a:bodyPr wrap="none" rtlCol="0">
              <a:spAutoFit/>
            </a:bodyPr>
            <a:lstStyle/>
            <a:p>
              <a:pPr defTabSz="457200"/>
              <a:r>
                <a:rPr lang="en-US" sz="1600" kern="1200" dirty="0">
                  <a:solidFill>
                    <a:srgbClr val="1C2835"/>
                  </a:solidFill>
                  <a:latin typeface="Arial Unicode MS" panose="020B0604020202020204" pitchFamily="34" charset="-128"/>
                  <a:ea typeface="Arial Unicode MS" panose="020B0604020202020204" pitchFamily="34" charset="-128"/>
                  <a:cs typeface="Arial Unicode MS" panose="020B0604020202020204" pitchFamily="34" charset="-128"/>
                </a:rPr>
                <a:t>New Orleans</a:t>
              </a:r>
            </a:p>
          </p:txBody>
        </p:sp>
        <p:cxnSp>
          <p:nvCxnSpPr>
            <p:cNvPr id="29" name="Straight Connector 28">
              <a:extLst>
                <a:ext uri="{FF2B5EF4-FFF2-40B4-BE49-F238E27FC236}">
                  <a16:creationId xmlns:a16="http://schemas.microsoft.com/office/drawing/2014/main" id="{B59CF335-AD1C-454F-97A3-11B303409528}"/>
                </a:ext>
              </a:extLst>
            </p:cNvPr>
            <p:cNvCxnSpPr>
              <a:stCxn id="26" idx="1"/>
            </p:cNvCxnSpPr>
            <p:nvPr/>
          </p:nvCxnSpPr>
          <p:spPr>
            <a:xfrm flipV="1">
              <a:off x="6331769" y="3822584"/>
              <a:ext cx="507131" cy="785049"/>
            </a:xfrm>
            <a:prstGeom prst="line">
              <a:avLst/>
            </a:prstGeom>
            <a:ln>
              <a:solidFill>
                <a:srgbClr val="F09511"/>
              </a:solidFill>
            </a:ln>
            <a:effectLst/>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A74B7F5C-A0F0-4DA9-B65F-D466B9BF7E2D}"/>
                </a:ext>
              </a:extLst>
            </p:cNvPr>
            <p:cNvCxnSpPr>
              <a:stCxn id="27" idx="1"/>
            </p:cNvCxnSpPr>
            <p:nvPr/>
          </p:nvCxnSpPr>
          <p:spPr>
            <a:xfrm flipH="1" flipV="1">
              <a:off x="6838901" y="3822585"/>
              <a:ext cx="462588" cy="793100"/>
            </a:xfrm>
            <a:prstGeom prst="line">
              <a:avLst/>
            </a:prstGeom>
            <a:ln>
              <a:solidFill>
                <a:srgbClr val="F09511"/>
              </a:solidFill>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4B800819-C322-49A6-80D6-C36B6D86CDE3}"/>
                </a:ext>
              </a:extLst>
            </p:cNvPr>
            <p:cNvCxnSpPr>
              <a:cxnSpLocks/>
              <a:stCxn id="28" idx="1"/>
            </p:cNvCxnSpPr>
            <p:nvPr/>
          </p:nvCxnSpPr>
          <p:spPr>
            <a:xfrm flipH="1" flipV="1">
              <a:off x="7483832" y="2740257"/>
              <a:ext cx="1118401" cy="1963039"/>
            </a:xfrm>
            <a:prstGeom prst="line">
              <a:avLst/>
            </a:prstGeom>
            <a:ln>
              <a:solidFill>
                <a:srgbClr val="F09511"/>
              </a:solidFill>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9EC786E0-4C47-4A43-9B51-E0BFCDC8C628}"/>
                </a:ext>
              </a:extLst>
            </p:cNvPr>
            <p:cNvCxnSpPr/>
            <p:nvPr/>
          </p:nvCxnSpPr>
          <p:spPr>
            <a:xfrm flipV="1">
              <a:off x="6838900" y="2735264"/>
              <a:ext cx="631866" cy="1087320"/>
            </a:xfrm>
            <a:prstGeom prst="line">
              <a:avLst/>
            </a:prstGeom>
            <a:ln>
              <a:solidFill>
                <a:srgbClr val="F09511"/>
              </a:solidFill>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0A89C0DF-0B8F-4EFD-909E-70EDD00D765D}"/>
                </a:ext>
              </a:extLst>
            </p:cNvPr>
            <p:cNvCxnSpPr/>
            <p:nvPr/>
          </p:nvCxnSpPr>
          <p:spPr>
            <a:xfrm flipV="1">
              <a:off x="5944228" y="2735264"/>
              <a:ext cx="0" cy="1880421"/>
            </a:xfrm>
            <a:prstGeom prst="line">
              <a:avLst/>
            </a:prstGeom>
            <a:ln>
              <a:solidFill>
                <a:srgbClr val="F0951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F2C0F779-1EF3-45FB-BBE4-336B5AC2B2C0}"/>
                </a:ext>
              </a:extLst>
            </p:cNvPr>
            <p:cNvCxnSpPr/>
            <p:nvPr/>
          </p:nvCxnSpPr>
          <p:spPr>
            <a:xfrm>
              <a:off x="5846529" y="2735264"/>
              <a:ext cx="195398" cy="0"/>
            </a:xfrm>
            <a:prstGeom prst="line">
              <a:avLst/>
            </a:prstGeom>
            <a:ln>
              <a:solidFill>
                <a:srgbClr val="F09511"/>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9E059EA0-D32B-47D3-A834-27E63151EC4A}"/>
                </a:ext>
              </a:extLst>
            </p:cNvPr>
            <p:cNvCxnSpPr/>
            <p:nvPr/>
          </p:nvCxnSpPr>
          <p:spPr>
            <a:xfrm>
              <a:off x="5846529" y="3828454"/>
              <a:ext cx="195398" cy="0"/>
            </a:xfrm>
            <a:prstGeom prst="line">
              <a:avLst/>
            </a:prstGeom>
            <a:ln>
              <a:solidFill>
                <a:srgbClr val="F09511"/>
              </a:solidFill>
            </a:ln>
            <a:effectLst/>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92CA6445-8623-4C2C-9BE8-9E22F8284B8E}"/>
                </a:ext>
              </a:extLst>
            </p:cNvPr>
            <p:cNvSpPr txBox="1"/>
            <p:nvPr/>
          </p:nvSpPr>
          <p:spPr>
            <a:xfrm>
              <a:off x="5953048" y="3691779"/>
              <a:ext cx="338554" cy="261610"/>
            </a:xfrm>
            <a:prstGeom prst="rect">
              <a:avLst/>
            </a:prstGeom>
            <a:noFill/>
          </p:spPr>
          <p:txBody>
            <a:bodyPr wrap="none" rtlCol="0">
              <a:spAutoFit/>
            </a:bodyPr>
            <a:lstStyle/>
            <a:p>
              <a:pPr defTabSz="457200"/>
              <a:r>
                <a:rPr lang="en-US" sz="105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44</a:t>
              </a:r>
            </a:p>
          </p:txBody>
        </p:sp>
        <p:sp>
          <p:nvSpPr>
            <p:cNvPr id="37" name="TextBox 36">
              <a:extLst>
                <a:ext uri="{FF2B5EF4-FFF2-40B4-BE49-F238E27FC236}">
                  <a16:creationId xmlns:a16="http://schemas.microsoft.com/office/drawing/2014/main" id="{B6FF05DC-D840-4D92-B3CB-395B42AF6689}"/>
                </a:ext>
              </a:extLst>
            </p:cNvPr>
            <p:cNvSpPr txBox="1"/>
            <p:nvPr/>
          </p:nvSpPr>
          <p:spPr>
            <a:xfrm>
              <a:off x="5958588" y="2604459"/>
              <a:ext cx="335348" cy="253916"/>
            </a:xfrm>
            <a:prstGeom prst="rect">
              <a:avLst/>
            </a:prstGeom>
            <a:noFill/>
          </p:spPr>
          <p:txBody>
            <a:bodyPr wrap="none" rtlCol="0">
              <a:spAutoFit/>
            </a:bodyPr>
            <a:lstStyle/>
            <a:p>
              <a:pPr defTabSz="457200"/>
              <a:r>
                <a:rPr lang="en-US" sz="105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63</a:t>
              </a:r>
            </a:p>
          </p:txBody>
        </p:sp>
      </p:grpSp>
      <p:sp>
        <p:nvSpPr>
          <p:cNvPr id="38" name="TextBox 37">
            <a:extLst>
              <a:ext uri="{FF2B5EF4-FFF2-40B4-BE49-F238E27FC236}">
                <a16:creationId xmlns:a16="http://schemas.microsoft.com/office/drawing/2014/main" id="{DDE5F1E5-302B-4125-9DFA-549BF3D63329}"/>
              </a:ext>
            </a:extLst>
          </p:cNvPr>
          <p:cNvSpPr txBox="1"/>
          <p:nvPr/>
        </p:nvSpPr>
        <p:spPr>
          <a:xfrm>
            <a:off x="2750451" y="5184987"/>
            <a:ext cx="3643099" cy="584775"/>
          </a:xfrm>
          <a:prstGeom prst="rect">
            <a:avLst/>
          </a:prstGeom>
          <a:solidFill>
            <a:schemeClr val="bg2"/>
          </a:solidFill>
        </p:spPr>
        <p:txBody>
          <a:bodyPr wrap="square" rtlCol="0">
            <a:spAutoFit/>
          </a:bodyPr>
          <a:lstStyle/>
          <a:p>
            <a:pPr defTabSz="457200"/>
            <a:r>
              <a:rPr lang="en-US" sz="1600" kern="1200" dirty="0">
                <a:solidFill>
                  <a:prstClr val="black"/>
                </a:solidFill>
                <a:latin typeface="+mj-lt"/>
                <a:ea typeface="Arial Unicode MS" panose="020B0604020202020204" pitchFamily="34" charset="-128"/>
                <a:cs typeface="Arial Unicode MS" panose="020B0604020202020204" pitchFamily="34" charset="-128"/>
              </a:rPr>
              <a:t>Boston &amp; Portland are a cluster at height ~44, losing precision to create the cluster.</a:t>
            </a:r>
          </a:p>
        </p:txBody>
      </p:sp>
      <p:sp>
        <p:nvSpPr>
          <p:cNvPr id="3" name="Title 2">
            <a:extLst>
              <a:ext uri="{FF2B5EF4-FFF2-40B4-BE49-F238E27FC236}">
                <a16:creationId xmlns:a16="http://schemas.microsoft.com/office/drawing/2014/main" id="{2F061A48-CB41-4DDC-B8B9-5FFA68FF2634}"/>
              </a:ext>
            </a:extLst>
          </p:cNvPr>
          <p:cNvSpPr txBox="1">
            <a:spLocks/>
          </p:cNvSpPr>
          <p:nvPr/>
        </p:nvSpPr>
        <p:spPr>
          <a:xfrm>
            <a:off x="628650" y="365126"/>
            <a:ext cx="7886700" cy="591477"/>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dirty="0"/>
              <a:t>Dendrograms: Hierarchical Clusters</a:t>
            </a:r>
          </a:p>
        </p:txBody>
      </p:sp>
      <p:sp>
        <p:nvSpPr>
          <p:cNvPr id="6" name="Date Placeholder 1">
            <a:extLst>
              <a:ext uri="{FF2B5EF4-FFF2-40B4-BE49-F238E27FC236}">
                <a16:creationId xmlns:a16="http://schemas.microsoft.com/office/drawing/2014/main" id="{A5024E83-7248-49C6-83CE-0C52F416FEF7}"/>
              </a:ext>
            </a:extLst>
          </p:cNvPr>
          <p:cNvSpPr>
            <a:spLocks noGrp="1"/>
          </p:cNvSpPr>
          <p:nvPr>
            <p:ph type="dt" sz="half" idx="10"/>
          </p:nvPr>
        </p:nvSpPr>
        <p:spPr/>
        <p:txBody>
          <a:bodyPr/>
          <a:lstStyle/>
          <a:p>
            <a:fld id="{6700A58B-DD98-43D0-B791-721480A02982}" type="datetime1">
              <a:rPr lang="en-US" smtClean="0"/>
              <a:pPr/>
              <a:t>6/2/26</a:t>
            </a:fld>
            <a:endParaRPr lang="en-US"/>
          </a:p>
        </p:txBody>
      </p:sp>
      <p:sp>
        <p:nvSpPr>
          <p:cNvPr id="39" name="Footer Placeholder 5">
            <a:extLst>
              <a:ext uri="{FF2B5EF4-FFF2-40B4-BE49-F238E27FC236}">
                <a16:creationId xmlns:a16="http://schemas.microsoft.com/office/drawing/2014/main" id="{D1D3783E-01A5-469C-B82C-CDF73DEAFA52}"/>
              </a:ext>
            </a:extLst>
          </p:cNvPr>
          <p:cNvSpPr>
            <a:spLocks noGrp="1"/>
          </p:cNvSpPr>
          <p:nvPr>
            <p:ph type="ftr" sz="quarter" idx="3"/>
          </p:nvPr>
        </p:nvSpPr>
        <p:spPr/>
        <p:txBody>
          <a:bodyPr/>
          <a:lstStyle/>
          <a:p>
            <a:r>
              <a:rPr lang="en-US"/>
              <a:t>Kwartler</a:t>
            </a:r>
            <a:endParaRPr lang="en-US" dirty="0"/>
          </a:p>
        </p:txBody>
      </p:sp>
      <p:sp>
        <p:nvSpPr>
          <p:cNvPr id="7" name="Slide Number Placeholder 3">
            <a:extLst>
              <a:ext uri="{FF2B5EF4-FFF2-40B4-BE49-F238E27FC236}">
                <a16:creationId xmlns:a16="http://schemas.microsoft.com/office/drawing/2014/main" id="{269E8134-5ACB-40D1-8C0C-86324C8FEF4A}"/>
              </a:ext>
            </a:extLst>
          </p:cNvPr>
          <p:cNvSpPr>
            <a:spLocks noGrp="1"/>
          </p:cNvSpPr>
          <p:nvPr>
            <p:ph type="sldNum" sz="quarter" idx="4"/>
          </p:nvPr>
        </p:nvSpPr>
        <p:spPr/>
        <p:txBody>
          <a:bodyPr/>
          <a:lstStyle/>
          <a:p>
            <a:fld id="{37290FF7-652B-4475-AEAB-8B1A5D23AE09}" type="slidenum">
              <a:rPr lang="en-US" smtClean="0"/>
              <a:pPr/>
              <a:t>19</a:t>
            </a:fld>
            <a:endParaRPr lang="en-US"/>
          </a:p>
        </p:txBody>
      </p:sp>
      <p:cxnSp>
        <p:nvCxnSpPr>
          <p:cNvPr id="22" name="Straight Connector 21">
            <a:extLst>
              <a:ext uri="{FF2B5EF4-FFF2-40B4-BE49-F238E27FC236}">
                <a16:creationId xmlns:a16="http://schemas.microsoft.com/office/drawing/2014/main" id="{B99776E6-1770-CA49-BE18-C5ECFDED6A29}"/>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CF060D6-EA36-1E4C-B090-0E50079E8D24}"/>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70319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061A48-CB41-4DDC-B8B9-5FFA68FF2634}"/>
              </a:ext>
            </a:extLst>
          </p:cNvPr>
          <p:cNvSpPr txBox="1">
            <a:spLocks/>
          </p:cNvSpPr>
          <p:nvPr/>
        </p:nvSpPr>
        <p:spPr>
          <a:xfrm>
            <a:off x="628650" y="365126"/>
            <a:ext cx="7886700" cy="591477"/>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dirty="0"/>
              <a:t>Dendrograms: Hierarchical Clusters</a:t>
            </a:r>
          </a:p>
        </p:txBody>
      </p:sp>
      <p:sp>
        <p:nvSpPr>
          <p:cNvPr id="6" name="Date Placeholder 1">
            <a:extLst>
              <a:ext uri="{FF2B5EF4-FFF2-40B4-BE49-F238E27FC236}">
                <a16:creationId xmlns:a16="http://schemas.microsoft.com/office/drawing/2014/main" id="{A5024E83-7248-49C6-83CE-0C52F416FEF7}"/>
              </a:ext>
            </a:extLst>
          </p:cNvPr>
          <p:cNvSpPr>
            <a:spLocks noGrp="1"/>
          </p:cNvSpPr>
          <p:nvPr>
            <p:ph type="dt" sz="half" idx="10"/>
          </p:nvPr>
        </p:nvSpPr>
        <p:spPr/>
        <p:txBody>
          <a:bodyPr/>
          <a:lstStyle/>
          <a:p>
            <a:fld id="{6700A58B-DD98-43D0-B791-721480A02982}" type="datetime1">
              <a:rPr lang="en-US" smtClean="0"/>
              <a:pPr/>
              <a:t>6/2/26</a:t>
            </a:fld>
            <a:endParaRPr lang="en-US"/>
          </a:p>
        </p:txBody>
      </p:sp>
      <p:sp>
        <p:nvSpPr>
          <p:cNvPr id="39" name="Footer Placeholder 5">
            <a:extLst>
              <a:ext uri="{FF2B5EF4-FFF2-40B4-BE49-F238E27FC236}">
                <a16:creationId xmlns:a16="http://schemas.microsoft.com/office/drawing/2014/main" id="{D1D3783E-01A5-469C-B82C-CDF73DEAFA52}"/>
              </a:ext>
            </a:extLst>
          </p:cNvPr>
          <p:cNvSpPr>
            <a:spLocks noGrp="1"/>
          </p:cNvSpPr>
          <p:nvPr>
            <p:ph type="ftr" sz="quarter" idx="3"/>
          </p:nvPr>
        </p:nvSpPr>
        <p:spPr/>
        <p:txBody>
          <a:bodyPr/>
          <a:lstStyle/>
          <a:p>
            <a:r>
              <a:rPr lang="en-US"/>
              <a:t>Kwartler</a:t>
            </a:r>
            <a:endParaRPr lang="en-US" dirty="0"/>
          </a:p>
        </p:txBody>
      </p:sp>
      <p:sp>
        <p:nvSpPr>
          <p:cNvPr id="7" name="Slide Number Placeholder 3">
            <a:extLst>
              <a:ext uri="{FF2B5EF4-FFF2-40B4-BE49-F238E27FC236}">
                <a16:creationId xmlns:a16="http://schemas.microsoft.com/office/drawing/2014/main" id="{269E8134-5ACB-40D1-8C0C-86324C8FEF4A}"/>
              </a:ext>
            </a:extLst>
          </p:cNvPr>
          <p:cNvSpPr>
            <a:spLocks noGrp="1"/>
          </p:cNvSpPr>
          <p:nvPr>
            <p:ph type="sldNum" sz="quarter" idx="4"/>
          </p:nvPr>
        </p:nvSpPr>
        <p:spPr/>
        <p:txBody>
          <a:bodyPr/>
          <a:lstStyle/>
          <a:p>
            <a:fld id="{37290FF7-652B-4475-AEAB-8B1A5D23AE09}" type="slidenum">
              <a:rPr lang="en-US" smtClean="0"/>
              <a:pPr/>
              <a:t>20</a:t>
            </a:fld>
            <a:endParaRPr lang="en-US"/>
          </a:p>
        </p:txBody>
      </p:sp>
      <p:sp>
        <p:nvSpPr>
          <p:cNvPr id="15" name="TextBox 14">
            <a:extLst>
              <a:ext uri="{FF2B5EF4-FFF2-40B4-BE49-F238E27FC236}">
                <a16:creationId xmlns:a16="http://schemas.microsoft.com/office/drawing/2014/main" id="{F36488C7-5828-42B9-B9EA-E3E1326F4AA7}"/>
              </a:ext>
            </a:extLst>
          </p:cNvPr>
          <p:cNvSpPr txBox="1"/>
          <p:nvPr/>
        </p:nvSpPr>
        <p:spPr>
          <a:xfrm>
            <a:off x="367030" y="1092365"/>
            <a:ext cx="8409940" cy="307777"/>
          </a:xfrm>
          <a:prstGeom prst="rect">
            <a:avLst/>
          </a:prstGeom>
          <a:solidFill>
            <a:schemeClr val="accent1"/>
          </a:solidFill>
        </p:spPr>
        <p:txBody>
          <a:bodyPr wrap="square" rtlCol="0">
            <a:spAutoFit/>
          </a:bodyPr>
          <a:lstStyle/>
          <a:p>
            <a:pPr algn="ctr" defTabSz="457200"/>
            <a:r>
              <a:rPr lang="en-US" sz="1400" kern="1200" dirty="0">
                <a:solidFill>
                  <a:prstClr val="white"/>
                </a:solidFill>
                <a:latin typeface="+mj-lt"/>
                <a:ea typeface="Arial Unicode MS" panose="020B0604020202020204" pitchFamily="34" charset="-128"/>
                <a:cs typeface="Arial Unicode MS" panose="020B0604020202020204" pitchFamily="34" charset="-128"/>
              </a:rPr>
              <a:t>Visualizes hierarchical data.  For text, the frequency distances are calculated to create the </a:t>
            </a:r>
            <a:r>
              <a:rPr lang="en-US" sz="1400" kern="1200" dirty="0" err="1">
                <a:solidFill>
                  <a:prstClr val="white"/>
                </a:solidFill>
                <a:latin typeface="+mj-lt"/>
                <a:ea typeface="Arial Unicode MS" panose="020B0604020202020204" pitchFamily="34" charset="-128"/>
                <a:cs typeface="Arial Unicode MS" panose="020B0604020202020204" pitchFamily="34" charset="-128"/>
              </a:rPr>
              <a:t>hc</a:t>
            </a:r>
            <a:r>
              <a:rPr lang="en-US" sz="1400" kern="1200" dirty="0">
                <a:solidFill>
                  <a:prstClr val="white"/>
                </a:solidFill>
                <a:latin typeface="+mj-lt"/>
                <a:ea typeface="Arial Unicode MS" panose="020B0604020202020204" pitchFamily="34" charset="-128"/>
                <a:cs typeface="Arial Unicode MS" panose="020B0604020202020204" pitchFamily="34" charset="-128"/>
              </a:rPr>
              <a:t> object.</a:t>
            </a:r>
          </a:p>
        </p:txBody>
      </p:sp>
      <p:sp>
        <p:nvSpPr>
          <p:cNvPr id="11" name="Rectangle 10">
            <a:extLst>
              <a:ext uri="{FF2B5EF4-FFF2-40B4-BE49-F238E27FC236}">
                <a16:creationId xmlns:a16="http://schemas.microsoft.com/office/drawing/2014/main" id="{8EBEC10D-BA36-46F0-9B26-B7041C9D73F1}"/>
              </a:ext>
            </a:extLst>
          </p:cNvPr>
          <p:cNvSpPr/>
          <p:nvPr/>
        </p:nvSpPr>
        <p:spPr>
          <a:xfrm>
            <a:off x="365760" y="1763402"/>
            <a:ext cx="4114800" cy="3109548"/>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t" anchorCtr="0"/>
          <a:lstStyle/>
          <a:p>
            <a:pPr defTabSz="457200"/>
            <a:endParaRPr lang="en-US" sz="1000" dirty="0">
              <a:solidFill>
                <a:schemeClr val="tx2"/>
              </a:solidFill>
            </a:endParaRPr>
          </a:p>
        </p:txBody>
      </p:sp>
      <p:sp>
        <p:nvSpPr>
          <p:cNvPr id="12" name="Rectangle 11">
            <a:extLst>
              <a:ext uri="{FF2B5EF4-FFF2-40B4-BE49-F238E27FC236}">
                <a16:creationId xmlns:a16="http://schemas.microsoft.com/office/drawing/2014/main" id="{7197406C-DFBC-4F87-B64C-5BFAB29DF079}"/>
              </a:ext>
            </a:extLst>
          </p:cNvPr>
          <p:cNvSpPr/>
          <p:nvPr/>
        </p:nvSpPr>
        <p:spPr>
          <a:xfrm>
            <a:off x="4660900" y="1759359"/>
            <a:ext cx="4114800" cy="3101506"/>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t" anchorCtr="0"/>
          <a:lstStyle/>
          <a:p>
            <a:pPr marL="114300" lvl="1" indent="-114300">
              <a:spcBef>
                <a:spcPts val="600"/>
              </a:spcBef>
              <a:buSzPct val="100000"/>
              <a:buFont typeface="Arial"/>
              <a:buChar char="•"/>
            </a:pPr>
            <a:endParaRPr lang="en-US" sz="1100" dirty="0">
              <a:solidFill>
                <a:schemeClr val="tx2"/>
              </a:solidFill>
            </a:endParaRPr>
          </a:p>
        </p:txBody>
      </p:sp>
      <p:sp>
        <p:nvSpPr>
          <p:cNvPr id="13" name="Rectangle 12">
            <a:extLst>
              <a:ext uri="{FF2B5EF4-FFF2-40B4-BE49-F238E27FC236}">
                <a16:creationId xmlns:a16="http://schemas.microsoft.com/office/drawing/2014/main" id="{6B2FAC6F-EF38-48BA-860E-5A21249ABE98}"/>
              </a:ext>
            </a:extLst>
          </p:cNvPr>
          <p:cNvSpPr/>
          <p:nvPr/>
        </p:nvSpPr>
        <p:spPr>
          <a:xfrm>
            <a:off x="365760" y="1394399"/>
            <a:ext cx="4114800" cy="365760"/>
          </a:xfrm>
          <a:prstGeom prst="rect">
            <a:avLst/>
          </a:prstGeom>
          <a:solidFill>
            <a:schemeClr val="accent3"/>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bg1"/>
                </a:solidFill>
              </a:rPr>
              <a:t>Real Rainfall Data</a:t>
            </a:r>
          </a:p>
        </p:txBody>
      </p:sp>
      <p:sp>
        <p:nvSpPr>
          <p:cNvPr id="16" name="Rectangle 15">
            <a:extLst>
              <a:ext uri="{FF2B5EF4-FFF2-40B4-BE49-F238E27FC236}">
                <a16:creationId xmlns:a16="http://schemas.microsoft.com/office/drawing/2014/main" id="{FEE6A673-DE2C-4210-A54A-DC994611B17B}"/>
              </a:ext>
            </a:extLst>
          </p:cNvPr>
          <p:cNvSpPr/>
          <p:nvPr/>
        </p:nvSpPr>
        <p:spPr>
          <a:xfrm>
            <a:off x="4660900" y="1394399"/>
            <a:ext cx="4114800" cy="365760"/>
          </a:xfrm>
          <a:prstGeom prst="rect">
            <a:avLst/>
          </a:prstGeom>
          <a:solidFill>
            <a:schemeClr val="accent3"/>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bg1"/>
                </a:solidFill>
              </a:rPr>
              <a:t>Rainfall Data as a Dendrogram</a:t>
            </a:r>
          </a:p>
        </p:txBody>
      </p:sp>
      <p:graphicFrame>
        <p:nvGraphicFramePr>
          <p:cNvPr id="23" name="Table 22">
            <a:extLst>
              <a:ext uri="{FF2B5EF4-FFF2-40B4-BE49-F238E27FC236}">
                <a16:creationId xmlns:a16="http://schemas.microsoft.com/office/drawing/2014/main" id="{96BC8BFB-0E3D-472B-BA07-1DD44E0CF5D4}"/>
              </a:ext>
            </a:extLst>
          </p:cNvPr>
          <p:cNvGraphicFramePr>
            <a:graphicFrameLocks noGrp="1"/>
          </p:cNvGraphicFramePr>
          <p:nvPr/>
        </p:nvGraphicFramePr>
        <p:xfrm>
          <a:off x="743136" y="2492487"/>
          <a:ext cx="3186200" cy="1483360"/>
        </p:xfrm>
        <a:graphic>
          <a:graphicData uri="http://schemas.openxmlformats.org/drawingml/2006/table">
            <a:tbl>
              <a:tblPr firstRow="1" bandRow="1">
                <a:tableStyleId>{F2DE63D5-997A-4646-A377-4702673A728D}</a:tableStyleId>
              </a:tblPr>
              <a:tblGrid>
                <a:gridCol w="1500064">
                  <a:extLst>
                    <a:ext uri="{9D8B030D-6E8A-4147-A177-3AD203B41FA5}">
                      <a16:colId xmlns:a16="http://schemas.microsoft.com/office/drawing/2014/main" val="20000"/>
                    </a:ext>
                  </a:extLst>
                </a:gridCol>
                <a:gridCol w="1686136">
                  <a:extLst>
                    <a:ext uri="{9D8B030D-6E8A-4147-A177-3AD203B41FA5}">
                      <a16:colId xmlns:a16="http://schemas.microsoft.com/office/drawing/2014/main" val="20001"/>
                    </a:ext>
                  </a:extLst>
                </a:gridCol>
              </a:tblGrid>
              <a:tr h="370840">
                <a:tc>
                  <a:txBody>
                    <a:bodyPr/>
                    <a:lstStyle/>
                    <a:p>
                      <a:pPr algn="ctr"/>
                      <a:r>
                        <a:rPr lang="en-US" sz="1800" kern="1200" dirty="0"/>
                        <a:t>City</a:t>
                      </a:r>
                      <a:endParaRPr lang="en-US" sz="1800" kern="1200" dirty="0">
                        <a:solidFill>
                          <a:srgbClr val="FFFFFF"/>
                        </a:solidFill>
                        <a:latin typeface="+mj-lt"/>
                        <a:ea typeface="+mn-ea"/>
                        <a:cs typeface="Arial Unicode MS" panose="020B0604020202020204" pitchFamily="34" charset="-128"/>
                      </a:endParaRPr>
                    </a:p>
                  </a:txBody>
                  <a:tcPr/>
                </a:tc>
                <a:tc>
                  <a:txBody>
                    <a:bodyPr/>
                    <a:lstStyle/>
                    <a:p>
                      <a:pPr algn="ctr"/>
                      <a:r>
                        <a:rPr lang="en-US" sz="1800" dirty="0"/>
                        <a:t>Annual Rainfall</a:t>
                      </a:r>
                      <a:endParaRPr lang="en-US" sz="1800" dirty="0">
                        <a:latin typeface="+mj-lt"/>
                        <a:cs typeface="Arial Unicode MS" panose="020B0604020202020204" pitchFamily="34" charset="-128"/>
                      </a:endParaRPr>
                    </a:p>
                  </a:txBody>
                  <a:tcPr/>
                </a:tc>
                <a:extLst>
                  <a:ext uri="{0D108BD9-81ED-4DB2-BD59-A6C34878D82A}">
                    <a16:rowId xmlns:a16="http://schemas.microsoft.com/office/drawing/2014/main" val="10000"/>
                  </a:ext>
                </a:extLst>
              </a:tr>
              <a:tr h="370840">
                <a:tc>
                  <a:txBody>
                    <a:bodyPr/>
                    <a:lstStyle/>
                    <a:p>
                      <a:pPr algn="ctr"/>
                      <a:r>
                        <a:rPr lang="en-US" sz="1800" dirty="0"/>
                        <a:t>Portland</a:t>
                      </a:r>
                      <a:endParaRPr lang="en-US" sz="1800" dirty="0">
                        <a:solidFill>
                          <a:srgbClr val="FFFFFF"/>
                        </a:solidFill>
                        <a:latin typeface="+mj-lt"/>
                        <a:cs typeface="Arial Unicode MS" panose="020B0604020202020204" pitchFamily="34" charset="-128"/>
                      </a:endParaRPr>
                    </a:p>
                  </a:txBody>
                  <a:tcPr/>
                </a:tc>
                <a:tc>
                  <a:txBody>
                    <a:bodyPr/>
                    <a:lstStyle/>
                    <a:p>
                      <a:pPr algn="ctr"/>
                      <a:r>
                        <a:rPr lang="en-US" sz="1800" dirty="0"/>
                        <a:t>43.5</a:t>
                      </a:r>
                      <a:endParaRPr lang="en-US" sz="1800" dirty="0">
                        <a:solidFill>
                          <a:schemeClr val="bg1"/>
                        </a:solidFill>
                        <a:latin typeface="+mj-lt"/>
                        <a:cs typeface="Arial Unicode MS" panose="020B0604020202020204" pitchFamily="34" charset="-128"/>
                      </a:endParaRPr>
                    </a:p>
                  </a:txBody>
                  <a:tcPr/>
                </a:tc>
                <a:extLst>
                  <a:ext uri="{0D108BD9-81ED-4DB2-BD59-A6C34878D82A}">
                    <a16:rowId xmlns:a16="http://schemas.microsoft.com/office/drawing/2014/main" val="10001"/>
                  </a:ext>
                </a:extLst>
              </a:tr>
              <a:tr h="370840">
                <a:tc>
                  <a:txBody>
                    <a:bodyPr/>
                    <a:lstStyle/>
                    <a:p>
                      <a:pPr algn="ctr"/>
                      <a:r>
                        <a:rPr lang="en-US" sz="1800" dirty="0"/>
                        <a:t>Boston</a:t>
                      </a:r>
                      <a:endParaRPr lang="en-US" sz="1800" dirty="0">
                        <a:solidFill>
                          <a:srgbClr val="FFFFFF"/>
                        </a:solidFill>
                        <a:latin typeface="+mj-lt"/>
                        <a:cs typeface="Arial Unicode MS" panose="020B0604020202020204" pitchFamily="34" charset="-128"/>
                      </a:endParaRPr>
                    </a:p>
                  </a:txBody>
                  <a:tcPr/>
                </a:tc>
                <a:tc>
                  <a:txBody>
                    <a:bodyPr/>
                    <a:lstStyle/>
                    <a:p>
                      <a:pPr algn="ctr"/>
                      <a:r>
                        <a:rPr lang="en-US" sz="1800" dirty="0"/>
                        <a:t>43.8</a:t>
                      </a:r>
                      <a:endParaRPr lang="en-US" sz="1800" dirty="0">
                        <a:solidFill>
                          <a:schemeClr val="bg1"/>
                        </a:solidFill>
                        <a:latin typeface="+mj-lt"/>
                        <a:cs typeface="Arial Unicode MS" panose="020B0604020202020204" pitchFamily="34" charset="-128"/>
                      </a:endParaRPr>
                    </a:p>
                  </a:txBody>
                  <a:tcPr/>
                </a:tc>
                <a:extLst>
                  <a:ext uri="{0D108BD9-81ED-4DB2-BD59-A6C34878D82A}">
                    <a16:rowId xmlns:a16="http://schemas.microsoft.com/office/drawing/2014/main" val="10002"/>
                  </a:ext>
                </a:extLst>
              </a:tr>
              <a:tr h="370840">
                <a:tc>
                  <a:txBody>
                    <a:bodyPr/>
                    <a:lstStyle/>
                    <a:p>
                      <a:pPr algn="ctr"/>
                      <a:r>
                        <a:rPr lang="en-US" sz="1800" dirty="0"/>
                        <a:t>New Orleans</a:t>
                      </a:r>
                      <a:endParaRPr lang="en-US" sz="1800" dirty="0">
                        <a:solidFill>
                          <a:srgbClr val="FFFFFF"/>
                        </a:solidFill>
                        <a:latin typeface="+mj-lt"/>
                        <a:cs typeface="Arial Unicode MS" panose="020B0604020202020204" pitchFamily="34" charset="-128"/>
                      </a:endParaRPr>
                    </a:p>
                  </a:txBody>
                  <a:tcPr/>
                </a:tc>
                <a:tc>
                  <a:txBody>
                    <a:bodyPr/>
                    <a:lstStyle/>
                    <a:p>
                      <a:pPr algn="ctr"/>
                      <a:r>
                        <a:rPr lang="en-US" sz="1800" dirty="0"/>
                        <a:t>62.7</a:t>
                      </a:r>
                      <a:endParaRPr lang="en-US" sz="1800" dirty="0">
                        <a:solidFill>
                          <a:schemeClr val="bg1"/>
                        </a:solidFill>
                        <a:latin typeface="+mj-lt"/>
                        <a:cs typeface="Arial Unicode MS" panose="020B0604020202020204" pitchFamily="34" charset="-128"/>
                      </a:endParaRPr>
                    </a:p>
                  </a:txBody>
                  <a:tcPr/>
                </a:tc>
                <a:extLst>
                  <a:ext uri="{0D108BD9-81ED-4DB2-BD59-A6C34878D82A}">
                    <a16:rowId xmlns:a16="http://schemas.microsoft.com/office/drawing/2014/main" val="10003"/>
                  </a:ext>
                </a:extLst>
              </a:tr>
            </a:tbl>
          </a:graphicData>
        </a:graphic>
      </p:graphicFrame>
      <p:grpSp>
        <p:nvGrpSpPr>
          <p:cNvPr id="25" name="Group 24">
            <a:extLst>
              <a:ext uri="{FF2B5EF4-FFF2-40B4-BE49-F238E27FC236}">
                <a16:creationId xmlns:a16="http://schemas.microsoft.com/office/drawing/2014/main" id="{789388D9-5EAB-D246-9EC6-C9BE5E1C2257}"/>
              </a:ext>
            </a:extLst>
          </p:cNvPr>
          <p:cNvGrpSpPr/>
          <p:nvPr/>
        </p:nvGrpSpPr>
        <p:grpSpPr>
          <a:xfrm>
            <a:off x="5140012" y="1945780"/>
            <a:ext cx="2871119" cy="2930262"/>
            <a:chOff x="5846529" y="2604459"/>
            <a:chExt cx="2871119" cy="2930262"/>
          </a:xfrm>
        </p:grpSpPr>
        <p:sp>
          <p:nvSpPr>
            <p:cNvPr id="38" name="TextBox 37">
              <a:extLst>
                <a:ext uri="{FF2B5EF4-FFF2-40B4-BE49-F238E27FC236}">
                  <a16:creationId xmlns:a16="http://schemas.microsoft.com/office/drawing/2014/main" id="{18DFF4E4-9A57-0048-B50F-EE5419962515}"/>
                </a:ext>
              </a:extLst>
            </p:cNvPr>
            <p:cNvSpPr txBox="1"/>
            <p:nvPr/>
          </p:nvSpPr>
          <p:spPr>
            <a:xfrm rot="5400000">
              <a:off x="6059898" y="4628170"/>
              <a:ext cx="543739" cy="230832"/>
            </a:xfrm>
            <a:prstGeom prst="rect">
              <a:avLst/>
            </a:prstGeom>
            <a:noFill/>
          </p:spPr>
          <p:txBody>
            <a:bodyPr wrap="none" rtlCol="0">
              <a:spAutoFit/>
            </a:bodyPr>
            <a:lstStyle/>
            <a:p>
              <a:pPr defTabSz="457200"/>
              <a:r>
                <a:rPr lang="en-US" sz="900" kern="1200" dirty="0">
                  <a:solidFill>
                    <a:srgbClr val="13705B"/>
                  </a:solidFill>
                  <a:latin typeface="Arial Unicode MS" panose="020B0604020202020204" pitchFamily="34" charset="-128"/>
                  <a:ea typeface="Arial Unicode MS" panose="020B0604020202020204" pitchFamily="34" charset="-128"/>
                  <a:cs typeface="Arial Unicode MS" panose="020B0604020202020204" pitchFamily="34" charset="-128"/>
                </a:rPr>
                <a:t>Boston</a:t>
              </a:r>
            </a:p>
          </p:txBody>
        </p:sp>
        <p:sp>
          <p:nvSpPr>
            <p:cNvPr id="40" name="TextBox 39">
              <a:extLst>
                <a:ext uri="{FF2B5EF4-FFF2-40B4-BE49-F238E27FC236}">
                  <a16:creationId xmlns:a16="http://schemas.microsoft.com/office/drawing/2014/main" id="{9D138C56-F3FE-934D-A759-B23EE5978559}"/>
                </a:ext>
              </a:extLst>
            </p:cNvPr>
            <p:cNvSpPr txBox="1"/>
            <p:nvPr/>
          </p:nvSpPr>
          <p:spPr>
            <a:xfrm rot="5400000">
              <a:off x="6994353" y="4700649"/>
              <a:ext cx="614271" cy="230832"/>
            </a:xfrm>
            <a:prstGeom prst="rect">
              <a:avLst/>
            </a:prstGeom>
            <a:noFill/>
          </p:spPr>
          <p:txBody>
            <a:bodyPr wrap="none" rtlCol="0">
              <a:spAutoFit/>
            </a:bodyPr>
            <a:lstStyle/>
            <a:p>
              <a:pPr defTabSz="457200"/>
              <a:r>
                <a:rPr lang="en-US" sz="900" kern="1200" dirty="0">
                  <a:solidFill>
                    <a:srgbClr val="13705B"/>
                  </a:solidFill>
                  <a:latin typeface="Arial Unicode MS" panose="020B0604020202020204" pitchFamily="34" charset="-128"/>
                  <a:ea typeface="Arial Unicode MS" panose="020B0604020202020204" pitchFamily="34" charset="-128"/>
                  <a:cs typeface="Arial Unicode MS" panose="020B0604020202020204" pitchFamily="34" charset="-128"/>
                </a:rPr>
                <a:t>Portland</a:t>
              </a:r>
            </a:p>
          </p:txBody>
        </p:sp>
        <p:sp>
          <p:nvSpPr>
            <p:cNvPr id="41" name="TextBox 40">
              <a:extLst>
                <a:ext uri="{FF2B5EF4-FFF2-40B4-BE49-F238E27FC236}">
                  <a16:creationId xmlns:a16="http://schemas.microsoft.com/office/drawing/2014/main" id="{5BB8BA14-CAA0-D34C-AC09-C0A83693CB62}"/>
                </a:ext>
              </a:extLst>
            </p:cNvPr>
            <p:cNvSpPr txBox="1"/>
            <p:nvPr/>
          </p:nvSpPr>
          <p:spPr>
            <a:xfrm rot="5400000">
              <a:off x="8176474" y="4993548"/>
              <a:ext cx="851515" cy="230832"/>
            </a:xfrm>
            <a:prstGeom prst="rect">
              <a:avLst/>
            </a:prstGeom>
            <a:noFill/>
          </p:spPr>
          <p:txBody>
            <a:bodyPr wrap="none" rtlCol="0">
              <a:spAutoFit/>
            </a:bodyPr>
            <a:lstStyle/>
            <a:p>
              <a:pPr defTabSz="457200"/>
              <a:r>
                <a:rPr lang="en-US" sz="900" kern="1200" dirty="0">
                  <a:solidFill>
                    <a:srgbClr val="1C2835"/>
                  </a:solidFill>
                  <a:latin typeface="Arial Unicode MS" panose="020B0604020202020204" pitchFamily="34" charset="-128"/>
                  <a:ea typeface="Arial Unicode MS" panose="020B0604020202020204" pitchFamily="34" charset="-128"/>
                  <a:cs typeface="Arial Unicode MS" panose="020B0604020202020204" pitchFamily="34" charset="-128"/>
                </a:rPr>
                <a:t>New Orleans</a:t>
              </a:r>
            </a:p>
          </p:txBody>
        </p:sp>
        <p:cxnSp>
          <p:nvCxnSpPr>
            <p:cNvPr id="42" name="Straight Connector 41">
              <a:extLst>
                <a:ext uri="{FF2B5EF4-FFF2-40B4-BE49-F238E27FC236}">
                  <a16:creationId xmlns:a16="http://schemas.microsoft.com/office/drawing/2014/main" id="{4A690FB7-D672-2849-A574-598972DB7D9C}"/>
                </a:ext>
              </a:extLst>
            </p:cNvPr>
            <p:cNvCxnSpPr>
              <a:stCxn id="38" idx="1"/>
            </p:cNvCxnSpPr>
            <p:nvPr/>
          </p:nvCxnSpPr>
          <p:spPr>
            <a:xfrm flipV="1">
              <a:off x="6331768" y="3544791"/>
              <a:ext cx="507132" cy="926926"/>
            </a:xfrm>
            <a:prstGeom prst="line">
              <a:avLst/>
            </a:prstGeom>
            <a:ln>
              <a:solidFill>
                <a:srgbClr val="F09511"/>
              </a:solidFill>
            </a:ln>
            <a:effectLst/>
          </p:spPr>
          <p:style>
            <a:lnRef idx="2">
              <a:schemeClr val="accent1"/>
            </a:lnRef>
            <a:fillRef idx="0">
              <a:schemeClr val="accent1"/>
            </a:fillRef>
            <a:effectRef idx="1">
              <a:schemeClr val="accent1"/>
            </a:effectRef>
            <a:fontRef idx="minor">
              <a:schemeClr val="tx1"/>
            </a:fontRef>
          </p:style>
        </p:cxnSp>
        <p:cxnSp>
          <p:nvCxnSpPr>
            <p:cNvPr id="43" name="Straight Connector 42">
              <a:extLst>
                <a:ext uri="{FF2B5EF4-FFF2-40B4-BE49-F238E27FC236}">
                  <a16:creationId xmlns:a16="http://schemas.microsoft.com/office/drawing/2014/main" id="{36C63BB9-B609-C240-832D-8BAA1204E5AA}"/>
                </a:ext>
              </a:extLst>
            </p:cNvPr>
            <p:cNvCxnSpPr>
              <a:stCxn id="40" idx="1"/>
            </p:cNvCxnSpPr>
            <p:nvPr/>
          </p:nvCxnSpPr>
          <p:spPr>
            <a:xfrm flipH="1" flipV="1">
              <a:off x="6838904" y="3544792"/>
              <a:ext cx="462585" cy="964138"/>
            </a:xfrm>
            <a:prstGeom prst="line">
              <a:avLst/>
            </a:prstGeom>
            <a:ln>
              <a:solidFill>
                <a:srgbClr val="F09511"/>
              </a:solidFill>
            </a:ln>
            <a:effectLst/>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1294D2C3-25F9-5742-8060-ACE4BEAB59CF}"/>
                </a:ext>
              </a:extLst>
            </p:cNvPr>
            <p:cNvCxnSpPr>
              <a:cxnSpLocks/>
              <a:stCxn id="41" idx="1"/>
            </p:cNvCxnSpPr>
            <p:nvPr/>
          </p:nvCxnSpPr>
          <p:spPr>
            <a:xfrm flipH="1" flipV="1">
              <a:off x="7477707" y="2730555"/>
              <a:ext cx="1124525" cy="1952652"/>
            </a:xfrm>
            <a:prstGeom prst="line">
              <a:avLst/>
            </a:prstGeom>
            <a:ln>
              <a:solidFill>
                <a:srgbClr val="F09511"/>
              </a:solidFill>
            </a:ln>
            <a:effectLst/>
          </p:spPr>
          <p:style>
            <a:lnRef idx="2">
              <a:schemeClr val="accent1"/>
            </a:lnRef>
            <a:fillRef idx="0">
              <a:schemeClr val="accent1"/>
            </a:fillRef>
            <a:effectRef idx="1">
              <a:schemeClr val="accent1"/>
            </a:effectRef>
            <a:fontRef idx="minor">
              <a:schemeClr val="tx1"/>
            </a:fontRef>
          </p:style>
        </p:cxnSp>
        <p:cxnSp>
          <p:nvCxnSpPr>
            <p:cNvPr id="45" name="Straight Connector 44">
              <a:extLst>
                <a:ext uri="{FF2B5EF4-FFF2-40B4-BE49-F238E27FC236}">
                  <a16:creationId xmlns:a16="http://schemas.microsoft.com/office/drawing/2014/main" id="{23218C94-7FC9-4C49-A966-27AEE94EF3C9}"/>
                </a:ext>
              </a:extLst>
            </p:cNvPr>
            <p:cNvCxnSpPr>
              <a:cxnSpLocks/>
            </p:cNvCxnSpPr>
            <p:nvPr/>
          </p:nvCxnSpPr>
          <p:spPr>
            <a:xfrm flipV="1">
              <a:off x="6841099" y="2735264"/>
              <a:ext cx="629667" cy="840243"/>
            </a:xfrm>
            <a:prstGeom prst="line">
              <a:avLst/>
            </a:prstGeom>
            <a:ln>
              <a:solidFill>
                <a:srgbClr val="F09511"/>
              </a:solidFill>
            </a:ln>
            <a:effectLst/>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69A33E78-9E87-3943-B874-031D3E9A4B77}"/>
                </a:ext>
              </a:extLst>
            </p:cNvPr>
            <p:cNvCxnSpPr/>
            <p:nvPr/>
          </p:nvCxnSpPr>
          <p:spPr>
            <a:xfrm flipV="1">
              <a:off x="5944228" y="2735264"/>
              <a:ext cx="0" cy="1880421"/>
            </a:xfrm>
            <a:prstGeom prst="line">
              <a:avLst/>
            </a:prstGeom>
            <a:ln>
              <a:solidFill>
                <a:srgbClr val="F09511"/>
              </a:solidFill>
            </a:ln>
            <a:effectLst/>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F5A69358-8501-4F4F-9F2A-C35A7930C756}"/>
                </a:ext>
              </a:extLst>
            </p:cNvPr>
            <p:cNvCxnSpPr/>
            <p:nvPr/>
          </p:nvCxnSpPr>
          <p:spPr>
            <a:xfrm>
              <a:off x="5846529" y="2735264"/>
              <a:ext cx="195398" cy="0"/>
            </a:xfrm>
            <a:prstGeom prst="line">
              <a:avLst/>
            </a:prstGeom>
            <a:ln>
              <a:solidFill>
                <a:srgbClr val="F09511"/>
              </a:solidFill>
            </a:ln>
            <a:effectLst/>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F0FB26EF-0BDE-4846-8CED-D867B4DCF006}"/>
                </a:ext>
              </a:extLst>
            </p:cNvPr>
            <p:cNvCxnSpPr/>
            <p:nvPr/>
          </p:nvCxnSpPr>
          <p:spPr>
            <a:xfrm>
              <a:off x="5846529" y="3550660"/>
              <a:ext cx="195398" cy="0"/>
            </a:xfrm>
            <a:prstGeom prst="line">
              <a:avLst/>
            </a:prstGeom>
            <a:ln>
              <a:solidFill>
                <a:srgbClr val="F09511"/>
              </a:solidFill>
            </a:ln>
            <a:effectLst/>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062D12AF-6C66-CE43-84E7-34327854A32B}"/>
                </a:ext>
              </a:extLst>
            </p:cNvPr>
            <p:cNvSpPr txBox="1"/>
            <p:nvPr/>
          </p:nvSpPr>
          <p:spPr>
            <a:xfrm>
              <a:off x="5953048" y="3413985"/>
              <a:ext cx="338554" cy="261610"/>
            </a:xfrm>
            <a:prstGeom prst="rect">
              <a:avLst/>
            </a:prstGeom>
            <a:noFill/>
          </p:spPr>
          <p:txBody>
            <a:bodyPr wrap="none" rtlCol="0">
              <a:spAutoFit/>
            </a:bodyPr>
            <a:lstStyle/>
            <a:p>
              <a:pPr defTabSz="457200"/>
              <a:r>
                <a:rPr lang="en-US" sz="105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44</a:t>
              </a:r>
            </a:p>
          </p:txBody>
        </p:sp>
        <p:sp>
          <p:nvSpPr>
            <p:cNvPr id="50" name="TextBox 49">
              <a:extLst>
                <a:ext uri="{FF2B5EF4-FFF2-40B4-BE49-F238E27FC236}">
                  <a16:creationId xmlns:a16="http://schemas.microsoft.com/office/drawing/2014/main" id="{C0E700BD-AC0C-C24C-890F-B88DD344BB0A}"/>
                </a:ext>
              </a:extLst>
            </p:cNvPr>
            <p:cNvSpPr txBox="1"/>
            <p:nvPr/>
          </p:nvSpPr>
          <p:spPr>
            <a:xfrm>
              <a:off x="5958588" y="2604459"/>
              <a:ext cx="335348" cy="253916"/>
            </a:xfrm>
            <a:prstGeom prst="rect">
              <a:avLst/>
            </a:prstGeom>
            <a:noFill/>
          </p:spPr>
          <p:txBody>
            <a:bodyPr wrap="none" rtlCol="0">
              <a:spAutoFit/>
            </a:bodyPr>
            <a:lstStyle/>
            <a:p>
              <a:pPr defTabSz="457200"/>
              <a:r>
                <a:rPr lang="en-US" sz="105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63</a:t>
              </a:r>
            </a:p>
          </p:txBody>
        </p:sp>
      </p:grpSp>
      <p:cxnSp>
        <p:nvCxnSpPr>
          <p:cNvPr id="26" name="Straight Connector 25">
            <a:extLst>
              <a:ext uri="{FF2B5EF4-FFF2-40B4-BE49-F238E27FC236}">
                <a16:creationId xmlns:a16="http://schemas.microsoft.com/office/drawing/2014/main" id="{7FDA39D3-C302-A745-B2DD-B9F905F7C7C9}"/>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BF7D8AF-7ED5-3D4E-A634-EAF6343251AE}"/>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436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F061A48-CB41-4DDC-B8B9-5FFA68FF2634}"/>
              </a:ext>
            </a:extLst>
          </p:cNvPr>
          <p:cNvSpPr txBox="1">
            <a:spLocks/>
          </p:cNvSpPr>
          <p:nvPr/>
        </p:nvSpPr>
        <p:spPr>
          <a:xfrm>
            <a:off x="628650" y="365126"/>
            <a:ext cx="7886700" cy="591477"/>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dirty="0"/>
              <a:t>Dendrograms: Hierarchical Clusters</a:t>
            </a:r>
          </a:p>
        </p:txBody>
      </p:sp>
      <p:sp>
        <p:nvSpPr>
          <p:cNvPr id="6" name="Date Placeholder 1">
            <a:extLst>
              <a:ext uri="{FF2B5EF4-FFF2-40B4-BE49-F238E27FC236}">
                <a16:creationId xmlns:a16="http://schemas.microsoft.com/office/drawing/2014/main" id="{A5024E83-7248-49C6-83CE-0C52F416FEF7}"/>
              </a:ext>
            </a:extLst>
          </p:cNvPr>
          <p:cNvSpPr>
            <a:spLocks noGrp="1"/>
          </p:cNvSpPr>
          <p:nvPr>
            <p:ph type="dt" sz="half" idx="10"/>
          </p:nvPr>
        </p:nvSpPr>
        <p:spPr/>
        <p:txBody>
          <a:bodyPr/>
          <a:lstStyle/>
          <a:p>
            <a:fld id="{6700A58B-DD98-43D0-B791-721480A02982}" type="datetime1">
              <a:rPr lang="en-US" smtClean="0"/>
              <a:pPr/>
              <a:t>6/2/26</a:t>
            </a:fld>
            <a:endParaRPr lang="en-US"/>
          </a:p>
        </p:txBody>
      </p:sp>
      <p:sp>
        <p:nvSpPr>
          <p:cNvPr id="39" name="Footer Placeholder 5">
            <a:extLst>
              <a:ext uri="{FF2B5EF4-FFF2-40B4-BE49-F238E27FC236}">
                <a16:creationId xmlns:a16="http://schemas.microsoft.com/office/drawing/2014/main" id="{D1D3783E-01A5-469C-B82C-CDF73DEAFA52}"/>
              </a:ext>
            </a:extLst>
          </p:cNvPr>
          <p:cNvSpPr>
            <a:spLocks noGrp="1"/>
          </p:cNvSpPr>
          <p:nvPr>
            <p:ph type="ftr" sz="quarter" idx="3"/>
          </p:nvPr>
        </p:nvSpPr>
        <p:spPr/>
        <p:txBody>
          <a:bodyPr/>
          <a:lstStyle/>
          <a:p>
            <a:r>
              <a:rPr lang="en-US"/>
              <a:t>Kwartler</a:t>
            </a:r>
            <a:endParaRPr lang="en-US" dirty="0"/>
          </a:p>
        </p:txBody>
      </p:sp>
      <p:sp>
        <p:nvSpPr>
          <p:cNvPr id="7" name="Slide Number Placeholder 3">
            <a:extLst>
              <a:ext uri="{FF2B5EF4-FFF2-40B4-BE49-F238E27FC236}">
                <a16:creationId xmlns:a16="http://schemas.microsoft.com/office/drawing/2014/main" id="{269E8134-5ACB-40D1-8C0C-86324C8FEF4A}"/>
              </a:ext>
            </a:extLst>
          </p:cNvPr>
          <p:cNvSpPr>
            <a:spLocks noGrp="1"/>
          </p:cNvSpPr>
          <p:nvPr>
            <p:ph type="sldNum" sz="quarter" idx="4"/>
          </p:nvPr>
        </p:nvSpPr>
        <p:spPr/>
        <p:txBody>
          <a:bodyPr/>
          <a:lstStyle/>
          <a:p>
            <a:fld id="{37290FF7-652B-4475-AEAB-8B1A5D23AE09}" type="slidenum">
              <a:rPr lang="en-US" smtClean="0"/>
              <a:pPr/>
              <a:t>21</a:t>
            </a:fld>
            <a:endParaRPr lang="en-US"/>
          </a:p>
        </p:txBody>
      </p:sp>
      <p:sp>
        <p:nvSpPr>
          <p:cNvPr id="12" name="Rectangle 11">
            <a:extLst>
              <a:ext uri="{FF2B5EF4-FFF2-40B4-BE49-F238E27FC236}">
                <a16:creationId xmlns:a16="http://schemas.microsoft.com/office/drawing/2014/main" id="{7197406C-DFBC-4F87-B64C-5BFAB29DF079}"/>
              </a:ext>
            </a:extLst>
          </p:cNvPr>
          <p:cNvSpPr/>
          <p:nvPr/>
        </p:nvSpPr>
        <p:spPr>
          <a:xfrm>
            <a:off x="4660900" y="1497176"/>
            <a:ext cx="4114800" cy="3317892"/>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t" anchorCtr="0"/>
          <a:lstStyle/>
          <a:p>
            <a:pPr marL="114300" lvl="1" indent="-114300">
              <a:spcBef>
                <a:spcPts val="600"/>
              </a:spcBef>
              <a:buSzPct val="100000"/>
              <a:buFont typeface="Arial"/>
              <a:buChar char="•"/>
            </a:pPr>
            <a:endParaRPr lang="en-US" sz="1100" dirty="0">
              <a:solidFill>
                <a:schemeClr val="tx2"/>
              </a:solidFill>
            </a:endParaRPr>
          </a:p>
        </p:txBody>
      </p:sp>
      <p:sp>
        <p:nvSpPr>
          <p:cNvPr id="16" name="Rectangle 15">
            <a:extLst>
              <a:ext uri="{FF2B5EF4-FFF2-40B4-BE49-F238E27FC236}">
                <a16:creationId xmlns:a16="http://schemas.microsoft.com/office/drawing/2014/main" id="{FEE6A673-DE2C-4210-A54A-DC994611B17B}"/>
              </a:ext>
            </a:extLst>
          </p:cNvPr>
          <p:cNvSpPr/>
          <p:nvPr/>
        </p:nvSpPr>
        <p:spPr>
          <a:xfrm>
            <a:off x="4660900" y="1128174"/>
            <a:ext cx="4114800" cy="365760"/>
          </a:xfrm>
          <a:prstGeom prst="rect">
            <a:avLst/>
          </a:prstGeom>
          <a:solidFill>
            <a:schemeClr val="accent3"/>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bg1"/>
                </a:solidFill>
              </a:rPr>
              <a:t>Rainfall Data as a Dendrogram</a:t>
            </a:r>
          </a:p>
        </p:txBody>
      </p:sp>
      <p:sp>
        <p:nvSpPr>
          <p:cNvPr id="19" name="Rectangle 18">
            <a:extLst>
              <a:ext uri="{FF2B5EF4-FFF2-40B4-BE49-F238E27FC236}">
                <a16:creationId xmlns:a16="http://schemas.microsoft.com/office/drawing/2014/main" id="{667B539A-F57E-4022-A051-60008C85B04B}"/>
              </a:ext>
            </a:extLst>
          </p:cNvPr>
          <p:cNvSpPr/>
          <p:nvPr/>
        </p:nvSpPr>
        <p:spPr>
          <a:xfrm>
            <a:off x="365760" y="1493935"/>
            <a:ext cx="4114800" cy="3332708"/>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t" anchorCtr="0"/>
          <a:lstStyle/>
          <a:p>
            <a:pPr marL="117475" indent="-117475" defTabSz="457200">
              <a:buFont typeface="Arial"/>
              <a:buChar char="•"/>
            </a:pPr>
            <a:r>
              <a:rPr lang="en-US" dirty="0">
                <a:solidFill>
                  <a:prstClr val="black"/>
                </a:solidFill>
                <a:ea typeface="Arial Unicode MS" panose="020B0604020202020204" pitchFamily="34" charset="-128"/>
                <a:cs typeface="Arial Unicode MS" panose="020B0604020202020204" pitchFamily="34" charset="-128"/>
              </a:rPr>
              <a:t>Reduces information much like average is a reduction of many observations’ values</a:t>
            </a:r>
          </a:p>
          <a:p>
            <a:pPr marL="117475" indent="-117475" defTabSz="457200">
              <a:buFont typeface="Arial"/>
              <a:buChar char="•"/>
            </a:pPr>
            <a:endParaRPr lang="en-US" sz="1400" dirty="0">
              <a:solidFill>
                <a:prstClr val="black"/>
              </a:solidFill>
              <a:ea typeface="Arial Unicode MS" panose="020B0604020202020204" pitchFamily="34" charset="-128"/>
              <a:cs typeface="Arial Unicode MS" panose="020B0604020202020204" pitchFamily="34" charset="-128"/>
            </a:endParaRPr>
          </a:p>
          <a:p>
            <a:pPr marL="117475" indent="-117475" defTabSz="457200">
              <a:buFont typeface="Arial"/>
              <a:buChar char="•"/>
            </a:pPr>
            <a:endParaRPr lang="en-US" sz="1400" dirty="0">
              <a:solidFill>
                <a:prstClr val="black"/>
              </a:solidFill>
              <a:ea typeface="Arial Unicode MS" panose="020B0604020202020204" pitchFamily="34" charset="-128"/>
              <a:cs typeface="Arial Unicode MS" panose="020B0604020202020204" pitchFamily="34" charset="-128"/>
            </a:endParaRPr>
          </a:p>
          <a:p>
            <a:pPr marL="117475" indent="-117475" defTabSz="457200">
              <a:buFont typeface="Arial"/>
              <a:buChar char="•"/>
            </a:pPr>
            <a:r>
              <a:rPr lang="en-US" sz="1600" dirty="0">
                <a:solidFill>
                  <a:prstClr val="black"/>
                </a:solidFill>
                <a:ea typeface="Arial Unicode MS" panose="020B0604020202020204" pitchFamily="34" charset="-128"/>
                <a:cs typeface="Arial Unicode MS" panose="020B0604020202020204" pitchFamily="34" charset="-128"/>
              </a:rPr>
              <a:t>Word clusters emerge often showing related terms/phrases</a:t>
            </a:r>
          </a:p>
          <a:p>
            <a:pPr marL="117475" indent="-117475" defTabSz="457200">
              <a:buFont typeface="Arial"/>
              <a:buChar char="•"/>
            </a:pPr>
            <a:endParaRPr lang="en-US" sz="1400" dirty="0">
              <a:solidFill>
                <a:prstClr val="black"/>
              </a:solidFill>
              <a:ea typeface="Arial Unicode MS" panose="020B0604020202020204" pitchFamily="34" charset="-128"/>
              <a:cs typeface="Arial Unicode MS" panose="020B0604020202020204" pitchFamily="34" charset="-128"/>
            </a:endParaRPr>
          </a:p>
          <a:p>
            <a:pPr marL="117475" indent="-117475" defTabSz="457200">
              <a:buFont typeface="Arial"/>
              <a:buChar char="•"/>
            </a:pPr>
            <a:r>
              <a:rPr lang="en-US" dirty="0">
                <a:solidFill>
                  <a:prstClr val="black"/>
                </a:solidFill>
                <a:ea typeface="Arial Unicode MS" panose="020B0604020202020204" pitchFamily="34" charset="-128"/>
                <a:cs typeface="Arial Unicode MS" panose="020B0604020202020204" pitchFamily="34" charset="-128"/>
              </a:rPr>
              <a:t>Term frequency is used to construct the word cluster.  Put another way, term A &amp; term B have similar freq. distances &amp; are considered a cluster</a:t>
            </a:r>
            <a:endParaRPr lang="en-US" sz="1100" dirty="0">
              <a:solidFill>
                <a:schemeClr val="tx2"/>
              </a:solidFill>
            </a:endParaRPr>
          </a:p>
        </p:txBody>
      </p:sp>
      <p:sp>
        <p:nvSpPr>
          <p:cNvPr id="21" name="Rectangle 20">
            <a:extLst>
              <a:ext uri="{FF2B5EF4-FFF2-40B4-BE49-F238E27FC236}">
                <a16:creationId xmlns:a16="http://schemas.microsoft.com/office/drawing/2014/main" id="{428A96B2-C9E8-4690-9E7E-137E9BECBA01}"/>
              </a:ext>
            </a:extLst>
          </p:cNvPr>
          <p:cNvSpPr/>
          <p:nvPr/>
        </p:nvSpPr>
        <p:spPr>
          <a:xfrm>
            <a:off x="365760" y="1128174"/>
            <a:ext cx="4114800" cy="365760"/>
          </a:xfrm>
          <a:prstGeom prst="rect">
            <a:avLst/>
          </a:prstGeom>
          <a:solidFill>
            <a:schemeClr val="accent3"/>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bg1"/>
                </a:solidFill>
              </a:rPr>
              <a:t>Keep in Mind a Dendrogram</a:t>
            </a:r>
          </a:p>
        </p:txBody>
      </p:sp>
      <p:cxnSp>
        <p:nvCxnSpPr>
          <p:cNvPr id="24" name="Straight Connector 23">
            <a:extLst>
              <a:ext uri="{FF2B5EF4-FFF2-40B4-BE49-F238E27FC236}">
                <a16:creationId xmlns:a16="http://schemas.microsoft.com/office/drawing/2014/main" id="{36CB3112-4419-9A4B-A135-3AC83385A5D6}"/>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CA79532-C888-7746-BE0F-02940614772F}"/>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27" name="Group 26">
            <a:extLst>
              <a:ext uri="{FF2B5EF4-FFF2-40B4-BE49-F238E27FC236}">
                <a16:creationId xmlns:a16="http://schemas.microsoft.com/office/drawing/2014/main" id="{C037A5EC-66E4-C54D-8B2A-96A03BD38F30}"/>
              </a:ext>
            </a:extLst>
          </p:cNvPr>
          <p:cNvGrpSpPr/>
          <p:nvPr/>
        </p:nvGrpSpPr>
        <p:grpSpPr>
          <a:xfrm>
            <a:off x="5140012" y="1945780"/>
            <a:ext cx="2871119" cy="2930262"/>
            <a:chOff x="5846529" y="2604459"/>
            <a:chExt cx="2871119" cy="2930262"/>
          </a:xfrm>
        </p:grpSpPr>
        <p:sp>
          <p:nvSpPr>
            <p:cNvPr id="28" name="TextBox 27">
              <a:extLst>
                <a:ext uri="{FF2B5EF4-FFF2-40B4-BE49-F238E27FC236}">
                  <a16:creationId xmlns:a16="http://schemas.microsoft.com/office/drawing/2014/main" id="{FE2AB092-6238-C24F-8A17-41C6E8828C58}"/>
                </a:ext>
              </a:extLst>
            </p:cNvPr>
            <p:cNvSpPr txBox="1"/>
            <p:nvPr/>
          </p:nvSpPr>
          <p:spPr>
            <a:xfrm rot="5400000">
              <a:off x="6059898" y="4628170"/>
              <a:ext cx="543739" cy="230832"/>
            </a:xfrm>
            <a:prstGeom prst="rect">
              <a:avLst/>
            </a:prstGeom>
            <a:noFill/>
          </p:spPr>
          <p:txBody>
            <a:bodyPr wrap="none" rtlCol="0">
              <a:spAutoFit/>
            </a:bodyPr>
            <a:lstStyle/>
            <a:p>
              <a:pPr defTabSz="457200"/>
              <a:r>
                <a:rPr lang="en-US" sz="900" kern="1200" dirty="0">
                  <a:solidFill>
                    <a:srgbClr val="13705B"/>
                  </a:solidFill>
                  <a:latin typeface="Arial Unicode MS" panose="020B0604020202020204" pitchFamily="34" charset="-128"/>
                  <a:ea typeface="Arial Unicode MS" panose="020B0604020202020204" pitchFamily="34" charset="-128"/>
                  <a:cs typeface="Arial Unicode MS" panose="020B0604020202020204" pitchFamily="34" charset="-128"/>
                </a:rPr>
                <a:t>Boston</a:t>
              </a:r>
            </a:p>
          </p:txBody>
        </p:sp>
        <p:sp>
          <p:nvSpPr>
            <p:cNvPr id="29" name="TextBox 28">
              <a:extLst>
                <a:ext uri="{FF2B5EF4-FFF2-40B4-BE49-F238E27FC236}">
                  <a16:creationId xmlns:a16="http://schemas.microsoft.com/office/drawing/2014/main" id="{56FB3590-B92B-7F4B-BA54-005A29F81AF9}"/>
                </a:ext>
              </a:extLst>
            </p:cNvPr>
            <p:cNvSpPr txBox="1"/>
            <p:nvPr/>
          </p:nvSpPr>
          <p:spPr>
            <a:xfrm rot="5400000">
              <a:off x="6994353" y="4700649"/>
              <a:ext cx="614271" cy="230832"/>
            </a:xfrm>
            <a:prstGeom prst="rect">
              <a:avLst/>
            </a:prstGeom>
            <a:noFill/>
          </p:spPr>
          <p:txBody>
            <a:bodyPr wrap="none" rtlCol="0">
              <a:spAutoFit/>
            </a:bodyPr>
            <a:lstStyle/>
            <a:p>
              <a:pPr defTabSz="457200"/>
              <a:r>
                <a:rPr lang="en-US" sz="900" kern="1200" dirty="0">
                  <a:solidFill>
                    <a:srgbClr val="13705B"/>
                  </a:solidFill>
                  <a:latin typeface="Arial Unicode MS" panose="020B0604020202020204" pitchFamily="34" charset="-128"/>
                  <a:ea typeface="Arial Unicode MS" panose="020B0604020202020204" pitchFamily="34" charset="-128"/>
                  <a:cs typeface="Arial Unicode MS" panose="020B0604020202020204" pitchFamily="34" charset="-128"/>
                </a:rPr>
                <a:t>Portland</a:t>
              </a:r>
            </a:p>
          </p:txBody>
        </p:sp>
        <p:sp>
          <p:nvSpPr>
            <p:cNvPr id="30" name="TextBox 29">
              <a:extLst>
                <a:ext uri="{FF2B5EF4-FFF2-40B4-BE49-F238E27FC236}">
                  <a16:creationId xmlns:a16="http://schemas.microsoft.com/office/drawing/2014/main" id="{8C13866C-12D3-A445-89F7-7ED8F4148167}"/>
                </a:ext>
              </a:extLst>
            </p:cNvPr>
            <p:cNvSpPr txBox="1"/>
            <p:nvPr/>
          </p:nvSpPr>
          <p:spPr>
            <a:xfrm rot="5400000">
              <a:off x="8176474" y="4993548"/>
              <a:ext cx="851515" cy="230832"/>
            </a:xfrm>
            <a:prstGeom prst="rect">
              <a:avLst/>
            </a:prstGeom>
            <a:noFill/>
          </p:spPr>
          <p:txBody>
            <a:bodyPr wrap="none" rtlCol="0">
              <a:spAutoFit/>
            </a:bodyPr>
            <a:lstStyle/>
            <a:p>
              <a:pPr defTabSz="457200"/>
              <a:r>
                <a:rPr lang="en-US" sz="900" kern="1200" dirty="0">
                  <a:solidFill>
                    <a:srgbClr val="1C2835"/>
                  </a:solidFill>
                  <a:latin typeface="Arial Unicode MS" panose="020B0604020202020204" pitchFamily="34" charset="-128"/>
                  <a:ea typeface="Arial Unicode MS" panose="020B0604020202020204" pitchFamily="34" charset="-128"/>
                  <a:cs typeface="Arial Unicode MS" panose="020B0604020202020204" pitchFamily="34" charset="-128"/>
                </a:rPr>
                <a:t>New Orleans</a:t>
              </a:r>
            </a:p>
          </p:txBody>
        </p:sp>
        <p:cxnSp>
          <p:nvCxnSpPr>
            <p:cNvPr id="31" name="Straight Connector 30">
              <a:extLst>
                <a:ext uri="{FF2B5EF4-FFF2-40B4-BE49-F238E27FC236}">
                  <a16:creationId xmlns:a16="http://schemas.microsoft.com/office/drawing/2014/main" id="{D587DE56-2092-E64E-9361-43A5DAF36675}"/>
                </a:ext>
              </a:extLst>
            </p:cNvPr>
            <p:cNvCxnSpPr>
              <a:stCxn id="28" idx="1"/>
            </p:cNvCxnSpPr>
            <p:nvPr/>
          </p:nvCxnSpPr>
          <p:spPr>
            <a:xfrm flipV="1">
              <a:off x="6331768" y="3544791"/>
              <a:ext cx="507132" cy="926926"/>
            </a:xfrm>
            <a:prstGeom prst="line">
              <a:avLst/>
            </a:prstGeom>
            <a:ln>
              <a:solidFill>
                <a:srgbClr val="F09511"/>
              </a:solidFill>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55685364-E208-D04D-BBF9-8833F93A7BD0}"/>
                </a:ext>
              </a:extLst>
            </p:cNvPr>
            <p:cNvCxnSpPr>
              <a:stCxn id="29" idx="1"/>
            </p:cNvCxnSpPr>
            <p:nvPr/>
          </p:nvCxnSpPr>
          <p:spPr>
            <a:xfrm flipH="1" flipV="1">
              <a:off x="6838904" y="3544792"/>
              <a:ext cx="462585" cy="964138"/>
            </a:xfrm>
            <a:prstGeom prst="line">
              <a:avLst/>
            </a:prstGeom>
            <a:ln>
              <a:solidFill>
                <a:srgbClr val="F09511"/>
              </a:solidFill>
            </a:ln>
            <a:effectLst/>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BFCF2E82-10FA-AD42-9ECD-B076AF9B6977}"/>
                </a:ext>
              </a:extLst>
            </p:cNvPr>
            <p:cNvCxnSpPr>
              <a:cxnSpLocks/>
              <a:stCxn id="30" idx="1"/>
            </p:cNvCxnSpPr>
            <p:nvPr/>
          </p:nvCxnSpPr>
          <p:spPr>
            <a:xfrm flipH="1" flipV="1">
              <a:off x="7477707" y="2730555"/>
              <a:ext cx="1124525" cy="1952652"/>
            </a:xfrm>
            <a:prstGeom prst="line">
              <a:avLst/>
            </a:prstGeom>
            <a:ln>
              <a:solidFill>
                <a:srgbClr val="F09511"/>
              </a:solidFill>
            </a:ln>
            <a:effectLst/>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4C0FB6CF-21E7-CC40-8406-2A8E1117D1B0}"/>
                </a:ext>
              </a:extLst>
            </p:cNvPr>
            <p:cNvCxnSpPr>
              <a:cxnSpLocks/>
            </p:cNvCxnSpPr>
            <p:nvPr/>
          </p:nvCxnSpPr>
          <p:spPr>
            <a:xfrm flipV="1">
              <a:off x="6841099" y="2735264"/>
              <a:ext cx="629667" cy="840243"/>
            </a:xfrm>
            <a:prstGeom prst="line">
              <a:avLst/>
            </a:prstGeom>
            <a:ln>
              <a:solidFill>
                <a:srgbClr val="F09511"/>
              </a:solidFill>
            </a:ln>
            <a:effectLst/>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521F0FFA-5FE5-9441-9606-9CBC000AEC09}"/>
                </a:ext>
              </a:extLst>
            </p:cNvPr>
            <p:cNvCxnSpPr/>
            <p:nvPr/>
          </p:nvCxnSpPr>
          <p:spPr>
            <a:xfrm flipV="1">
              <a:off x="5944228" y="2735264"/>
              <a:ext cx="0" cy="1880421"/>
            </a:xfrm>
            <a:prstGeom prst="line">
              <a:avLst/>
            </a:prstGeom>
            <a:ln>
              <a:solidFill>
                <a:srgbClr val="F09511"/>
              </a:solidFill>
            </a:ln>
            <a:effectLst/>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7C5266EE-E3E7-2745-A4D9-A083D4DEE3BB}"/>
                </a:ext>
              </a:extLst>
            </p:cNvPr>
            <p:cNvCxnSpPr/>
            <p:nvPr/>
          </p:nvCxnSpPr>
          <p:spPr>
            <a:xfrm>
              <a:off x="5846529" y="2735264"/>
              <a:ext cx="195398" cy="0"/>
            </a:xfrm>
            <a:prstGeom prst="line">
              <a:avLst/>
            </a:prstGeom>
            <a:ln>
              <a:solidFill>
                <a:srgbClr val="F09511"/>
              </a:solidFill>
            </a:ln>
            <a:effectLst/>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2AE933B0-2B5B-604E-AE15-826AC2546CD5}"/>
                </a:ext>
              </a:extLst>
            </p:cNvPr>
            <p:cNvCxnSpPr/>
            <p:nvPr/>
          </p:nvCxnSpPr>
          <p:spPr>
            <a:xfrm>
              <a:off x="5846529" y="3550660"/>
              <a:ext cx="195398" cy="0"/>
            </a:xfrm>
            <a:prstGeom prst="line">
              <a:avLst/>
            </a:prstGeom>
            <a:ln>
              <a:solidFill>
                <a:srgbClr val="F09511"/>
              </a:solidFill>
            </a:ln>
            <a:effectLst/>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5547643C-5189-1248-B360-D4D69B5C6F5A}"/>
                </a:ext>
              </a:extLst>
            </p:cNvPr>
            <p:cNvSpPr txBox="1"/>
            <p:nvPr/>
          </p:nvSpPr>
          <p:spPr>
            <a:xfrm>
              <a:off x="5953048" y="3413985"/>
              <a:ext cx="338554" cy="261610"/>
            </a:xfrm>
            <a:prstGeom prst="rect">
              <a:avLst/>
            </a:prstGeom>
            <a:noFill/>
          </p:spPr>
          <p:txBody>
            <a:bodyPr wrap="none" rtlCol="0">
              <a:spAutoFit/>
            </a:bodyPr>
            <a:lstStyle/>
            <a:p>
              <a:pPr defTabSz="457200"/>
              <a:r>
                <a:rPr lang="en-US" sz="105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44</a:t>
              </a:r>
            </a:p>
          </p:txBody>
        </p:sp>
        <p:sp>
          <p:nvSpPr>
            <p:cNvPr id="51" name="TextBox 50">
              <a:extLst>
                <a:ext uri="{FF2B5EF4-FFF2-40B4-BE49-F238E27FC236}">
                  <a16:creationId xmlns:a16="http://schemas.microsoft.com/office/drawing/2014/main" id="{24260080-A669-4340-BF7D-0214127907D8}"/>
                </a:ext>
              </a:extLst>
            </p:cNvPr>
            <p:cNvSpPr txBox="1"/>
            <p:nvPr/>
          </p:nvSpPr>
          <p:spPr>
            <a:xfrm>
              <a:off x="5958588" y="2604459"/>
              <a:ext cx="335348" cy="253916"/>
            </a:xfrm>
            <a:prstGeom prst="rect">
              <a:avLst/>
            </a:prstGeom>
            <a:noFill/>
          </p:spPr>
          <p:txBody>
            <a:bodyPr wrap="none" rtlCol="0">
              <a:spAutoFit/>
            </a:bodyPr>
            <a:lstStyle/>
            <a:p>
              <a:pPr defTabSz="457200"/>
              <a:r>
                <a:rPr lang="en-US" sz="105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63</a:t>
              </a:r>
            </a:p>
          </p:txBody>
        </p:sp>
      </p:grpSp>
    </p:spTree>
    <p:extLst>
      <p:ext uri="{BB962C8B-B14F-4D97-AF65-F5344CB8AC3E}">
        <p14:creationId xmlns:p14="http://schemas.microsoft.com/office/powerpoint/2010/main" val="9921818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93C0304-8F33-4982-A48C-60D5F6286BE4}"/>
              </a:ext>
            </a:extLst>
          </p:cNvPr>
          <p:cNvGrpSpPr/>
          <p:nvPr/>
        </p:nvGrpSpPr>
        <p:grpSpPr>
          <a:xfrm>
            <a:off x="512916" y="1656073"/>
            <a:ext cx="8118168" cy="3545855"/>
            <a:chOff x="-1520190" y="1128174"/>
            <a:chExt cx="8118168" cy="3545855"/>
          </a:xfrm>
        </p:grpSpPr>
        <p:sp>
          <p:nvSpPr>
            <p:cNvPr id="9" name="Rectangle 8">
              <a:extLst>
                <a:ext uri="{FF2B5EF4-FFF2-40B4-BE49-F238E27FC236}">
                  <a16:creationId xmlns:a16="http://schemas.microsoft.com/office/drawing/2014/main" id="{C246B7D1-453D-487B-B491-889C15C460F6}"/>
                </a:ext>
              </a:extLst>
            </p:cNvPr>
            <p:cNvSpPr/>
            <p:nvPr/>
          </p:nvSpPr>
          <p:spPr>
            <a:xfrm>
              <a:off x="-1520190" y="1497177"/>
              <a:ext cx="8118168" cy="3176852"/>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t" anchorCtr="0"/>
            <a:lstStyle/>
            <a:p>
              <a:pPr defTabSz="457200"/>
              <a:endParaRPr lang="en-US" sz="1000" dirty="0">
                <a:solidFill>
                  <a:schemeClr val="tx2"/>
                </a:solidFill>
              </a:endParaRPr>
            </a:p>
          </p:txBody>
        </p:sp>
        <p:sp>
          <p:nvSpPr>
            <p:cNvPr id="10" name="Rectangle 9">
              <a:extLst>
                <a:ext uri="{FF2B5EF4-FFF2-40B4-BE49-F238E27FC236}">
                  <a16:creationId xmlns:a16="http://schemas.microsoft.com/office/drawing/2014/main" id="{2C95F845-8979-407C-9F4E-6FBCB9476B2D}"/>
                </a:ext>
              </a:extLst>
            </p:cNvPr>
            <p:cNvSpPr/>
            <p:nvPr/>
          </p:nvSpPr>
          <p:spPr>
            <a:xfrm>
              <a:off x="-1520190" y="1128174"/>
              <a:ext cx="8118168" cy="365760"/>
            </a:xfrm>
            <a:prstGeom prst="rect">
              <a:avLst/>
            </a:prstGeom>
            <a:solidFill>
              <a:schemeClr val="accent3"/>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bg1"/>
                  </a:solidFill>
                </a:rPr>
                <a:t>Fake TDM</a:t>
              </a:r>
            </a:p>
          </p:txBody>
        </p:sp>
      </p:grpSp>
      <p:sp>
        <p:nvSpPr>
          <p:cNvPr id="2" name="Date Placeholder 1">
            <a:extLst>
              <a:ext uri="{FF2B5EF4-FFF2-40B4-BE49-F238E27FC236}">
                <a16:creationId xmlns:a16="http://schemas.microsoft.com/office/drawing/2014/main" id="{FCD0CBEA-84E2-4F32-BD89-3B29297965DB}"/>
              </a:ext>
            </a:extLst>
          </p:cNvPr>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a:extLst>
              <a:ext uri="{FF2B5EF4-FFF2-40B4-BE49-F238E27FC236}">
                <a16:creationId xmlns:a16="http://schemas.microsoft.com/office/drawing/2014/main" id="{E7FE965E-D86E-43E3-8C61-DE170FF2E693}"/>
              </a:ext>
            </a:extLst>
          </p:cNvPr>
          <p:cNvSpPr>
            <a:spLocks noGrp="1"/>
          </p:cNvSpPr>
          <p:nvPr>
            <p:ph type="title"/>
          </p:nvPr>
        </p:nvSpPr>
        <p:spPr/>
        <p:txBody>
          <a:bodyPr/>
          <a:lstStyle/>
          <a:p>
            <a:r>
              <a:rPr lang="en-US"/>
              <a:t>Distance Matrix</a:t>
            </a:r>
            <a:endParaRPr lang="en-US" dirty="0"/>
          </a:p>
        </p:txBody>
      </p:sp>
      <p:sp>
        <p:nvSpPr>
          <p:cNvPr id="5" name="Footer Placeholder 4">
            <a:extLst>
              <a:ext uri="{FF2B5EF4-FFF2-40B4-BE49-F238E27FC236}">
                <a16:creationId xmlns:a16="http://schemas.microsoft.com/office/drawing/2014/main" id="{F31353EE-337A-4B32-B894-32B8CAB8BCBF}"/>
              </a:ext>
            </a:extLst>
          </p:cNvPr>
          <p:cNvSpPr>
            <a:spLocks noGrp="1"/>
          </p:cNvSpPr>
          <p:nvPr>
            <p:ph type="ftr" sz="quarter" idx="3"/>
          </p:nvPr>
        </p:nvSpPr>
        <p:spPr/>
        <p:txBody>
          <a:bodyPr/>
          <a:lstStyle/>
          <a:p>
            <a:r>
              <a:rPr lang="en-US"/>
              <a:t>Kwartler</a:t>
            </a:r>
            <a:endParaRPr lang="en-US" dirty="0"/>
          </a:p>
        </p:txBody>
      </p:sp>
      <p:sp>
        <p:nvSpPr>
          <p:cNvPr id="4" name="Slide Number Placeholder 3">
            <a:extLst>
              <a:ext uri="{FF2B5EF4-FFF2-40B4-BE49-F238E27FC236}">
                <a16:creationId xmlns:a16="http://schemas.microsoft.com/office/drawing/2014/main" id="{8218905E-55FD-45C9-BD1A-93960551C7F8}"/>
              </a:ext>
            </a:extLst>
          </p:cNvPr>
          <p:cNvSpPr>
            <a:spLocks noGrp="1"/>
          </p:cNvSpPr>
          <p:nvPr>
            <p:ph type="sldNum" sz="quarter" idx="4"/>
          </p:nvPr>
        </p:nvSpPr>
        <p:spPr/>
        <p:txBody>
          <a:bodyPr/>
          <a:lstStyle/>
          <a:p>
            <a:fld id="{37290FF7-652B-4475-AEAB-8B1A5D23AE09}" type="slidenum">
              <a:rPr lang="en-US" smtClean="0"/>
              <a:pPr/>
              <a:t>22</a:t>
            </a:fld>
            <a:endParaRPr lang="en-US"/>
          </a:p>
        </p:txBody>
      </p:sp>
      <p:sp>
        <p:nvSpPr>
          <p:cNvPr id="7" name="TextBox 6">
            <a:extLst>
              <a:ext uri="{FF2B5EF4-FFF2-40B4-BE49-F238E27FC236}">
                <a16:creationId xmlns:a16="http://schemas.microsoft.com/office/drawing/2014/main" id="{A5A3EE36-0573-4214-8E8B-E9BD628BC999}"/>
              </a:ext>
            </a:extLst>
          </p:cNvPr>
          <p:cNvSpPr txBox="1"/>
          <p:nvPr/>
        </p:nvSpPr>
        <p:spPr>
          <a:xfrm>
            <a:off x="367030" y="1220589"/>
            <a:ext cx="8409940" cy="338554"/>
          </a:xfrm>
          <a:prstGeom prst="rect">
            <a:avLst/>
          </a:prstGeom>
          <a:solidFill>
            <a:schemeClr val="accent1"/>
          </a:solidFill>
        </p:spPr>
        <p:txBody>
          <a:bodyPr wrap="square" rtlCol="0">
            <a:spAutoFit/>
          </a:bodyPr>
          <a:lstStyle/>
          <a:p>
            <a:pPr algn="ctr" defTabSz="457200"/>
            <a:r>
              <a:rPr lang="en-US" sz="1600" kern="1200" dirty="0">
                <a:solidFill>
                  <a:prstClr val="white"/>
                </a:solidFill>
                <a:latin typeface="+mj-lt"/>
                <a:ea typeface="Arial Unicode MS" panose="020B0604020202020204" pitchFamily="34" charset="-128"/>
                <a:cs typeface="Arial Unicode MS" panose="020B0604020202020204" pitchFamily="34" charset="-128"/>
              </a:rPr>
              <a:t>The default is to use the Euclidean distance although others i.e. Manhattan can be explored.</a:t>
            </a:r>
          </a:p>
        </p:txBody>
      </p:sp>
      <p:pic>
        <p:nvPicPr>
          <p:cNvPr id="8" name="Picture 7">
            <a:extLst>
              <a:ext uri="{FF2B5EF4-FFF2-40B4-BE49-F238E27FC236}">
                <a16:creationId xmlns:a16="http://schemas.microsoft.com/office/drawing/2014/main" id="{D59B79D2-08EB-443A-9259-61C40194BC3A}"/>
              </a:ext>
            </a:extLst>
          </p:cNvPr>
          <p:cNvPicPr>
            <a:picLocks noChangeAspect="1"/>
          </p:cNvPicPr>
          <p:nvPr/>
        </p:nvPicPr>
        <p:blipFill>
          <a:blip r:embed="rId2"/>
          <a:stretch>
            <a:fillRect/>
          </a:stretch>
        </p:blipFill>
        <p:spPr>
          <a:xfrm>
            <a:off x="2359124" y="2914643"/>
            <a:ext cx="4632433" cy="1397717"/>
          </a:xfrm>
          <a:prstGeom prst="rect">
            <a:avLst/>
          </a:prstGeom>
          <a:ln>
            <a:solidFill>
              <a:schemeClr val="accent6">
                <a:lumMod val="60000"/>
                <a:lumOff val="40000"/>
              </a:schemeClr>
            </a:solidFill>
          </a:ln>
        </p:spPr>
      </p:pic>
      <p:pic>
        <p:nvPicPr>
          <p:cNvPr id="12" name="Picture 11">
            <a:extLst>
              <a:ext uri="{FF2B5EF4-FFF2-40B4-BE49-F238E27FC236}">
                <a16:creationId xmlns:a16="http://schemas.microsoft.com/office/drawing/2014/main" id="{F9D3EA9E-5A03-4B56-86D7-1344B3C9A8AB}"/>
              </a:ext>
            </a:extLst>
          </p:cNvPr>
          <p:cNvPicPr>
            <a:picLocks noChangeAspect="1"/>
          </p:cNvPicPr>
          <p:nvPr/>
        </p:nvPicPr>
        <p:blipFill>
          <a:blip r:embed="rId3"/>
          <a:stretch>
            <a:fillRect/>
          </a:stretch>
        </p:blipFill>
        <p:spPr>
          <a:xfrm>
            <a:off x="512916" y="2109395"/>
            <a:ext cx="4162425" cy="619125"/>
          </a:xfrm>
          <a:prstGeom prst="rect">
            <a:avLst/>
          </a:prstGeom>
        </p:spPr>
      </p:pic>
      <p:cxnSp>
        <p:nvCxnSpPr>
          <p:cNvPr id="13" name="Straight Connector 12">
            <a:extLst>
              <a:ext uri="{FF2B5EF4-FFF2-40B4-BE49-F238E27FC236}">
                <a16:creationId xmlns:a16="http://schemas.microsoft.com/office/drawing/2014/main" id="{CB9F767C-DF97-5943-92FA-8A95106F43ED}"/>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50739A6-1E40-ED48-BA8B-3D1D6B9C48E2}"/>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90363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93C0304-8F33-4982-A48C-60D5F6286BE4}"/>
              </a:ext>
            </a:extLst>
          </p:cNvPr>
          <p:cNvGrpSpPr/>
          <p:nvPr/>
        </p:nvGrpSpPr>
        <p:grpSpPr>
          <a:xfrm>
            <a:off x="512916" y="1656073"/>
            <a:ext cx="8118168" cy="3545855"/>
            <a:chOff x="-1520190" y="1128174"/>
            <a:chExt cx="8118168" cy="3545855"/>
          </a:xfrm>
        </p:grpSpPr>
        <p:sp>
          <p:nvSpPr>
            <p:cNvPr id="9" name="Rectangle 8">
              <a:extLst>
                <a:ext uri="{FF2B5EF4-FFF2-40B4-BE49-F238E27FC236}">
                  <a16:creationId xmlns:a16="http://schemas.microsoft.com/office/drawing/2014/main" id="{C246B7D1-453D-487B-B491-889C15C460F6}"/>
                </a:ext>
              </a:extLst>
            </p:cNvPr>
            <p:cNvSpPr/>
            <p:nvPr/>
          </p:nvSpPr>
          <p:spPr>
            <a:xfrm>
              <a:off x="-1520190" y="1497177"/>
              <a:ext cx="8118168" cy="3176852"/>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t" anchorCtr="0"/>
            <a:lstStyle/>
            <a:p>
              <a:pPr defTabSz="457200"/>
              <a:endParaRPr lang="en-US" sz="1000" dirty="0">
                <a:solidFill>
                  <a:schemeClr val="tx2"/>
                </a:solidFill>
              </a:endParaRPr>
            </a:p>
          </p:txBody>
        </p:sp>
        <p:sp>
          <p:nvSpPr>
            <p:cNvPr id="10" name="Rectangle 9">
              <a:extLst>
                <a:ext uri="{FF2B5EF4-FFF2-40B4-BE49-F238E27FC236}">
                  <a16:creationId xmlns:a16="http://schemas.microsoft.com/office/drawing/2014/main" id="{2C95F845-8979-407C-9F4E-6FBCB9476B2D}"/>
                </a:ext>
              </a:extLst>
            </p:cNvPr>
            <p:cNvSpPr/>
            <p:nvPr/>
          </p:nvSpPr>
          <p:spPr>
            <a:xfrm>
              <a:off x="-1520190" y="1128174"/>
              <a:ext cx="8118168" cy="365760"/>
            </a:xfrm>
            <a:prstGeom prst="rect">
              <a:avLst/>
            </a:prstGeom>
            <a:solidFill>
              <a:schemeClr val="accent3"/>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bg1"/>
                  </a:solidFill>
                </a:rPr>
                <a:t>Fake TDM</a:t>
              </a:r>
            </a:p>
          </p:txBody>
        </p:sp>
      </p:grpSp>
      <p:sp>
        <p:nvSpPr>
          <p:cNvPr id="2" name="Date Placeholder 1">
            <a:extLst>
              <a:ext uri="{FF2B5EF4-FFF2-40B4-BE49-F238E27FC236}">
                <a16:creationId xmlns:a16="http://schemas.microsoft.com/office/drawing/2014/main" id="{FCD0CBEA-84E2-4F32-BD89-3B29297965DB}"/>
              </a:ext>
            </a:extLst>
          </p:cNvPr>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a:extLst>
              <a:ext uri="{FF2B5EF4-FFF2-40B4-BE49-F238E27FC236}">
                <a16:creationId xmlns:a16="http://schemas.microsoft.com/office/drawing/2014/main" id="{E7FE965E-D86E-43E3-8C61-DE170FF2E693}"/>
              </a:ext>
            </a:extLst>
          </p:cNvPr>
          <p:cNvSpPr>
            <a:spLocks noGrp="1"/>
          </p:cNvSpPr>
          <p:nvPr>
            <p:ph type="title"/>
          </p:nvPr>
        </p:nvSpPr>
        <p:spPr/>
        <p:txBody>
          <a:bodyPr/>
          <a:lstStyle/>
          <a:p>
            <a:r>
              <a:rPr lang="en-US"/>
              <a:t>Distance Matrix</a:t>
            </a:r>
            <a:endParaRPr lang="en-US" dirty="0"/>
          </a:p>
        </p:txBody>
      </p:sp>
      <p:sp>
        <p:nvSpPr>
          <p:cNvPr id="5" name="Footer Placeholder 4">
            <a:extLst>
              <a:ext uri="{FF2B5EF4-FFF2-40B4-BE49-F238E27FC236}">
                <a16:creationId xmlns:a16="http://schemas.microsoft.com/office/drawing/2014/main" id="{F31353EE-337A-4B32-B894-32B8CAB8BCBF}"/>
              </a:ext>
            </a:extLst>
          </p:cNvPr>
          <p:cNvSpPr>
            <a:spLocks noGrp="1"/>
          </p:cNvSpPr>
          <p:nvPr>
            <p:ph type="ftr" sz="quarter" idx="3"/>
          </p:nvPr>
        </p:nvSpPr>
        <p:spPr/>
        <p:txBody>
          <a:bodyPr/>
          <a:lstStyle/>
          <a:p>
            <a:r>
              <a:rPr lang="en-US"/>
              <a:t>Kwartler</a:t>
            </a:r>
            <a:endParaRPr lang="en-US" dirty="0"/>
          </a:p>
        </p:txBody>
      </p:sp>
      <p:sp>
        <p:nvSpPr>
          <p:cNvPr id="4" name="Slide Number Placeholder 3">
            <a:extLst>
              <a:ext uri="{FF2B5EF4-FFF2-40B4-BE49-F238E27FC236}">
                <a16:creationId xmlns:a16="http://schemas.microsoft.com/office/drawing/2014/main" id="{8218905E-55FD-45C9-BD1A-93960551C7F8}"/>
              </a:ext>
            </a:extLst>
          </p:cNvPr>
          <p:cNvSpPr>
            <a:spLocks noGrp="1"/>
          </p:cNvSpPr>
          <p:nvPr>
            <p:ph type="sldNum" sz="quarter" idx="4"/>
          </p:nvPr>
        </p:nvSpPr>
        <p:spPr/>
        <p:txBody>
          <a:bodyPr/>
          <a:lstStyle/>
          <a:p>
            <a:fld id="{37290FF7-652B-4475-AEAB-8B1A5D23AE09}" type="slidenum">
              <a:rPr lang="en-US" smtClean="0"/>
              <a:pPr/>
              <a:t>23</a:t>
            </a:fld>
            <a:endParaRPr lang="en-US"/>
          </a:p>
        </p:txBody>
      </p:sp>
      <p:sp>
        <p:nvSpPr>
          <p:cNvPr id="7" name="TextBox 6">
            <a:extLst>
              <a:ext uri="{FF2B5EF4-FFF2-40B4-BE49-F238E27FC236}">
                <a16:creationId xmlns:a16="http://schemas.microsoft.com/office/drawing/2014/main" id="{A5A3EE36-0573-4214-8E8B-E9BD628BC999}"/>
              </a:ext>
            </a:extLst>
          </p:cNvPr>
          <p:cNvSpPr txBox="1"/>
          <p:nvPr/>
        </p:nvSpPr>
        <p:spPr>
          <a:xfrm>
            <a:off x="367030" y="1139566"/>
            <a:ext cx="8409940" cy="338554"/>
          </a:xfrm>
          <a:prstGeom prst="rect">
            <a:avLst/>
          </a:prstGeom>
          <a:solidFill>
            <a:schemeClr val="accent1"/>
          </a:solidFill>
        </p:spPr>
        <p:txBody>
          <a:bodyPr wrap="square" rtlCol="0">
            <a:spAutoFit/>
          </a:bodyPr>
          <a:lstStyle/>
          <a:p>
            <a:pPr algn="ctr" defTabSz="457200"/>
            <a:r>
              <a:rPr lang="en-US" sz="1600" kern="1200" dirty="0">
                <a:solidFill>
                  <a:prstClr val="white"/>
                </a:solidFill>
                <a:latin typeface="+mj-lt"/>
                <a:ea typeface="Arial Unicode MS" panose="020B0604020202020204" pitchFamily="34" charset="-128"/>
                <a:cs typeface="Arial Unicode MS" panose="020B0604020202020204" pitchFamily="34" charset="-128"/>
              </a:rPr>
              <a:t>The result is a symmetrical matrix of distances (1/2) is blank </a:t>
            </a:r>
            <a:r>
              <a:rPr lang="en-US" sz="1600" kern="1200" dirty="0" err="1">
                <a:solidFill>
                  <a:prstClr val="white"/>
                </a:solidFill>
                <a:latin typeface="+mj-lt"/>
                <a:ea typeface="Arial Unicode MS" panose="020B0604020202020204" pitchFamily="34" charset="-128"/>
                <a:cs typeface="Arial Unicode MS" panose="020B0604020202020204" pitchFamily="34" charset="-128"/>
              </a:rPr>
              <a:t>bc</a:t>
            </a:r>
            <a:r>
              <a:rPr lang="en-US" sz="1600" kern="1200" dirty="0">
                <a:solidFill>
                  <a:prstClr val="white"/>
                </a:solidFill>
                <a:latin typeface="+mj-lt"/>
                <a:ea typeface="Arial Unicode MS" panose="020B0604020202020204" pitchFamily="34" charset="-128"/>
                <a:cs typeface="Arial Unicode MS" panose="020B0604020202020204" pitchFamily="34" charset="-128"/>
              </a:rPr>
              <a:t> redundant.</a:t>
            </a:r>
          </a:p>
        </p:txBody>
      </p:sp>
      <p:pic>
        <p:nvPicPr>
          <p:cNvPr id="8" name="Picture 7">
            <a:extLst>
              <a:ext uri="{FF2B5EF4-FFF2-40B4-BE49-F238E27FC236}">
                <a16:creationId xmlns:a16="http://schemas.microsoft.com/office/drawing/2014/main" id="{D59B79D2-08EB-443A-9259-61C40194BC3A}"/>
              </a:ext>
            </a:extLst>
          </p:cNvPr>
          <p:cNvPicPr>
            <a:picLocks noChangeAspect="1"/>
          </p:cNvPicPr>
          <p:nvPr/>
        </p:nvPicPr>
        <p:blipFill>
          <a:blip r:embed="rId2"/>
          <a:stretch>
            <a:fillRect/>
          </a:stretch>
        </p:blipFill>
        <p:spPr>
          <a:xfrm>
            <a:off x="628651" y="3130039"/>
            <a:ext cx="3245260" cy="979173"/>
          </a:xfrm>
          <a:prstGeom prst="rect">
            <a:avLst/>
          </a:prstGeom>
          <a:ln>
            <a:solidFill>
              <a:schemeClr val="accent6">
                <a:lumMod val="60000"/>
                <a:lumOff val="40000"/>
              </a:schemeClr>
            </a:solidFill>
          </a:ln>
        </p:spPr>
      </p:pic>
      <p:pic>
        <p:nvPicPr>
          <p:cNvPr id="6" name="Picture 5">
            <a:extLst>
              <a:ext uri="{FF2B5EF4-FFF2-40B4-BE49-F238E27FC236}">
                <a16:creationId xmlns:a16="http://schemas.microsoft.com/office/drawing/2014/main" id="{E0F24A08-722D-4855-9D50-5EE0015694D8}"/>
              </a:ext>
            </a:extLst>
          </p:cNvPr>
          <p:cNvPicPr>
            <a:picLocks noChangeAspect="1"/>
          </p:cNvPicPr>
          <p:nvPr/>
        </p:nvPicPr>
        <p:blipFill>
          <a:blip r:embed="rId3"/>
          <a:stretch>
            <a:fillRect/>
          </a:stretch>
        </p:blipFill>
        <p:spPr>
          <a:xfrm>
            <a:off x="552244" y="2113392"/>
            <a:ext cx="982217" cy="216853"/>
          </a:xfrm>
          <a:prstGeom prst="rect">
            <a:avLst/>
          </a:prstGeom>
        </p:spPr>
      </p:pic>
      <p:pic>
        <p:nvPicPr>
          <p:cNvPr id="13" name="Picture 12">
            <a:extLst>
              <a:ext uri="{FF2B5EF4-FFF2-40B4-BE49-F238E27FC236}">
                <a16:creationId xmlns:a16="http://schemas.microsoft.com/office/drawing/2014/main" id="{8FF123A2-F53A-4863-9351-F8070A23925A}"/>
              </a:ext>
            </a:extLst>
          </p:cNvPr>
          <p:cNvPicPr>
            <a:picLocks noChangeAspect="1"/>
          </p:cNvPicPr>
          <p:nvPr/>
        </p:nvPicPr>
        <p:blipFill>
          <a:blip r:embed="rId4"/>
          <a:stretch>
            <a:fillRect/>
          </a:stretch>
        </p:blipFill>
        <p:spPr>
          <a:xfrm>
            <a:off x="4186012" y="3203057"/>
            <a:ext cx="4329337" cy="833137"/>
          </a:xfrm>
          <a:prstGeom prst="rect">
            <a:avLst/>
          </a:prstGeom>
          <a:ln>
            <a:solidFill>
              <a:schemeClr val="accent6">
                <a:lumMod val="60000"/>
                <a:lumOff val="40000"/>
              </a:schemeClr>
            </a:solidFill>
          </a:ln>
        </p:spPr>
      </p:pic>
      <p:sp>
        <p:nvSpPr>
          <p:cNvPr id="14" name="Isosceles Triangle 13">
            <a:extLst>
              <a:ext uri="{FF2B5EF4-FFF2-40B4-BE49-F238E27FC236}">
                <a16:creationId xmlns:a16="http://schemas.microsoft.com/office/drawing/2014/main" id="{B2D7C819-E267-4899-9936-3C1DF99DC1B8}"/>
              </a:ext>
            </a:extLst>
          </p:cNvPr>
          <p:cNvSpPr/>
          <p:nvPr/>
        </p:nvSpPr>
        <p:spPr>
          <a:xfrm rot="5400000">
            <a:off x="3695664" y="3500431"/>
            <a:ext cx="668594" cy="22614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8AD0429E-0DB9-F44C-A51A-C4CB99C7B896}"/>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E80E521-1591-714D-9589-3A72A64512A7}"/>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39238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93C0304-8F33-4982-A48C-60D5F6286BE4}"/>
              </a:ext>
            </a:extLst>
          </p:cNvPr>
          <p:cNvGrpSpPr/>
          <p:nvPr/>
        </p:nvGrpSpPr>
        <p:grpSpPr>
          <a:xfrm>
            <a:off x="512916" y="1656073"/>
            <a:ext cx="8118168" cy="3545855"/>
            <a:chOff x="-1520190" y="1128174"/>
            <a:chExt cx="8118168" cy="3545855"/>
          </a:xfrm>
        </p:grpSpPr>
        <p:sp>
          <p:nvSpPr>
            <p:cNvPr id="9" name="Rectangle 8">
              <a:extLst>
                <a:ext uri="{FF2B5EF4-FFF2-40B4-BE49-F238E27FC236}">
                  <a16:creationId xmlns:a16="http://schemas.microsoft.com/office/drawing/2014/main" id="{C246B7D1-453D-487B-B491-889C15C460F6}"/>
                </a:ext>
              </a:extLst>
            </p:cNvPr>
            <p:cNvSpPr/>
            <p:nvPr/>
          </p:nvSpPr>
          <p:spPr>
            <a:xfrm>
              <a:off x="-1520190" y="1497177"/>
              <a:ext cx="8118168" cy="3176852"/>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t" anchorCtr="0"/>
            <a:lstStyle/>
            <a:p>
              <a:pPr defTabSz="457200"/>
              <a:endParaRPr lang="en-US" sz="1000" dirty="0">
                <a:solidFill>
                  <a:schemeClr val="tx2"/>
                </a:solidFill>
              </a:endParaRPr>
            </a:p>
          </p:txBody>
        </p:sp>
        <p:sp>
          <p:nvSpPr>
            <p:cNvPr id="10" name="Rectangle 9">
              <a:extLst>
                <a:ext uri="{FF2B5EF4-FFF2-40B4-BE49-F238E27FC236}">
                  <a16:creationId xmlns:a16="http://schemas.microsoft.com/office/drawing/2014/main" id="{2C95F845-8979-407C-9F4E-6FBCB9476B2D}"/>
                </a:ext>
              </a:extLst>
            </p:cNvPr>
            <p:cNvSpPr/>
            <p:nvPr/>
          </p:nvSpPr>
          <p:spPr>
            <a:xfrm>
              <a:off x="-1520190" y="1128174"/>
              <a:ext cx="8118168" cy="365760"/>
            </a:xfrm>
            <a:prstGeom prst="rect">
              <a:avLst/>
            </a:prstGeom>
            <a:solidFill>
              <a:schemeClr val="accent3"/>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bg1"/>
                  </a:solidFill>
                </a:rPr>
                <a:t>Fake TDM</a:t>
              </a:r>
            </a:p>
          </p:txBody>
        </p:sp>
      </p:grpSp>
      <p:sp>
        <p:nvSpPr>
          <p:cNvPr id="2" name="Date Placeholder 1">
            <a:extLst>
              <a:ext uri="{FF2B5EF4-FFF2-40B4-BE49-F238E27FC236}">
                <a16:creationId xmlns:a16="http://schemas.microsoft.com/office/drawing/2014/main" id="{FCD0CBEA-84E2-4F32-BD89-3B29297965DB}"/>
              </a:ext>
            </a:extLst>
          </p:cNvPr>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a:extLst>
              <a:ext uri="{FF2B5EF4-FFF2-40B4-BE49-F238E27FC236}">
                <a16:creationId xmlns:a16="http://schemas.microsoft.com/office/drawing/2014/main" id="{E7FE965E-D86E-43E3-8C61-DE170FF2E693}"/>
              </a:ext>
            </a:extLst>
          </p:cNvPr>
          <p:cNvSpPr>
            <a:spLocks noGrp="1"/>
          </p:cNvSpPr>
          <p:nvPr>
            <p:ph type="title"/>
          </p:nvPr>
        </p:nvSpPr>
        <p:spPr/>
        <p:txBody>
          <a:bodyPr/>
          <a:lstStyle/>
          <a:p>
            <a:r>
              <a:rPr lang="en-US"/>
              <a:t>Distance Matrix</a:t>
            </a:r>
            <a:endParaRPr lang="en-US" dirty="0"/>
          </a:p>
        </p:txBody>
      </p:sp>
      <p:sp>
        <p:nvSpPr>
          <p:cNvPr id="5" name="Footer Placeholder 4">
            <a:extLst>
              <a:ext uri="{FF2B5EF4-FFF2-40B4-BE49-F238E27FC236}">
                <a16:creationId xmlns:a16="http://schemas.microsoft.com/office/drawing/2014/main" id="{F31353EE-337A-4B32-B894-32B8CAB8BCBF}"/>
              </a:ext>
            </a:extLst>
          </p:cNvPr>
          <p:cNvSpPr>
            <a:spLocks noGrp="1"/>
          </p:cNvSpPr>
          <p:nvPr>
            <p:ph type="ftr" sz="quarter" idx="3"/>
          </p:nvPr>
        </p:nvSpPr>
        <p:spPr/>
        <p:txBody>
          <a:bodyPr/>
          <a:lstStyle/>
          <a:p>
            <a:r>
              <a:rPr lang="en-US"/>
              <a:t>Kwartler</a:t>
            </a:r>
            <a:endParaRPr lang="en-US" dirty="0"/>
          </a:p>
        </p:txBody>
      </p:sp>
      <p:sp>
        <p:nvSpPr>
          <p:cNvPr id="4" name="Slide Number Placeholder 3">
            <a:extLst>
              <a:ext uri="{FF2B5EF4-FFF2-40B4-BE49-F238E27FC236}">
                <a16:creationId xmlns:a16="http://schemas.microsoft.com/office/drawing/2014/main" id="{8218905E-55FD-45C9-BD1A-93960551C7F8}"/>
              </a:ext>
            </a:extLst>
          </p:cNvPr>
          <p:cNvSpPr>
            <a:spLocks noGrp="1"/>
          </p:cNvSpPr>
          <p:nvPr>
            <p:ph type="sldNum" sz="quarter" idx="4"/>
          </p:nvPr>
        </p:nvSpPr>
        <p:spPr/>
        <p:txBody>
          <a:bodyPr/>
          <a:lstStyle/>
          <a:p>
            <a:fld id="{37290FF7-652B-4475-AEAB-8B1A5D23AE09}" type="slidenum">
              <a:rPr lang="en-US" smtClean="0"/>
              <a:pPr/>
              <a:t>24</a:t>
            </a:fld>
            <a:endParaRPr lang="en-US"/>
          </a:p>
        </p:txBody>
      </p:sp>
      <p:pic>
        <p:nvPicPr>
          <p:cNvPr id="8" name="Picture 7">
            <a:extLst>
              <a:ext uri="{FF2B5EF4-FFF2-40B4-BE49-F238E27FC236}">
                <a16:creationId xmlns:a16="http://schemas.microsoft.com/office/drawing/2014/main" id="{D59B79D2-08EB-443A-9259-61C40194BC3A}"/>
              </a:ext>
            </a:extLst>
          </p:cNvPr>
          <p:cNvPicPr>
            <a:picLocks noChangeAspect="1"/>
          </p:cNvPicPr>
          <p:nvPr/>
        </p:nvPicPr>
        <p:blipFill>
          <a:blip r:embed="rId2"/>
          <a:stretch>
            <a:fillRect/>
          </a:stretch>
        </p:blipFill>
        <p:spPr>
          <a:xfrm>
            <a:off x="628651" y="2363126"/>
            <a:ext cx="3245260" cy="979173"/>
          </a:xfrm>
          <a:prstGeom prst="rect">
            <a:avLst/>
          </a:prstGeom>
          <a:ln>
            <a:solidFill>
              <a:schemeClr val="accent6">
                <a:lumMod val="60000"/>
                <a:lumOff val="40000"/>
              </a:schemeClr>
            </a:solidFill>
          </a:ln>
        </p:spPr>
      </p:pic>
      <p:pic>
        <p:nvPicPr>
          <p:cNvPr id="6" name="Picture 5">
            <a:extLst>
              <a:ext uri="{FF2B5EF4-FFF2-40B4-BE49-F238E27FC236}">
                <a16:creationId xmlns:a16="http://schemas.microsoft.com/office/drawing/2014/main" id="{E0F24A08-722D-4855-9D50-5EE0015694D8}"/>
              </a:ext>
            </a:extLst>
          </p:cNvPr>
          <p:cNvPicPr>
            <a:picLocks noChangeAspect="1"/>
          </p:cNvPicPr>
          <p:nvPr/>
        </p:nvPicPr>
        <p:blipFill>
          <a:blip r:embed="rId3"/>
          <a:stretch>
            <a:fillRect/>
          </a:stretch>
        </p:blipFill>
        <p:spPr>
          <a:xfrm>
            <a:off x="552244" y="2113392"/>
            <a:ext cx="982217" cy="216853"/>
          </a:xfrm>
          <a:prstGeom prst="rect">
            <a:avLst/>
          </a:prstGeom>
        </p:spPr>
      </p:pic>
      <p:pic>
        <p:nvPicPr>
          <p:cNvPr id="13" name="Picture 12">
            <a:extLst>
              <a:ext uri="{FF2B5EF4-FFF2-40B4-BE49-F238E27FC236}">
                <a16:creationId xmlns:a16="http://schemas.microsoft.com/office/drawing/2014/main" id="{8FF123A2-F53A-4863-9351-F8070A23925A}"/>
              </a:ext>
            </a:extLst>
          </p:cNvPr>
          <p:cNvPicPr>
            <a:picLocks noChangeAspect="1"/>
          </p:cNvPicPr>
          <p:nvPr/>
        </p:nvPicPr>
        <p:blipFill>
          <a:blip r:embed="rId4"/>
          <a:stretch>
            <a:fillRect/>
          </a:stretch>
        </p:blipFill>
        <p:spPr>
          <a:xfrm>
            <a:off x="4186012" y="2436144"/>
            <a:ext cx="4329337" cy="833137"/>
          </a:xfrm>
          <a:prstGeom prst="rect">
            <a:avLst/>
          </a:prstGeom>
          <a:ln>
            <a:solidFill>
              <a:schemeClr val="accent6">
                <a:lumMod val="60000"/>
                <a:lumOff val="40000"/>
              </a:schemeClr>
            </a:solidFill>
          </a:ln>
        </p:spPr>
      </p:pic>
      <p:sp>
        <p:nvSpPr>
          <p:cNvPr id="14" name="Isosceles Triangle 13">
            <a:extLst>
              <a:ext uri="{FF2B5EF4-FFF2-40B4-BE49-F238E27FC236}">
                <a16:creationId xmlns:a16="http://schemas.microsoft.com/office/drawing/2014/main" id="{B2D7C819-E267-4899-9936-3C1DF99DC1B8}"/>
              </a:ext>
            </a:extLst>
          </p:cNvPr>
          <p:cNvSpPr/>
          <p:nvPr/>
        </p:nvSpPr>
        <p:spPr>
          <a:xfrm rot="5400000">
            <a:off x="3695664" y="2733518"/>
            <a:ext cx="668594" cy="22614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2C80CD4-B12A-46A0-A59F-9D79F8DCD3E9}"/>
              </a:ext>
            </a:extLst>
          </p:cNvPr>
          <p:cNvSpPr/>
          <p:nvPr/>
        </p:nvSpPr>
        <p:spPr>
          <a:xfrm>
            <a:off x="722671" y="3544887"/>
            <a:ext cx="6592529" cy="1754326"/>
          </a:xfrm>
          <a:prstGeom prst="rect">
            <a:avLst/>
          </a:prstGeom>
        </p:spPr>
        <p:txBody>
          <a:bodyPr wrap="square">
            <a:spAutoFit/>
          </a:bodyPr>
          <a:lstStyle/>
          <a:p>
            <a:r>
              <a:rPr lang="en-US" b="1" dirty="0"/>
              <a:t>Tweet1: </a:t>
            </a:r>
            <a:r>
              <a:rPr lang="en-US" dirty="0"/>
              <a:t>“thealetrail” = 1; “lost” = 3; (3-1) = 2</a:t>
            </a:r>
          </a:p>
          <a:p>
            <a:r>
              <a:rPr lang="en-US" b="1" dirty="0"/>
              <a:t>Tweet2: </a:t>
            </a:r>
            <a:r>
              <a:rPr lang="en-US" dirty="0"/>
              <a:t>“</a:t>
            </a:r>
            <a:r>
              <a:rPr lang="en-US" dirty="0" err="1"/>
              <a:t>thealetrail</a:t>
            </a:r>
            <a:r>
              <a:rPr lang="en-US" dirty="0"/>
              <a:t>” = 0; “lost” = 0; (0-0) = 0</a:t>
            </a:r>
          </a:p>
          <a:p>
            <a:r>
              <a:rPr lang="en-US" b="1" dirty="0"/>
              <a:t>Tweet3</a:t>
            </a:r>
            <a:r>
              <a:rPr lang="en-US" dirty="0"/>
              <a:t>: “</a:t>
            </a:r>
            <a:r>
              <a:rPr lang="en-US" dirty="0" err="1"/>
              <a:t>thealetrail</a:t>
            </a:r>
            <a:r>
              <a:rPr lang="en-US" dirty="0"/>
              <a:t>” = 2; “lost” = 0; (2-0) = 2</a:t>
            </a:r>
          </a:p>
          <a:p>
            <a:endParaRPr lang="en-US" dirty="0"/>
          </a:p>
          <a:p>
            <a:r>
              <a:rPr lang="en-US" b="1" dirty="0"/>
              <a:t>Calculation:</a:t>
            </a:r>
          </a:p>
          <a:p>
            <a:r>
              <a:rPr lang="en-US" dirty="0"/>
              <a:t>sqrt(2) + </a:t>
            </a:r>
            <a:r>
              <a:rPr lang="en-US" dirty="0" err="1"/>
              <a:t>sqrt</a:t>
            </a:r>
            <a:r>
              <a:rPr lang="en-US" dirty="0"/>
              <a:t>(0) + </a:t>
            </a:r>
            <a:r>
              <a:rPr lang="en-US" dirty="0" err="1"/>
              <a:t>sqrt</a:t>
            </a:r>
            <a:r>
              <a:rPr lang="en-US" dirty="0"/>
              <a:t>(2) = 1.41 + 0 + 1.41 = 2.82</a:t>
            </a:r>
          </a:p>
        </p:txBody>
      </p:sp>
      <p:sp>
        <p:nvSpPr>
          <p:cNvPr id="7" name="Oval 6"/>
          <p:cNvSpPr/>
          <p:nvPr/>
        </p:nvSpPr>
        <p:spPr>
          <a:xfrm>
            <a:off x="7504387" y="2948151"/>
            <a:ext cx="1087821" cy="378373"/>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Elbow Connector 15"/>
          <p:cNvCxnSpPr>
            <a:stCxn id="18" idx="6"/>
            <a:endCxn id="7" idx="4"/>
          </p:cNvCxnSpPr>
          <p:nvPr/>
        </p:nvCxnSpPr>
        <p:spPr>
          <a:xfrm flipV="1">
            <a:off x="5733394" y="3326524"/>
            <a:ext cx="2314904" cy="180778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4645573" y="4945117"/>
            <a:ext cx="1087821" cy="378373"/>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 name="Straight Connector 16">
            <a:extLst>
              <a:ext uri="{FF2B5EF4-FFF2-40B4-BE49-F238E27FC236}">
                <a16:creationId xmlns:a16="http://schemas.microsoft.com/office/drawing/2014/main" id="{82633565-F1CC-DF4B-9485-44723125D6A7}"/>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A62B366-5247-614D-9006-EA3C97B49B82}"/>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78321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393C0304-8F33-4982-A48C-60D5F6286BE4}"/>
              </a:ext>
            </a:extLst>
          </p:cNvPr>
          <p:cNvGrpSpPr/>
          <p:nvPr/>
        </p:nvGrpSpPr>
        <p:grpSpPr>
          <a:xfrm>
            <a:off x="512916" y="1174293"/>
            <a:ext cx="8118168" cy="1804881"/>
            <a:chOff x="-1520190" y="1128174"/>
            <a:chExt cx="8118168" cy="1804881"/>
          </a:xfrm>
        </p:grpSpPr>
        <p:sp>
          <p:nvSpPr>
            <p:cNvPr id="9" name="Rectangle 8">
              <a:extLst>
                <a:ext uri="{FF2B5EF4-FFF2-40B4-BE49-F238E27FC236}">
                  <a16:creationId xmlns:a16="http://schemas.microsoft.com/office/drawing/2014/main" id="{C246B7D1-453D-487B-B491-889C15C460F6}"/>
                </a:ext>
              </a:extLst>
            </p:cNvPr>
            <p:cNvSpPr/>
            <p:nvPr/>
          </p:nvSpPr>
          <p:spPr>
            <a:xfrm>
              <a:off x="-1520190" y="1497177"/>
              <a:ext cx="8118168" cy="1435878"/>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t" anchorCtr="0"/>
            <a:lstStyle/>
            <a:p>
              <a:pPr defTabSz="457200"/>
              <a:endParaRPr lang="en-US" sz="1000" dirty="0">
                <a:solidFill>
                  <a:schemeClr val="tx2"/>
                </a:solidFill>
              </a:endParaRPr>
            </a:p>
          </p:txBody>
        </p:sp>
        <p:sp>
          <p:nvSpPr>
            <p:cNvPr id="10" name="Rectangle 9">
              <a:extLst>
                <a:ext uri="{FF2B5EF4-FFF2-40B4-BE49-F238E27FC236}">
                  <a16:creationId xmlns:a16="http://schemas.microsoft.com/office/drawing/2014/main" id="{2C95F845-8979-407C-9F4E-6FBCB9476B2D}"/>
                </a:ext>
              </a:extLst>
            </p:cNvPr>
            <p:cNvSpPr/>
            <p:nvPr/>
          </p:nvSpPr>
          <p:spPr>
            <a:xfrm>
              <a:off x="-1520190" y="1128174"/>
              <a:ext cx="8118168" cy="365760"/>
            </a:xfrm>
            <a:prstGeom prst="rect">
              <a:avLst/>
            </a:prstGeom>
            <a:solidFill>
              <a:schemeClr val="accent3"/>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bg1"/>
                  </a:solidFill>
                </a:rPr>
                <a:t>Fake TDM</a:t>
              </a:r>
            </a:p>
          </p:txBody>
        </p:sp>
      </p:grpSp>
      <p:sp>
        <p:nvSpPr>
          <p:cNvPr id="2" name="Date Placeholder 1">
            <a:extLst>
              <a:ext uri="{FF2B5EF4-FFF2-40B4-BE49-F238E27FC236}">
                <a16:creationId xmlns:a16="http://schemas.microsoft.com/office/drawing/2014/main" id="{FCD0CBEA-84E2-4F32-BD89-3B29297965DB}"/>
              </a:ext>
            </a:extLst>
          </p:cNvPr>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a:extLst>
              <a:ext uri="{FF2B5EF4-FFF2-40B4-BE49-F238E27FC236}">
                <a16:creationId xmlns:a16="http://schemas.microsoft.com/office/drawing/2014/main" id="{E7FE965E-D86E-43E3-8C61-DE170FF2E693}"/>
              </a:ext>
            </a:extLst>
          </p:cNvPr>
          <p:cNvSpPr>
            <a:spLocks noGrp="1"/>
          </p:cNvSpPr>
          <p:nvPr>
            <p:ph type="title"/>
          </p:nvPr>
        </p:nvSpPr>
        <p:spPr/>
        <p:txBody>
          <a:bodyPr/>
          <a:lstStyle/>
          <a:p>
            <a:r>
              <a:rPr lang="en-US"/>
              <a:t>Distance Matrix</a:t>
            </a:r>
            <a:endParaRPr lang="en-US" dirty="0"/>
          </a:p>
        </p:txBody>
      </p:sp>
      <p:sp>
        <p:nvSpPr>
          <p:cNvPr id="5" name="Footer Placeholder 4">
            <a:extLst>
              <a:ext uri="{FF2B5EF4-FFF2-40B4-BE49-F238E27FC236}">
                <a16:creationId xmlns:a16="http://schemas.microsoft.com/office/drawing/2014/main" id="{F31353EE-337A-4B32-B894-32B8CAB8BCBF}"/>
              </a:ext>
            </a:extLst>
          </p:cNvPr>
          <p:cNvSpPr>
            <a:spLocks noGrp="1"/>
          </p:cNvSpPr>
          <p:nvPr>
            <p:ph type="ftr" sz="quarter" idx="3"/>
          </p:nvPr>
        </p:nvSpPr>
        <p:spPr/>
        <p:txBody>
          <a:bodyPr/>
          <a:lstStyle/>
          <a:p>
            <a:r>
              <a:rPr lang="en-US"/>
              <a:t>Kwartler</a:t>
            </a:r>
            <a:endParaRPr lang="en-US" dirty="0"/>
          </a:p>
        </p:txBody>
      </p:sp>
      <p:sp>
        <p:nvSpPr>
          <p:cNvPr id="4" name="Slide Number Placeholder 3">
            <a:extLst>
              <a:ext uri="{FF2B5EF4-FFF2-40B4-BE49-F238E27FC236}">
                <a16:creationId xmlns:a16="http://schemas.microsoft.com/office/drawing/2014/main" id="{8218905E-55FD-45C9-BD1A-93960551C7F8}"/>
              </a:ext>
            </a:extLst>
          </p:cNvPr>
          <p:cNvSpPr>
            <a:spLocks noGrp="1"/>
          </p:cNvSpPr>
          <p:nvPr>
            <p:ph type="sldNum" sz="quarter" idx="4"/>
          </p:nvPr>
        </p:nvSpPr>
        <p:spPr/>
        <p:txBody>
          <a:bodyPr/>
          <a:lstStyle/>
          <a:p>
            <a:fld id="{37290FF7-652B-4475-AEAB-8B1A5D23AE09}" type="slidenum">
              <a:rPr lang="en-US" smtClean="0"/>
              <a:pPr/>
              <a:t>25</a:t>
            </a:fld>
            <a:endParaRPr lang="en-US"/>
          </a:p>
        </p:txBody>
      </p:sp>
      <p:pic>
        <p:nvPicPr>
          <p:cNvPr id="8" name="Picture 7">
            <a:extLst>
              <a:ext uri="{FF2B5EF4-FFF2-40B4-BE49-F238E27FC236}">
                <a16:creationId xmlns:a16="http://schemas.microsoft.com/office/drawing/2014/main" id="{D59B79D2-08EB-443A-9259-61C40194BC3A}"/>
              </a:ext>
            </a:extLst>
          </p:cNvPr>
          <p:cNvPicPr>
            <a:picLocks noChangeAspect="1"/>
          </p:cNvPicPr>
          <p:nvPr/>
        </p:nvPicPr>
        <p:blipFill>
          <a:blip r:embed="rId2"/>
          <a:stretch>
            <a:fillRect/>
          </a:stretch>
        </p:blipFill>
        <p:spPr>
          <a:xfrm>
            <a:off x="628651" y="1881346"/>
            <a:ext cx="3245260" cy="979173"/>
          </a:xfrm>
          <a:prstGeom prst="rect">
            <a:avLst/>
          </a:prstGeom>
          <a:ln>
            <a:solidFill>
              <a:schemeClr val="accent6">
                <a:lumMod val="60000"/>
                <a:lumOff val="40000"/>
              </a:schemeClr>
            </a:solidFill>
          </a:ln>
        </p:spPr>
      </p:pic>
      <p:pic>
        <p:nvPicPr>
          <p:cNvPr id="6" name="Picture 5">
            <a:extLst>
              <a:ext uri="{FF2B5EF4-FFF2-40B4-BE49-F238E27FC236}">
                <a16:creationId xmlns:a16="http://schemas.microsoft.com/office/drawing/2014/main" id="{E0F24A08-722D-4855-9D50-5EE0015694D8}"/>
              </a:ext>
            </a:extLst>
          </p:cNvPr>
          <p:cNvPicPr>
            <a:picLocks noChangeAspect="1"/>
          </p:cNvPicPr>
          <p:nvPr/>
        </p:nvPicPr>
        <p:blipFill>
          <a:blip r:embed="rId3"/>
          <a:stretch>
            <a:fillRect/>
          </a:stretch>
        </p:blipFill>
        <p:spPr>
          <a:xfrm>
            <a:off x="552244" y="1631612"/>
            <a:ext cx="982217" cy="216853"/>
          </a:xfrm>
          <a:prstGeom prst="rect">
            <a:avLst/>
          </a:prstGeom>
        </p:spPr>
      </p:pic>
      <p:pic>
        <p:nvPicPr>
          <p:cNvPr id="13" name="Picture 12">
            <a:extLst>
              <a:ext uri="{FF2B5EF4-FFF2-40B4-BE49-F238E27FC236}">
                <a16:creationId xmlns:a16="http://schemas.microsoft.com/office/drawing/2014/main" id="{8FF123A2-F53A-4863-9351-F8070A23925A}"/>
              </a:ext>
            </a:extLst>
          </p:cNvPr>
          <p:cNvPicPr>
            <a:picLocks noChangeAspect="1"/>
          </p:cNvPicPr>
          <p:nvPr/>
        </p:nvPicPr>
        <p:blipFill>
          <a:blip r:embed="rId4"/>
          <a:stretch>
            <a:fillRect/>
          </a:stretch>
        </p:blipFill>
        <p:spPr>
          <a:xfrm>
            <a:off x="4186012" y="1954364"/>
            <a:ext cx="4329337" cy="833137"/>
          </a:xfrm>
          <a:prstGeom prst="rect">
            <a:avLst/>
          </a:prstGeom>
          <a:ln>
            <a:solidFill>
              <a:schemeClr val="accent6">
                <a:lumMod val="60000"/>
                <a:lumOff val="40000"/>
              </a:schemeClr>
            </a:solidFill>
          </a:ln>
        </p:spPr>
      </p:pic>
      <p:sp>
        <p:nvSpPr>
          <p:cNvPr id="14" name="Isosceles Triangle 13">
            <a:extLst>
              <a:ext uri="{FF2B5EF4-FFF2-40B4-BE49-F238E27FC236}">
                <a16:creationId xmlns:a16="http://schemas.microsoft.com/office/drawing/2014/main" id="{B2D7C819-E267-4899-9936-3C1DF99DC1B8}"/>
              </a:ext>
            </a:extLst>
          </p:cNvPr>
          <p:cNvSpPr/>
          <p:nvPr/>
        </p:nvSpPr>
        <p:spPr>
          <a:xfrm rot="5400000">
            <a:off x="3695664" y="2251738"/>
            <a:ext cx="668594" cy="226142"/>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30BCD855-1E9B-4B8E-8D79-CDE688C9C682}"/>
              </a:ext>
            </a:extLst>
          </p:cNvPr>
          <p:cNvPicPr>
            <a:picLocks noChangeAspect="1"/>
          </p:cNvPicPr>
          <p:nvPr/>
        </p:nvPicPr>
        <p:blipFill rotWithShape="1">
          <a:blip r:embed="rId5"/>
          <a:srcRect l="7611"/>
          <a:stretch/>
        </p:blipFill>
        <p:spPr>
          <a:xfrm>
            <a:off x="555585" y="3861900"/>
            <a:ext cx="4665365" cy="2322964"/>
          </a:xfrm>
          <a:prstGeom prst="rect">
            <a:avLst/>
          </a:prstGeom>
        </p:spPr>
      </p:pic>
      <p:pic>
        <p:nvPicPr>
          <p:cNvPr id="15" name="Picture 14">
            <a:extLst>
              <a:ext uri="{FF2B5EF4-FFF2-40B4-BE49-F238E27FC236}">
                <a16:creationId xmlns:a16="http://schemas.microsoft.com/office/drawing/2014/main" id="{26013434-F25C-4C0C-ABE7-9D1E05E8595B}"/>
              </a:ext>
            </a:extLst>
          </p:cNvPr>
          <p:cNvPicPr>
            <a:picLocks noChangeAspect="1"/>
          </p:cNvPicPr>
          <p:nvPr/>
        </p:nvPicPr>
        <p:blipFill>
          <a:blip r:embed="rId6"/>
          <a:stretch>
            <a:fillRect/>
          </a:stretch>
        </p:blipFill>
        <p:spPr>
          <a:xfrm>
            <a:off x="552244" y="3386468"/>
            <a:ext cx="2095500" cy="409575"/>
          </a:xfrm>
          <a:prstGeom prst="rect">
            <a:avLst/>
          </a:prstGeom>
        </p:spPr>
      </p:pic>
      <p:sp>
        <p:nvSpPr>
          <p:cNvPr id="17" name="TextBox 16">
            <a:extLst>
              <a:ext uri="{FF2B5EF4-FFF2-40B4-BE49-F238E27FC236}">
                <a16:creationId xmlns:a16="http://schemas.microsoft.com/office/drawing/2014/main" id="{A5A3EE36-0573-4214-8E8B-E9BD628BC999}"/>
              </a:ext>
            </a:extLst>
          </p:cNvPr>
          <p:cNvSpPr txBox="1"/>
          <p:nvPr/>
        </p:nvSpPr>
        <p:spPr>
          <a:xfrm>
            <a:off x="512380" y="3026243"/>
            <a:ext cx="8119241" cy="307777"/>
          </a:xfrm>
          <a:prstGeom prst="rect">
            <a:avLst/>
          </a:prstGeom>
          <a:solidFill>
            <a:schemeClr val="accent6">
              <a:lumMod val="60000"/>
              <a:lumOff val="40000"/>
            </a:schemeClr>
          </a:solidFill>
        </p:spPr>
        <p:txBody>
          <a:bodyPr wrap="square" rtlCol="0">
            <a:spAutoFit/>
          </a:bodyPr>
          <a:lstStyle/>
          <a:p>
            <a:pPr algn="ctr" defTabSz="457200"/>
            <a:r>
              <a:rPr lang="en-US" sz="1400" kern="1200" dirty="0">
                <a:solidFill>
                  <a:prstClr val="white"/>
                </a:solidFill>
                <a:latin typeface="+mj-lt"/>
                <a:ea typeface="Arial Unicode MS" panose="020B0604020202020204" pitchFamily="34" charset="-128"/>
                <a:cs typeface="Arial Unicode MS" panose="020B0604020202020204" pitchFamily="34" charset="-128"/>
              </a:rPr>
              <a:t>Lost luggage has low distances meaning they are together a lot.  Thus lower is smaller distances.</a:t>
            </a:r>
          </a:p>
        </p:txBody>
      </p:sp>
      <p:cxnSp>
        <p:nvCxnSpPr>
          <p:cNvPr id="18" name="Straight Connector 17">
            <a:extLst>
              <a:ext uri="{FF2B5EF4-FFF2-40B4-BE49-F238E27FC236}">
                <a16:creationId xmlns:a16="http://schemas.microsoft.com/office/drawing/2014/main" id="{E642B56F-A3AE-2742-B515-9726F1A3E0D0}"/>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A9222EE-290D-434B-8DC4-5204184D7E69}"/>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9B8CC223-FEE8-4103-90AC-A6CC1BDF351C}"/>
              </a:ext>
            </a:extLst>
          </p:cNvPr>
          <p:cNvSpPr/>
          <p:nvPr/>
        </p:nvSpPr>
        <p:spPr>
          <a:xfrm>
            <a:off x="512916" y="3356658"/>
            <a:ext cx="8118168" cy="2847372"/>
          </a:xfrm>
          <a:prstGeom prst="rect">
            <a:avLst/>
          </a:prstGeom>
          <a:no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t" anchorCtr="0"/>
          <a:lstStyle/>
          <a:p>
            <a:pPr defTabSz="457200"/>
            <a:endParaRPr lang="en-US" sz="1000" dirty="0">
              <a:solidFill>
                <a:schemeClr val="tx2"/>
              </a:solidFill>
            </a:endParaRPr>
          </a:p>
        </p:txBody>
      </p:sp>
    </p:spTree>
    <p:extLst>
      <p:ext uri="{BB962C8B-B14F-4D97-AF65-F5344CB8AC3E}">
        <p14:creationId xmlns:p14="http://schemas.microsoft.com/office/powerpoint/2010/main" val="7459300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591EF9-DE52-2A4A-BBBB-E8745639A0D2}"/>
              </a:ext>
            </a:extLst>
          </p:cNvPr>
          <p:cNvSpPr>
            <a:spLocks noGrp="1"/>
          </p:cNvSpPr>
          <p:nvPr>
            <p:ph type="dt" sz="half" idx="10"/>
          </p:nvPr>
        </p:nvSpPr>
        <p:spPr/>
        <p:txBody>
          <a:bodyPr/>
          <a:lstStyle/>
          <a:p>
            <a:fld id="{6700A58B-DD98-43D0-B791-721480A02982}" type="datetime1">
              <a:rPr lang="en-US" smtClean="0"/>
              <a:t>6/2/26</a:t>
            </a:fld>
            <a:endParaRPr lang="en-US"/>
          </a:p>
        </p:txBody>
      </p:sp>
      <p:sp>
        <p:nvSpPr>
          <p:cNvPr id="3" name="Title 2">
            <a:extLst>
              <a:ext uri="{FF2B5EF4-FFF2-40B4-BE49-F238E27FC236}">
                <a16:creationId xmlns:a16="http://schemas.microsoft.com/office/drawing/2014/main" id="{32098A0C-A687-7449-9294-6B391BCA3B08}"/>
              </a:ext>
            </a:extLst>
          </p:cNvPr>
          <p:cNvSpPr>
            <a:spLocks noGrp="1"/>
          </p:cNvSpPr>
          <p:nvPr>
            <p:ph type="title"/>
          </p:nvPr>
        </p:nvSpPr>
        <p:spPr/>
        <p:txBody>
          <a:bodyPr/>
          <a:lstStyle/>
          <a:p>
            <a:r>
              <a:rPr lang="en-US" dirty="0"/>
              <a:t>Words as association networks</a:t>
            </a:r>
          </a:p>
        </p:txBody>
      </p:sp>
      <p:sp>
        <p:nvSpPr>
          <p:cNvPr id="4" name="Footer Placeholder 3">
            <a:extLst>
              <a:ext uri="{FF2B5EF4-FFF2-40B4-BE49-F238E27FC236}">
                <a16:creationId xmlns:a16="http://schemas.microsoft.com/office/drawing/2014/main" id="{1C82ACC7-981D-1645-AF02-2780AEE624B2}"/>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DD6D04AA-A169-D342-A433-B7C8FAFA19C8}"/>
              </a:ext>
            </a:extLst>
          </p:cNvPr>
          <p:cNvSpPr>
            <a:spLocks noGrp="1"/>
          </p:cNvSpPr>
          <p:nvPr>
            <p:ph type="sldNum" sz="quarter" idx="4"/>
          </p:nvPr>
        </p:nvSpPr>
        <p:spPr/>
        <p:txBody>
          <a:bodyPr/>
          <a:lstStyle/>
          <a:p>
            <a:fld id="{37290FF7-652B-4475-AEAB-8B1A5D23AE09}" type="slidenum">
              <a:rPr lang="en-US" smtClean="0"/>
              <a:pPr/>
              <a:t>26</a:t>
            </a:fld>
            <a:endParaRPr lang="en-US" dirty="0"/>
          </a:p>
        </p:txBody>
      </p:sp>
      <p:pic>
        <p:nvPicPr>
          <p:cNvPr id="6" name="Picture 5">
            <a:extLst>
              <a:ext uri="{FF2B5EF4-FFF2-40B4-BE49-F238E27FC236}">
                <a16:creationId xmlns:a16="http://schemas.microsoft.com/office/drawing/2014/main" id="{EA4C77BE-CBF2-2940-8276-D11C7CC963FC}"/>
              </a:ext>
            </a:extLst>
          </p:cNvPr>
          <p:cNvPicPr>
            <a:picLocks noChangeAspect="1"/>
          </p:cNvPicPr>
          <p:nvPr/>
        </p:nvPicPr>
        <p:blipFill>
          <a:blip r:embed="rId2"/>
          <a:stretch>
            <a:fillRect/>
          </a:stretch>
        </p:blipFill>
        <p:spPr>
          <a:xfrm>
            <a:off x="3302000" y="2159000"/>
            <a:ext cx="2540000" cy="2540000"/>
          </a:xfrm>
          <a:prstGeom prst="rect">
            <a:avLst/>
          </a:prstGeom>
        </p:spPr>
      </p:pic>
      <p:cxnSp>
        <p:nvCxnSpPr>
          <p:cNvPr id="7" name="Straight Connector 6">
            <a:extLst>
              <a:ext uri="{FF2B5EF4-FFF2-40B4-BE49-F238E27FC236}">
                <a16:creationId xmlns:a16="http://schemas.microsoft.com/office/drawing/2014/main" id="{CD8AE7E9-AF5D-8349-89EB-1800BEB3F417}"/>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0EDF6B2-4C70-AE4B-A493-1241E5705350}"/>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63708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B01ACE-38F6-3240-A4E7-103CE893B463}"/>
              </a:ext>
            </a:extLst>
          </p:cNvPr>
          <p:cNvSpPr>
            <a:spLocks noGrp="1"/>
          </p:cNvSpPr>
          <p:nvPr>
            <p:ph type="dt" sz="half" idx="10"/>
          </p:nvPr>
        </p:nvSpPr>
        <p:spPr/>
        <p:txBody>
          <a:bodyPr/>
          <a:lstStyle/>
          <a:p>
            <a:fld id="{6700A58B-DD98-43D0-B791-721480A02982}" type="datetime1">
              <a:rPr lang="en-US" smtClean="0"/>
              <a:t>6/2/26</a:t>
            </a:fld>
            <a:endParaRPr lang="en-US"/>
          </a:p>
        </p:txBody>
      </p:sp>
      <p:sp>
        <p:nvSpPr>
          <p:cNvPr id="3" name="Title 2">
            <a:extLst>
              <a:ext uri="{FF2B5EF4-FFF2-40B4-BE49-F238E27FC236}">
                <a16:creationId xmlns:a16="http://schemas.microsoft.com/office/drawing/2014/main" id="{612A64B0-ABEF-7C42-90F5-3B8D9B5A09DC}"/>
              </a:ext>
            </a:extLst>
          </p:cNvPr>
          <p:cNvSpPr>
            <a:spLocks noGrp="1"/>
          </p:cNvSpPr>
          <p:nvPr>
            <p:ph type="title"/>
          </p:nvPr>
        </p:nvSpPr>
        <p:spPr/>
        <p:txBody>
          <a:bodyPr/>
          <a:lstStyle/>
          <a:p>
            <a:r>
              <a:rPr lang="en-US" dirty="0"/>
              <a:t>Networks…for people</a:t>
            </a:r>
          </a:p>
        </p:txBody>
      </p:sp>
      <p:sp>
        <p:nvSpPr>
          <p:cNvPr id="4" name="Footer Placeholder 3">
            <a:extLst>
              <a:ext uri="{FF2B5EF4-FFF2-40B4-BE49-F238E27FC236}">
                <a16:creationId xmlns:a16="http://schemas.microsoft.com/office/drawing/2014/main" id="{E97E5434-6A7C-F144-BE80-5BA51B4E9CB5}"/>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248A53EC-FD71-7449-8238-9EC97C921297}"/>
              </a:ext>
            </a:extLst>
          </p:cNvPr>
          <p:cNvSpPr>
            <a:spLocks noGrp="1"/>
          </p:cNvSpPr>
          <p:nvPr>
            <p:ph type="sldNum" sz="quarter" idx="4"/>
          </p:nvPr>
        </p:nvSpPr>
        <p:spPr/>
        <p:txBody>
          <a:bodyPr/>
          <a:lstStyle/>
          <a:p>
            <a:fld id="{37290FF7-652B-4475-AEAB-8B1A5D23AE09}" type="slidenum">
              <a:rPr lang="en-US" smtClean="0"/>
              <a:pPr/>
              <a:t>27</a:t>
            </a:fld>
            <a:endParaRPr lang="en-US" dirty="0"/>
          </a:p>
        </p:txBody>
      </p:sp>
      <p:sp>
        <p:nvSpPr>
          <p:cNvPr id="6" name="TextBox 5">
            <a:extLst>
              <a:ext uri="{FF2B5EF4-FFF2-40B4-BE49-F238E27FC236}">
                <a16:creationId xmlns:a16="http://schemas.microsoft.com/office/drawing/2014/main" id="{2AED8FD4-B2D5-2944-83E9-B7C70A2D3986}"/>
              </a:ext>
            </a:extLst>
          </p:cNvPr>
          <p:cNvSpPr txBox="1"/>
          <p:nvPr/>
        </p:nvSpPr>
        <p:spPr>
          <a:xfrm>
            <a:off x="512380" y="1257308"/>
            <a:ext cx="8119241" cy="338554"/>
          </a:xfrm>
          <a:prstGeom prst="rect">
            <a:avLst/>
          </a:prstGeom>
          <a:solidFill>
            <a:schemeClr val="accent6">
              <a:lumMod val="60000"/>
              <a:lumOff val="40000"/>
            </a:schemeClr>
          </a:solidFill>
        </p:spPr>
        <p:txBody>
          <a:bodyPr wrap="square" rtlCol="0">
            <a:spAutoFit/>
          </a:bodyPr>
          <a:lstStyle/>
          <a:p>
            <a:pPr algn="ctr" defTabSz="457200"/>
            <a:r>
              <a:rPr lang="en-US" sz="1600" kern="1200" dirty="0">
                <a:solidFill>
                  <a:prstClr val="white"/>
                </a:solidFill>
                <a:latin typeface="+mj-lt"/>
                <a:ea typeface="Arial Unicode MS" panose="020B0604020202020204" pitchFamily="34" charset="-128"/>
                <a:cs typeface="Arial Unicode MS" panose="020B0604020202020204" pitchFamily="34" charset="-128"/>
              </a:rPr>
              <a:t>Social network analysis is a distinct line of study, but can be applied to word “association”</a:t>
            </a:r>
          </a:p>
        </p:txBody>
      </p:sp>
      <p:sp>
        <p:nvSpPr>
          <p:cNvPr id="7" name="Oval 6">
            <a:extLst>
              <a:ext uri="{FF2B5EF4-FFF2-40B4-BE49-F238E27FC236}">
                <a16:creationId xmlns:a16="http://schemas.microsoft.com/office/drawing/2014/main" id="{B55B3EE0-0EC6-6B4D-9B87-10ECF341053C}"/>
              </a:ext>
            </a:extLst>
          </p:cNvPr>
          <p:cNvSpPr/>
          <p:nvPr/>
        </p:nvSpPr>
        <p:spPr>
          <a:xfrm>
            <a:off x="914400" y="1882588"/>
            <a:ext cx="658906" cy="6589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Tom</a:t>
            </a:r>
          </a:p>
        </p:txBody>
      </p:sp>
      <p:sp>
        <p:nvSpPr>
          <p:cNvPr id="8" name="Oval 7">
            <a:extLst>
              <a:ext uri="{FF2B5EF4-FFF2-40B4-BE49-F238E27FC236}">
                <a16:creationId xmlns:a16="http://schemas.microsoft.com/office/drawing/2014/main" id="{AA2BE3A6-EE19-FC48-874D-EB41BD9A3C7F}"/>
              </a:ext>
            </a:extLst>
          </p:cNvPr>
          <p:cNvSpPr/>
          <p:nvPr/>
        </p:nvSpPr>
        <p:spPr>
          <a:xfrm>
            <a:off x="959224" y="3473823"/>
            <a:ext cx="658906" cy="6589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Sue</a:t>
            </a:r>
          </a:p>
        </p:txBody>
      </p:sp>
      <p:sp>
        <p:nvSpPr>
          <p:cNvPr id="9" name="Oval 8">
            <a:extLst>
              <a:ext uri="{FF2B5EF4-FFF2-40B4-BE49-F238E27FC236}">
                <a16:creationId xmlns:a16="http://schemas.microsoft.com/office/drawing/2014/main" id="{0854BB73-D047-4748-B543-216CF25FCCF8}"/>
              </a:ext>
            </a:extLst>
          </p:cNvPr>
          <p:cNvSpPr/>
          <p:nvPr/>
        </p:nvSpPr>
        <p:spPr>
          <a:xfrm>
            <a:off x="2613212" y="2317376"/>
            <a:ext cx="658906" cy="6589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Jim</a:t>
            </a:r>
          </a:p>
        </p:txBody>
      </p:sp>
      <p:sp>
        <p:nvSpPr>
          <p:cNvPr id="10" name="Oval 9">
            <a:extLst>
              <a:ext uri="{FF2B5EF4-FFF2-40B4-BE49-F238E27FC236}">
                <a16:creationId xmlns:a16="http://schemas.microsoft.com/office/drawing/2014/main" id="{7CC1CACC-1F7A-634B-B31D-BC36E7AE9C9F}"/>
              </a:ext>
            </a:extLst>
          </p:cNvPr>
          <p:cNvSpPr/>
          <p:nvPr/>
        </p:nvSpPr>
        <p:spPr>
          <a:xfrm>
            <a:off x="3608294" y="3500718"/>
            <a:ext cx="658906" cy="6589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Jen</a:t>
            </a:r>
          </a:p>
        </p:txBody>
      </p:sp>
      <p:cxnSp>
        <p:nvCxnSpPr>
          <p:cNvPr id="12" name="Straight Connector 11">
            <a:extLst>
              <a:ext uri="{FF2B5EF4-FFF2-40B4-BE49-F238E27FC236}">
                <a16:creationId xmlns:a16="http://schemas.microsoft.com/office/drawing/2014/main" id="{604BE95D-FEBC-984F-81F8-D7CBD3199B1C}"/>
              </a:ext>
            </a:extLst>
          </p:cNvPr>
          <p:cNvCxnSpPr>
            <a:cxnSpLocks/>
            <a:stCxn id="7" idx="6"/>
            <a:endCxn id="9" idx="1"/>
          </p:cNvCxnSpPr>
          <p:nvPr/>
        </p:nvCxnSpPr>
        <p:spPr>
          <a:xfrm>
            <a:off x="1573306" y="2212041"/>
            <a:ext cx="1136401" cy="2018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EAAE262-9695-BF48-AEC2-C72DC0762668}"/>
              </a:ext>
            </a:extLst>
          </p:cNvPr>
          <p:cNvCxnSpPr>
            <a:cxnSpLocks/>
            <a:stCxn id="8" idx="7"/>
            <a:endCxn id="9" idx="3"/>
          </p:cNvCxnSpPr>
          <p:nvPr/>
        </p:nvCxnSpPr>
        <p:spPr>
          <a:xfrm flipV="1">
            <a:off x="1521635" y="2879787"/>
            <a:ext cx="1188072" cy="690531"/>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B2C6694-6C1E-3744-8F18-5430EC50E73E}"/>
              </a:ext>
            </a:extLst>
          </p:cNvPr>
          <p:cNvCxnSpPr>
            <a:cxnSpLocks/>
            <a:stCxn id="10" idx="0"/>
            <a:endCxn id="9" idx="5"/>
          </p:cNvCxnSpPr>
          <p:nvPr/>
        </p:nvCxnSpPr>
        <p:spPr>
          <a:xfrm flipH="1" flipV="1">
            <a:off x="3175623" y="2879787"/>
            <a:ext cx="762124" cy="620931"/>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AF915B3-E470-1C40-B927-75FA698A7B84}"/>
              </a:ext>
            </a:extLst>
          </p:cNvPr>
          <p:cNvCxnSpPr>
            <a:cxnSpLocks/>
            <a:stCxn id="8" idx="6"/>
            <a:endCxn id="10" idx="2"/>
          </p:cNvCxnSpPr>
          <p:nvPr/>
        </p:nvCxnSpPr>
        <p:spPr>
          <a:xfrm>
            <a:off x="1618130" y="3803276"/>
            <a:ext cx="1990164" cy="268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7E59BD1-1D13-A743-8CAC-3655C3CAAD9B}"/>
              </a:ext>
            </a:extLst>
          </p:cNvPr>
          <p:cNvCxnSpPr>
            <a:cxnSpLocks/>
          </p:cNvCxnSpPr>
          <p:nvPr/>
        </p:nvCxnSpPr>
        <p:spPr>
          <a:xfrm>
            <a:off x="5679142" y="1992112"/>
            <a:ext cx="1136401" cy="201830"/>
          </a:xfrm>
          <a:prstGeom prst="line">
            <a:avLst/>
          </a:prstGeom>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85B2F9A2-0A56-514C-BFF7-7DEDCDDF3CE7}"/>
              </a:ext>
            </a:extLst>
          </p:cNvPr>
          <p:cNvSpPr/>
          <p:nvPr/>
        </p:nvSpPr>
        <p:spPr>
          <a:xfrm>
            <a:off x="5917889" y="3088342"/>
            <a:ext cx="658906" cy="6589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9" name="TextBox 28">
            <a:extLst>
              <a:ext uri="{FF2B5EF4-FFF2-40B4-BE49-F238E27FC236}">
                <a16:creationId xmlns:a16="http://schemas.microsoft.com/office/drawing/2014/main" id="{0AF3E892-98A2-3747-812D-B129218F6E34}"/>
              </a:ext>
            </a:extLst>
          </p:cNvPr>
          <p:cNvSpPr txBox="1"/>
          <p:nvPr/>
        </p:nvSpPr>
        <p:spPr>
          <a:xfrm>
            <a:off x="6995325" y="1908361"/>
            <a:ext cx="637803" cy="369332"/>
          </a:xfrm>
          <a:prstGeom prst="rect">
            <a:avLst/>
          </a:prstGeom>
          <a:noFill/>
        </p:spPr>
        <p:txBody>
          <a:bodyPr wrap="none" rtlCol="0">
            <a:spAutoFit/>
          </a:bodyPr>
          <a:lstStyle/>
          <a:p>
            <a:r>
              <a:rPr lang="en-US" dirty="0"/>
              <a:t>Edge</a:t>
            </a:r>
          </a:p>
        </p:txBody>
      </p:sp>
      <p:sp>
        <p:nvSpPr>
          <p:cNvPr id="31" name="TextBox 30">
            <a:extLst>
              <a:ext uri="{FF2B5EF4-FFF2-40B4-BE49-F238E27FC236}">
                <a16:creationId xmlns:a16="http://schemas.microsoft.com/office/drawing/2014/main" id="{01CACA73-5181-5940-A954-C533558B22F0}"/>
              </a:ext>
            </a:extLst>
          </p:cNvPr>
          <p:cNvSpPr txBox="1"/>
          <p:nvPr/>
        </p:nvSpPr>
        <p:spPr>
          <a:xfrm>
            <a:off x="6967817" y="3233129"/>
            <a:ext cx="692818" cy="369332"/>
          </a:xfrm>
          <a:prstGeom prst="rect">
            <a:avLst/>
          </a:prstGeom>
          <a:noFill/>
        </p:spPr>
        <p:txBody>
          <a:bodyPr wrap="none" rtlCol="0">
            <a:spAutoFit/>
          </a:bodyPr>
          <a:lstStyle/>
          <a:p>
            <a:r>
              <a:rPr lang="en-US" dirty="0"/>
              <a:t>Node</a:t>
            </a:r>
          </a:p>
        </p:txBody>
      </p:sp>
      <p:cxnSp>
        <p:nvCxnSpPr>
          <p:cNvPr id="19" name="Straight Connector 18">
            <a:extLst>
              <a:ext uri="{FF2B5EF4-FFF2-40B4-BE49-F238E27FC236}">
                <a16:creationId xmlns:a16="http://schemas.microsoft.com/office/drawing/2014/main" id="{EDDF1D38-5FE6-6548-AB2D-DD91BC6E795E}"/>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A39A3D6-6893-9D43-A256-D47442564C00}"/>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00530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B01ACE-38F6-3240-A4E7-103CE893B463}"/>
              </a:ext>
            </a:extLst>
          </p:cNvPr>
          <p:cNvSpPr>
            <a:spLocks noGrp="1"/>
          </p:cNvSpPr>
          <p:nvPr>
            <p:ph type="dt" sz="half" idx="10"/>
          </p:nvPr>
        </p:nvSpPr>
        <p:spPr/>
        <p:txBody>
          <a:bodyPr/>
          <a:lstStyle/>
          <a:p>
            <a:fld id="{6700A58B-DD98-43D0-B791-721480A02982}" type="datetime1">
              <a:rPr lang="en-US" smtClean="0"/>
              <a:t>6/2/26</a:t>
            </a:fld>
            <a:endParaRPr lang="en-US"/>
          </a:p>
        </p:txBody>
      </p:sp>
      <p:sp>
        <p:nvSpPr>
          <p:cNvPr id="3" name="Title 2">
            <a:extLst>
              <a:ext uri="{FF2B5EF4-FFF2-40B4-BE49-F238E27FC236}">
                <a16:creationId xmlns:a16="http://schemas.microsoft.com/office/drawing/2014/main" id="{612A64B0-ABEF-7C42-90F5-3B8D9B5A09DC}"/>
              </a:ext>
            </a:extLst>
          </p:cNvPr>
          <p:cNvSpPr>
            <a:spLocks noGrp="1"/>
          </p:cNvSpPr>
          <p:nvPr>
            <p:ph type="title"/>
          </p:nvPr>
        </p:nvSpPr>
        <p:spPr/>
        <p:txBody>
          <a:bodyPr/>
          <a:lstStyle/>
          <a:p>
            <a:r>
              <a:rPr lang="en-US" dirty="0"/>
              <a:t>Networks…for words</a:t>
            </a:r>
          </a:p>
        </p:txBody>
      </p:sp>
      <p:sp>
        <p:nvSpPr>
          <p:cNvPr id="4" name="Footer Placeholder 3">
            <a:extLst>
              <a:ext uri="{FF2B5EF4-FFF2-40B4-BE49-F238E27FC236}">
                <a16:creationId xmlns:a16="http://schemas.microsoft.com/office/drawing/2014/main" id="{E97E5434-6A7C-F144-BE80-5BA51B4E9CB5}"/>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248A53EC-FD71-7449-8238-9EC97C921297}"/>
              </a:ext>
            </a:extLst>
          </p:cNvPr>
          <p:cNvSpPr>
            <a:spLocks noGrp="1"/>
          </p:cNvSpPr>
          <p:nvPr>
            <p:ph type="sldNum" sz="quarter" idx="4"/>
          </p:nvPr>
        </p:nvSpPr>
        <p:spPr/>
        <p:txBody>
          <a:bodyPr/>
          <a:lstStyle/>
          <a:p>
            <a:fld id="{37290FF7-652B-4475-AEAB-8B1A5D23AE09}" type="slidenum">
              <a:rPr lang="en-US" smtClean="0"/>
              <a:pPr/>
              <a:t>28</a:t>
            </a:fld>
            <a:endParaRPr lang="en-US" dirty="0"/>
          </a:p>
        </p:txBody>
      </p:sp>
      <p:sp>
        <p:nvSpPr>
          <p:cNvPr id="6" name="TextBox 5">
            <a:extLst>
              <a:ext uri="{FF2B5EF4-FFF2-40B4-BE49-F238E27FC236}">
                <a16:creationId xmlns:a16="http://schemas.microsoft.com/office/drawing/2014/main" id="{2AED8FD4-B2D5-2944-83E9-B7C70A2D3986}"/>
              </a:ext>
            </a:extLst>
          </p:cNvPr>
          <p:cNvSpPr txBox="1"/>
          <p:nvPr/>
        </p:nvSpPr>
        <p:spPr>
          <a:xfrm>
            <a:off x="512380" y="1303606"/>
            <a:ext cx="8119241" cy="338554"/>
          </a:xfrm>
          <a:prstGeom prst="rect">
            <a:avLst/>
          </a:prstGeom>
          <a:solidFill>
            <a:schemeClr val="accent6">
              <a:lumMod val="60000"/>
              <a:lumOff val="40000"/>
            </a:schemeClr>
          </a:solidFill>
        </p:spPr>
        <p:txBody>
          <a:bodyPr wrap="square" rtlCol="0">
            <a:spAutoFit/>
          </a:bodyPr>
          <a:lstStyle/>
          <a:p>
            <a:pPr algn="ctr" defTabSz="457200"/>
            <a:r>
              <a:rPr lang="en-US" sz="1600" kern="1200" dirty="0">
                <a:solidFill>
                  <a:prstClr val="white"/>
                </a:solidFill>
                <a:latin typeface="+mj-lt"/>
                <a:ea typeface="Arial Unicode MS" panose="020B0604020202020204" pitchFamily="34" charset="-128"/>
                <a:cs typeface="Arial Unicode MS" panose="020B0604020202020204" pitchFamily="34" charset="-128"/>
              </a:rPr>
              <a:t>Social network analysis is a distinct line of study, but can be applied to word “association”</a:t>
            </a:r>
          </a:p>
        </p:txBody>
      </p:sp>
      <p:sp>
        <p:nvSpPr>
          <p:cNvPr id="7" name="Oval 6">
            <a:extLst>
              <a:ext uri="{FF2B5EF4-FFF2-40B4-BE49-F238E27FC236}">
                <a16:creationId xmlns:a16="http://schemas.microsoft.com/office/drawing/2014/main" id="{B55B3EE0-0EC6-6B4D-9B87-10ECF341053C}"/>
              </a:ext>
            </a:extLst>
          </p:cNvPr>
          <p:cNvSpPr/>
          <p:nvPr/>
        </p:nvSpPr>
        <p:spPr>
          <a:xfrm>
            <a:off x="876981" y="1882588"/>
            <a:ext cx="658906" cy="6589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8" name="Oval 7">
            <a:extLst>
              <a:ext uri="{FF2B5EF4-FFF2-40B4-BE49-F238E27FC236}">
                <a16:creationId xmlns:a16="http://schemas.microsoft.com/office/drawing/2014/main" id="{AA2BE3A6-EE19-FC48-874D-EB41BD9A3C7F}"/>
              </a:ext>
            </a:extLst>
          </p:cNvPr>
          <p:cNvSpPr/>
          <p:nvPr/>
        </p:nvSpPr>
        <p:spPr>
          <a:xfrm>
            <a:off x="959224" y="3473823"/>
            <a:ext cx="658906" cy="6589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9" name="Oval 8">
            <a:extLst>
              <a:ext uri="{FF2B5EF4-FFF2-40B4-BE49-F238E27FC236}">
                <a16:creationId xmlns:a16="http://schemas.microsoft.com/office/drawing/2014/main" id="{0854BB73-D047-4748-B543-216CF25FCCF8}"/>
              </a:ext>
            </a:extLst>
          </p:cNvPr>
          <p:cNvSpPr/>
          <p:nvPr/>
        </p:nvSpPr>
        <p:spPr>
          <a:xfrm>
            <a:off x="2613212" y="2317376"/>
            <a:ext cx="658906" cy="6589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0" name="Oval 9">
            <a:extLst>
              <a:ext uri="{FF2B5EF4-FFF2-40B4-BE49-F238E27FC236}">
                <a16:creationId xmlns:a16="http://schemas.microsoft.com/office/drawing/2014/main" id="{7CC1CACC-1F7A-634B-B31D-BC36E7AE9C9F}"/>
              </a:ext>
            </a:extLst>
          </p:cNvPr>
          <p:cNvSpPr/>
          <p:nvPr/>
        </p:nvSpPr>
        <p:spPr>
          <a:xfrm>
            <a:off x="3608294" y="3500718"/>
            <a:ext cx="658906" cy="6589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cxnSp>
        <p:nvCxnSpPr>
          <p:cNvPr id="12" name="Straight Connector 11">
            <a:extLst>
              <a:ext uri="{FF2B5EF4-FFF2-40B4-BE49-F238E27FC236}">
                <a16:creationId xmlns:a16="http://schemas.microsoft.com/office/drawing/2014/main" id="{604BE95D-FEBC-984F-81F8-D7CBD3199B1C}"/>
              </a:ext>
            </a:extLst>
          </p:cNvPr>
          <p:cNvCxnSpPr>
            <a:cxnSpLocks/>
            <a:stCxn id="7" idx="6"/>
            <a:endCxn id="9" idx="1"/>
          </p:cNvCxnSpPr>
          <p:nvPr/>
        </p:nvCxnSpPr>
        <p:spPr>
          <a:xfrm>
            <a:off x="1535887" y="2212041"/>
            <a:ext cx="1173820" cy="2018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EAAE262-9695-BF48-AEC2-C72DC0762668}"/>
              </a:ext>
            </a:extLst>
          </p:cNvPr>
          <p:cNvCxnSpPr>
            <a:cxnSpLocks/>
            <a:stCxn id="8" idx="7"/>
            <a:endCxn id="9" idx="3"/>
          </p:cNvCxnSpPr>
          <p:nvPr/>
        </p:nvCxnSpPr>
        <p:spPr>
          <a:xfrm flipV="1">
            <a:off x="1521635" y="2879787"/>
            <a:ext cx="1188072" cy="690531"/>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B2C6694-6C1E-3744-8F18-5430EC50E73E}"/>
              </a:ext>
            </a:extLst>
          </p:cNvPr>
          <p:cNvCxnSpPr>
            <a:cxnSpLocks/>
            <a:stCxn id="10" idx="0"/>
            <a:endCxn id="9" idx="5"/>
          </p:cNvCxnSpPr>
          <p:nvPr/>
        </p:nvCxnSpPr>
        <p:spPr>
          <a:xfrm flipH="1" flipV="1">
            <a:off x="3175623" y="2879787"/>
            <a:ext cx="762124" cy="620931"/>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AF915B3-E470-1C40-B927-75FA698A7B84}"/>
              </a:ext>
            </a:extLst>
          </p:cNvPr>
          <p:cNvCxnSpPr>
            <a:cxnSpLocks/>
            <a:stCxn id="8" idx="6"/>
            <a:endCxn id="10" idx="2"/>
          </p:cNvCxnSpPr>
          <p:nvPr/>
        </p:nvCxnSpPr>
        <p:spPr>
          <a:xfrm>
            <a:off x="1618130" y="3803276"/>
            <a:ext cx="1990164" cy="26895"/>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7E59BD1-1D13-A743-8CAC-3655C3CAAD9B}"/>
              </a:ext>
            </a:extLst>
          </p:cNvPr>
          <p:cNvCxnSpPr>
            <a:cxnSpLocks/>
          </p:cNvCxnSpPr>
          <p:nvPr/>
        </p:nvCxnSpPr>
        <p:spPr>
          <a:xfrm>
            <a:off x="5679142" y="1992112"/>
            <a:ext cx="1136401" cy="201830"/>
          </a:xfrm>
          <a:prstGeom prst="line">
            <a:avLst/>
          </a:prstGeom>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85B2F9A2-0A56-514C-BFF7-7DEDCDDF3CE7}"/>
              </a:ext>
            </a:extLst>
          </p:cNvPr>
          <p:cNvSpPr/>
          <p:nvPr/>
        </p:nvSpPr>
        <p:spPr>
          <a:xfrm>
            <a:off x="5917889" y="3088342"/>
            <a:ext cx="658906" cy="6589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9" name="TextBox 28">
            <a:extLst>
              <a:ext uri="{FF2B5EF4-FFF2-40B4-BE49-F238E27FC236}">
                <a16:creationId xmlns:a16="http://schemas.microsoft.com/office/drawing/2014/main" id="{0AF3E892-98A2-3747-812D-B129218F6E34}"/>
              </a:ext>
            </a:extLst>
          </p:cNvPr>
          <p:cNvSpPr txBox="1"/>
          <p:nvPr/>
        </p:nvSpPr>
        <p:spPr>
          <a:xfrm>
            <a:off x="6995325" y="1908361"/>
            <a:ext cx="637803" cy="369332"/>
          </a:xfrm>
          <a:prstGeom prst="rect">
            <a:avLst/>
          </a:prstGeom>
          <a:noFill/>
        </p:spPr>
        <p:txBody>
          <a:bodyPr wrap="none" rtlCol="0">
            <a:spAutoFit/>
          </a:bodyPr>
          <a:lstStyle/>
          <a:p>
            <a:r>
              <a:rPr lang="en-US" dirty="0"/>
              <a:t>Edge</a:t>
            </a:r>
          </a:p>
        </p:txBody>
      </p:sp>
      <p:sp>
        <p:nvSpPr>
          <p:cNvPr id="31" name="TextBox 30">
            <a:extLst>
              <a:ext uri="{FF2B5EF4-FFF2-40B4-BE49-F238E27FC236}">
                <a16:creationId xmlns:a16="http://schemas.microsoft.com/office/drawing/2014/main" id="{01CACA73-5181-5940-A954-C533558B22F0}"/>
              </a:ext>
            </a:extLst>
          </p:cNvPr>
          <p:cNvSpPr txBox="1"/>
          <p:nvPr/>
        </p:nvSpPr>
        <p:spPr>
          <a:xfrm>
            <a:off x="6967817" y="3233129"/>
            <a:ext cx="692818" cy="369332"/>
          </a:xfrm>
          <a:prstGeom prst="rect">
            <a:avLst/>
          </a:prstGeom>
          <a:noFill/>
        </p:spPr>
        <p:txBody>
          <a:bodyPr wrap="none" rtlCol="0">
            <a:spAutoFit/>
          </a:bodyPr>
          <a:lstStyle/>
          <a:p>
            <a:r>
              <a:rPr lang="en-US" dirty="0"/>
              <a:t>Node</a:t>
            </a:r>
          </a:p>
        </p:txBody>
      </p:sp>
      <p:sp>
        <p:nvSpPr>
          <p:cNvPr id="19" name="TextBox 18">
            <a:extLst>
              <a:ext uri="{FF2B5EF4-FFF2-40B4-BE49-F238E27FC236}">
                <a16:creationId xmlns:a16="http://schemas.microsoft.com/office/drawing/2014/main" id="{DB513787-2FC1-104F-BB12-5A00CBD7EC55}"/>
              </a:ext>
            </a:extLst>
          </p:cNvPr>
          <p:cNvSpPr txBox="1"/>
          <p:nvPr/>
        </p:nvSpPr>
        <p:spPr>
          <a:xfrm>
            <a:off x="800714" y="2042764"/>
            <a:ext cx="811441" cy="338554"/>
          </a:xfrm>
          <a:prstGeom prst="rect">
            <a:avLst/>
          </a:prstGeom>
          <a:noFill/>
        </p:spPr>
        <p:txBody>
          <a:bodyPr wrap="none" rtlCol="0">
            <a:spAutoFit/>
          </a:bodyPr>
          <a:lstStyle/>
          <a:p>
            <a:r>
              <a:rPr lang="en-US" sz="1600" dirty="0"/>
              <a:t>London</a:t>
            </a:r>
          </a:p>
        </p:txBody>
      </p:sp>
      <p:sp>
        <p:nvSpPr>
          <p:cNvPr id="21" name="TextBox 20">
            <a:extLst>
              <a:ext uri="{FF2B5EF4-FFF2-40B4-BE49-F238E27FC236}">
                <a16:creationId xmlns:a16="http://schemas.microsoft.com/office/drawing/2014/main" id="{2D845E9B-7F54-7645-8ECA-11DF37308805}"/>
              </a:ext>
            </a:extLst>
          </p:cNvPr>
          <p:cNvSpPr txBox="1"/>
          <p:nvPr/>
        </p:nvSpPr>
        <p:spPr>
          <a:xfrm>
            <a:off x="2096114" y="2455208"/>
            <a:ext cx="1565108" cy="369332"/>
          </a:xfrm>
          <a:prstGeom prst="rect">
            <a:avLst/>
          </a:prstGeom>
          <a:noFill/>
        </p:spPr>
        <p:txBody>
          <a:bodyPr wrap="none" rtlCol="0">
            <a:spAutoFit/>
          </a:bodyPr>
          <a:lstStyle/>
          <a:p>
            <a:r>
              <a:rPr lang="en-US" dirty="0"/>
              <a:t>British Airways</a:t>
            </a:r>
          </a:p>
        </p:txBody>
      </p:sp>
      <p:sp>
        <p:nvSpPr>
          <p:cNvPr id="22" name="TextBox 21">
            <a:extLst>
              <a:ext uri="{FF2B5EF4-FFF2-40B4-BE49-F238E27FC236}">
                <a16:creationId xmlns:a16="http://schemas.microsoft.com/office/drawing/2014/main" id="{C3B52554-4514-134F-BA31-935744FE105B}"/>
              </a:ext>
            </a:extLst>
          </p:cNvPr>
          <p:cNvSpPr txBox="1"/>
          <p:nvPr/>
        </p:nvSpPr>
        <p:spPr>
          <a:xfrm>
            <a:off x="3593219" y="3656479"/>
            <a:ext cx="726096" cy="307777"/>
          </a:xfrm>
          <a:prstGeom prst="rect">
            <a:avLst/>
          </a:prstGeom>
          <a:noFill/>
        </p:spPr>
        <p:txBody>
          <a:bodyPr wrap="none" rtlCol="0">
            <a:spAutoFit/>
          </a:bodyPr>
          <a:lstStyle/>
          <a:p>
            <a:r>
              <a:rPr lang="en-US" sz="1400" dirty="0" err="1"/>
              <a:t>AleTrail</a:t>
            </a:r>
            <a:endParaRPr lang="en-US" sz="1400" dirty="0"/>
          </a:p>
        </p:txBody>
      </p:sp>
      <p:sp>
        <p:nvSpPr>
          <p:cNvPr id="23" name="TextBox 22">
            <a:extLst>
              <a:ext uri="{FF2B5EF4-FFF2-40B4-BE49-F238E27FC236}">
                <a16:creationId xmlns:a16="http://schemas.microsoft.com/office/drawing/2014/main" id="{4C050EDD-A3E5-4549-8359-C95339931C14}"/>
              </a:ext>
            </a:extLst>
          </p:cNvPr>
          <p:cNvSpPr txBox="1"/>
          <p:nvPr/>
        </p:nvSpPr>
        <p:spPr>
          <a:xfrm>
            <a:off x="971043" y="3616138"/>
            <a:ext cx="620683" cy="369332"/>
          </a:xfrm>
          <a:prstGeom prst="rect">
            <a:avLst/>
          </a:prstGeom>
          <a:noFill/>
        </p:spPr>
        <p:txBody>
          <a:bodyPr wrap="none" rtlCol="0">
            <a:spAutoFit/>
          </a:bodyPr>
          <a:lstStyle/>
          <a:p>
            <a:r>
              <a:rPr lang="en-US" dirty="0"/>
              <a:t>Beer</a:t>
            </a:r>
          </a:p>
        </p:txBody>
      </p:sp>
      <p:cxnSp>
        <p:nvCxnSpPr>
          <p:cNvPr id="24" name="Straight Connector 23">
            <a:extLst>
              <a:ext uri="{FF2B5EF4-FFF2-40B4-BE49-F238E27FC236}">
                <a16:creationId xmlns:a16="http://schemas.microsoft.com/office/drawing/2014/main" id="{FBB23F69-A342-3E43-85F0-778F571A795F}"/>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FC31395-91AD-324F-A0CB-9848A0F8F6A5}"/>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4457192-403C-1946-AEC4-F1C0F3FB3FE7}"/>
              </a:ext>
            </a:extLst>
          </p:cNvPr>
          <p:cNvCxnSpPr/>
          <p:nvPr/>
        </p:nvCxnSpPr>
        <p:spPr>
          <a:xfrm>
            <a:off x="6950763" y="67022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A0281846-063F-FB4E-ADB3-C59DBEC1E806}"/>
              </a:ext>
            </a:extLst>
          </p:cNvPr>
          <p:cNvCxnSpPr/>
          <p:nvPr/>
        </p:nvCxnSpPr>
        <p:spPr>
          <a:xfrm>
            <a:off x="7229061" y="48171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36948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59B0729-76DE-8A42-9246-9AF492F3879B}"/>
              </a:ext>
            </a:extLst>
          </p:cNvPr>
          <p:cNvPicPr>
            <a:picLocks noChangeAspect="1"/>
          </p:cNvPicPr>
          <p:nvPr/>
        </p:nvPicPr>
        <p:blipFill rotWithShape="1">
          <a:blip r:embed="rId2"/>
          <a:srcRect l="26844" r="34091" b="15449"/>
          <a:stretch/>
        </p:blipFill>
        <p:spPr>
          <a:xfrm>
            <a:off x="4708343" y="1504865"/>
            <a:ext cx="3416767" cy="3518548"/>
          </a:xfrm>
          <a:prstGeom prst="rect">
            <a:avLst/>
          </a:prstGeom>
        </p:spPr>
      </p:pic>
      <p:sp>
        <p:nvSpPr>
          <p:cNvPr id="2" name="Date Placeholder 1">
            <a:extLst>
              <a:ext uri="{FF2B5EF4-FFF2-40B4-BE49-F238E27FC236}">
                <a16:creationId xmlns:a16="http://schemas.microsoft.com/office/drawing/2014/main" id="{F76D46C0-8E38-4AF9-91A2-C689E49D41C6}"/>
              </a:ext>
            </a:extLst>
          </p:cNvPr>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a:extLst>
              <a:ext uri="{FF2B5EF4-FFF2-40B4-BE49-F238E27FC236}">
                <a16:creationId xmlns:a16="http://schemas.microsoft.com/office/drawing/2014/main" id="{B05B1280-9F0B-4734-877D-4543DC21C6F7}"/>
              </a:ext>
            </a:extLst>
          </p:cNvPr>
          <p:cNvSpPr>
            <a:spLocks noGrp="1"/>
          </p:cNvSpPr>
          <p:nvPr>
            <p:ph type="title"/>
          </p:nvPr>
        </p:nvSpPr>
        <p:spPr/>
        <p:txBody>
          <a:bodyPr/>
          <a:lstStyle/>
          <a:p>
            <a:r>
              <a:rPr lang="en-US"/>
              <a:t>Word Networks…Social Network Analysis</a:t>
            </a:r>
            <a:endParaRPr lang="en-US" dirty="0"/>
          </a:p>
        </p:txBody>
      </p:sp>
      <p:sp>
        <p:nvSpPr>
          <p:cNvPr id="5" name="Footer Placeholder 4">
            <a:extLst>
              <a:ext uri="{FF2B5EF4-FFF2-40B4-BE49-F238E27FC236}">
                <a16:creationId xmlns:a16="http://schemas.microsoft.com/office/drawing/2014/main" id="{A11516D7-7888-4F45-A1B0-1C20F6AB8977}"/>
              </a:ext>
            </a:extLst>
          </p:cNvPr>
          <p:cNvSpPr>
            <a:spLocks noGrp="1"/>
          </p:cNvSpPr>
          <p:nvPr>
            <p:ph type="ftr" sz="quarter" idx="3"/>
          </p:nvPr>
        </p:nvSpPr>
        <p:spPr/>
        <p:txBody>
          <a:bodyPr/>
          <a:lstStyle/>
          <a:p>
            <a:r>
              <a:rPr lang="en-US"/>
              <a:t>Kwartler</a:t>
            </a:r>
            <a:endParaRPr lang="en-US" dirty="0"/>
          </a:p>
        </p:txBody>
      </p:sp>
      <p:sp>
        <p:nvSpPr>
          <p:cNvPr id="4" name="Slide Number Placeholder 3">
            <a:extLst>
              <a:ext uri="{FF2B5EF4-FFF2-40B4-BE49-F238E27FC236}">
                <a16:creationId xmlns:a16="http://schemas.microsoft.com/office/drawing/2014/main" id="{11D2FCAD-13C0-46BA-8BB3-D4DF932DCD1A}"/>
              </a:ext>
            </a:extLst>
          </p:cNvPr>
          <p:cNvSpPr>
            <a:spLocks noGrp="1"/>
          </p:cNvSpPr>
          <p:nvPr>
            <p:ph type="sldNum" sz="quarter" idx="4"/>
          </p:nvPr>
        </p:nvSpPr>
        <p:spPr/>
        <p:txBody>
          <a:bodyPr/>
          <a:lstStyle/>
          <a:p>
            <a:fld id="{37290FF7-652B-4475-AEAB-8B1A5D23AE09}" type="slidenum">
              <a:rPr lang="en-US" smtClean="0"/>
              <a:pPr/>
              <a:t>29</a:t>
            </a:fld>
            <a:endParaRPr lang="en-US"/>
          </a:p>
        </p:txBody>
      </p:sp>
      <p:sp>
        <p:nvSpPr>
          <p:cNvPr id="8" name="TextBox 7">
            <a:extLst>
              <a:ext uri="{FF2B5EF4-FFF2-40B4-BE49-F238E27FC236}">
                <a16:creationId xmlns:a16="http://schemas.microsoft.com/office/drawing/2014/main" id="{A5A3EE36-0573-4214-8E8B-E9BD628BC999}"/>
              </a:ext>
            </a:extLst>
          </p:cNvPr>
          <p:cNvSpPr txBox="1"/>
          <p:nvPr/>
        </p:nvSpPr>
        <p:spPr>
          <a:xfrm>
            <a:off x="385058" y="1095264"/>
            <a:ext cx="8119241" cy="584775"/>
          </a:xfrm>
          <a:prstGeom prst="rect">
            <a:avLst/>
          </a:prstGeom>
          <a:solidFill>
            <a:schemeClr val="accent6">
              <a:lumMod val="60000"/>
              <a:lumOff val="40000"/>
            </a:schemeClr>
          </a:solidFill>
        </p:spPr>
        <p:txBody>
          <a:bodyPr wrap="square" rtlCol="0">
            <a:spAutoFit/>
          </a:bodyPr>
          <a:lstStyle/>
          <a:p>
            <a:pPr algn="ctr" defTabSz="457200"/>
            <a:r>
              <a:rPr lang="en-US" sz="1600" kern="1200" dirty="0">
                <a:solidFill>
                  <a:prstClr val="white"/>
                </a:solidFill>
                <a:latin typeface="+mj-lt"/>
                <a:ea typeface="Arial Unicode MS" panose="020B0604020202020204" pitchFamily="34" charset="-128"/>
                <a:cs typeface="Arial Unicode MS" panose="020B0604020202020204" pitchFamily="34" charset="-128"/>
              </a:rPr>
              <a:t>Always hard to interpret, what terms are associated with the initial string at varying degrees of separation.  i.e. </a:t>
            </a:r>
            <a:r>
              <a:rPr lang="en-US" sz="1600" dirty="0">
                <a:solidFill>
                  <a:prstClr val="white"/>
                </a:solidFill>
                <a:latin typeface="+mj-lt"/>
                <a:ea typeface="Arial Unicode MS" panose="020B0604020202020204" pitchFamily="34" charset="-128"/>
                <a:cs typeface="Arial Unicode MS" panose="020B0604020202020204" pitchFamily="34" charset="-128"/>
              </a:rPr>
              <a:t>associations of associations</a:t>
            </a:r>
            <a:endParaRPr lang="en-US" sz="1600" kern="1200" dirty="0">
              <a:solidFill>
                <a:prstClr val="white"/>
              </a:solidFill>
              <a:latin typeface="+mj-lt"/>
              <a:ea typeface="Arial Unicode MS" panose="020B0604020202020204" pitchFamily="34" charset="-128"/>
              <a:cs typeface="Arial Unicode MS" panose="020B0604020202020204" pitchFamily="34" charset="-128"/>
            </a:endParaRPr>
          </a:p>
        </p:txBody>
      </p:sp>
      <p:sp>
        <p:nvSpPr>
          <p:cNvPr id="10" name="TextBox 9">
            <a:extLst>
              <a:ext uri="{FF2B5EF4-FFF2-40B4-BE49-F238E27FC236}">
                <a16:creationId xmlns:a16="http://schemas.microsoft.com/office/drawing/2014/main" id="{9660AAEE-DC4B-7540-B512-E1CA8BBF95A7}"/>
              </a:ext>
            </a:extLst>
          </p:cNvPr>
          <p:cNvSpPr txBox="1"/>
          <p:nvPr/>
        </p:nvSpPr>
        <p:spPr>
          <a:xfrm>
            <a:off x="376518" y="2823883"/>
            <a:ext cx="4108817" cy="938719"/>
          </a:xfrm>
          <a:prstGeom prst="rect">
            <a:avLst/>
          </a:prstGeom>
          <a:solidFill>
            <a:schemeClr val="bg2"/>
          </a:solidFill>
        </p:spPr>
        <p:txBody>
          <a:bodyPr wrap="none" rtlCol="0">
            <a:spAutoFit/>
          </a:bodyPr>
          <a:lstStyle/>
          <a:p>
            <a:r>
              <a:rPr lang="en-US" sz="1100" dirty="0" err="1">
                <a:latin typeface="Consolas" panose="020B0609020204030204" pitchFamily="49" charset="0"/>
                <a:cs typeface="Consolas" panose="020B0609020204030204" pitchFamily="49" charset="0"/>
              </a:rPr>
              <a:t>word_associate</a:t>
            </a:r>
            <a:r>
              <a:rPr lang="en-US" sz="1100" dirty="0">
                <a:latin typeface="Consolas" panose="020B0609020204030204" pitchFamily="49" charset="0"/>
                <a:cs typeface="Consolas" panose="020B0609020204030204" pitchFamily="49" charset="0"/>
              </a:rPr>
              <a:t>(</a:t>
            </a:r>
            <a:r>
              <a:rPr lang="en-US" sz="1100" dirty="0" err="1">
                <a:latin typeface="Consolas" panose="020B0609020204030204" pitchFamily="49" charset="0"/>
                <a:cs typeface="Consolas" panose="020B0609020204030204" pitchFamily="49" charset="0"/>
              </a:rPr>
              <a:t>assocText</a:t>
            </a:r>
            <a:r>
              <a:rPr lang="en-US" sz="1100" dirty="0">
                <a:latin typeface="Consolas" panose="020B0609020204030204" pitchFamily="49" charset="0"/>
                <a:cs typeface="Consolas" panose="020B0609020204030204" pitchFamily="49" charset="0"/>
              </a:rPr>
              <a:t>, </a:t>
            </a:r>
          </a:p>
          <a:p>
            <a:r>
              <a:rPr lang="en-US" sz="1100" dirty="0">
                <a:latin typeface="Consolas" panose="020B0609020204030204" pitchFamily="49" charset="0"/>
                <a:cs typeface="Consolas" panose="020B0609020204030204" pitchFamily="49" charset="0"/>
              </a:rPr>
              <a:t>               </a:t>
            </a:r>
            <a:r>
              <a:rPr lang="en-US" sz="1100" dirty="0" err="1">
                <a:latin typeface="Consolas" panose="020B0609020204030204" pitchFamily="49" charset="0"/>
                <a:cs typeface="Consolas" panose="020B0609020204030204" pitchFamily="49" charset="0"/>
              </a:rPr>
              <a:t>match.string</a:t>
            </a:r>
            <a:r>
              <a:rPr lang="en-US" sz="1100" dirty="0">
                <a:latin typeface="Consolas" panose="020B0609020204030204" pitchFamily="49" charset="0"/>
                <a:cs typeface="Consolas" panose="020B0609020204030204" pitchFamily="49" charset="0"/>
              </a:rPr>
              <a:t> = '</a:t>
            </a:r>
            <a:r>
              <a:rPr lang="en-US" sz="1100" dirty="0" err="1">
                <a:latin typeface="Consolas" panose="020B0609020204030204" pitchFamily="49" charset="0"/>
                <a:cs typeface="Consolas" panose="020B0609020204030204" pitchFamily="49" charset="0"/>
              </a:rPr>
              <a:t>brewdog</a:t>
            </a:r>
            <a:r>
              <a:rPr lang="en-US" sz="1100" dirty="0">
                <a:latin typeface="Consolas" panose="020B0609020204030204" pitchFamily="49" charset="0"/>
                <a:cs typeface="Consolas" panose="020B0609020204030204" pitchFamily="49" charset="0"/>
              </a:rPr>
              <a:t>', </a:t>
            </a:r>
          </a:p>
          <a:p>
            <a:r>
              <a:rPr lang="en-US" sz="1100" dirty="0">
                <a:latin typeface="Consolas" panose="020B0609020204030204" pitchFamily="49" charset="0"/>
                <a:cs typeface="Consolas" panose="020B0609020204030204" pitchFamily="49" charset="0"/>
              </a:rPr>
              <a:t>               </a:t>
            </a:r>
            <a:r>
              <a:rPr lang="en-US" sz="1100" dirty="0" err="1">
                <a:latin typeface="Consolas" panose="020B0609020204030204" pitchFamily="49" charset="0"/>
                <a:cs typeface="Consolas" panose="020B0609020204030204" pitchFamily="49" charset="0"/>
              </a:rPr>
              <a:t>stopwords</a:t>
            </a:r>
            <a:r>
              <a:rPr lang="en-US" sz="1100" dirty="0">
                <a:latin typeface="Consolas" panose="020B0609020204030204" pitchFamily="49" charset="0"/>
                <a:cs typeface="Consolas" panose="020B0609020204030204" pitchFamily="49" charset="0"/>
              </a:rPr>
              <a:t> = </a:t>
            </a:r>
            <a:r>
              <a:rPr lang="en-US" sz="1100" dirty="0" err="1">
                <a:latin typeface="Consolas" panose="020B0609020204030204" pitchFamily="49" charset="0"/>
                <a:cs typeface="Consolas" panose="020B0609020204030204" pitchFamily="49" charset="0"/>
              </a:rPr>
              <a:t>networkStops</a:t>
            </a:r>
            <a:r>
              <a:rPr lang="en-US" sz="1100" dirty="0">
                <a:latin typeface="Consolas" panose="020B0609020204030204" pitchFamily="49" charset="0"/>
                <a:cs typeface="Consolas" panose="020B0609020204030204" pitchFamily="49" charset="0"/>
              </a:rPr>
              <a:t>,</a:t>
            </a:r>
          </a:p>
          <a:p>
            <a:r>
              <a:rPr lang="en-US" sz="1100" dirty="0">
                <a:latin typeface="Consolas" panose="020B0609020204030204" pitchFamily="49" charset="0"/>
                <a:cs typeface="Consolas" panose="020B0609020204030204" pitchFamily="49" charset="0"/>
              </a:rPr>
              <a:t>               </a:t>
            </a:r>
            <a:r>
              <a:rPr lang="en-US" sz="1100" dirty="0" err="1">
                <a:latin typeface="Consolas" panose="020B0609020204030204" pitchFamily="49" charset="0"/>
                <a:cs typeface="Consolas" panose="020B0609020204030204" pitchFamily="49" charset="0"/>
              </a:rPr>
              <a:t>network.plot</a:t>
            </a:r>
            <a:r>
              <a:rPr lang="en-US" sz="1100" dirty="0">
                <a:latin typeface="Consolas" panose="020B0609020204030204" pitchFamily="49" charset="0"/>
                <a:cs typeface="Consolas" panose="020B0609020204030204" pitchFamily="49" charset="0"/>
              </a:rPr>
              <a:t> = T,</a:t>
            </a:r>
          </a:p>
          <a:p>
            <a:r>
              <a:rPr lang="en-US" sz="1100" dirty="0">
                <a:latin typeface="Consolas" panose="020B0609020204030204" pitchFamily="49" charset="0"/>
                <a:cs typeface="Consolas" panose="020B0609020204030204" pitchFamily="49" charset="0"/>
              </a:rPr>
              <a:t>               </a:t>
            </a:r>
            <a:r>
              <a:rPr lang="en-US" sz="1100" dirty="0" err="1">
                <a:latin typeface="Consolas" panose="020B0609020204030204" pitchFamily="49" charset="0"/>
                <a:cs typeface="Consolas" panose="020B0609020204030204" pitchFamily="49" charset="0"/>
              </a:rPr>
              <a:t>cloud.colors</a:t>
            </a:r>
            <a:r>
              <a:rPr lang="en-US" sz="1100" dirty="0">
                <a:latin typeface="Consolas" panose="020B0609020204030204" pitchFamily="49" charset="0"/>
                <a:cs typeface="Consolas" panose="020B0609020204030204" pitchFamily="49" charset="0"/>
              </a:rPr>
              <a:t> = c('black','</a:t>
            </a:r>
            <a:r>
              <a:rPr lang="en-US" sz="1100" dirty="0" err="1">
                <a:latin typeface="Consolas" panose="020B0609020204030204" pitchFamily="49" charset="0"/>
                <a:cs typeface="Consolas" panose="020B0609020204030204" pitchFamily="49" charset="0"/>
              </a:rPr>
              <a:t>darkred</a:t>
            </a:r>
            <a:r>
              <a:rPr lang="en-US" sz="1100" dirty="0">
                <a:latin typeface="Consolas" panose="020B0609020204030204" pitchFamily="49" charset="0"/>
                <a:cs typeface="Consolas" panose="020B0609020204030204" pitchFamily="49" charset="0"/>
              </a:rPr>
              <a:t>'))</a:t>
            </a:r>
          </a:p>
        </p:txBody>
      </p:sp>
      <p:cxnSp>
        <p:nvCxnSpPr>
          <p:cNvPr id="9" name="Straight Connector 8">
            <a:extLst>
              <a:ext uri="{FF2B5EF4-FFF2-40B4-BE49-F238E27FC236}">
                <a16:creationId xmlns:a16="http://schemas.microsoft.com/office/drawing/2014/main" id="{EB8CE748-F433-1540-BBAB-4563F22B45DF}"/>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0EE9F09-222C-3F4C-9D9A-5E807AAB973C}"/>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74534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FB9ABB-FAF8-5745-B188-EC7FA454A787}"/>
              </a:ext>
            </a:extLst>
          </p:cNvPr>
          <p:cNvSpPr>
            <a:spLocks noGrp="1"/>
          </p:cNvSpPr>
          <p:nvPr>
            <p:ph type="dt" sz="half" idx="10"/>
          </p:nvPr>
        </p:nvSpPr>
        <p:spPr/>
        <p:txBody>
          <a:bodyPr/>
          <a:lstStyle/>
          <a:p>
            <a:fld id="{6700A58B-DD98-43D0-B791-721480A02982}" type="datetime1">
              <a:rPr lang="en-US" smtClean="0"/>
              <a:t>6/2/26</a:t>
            </a:fld>
            <a:endParaRPr lang="en-US"/>
          </a:p>
        </p:txBody>
      </p:sp>
      <p:sp>
        <p:nvSpPr>
          <p:cNvPr id="3" name="Title 2">
            <a:extLst>
              <a:ext uri="{FF2B5EF4-FFF2-40B4-BE49-F238E27FC236}">
                <a16:creationId xmlns:a16="http://schemas.microsoft.com/office/drawing/2014/main" id="{8D20FF38-7D98-4C4E-9773-7C4A93F5967C}"/>
              </a:ext>
            </a:extLst>
          </p:cNvPr>
          <p:cNvSpPr>
            <a:spLocks noGrp="1"/>
          </p:cNvSpPr>
          <p:nvPr>
            <p:ph type="title"/>
          </p:nvPr>
        </p:nvSpPr>
        <p:spPr/>
        <p:txBody>
          <a:bodyPr/>
          <a:lstStyle/>
          <a:p>
            <a:r>
              <a:rPr lang="en-US" dirty="0"/>
              <a:t>Word cloud of Term Associations</a:t>
            </a:r>
          </a:p>
        </p:txBody>
      </p:sp>
      <p:sp>
        <p:nvSpPr>
          <p:cNvPr id="4" name="Footer Placeholder 3">
            <a:extLst>
              <a:ext uri="{FF2B5EF4-FFF2-40B4-BE49-F238E27FC236}">
                <a16:creationId xmlns:a16="http://schemas.microsoft.com/office/drawing/2014/main" id="{8A566030-292A-6646-92D6-FD64E5CDD44A}"/>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E4F891D2-1A45-884C-A15C-7929158F5133}"/>
              </a:ext>
            </a:extLst>
          </p:cNvPr>
          <p:cNvSpPr>
            <a:spLocks noGrp="1"/>
          </p:cNvSpPr>
          <p:nvPr>
            <p:ph type="sldNum" sz="quarter" idx="4"/>
          </p:nvPr>
        </p:nvSpPr>
        <p:spPr/>
        <p:txBody>
          <a:bodyPr/>
          <a:lstStyle/>
          <a:p>
            <a:fld id="{37290FF7-652B-4475-AEAB-8B1A5D23AE09}" type="slidenum">
              <a:rPr lang="en-US" smtClean="0"/>
              <a:pPr/>
              <a:t>30</a:t>
            </a:fld>
            <a:endParaRPr lang="en-US" dirty="0"/>
          </a:p>
        </p:txBody>
      </p:sp>
      <p:pic>
        <p:nvPicPr>
          <p:cNvPr id="6" name="Picture 5">
            <a:extLst>
              <a:ext uri="{FF2B5EF4-FFF2-40B4-BE49-F238E27FC236}">
                <a16:creationId xmlns:a16="http://schemas.microsoft.com/office/drawing/2014/main" id="{83889A14-D7CC-974E-8666-BBDFA45E0C38}"/>
              </a:ext>
            </a:extLst>
          </p:cNvPr>
          <p:cNvPicPr>
            <a:picLocks noChangeAspect="1"/>
          </p:cNvPicPr>
          <p:nvPr/>
        </p:nvPicPr>
        <p:blipFill rotWithShape="1">
          <a:blip r:embed="rId2"/>
          <a:srcRect l="30288" t="16118" r="32541" b="17095"/>
          <a:stretch/>
        </p:blipFill>
        <p:spPr>
          <a:xfrm>
            <a:off x="537883" y="1712544"/>
            <a:ext cx="4057266" cy="4200706"/>
          </a:xfrm>
          <a:prstGeom prst="rect">
            <a:avLst/>
          </a:prstGeom>
        </p:spPr>
      </p:pic>
      <p:sp>
        <p:nvSpPr>
          <p:cNvPr id="7" name="TextBox 6">
            <a:extLst>
              <a:ext uri="{FF2B5EF4-FFF2-40B4-BE49-F238E27FC236}">
                <a16:creationId xmlns:a16="http://schemas.microsoft.com/office/drawing/2014/main" id="{F40AED2B-2416-7C43-A979-7DA99BC7486D}"/>
              </a:ext>
            </a:extLst>
          </p:cNvPr>
          <p:cNvSpPr txBox="1"/>
          <p:nvPr/>
        </p:nvSpPr>
        <p:spPr>
          <a:xfrm>
            <a:off x="512380" y="1129987"/>
            <a:ext cx="8119241" cy="584775"/>
          </a:xfrm>
          <a:prstGeom prst="rect">
            <a:avLst/>
          </a:prstGeom>
          <a:solidFill>
            <a:schemeClr val="accent6">
              <a:lumMod val="60000"/>
              <a:lumOff val="40000"/>
            </a:schemeClr>
          </a:solidFill>
        </p:spPr>
        <p:txBody>
          <a:bodyPr wrap="square" rtlCol="0">
            <a:spAutoFit/>
          </a:bodyPr>
          <a:lstStyle/>
          <a:p>
            <a:pPr algn="ctr" defTabSz="457200"/>
            <a:r>
              <a:rPr lang="en-US" sz="1600" kern="1200" dirty="0">
                <a:solidFill>
                  <a:prstClr val="white"/>
                </a:solidFill>
                <a:latin typeface="+mj-lt"/>
                <a:ea typeface="Arial Unicode MS" panose="020B0604020202020204" pitchFamily="34" charset="-128"/>
                <a:cs typeface="Arial Unicode MS" panose="020B0604020202020204" pitchFamily="34" charset="-128"/>
              </a:rPr>
              <a:t>Always hard to interpret, what terms are associated with the initial string at varying degrees of separation.  i.e. </a:t>
            </a:r>
            <a:r>
              <a:rPr lang="en-US" sz="1600" dirty="0">
                <a:solidFill>
                  <a:prstClr val="white"/>
                </a:solidFill>
                <a:latin typeface="+mj-lt"/>
                <a:ea typeface="Arial Unicode MS" panose="020B0604020202020204" pitchFamily="34" charset="-128"/>
                <a:cs typeface="Arial Unicode MS" panose="020B0604020202020204" pitchFamily="34" charset="-128"/>
              </a:rPr>
              <a:t>associations of associations</a:t>
            </a:r>
            <a:endParaRPr lang="en-US" sz="1600" kern="1200" dirty="0">
              <a:solidFill>
                <a:prstClr val="white"/>
              </a:solidFill>
              <a:latin typeface="+mj-lt"/>
              <a:ea typeface="Arial Unicode MS" panose="020B0604020202020204" pitchFamily="34" charset="-128"/>
              <a:cs typeface="Arial Unicode MS" panose="020B0604020202020204" pitchFamily="34" charset="-128"/>
            </a:endParaRPr>
          </a:p>
        </p:txBody>
      </p:sp>
      <p:cxnSp>
        <p:nvCxnSpPr>
          <p:cNvPr id="9" name="Straight Connector 8">
            <a:extLst>
              <a:ext uri="{FF2B5EF4-FFF2-40B4-BE49-F238E27FC236}">
                <a16:creationId xmlns:a16="http://schemas.microsoft.com/office/drawing/2014/main" id="{D045E60F-CBA2-734C-B843-3384BFCD5FF4}"/>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3FA914B-3D96-8A47-AD22-C19CFE690FDE}"/>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77CB8D1E-07D1-B740-AF95-B433598E2A30}"/>
              </a:ext>
            </a:extLst>
          </p:cNvPr>
          <p:cNvSpPr/>
          <p:nvPr/>
        </p:nvSpPr>
        <p:spPr>
          <a:xfrm>
            <a:off x="4537276" y="1800276"/>
            <a:ext cx="4606724" cy="1015663"/>
          </a:xfrm>
          <a:prstGeom prst="rect">
            <a:avLst/>
          </a:prstGeom>
        </p:spPr>
        <p:txBody>
          <a:bodyPr wrap="square">
            <a:spAutoFit/>
          </a:bodyPr>
          <a:lstStyle/>
          <a:p>
            <a:r>
              <a:rPr lang="en-US" sz="1200" dirty="0" err="1">
                <a:highlight>
                  <a:srgbClr val="C0C0C0"/>
                </a:highlight>
                <a:latin typeface="Consolas" panose="020B0609020204030204" pitchFamily="49" charset="0"/>
                <a:cs typeface="Consolas" panose="020B0609020204030204" pitchFamily="49" charset="0"/>
              </a:rPr>
              <a:t>word_associate</a:t>
            </a:r>
            <a:r>
              <a:rPr lang="en-US" sz="1200" dirty="0">
                <a:highlight>
                  <a:srgbClr val="C0C0C0"/>
                </a:highlight>
                <a:latin typeface="Consolas" panose="020B0609020204030204" pitchFamily="49" charset="0"/>
                <a:cs typeface="Consolas" panose="020B0609020204030204" pitchFamily="49" charset="0"/>
              </a:rPr>
              <a:t>(</a:t>
            </a:r>
            <a:r>
              <a:rPr lang="en-US" sz="1200" dirty="0" err="1">
                <a:highlight>
                  <a:srgbClr val="C0C0C0"/>
                </a:highlight>
                <a:latin typeface="Consolas" panose="020B0609020204030204" pitchFamily="49" charset="0"/>
                <a:cs typeface="Consolas" panose="020B0609020204030204" pitchFamily="49" charset="0"/>
              </a:rPr>
              <a:t>assocText</a:t>
            </a:r>
            <a:r>
              <a:rPr lang="en-US" sz="1200" dirty="0">
                <a:highlight>
                  <a:srgbClr val="C0C0C0"/>
                </a:highlight>
                <a:latin typeface="Consolas" panose="020B0609020204030204" pitchFamily="49" charset="0"/>
                <a:cs typeface="Consolas" panose="020B0609020204030204" pitchFamily="49" charset="0"/>
              </a:rPr>
              <a:t>, </a:t>
            </a:r>
          </a:p>
          <a:p>
            <a:r>
              <a:rPr lang="en-US" sz="1200" dirty="0">
                <a:highlight>
                  <a:srgbClr val="C0C0C0"/>
                </a:highlight>
                <a:latin typeface="Consolas" panose="020B0609020204030204" pitchFamily="49" charset="0"/>
                <a:cs typeface="Consolas" panose="020B0609020204030204" pitchFamily="49" charset="0"/>
              </a:rPr>
              <a:t>               </a:t>
            </a:r>
            <a:r>
              <a:rPr lang="en-US" sz="1200" dirty="0" err="1">
                <a:highlight>
                  <a:srgbClr val="C0C0C0"/>
                </a:highlight>
                <a:latin typeface="Consolas" panose="020B0609020204030204" pitchFamily="49" charset="0"/>
                <a:cs typeface="Consolas" panose="020B0609020204030204" pitchFamily="49" charset="0"/>
              </a:rPr>
              <a:t>match.string</a:t>
            </a:r>
            <a:r>
              <a:rPr lang="en-US" sz="1200" dirty="0">
                <a:highlight>
                  <a:srgbClr val="C0C0C0"/>
                </a:highlight>
                <a:latin typeface="Consolas" panose="020B0609020204030204" pitchFamily="49" charset="0"/>
                <a:cs typeface="Consolas" panose="020B0609020204030204" pitchFamily="49" charset="0"/>
              </a:rPr>
              <a:t> = '</a:t>
            </a:r>
            <a:r>
              <a:rPr lang="en-US" sz="1200" dirty="0" err="1">
                <a:highlight>
                  <a:srgbClr val="C0C0C0"/>
                </a:highlight>
                <a:latin typeface="Consolas" panose="020B0609020204030204" pitchFamily="49" charset="0"/>
                <a:cs typeface="Consolas" panose="020B0609020204030204" pitchFamily="49" charset="0"/>
              </a:rPr>
              <a:t>brewdog</a:t>
            </a:r>
            <a:r>
              <a:rPr lang="en-US" sz="1200" dirty="0">
                <a:highlight>
                  <a:srgbClr val="C0C0C0"/>
                </a:highlight>
                <a:latin typeface="Consolas" panose="020B0609020204030204" pitchFamily="49" charset="0"/>
                <a:cs typeface="Consolas" panose="020B0609020204030204" pitchFamily="49" charset="0"/>
              </a:rPr>
              <a:t>', </a:t>
            </a:r>
          </a:p>
          <a:p>
            <a:r>
              <a:rPr lang="en-US" sz="1200" dirty="0">
                <a:highlight>
                  <a:srgbClr val="C0C0C0"/>
                </a:highlight>
                <a:latin typeface="Consolas" panose="020B0609020204030204" pitchFamily="49" charset="0"/>
                <a:cs typeface="Consolas" panose="020B0609020204030204" pitchFamily="49" charset="0"/>
              </a:rPr>
              <a:t>               </a:t>
            </a:r>
            <a:r>
              <a:rPr lang="en-US" sz="1200" dirty="0" err="1">
                <a:highlight>
                  <a:srgbClr val="C0C0C0"/>
                </a:highlight>
                <a:latin typeface="Consolas" panose="020B0609020204030204" pitchFamily="49" charset="0"/>
                <a:cs typeface="Consolas" panose="020B0609020204030204" pitchFamily="49" charset="0"/>
              </a:rPr>
              <a:t>stopwords</a:t>
            </a:r>
            <a:r>
              <a:rPr lang="en-US" sz="1200" dirty="0">
                <a:highlight>
                  <a:srgbClr val="C0C0C0"/>
                </a:highlight>
                <a:latin typeface="Consolas" panose="020B0609020204030204" pitchFamily="49" charset="0"/>
                <a:cs typeface="Consolas" panose="020B0609020204030204" pitchFamily="49" charset="0"/>
              </a:rPr>
              <a:t>    = </a:t>
            </a:r>
            <a:r>
              <a:rPr lang="en-US" sz="1200" dirty="0" err="1">
                <a:highlight>
                  <a:srgbClr val="C0C0C0"/>
                </a:highlight>
                <a:latin typeface="Consolas" panose="020B0609020204030204" pitchFamily="49" charset="0"/>
                <a:cs typeface="Consolas" panose="020B0609020204030204" pitchFamily="49" charset="0"/>
              </a:rPr>
              <a:t>networkStops</a:t>
            </a:r>
            <a:r>
              <a:rPr lang="en-US" sz="1200" dirty="0">
                <a:highlight>
                  <a:srgbClr val="C0C0C0"/>
                </a:highlight>
                <a:latin typeface="Consolas" panose="020B0609020204030204" pitchFamily="49" charset="0"/>
                <a:cs typeface="Consolas" panose="020B0609020204030204" pitchFamily="49" charset="0"/>
              </a:rPr>
              <a:t>,</a:t>
            </a:r>
          </a:p>
          <a:p>
            <a:r>
              <a:rPr lang="en-US" sz="1200" dirty="0">
                <a:highlight>
                  <a:srgbClr val="C0C0C0"/>
                </a:highlight>
                <a:latin typeface="Consolas" panose="020B0609020204030204" pitchFamily="49" charset="0"/>
                <a:cs typeface="Consolas" panose="020B0609020204030204" pitchFamily="49" charset="0"/>
              </a:rPr>
              <a:t>               </a:t>
            </a:r>
            <a:r>
              <a:rPr lang="en-US" sz="1200" dirty="0" err="1">
                <a:highlight>
                  <a:srgbClr val="C0C0C0"/>
                </a:highlight>
                <a:latin typeface="Consolas" panose="020B0609020204030204" pitchFamily="49" charset="0"/>
                <a:cs typeface="Consolas" panose="020B0609020204030204" pitchFamily="49" charset="0"/>
              </a:rPr>
              <a:t>wordcloud</a:t>
            </a:r>
            <a:r>
              <a:rPr lang="en-US" sz="1200" dirty="0">
                <a:highlight>
                  <a:srgbClr val="C0C0C0"/>
                </a:highlight>
                <a:latin typeface="Consolas" panose="020B0609020204030204" pitchFamily="49" charset="0"/>
                <a:cs typeface="Consolas" panose="020B0609020204030204" pitchFamily="49" charset="0"/>
              </a:rPr>
              <a:t>    = T,</a:t>
            </a:r>
          </a:p>
          <a:p>
            <a:r>
              <a:rPr lang="en-US" sz="1200" dirty="0">
                <a:highlight>
                  <a:srgbClr val="C0C0C0"/>
                </a:highlight>
                <a:latin typeface="Consolas" panose="020B0609020204030204" pitchFamily="49" charset="0"/>
                <a:cs typeface="Consolas" panose="020B0609020204030204" pitchFamily="49" charset="0"/>
              </a:rPr>
              <a:t>               </a:t>
            </a:r>
            <a:r>
              <a:rPr lang="en-US" sz="1200" dirty="0" err="1">
                <a:highlight>
                  <a:srgbClr val="C0C0C0"/>
                </a:highlight>
                <a:latin typeface="Consolas" panose="020B0609020204030204" pitchFamily="49" charset="0"/>
                <a:cs typeface="Consolas" panose="020B0609020204030204" pitchFamily="49" charset="0"/>
              </a:rPr>
              <a:t>cloud.colors</a:t>
            </a:r>
            <a:r>
              <a:rPr lang="en-US" sz="1200" dirty="0">
                <a:highlight>
                  <a:srgbClr val="C0C0C0"/>
                </a:highlight>
                <a:latin typeface="Consolas" panose="020B0609020204030204" pitchFamily="49" charset="0"/>
                <a:cs typeface="Consolas" panose="020B0609020204030204" pitchFamily="49" charset="0"/>
              </a:rPr>
              <a:t> = c('black','</a:t>
            </a:r>
            <a:r>
              <a:rPr lang="en-US" sz="1200" dirty="0" err="1">
                <a:highlight>
                  <a:srgbClr val="C0C0C0"/>
                </a:highlight>
                <a:latin typeface="Consolas" panose="020B0609020204030204" pitchFamily="49" charset="0"/>
                <a:cs typeface="Consolas" panose="020B0609020204030204" pitchFamily="49" charset="0"/>
              </a:rPr>
              <a:t>darkred</a:t>
            </a:r>
            <a:r>
              <a:rPr lang="en-US" sz="1200" dirty="0">
                <a:highlight>
                  <a:srgbClr val="C0C0C0"/>
                </a:highlight>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36010215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7B5AC9-764D-1B07-1B28-95C77460B4C3}"/>
              </a:ext>
            </a:extLst>
          </p:cNvPr>
          <p:cNvSpPr>
            <a:spLocks noGrp="1"/>
          </p:cNvSpPr>
          <p:nvPr>
            <p:ph type="dt" sz="half" idx="10"/>
          </p:nvPr>
        </p:nvSpPr>
        <p:spPr/>
        <p:txBody>
          <a:bodyPr/>
          <a:lstStyle/>
          <a:p>
            <a:fld id="{6700A58B-DD98-43D0-B791-721480A02982}" type="datetime1">
              <a:rPr lang="en-US" smtClean="0"/>
              <a:t>6/2/26</a:t>
            </a:fld>
            <a:endParaRPr lang="en-US"/>
          </a:p>
        </p:txBody>
      </p:sp>
      <p:sp>
        <p:nvSpPr>
          <p:cNvPr id="3" name="Title 2">
            <a:extLst>
              <a:ext uri="{FF2B5EF4-FFF2-40B4-BE49-F238E27FC236}">
                <a16:creationId xmlns:a16="http://schemas.microsoft.com/office/drawing/2014/main" id="{88078787-54B5-516F-95A7-D2FB4DEF0D86}"/>
              </a:ext>
            </a:extLst>
          </p:cNvPr>
          <p:cNvSpPr>
            <a:spLocks noGrp="1"/>
          </p:cNvSpPr>
          <p:nvPr>
            <p:ph type="title"/>
          </p:nvPr>
        </p:nvSpPr>
        <p:spPr/>
        <p:txBody>
          <a:bodyPr/>
          <a:lstStyle/>
          <a:p>
            <a:r>
              <a:rPr lang="en-US" dirty="0"/>
              <a:t>Open </a:t>
            </a:r>
            <a:r>
              <a:rPr lang="en-US" dirty="0" err="1"/>
              <a:t>C_Dendrograms_WordNetworks.R</a:t>
            </a:r>
            <a:endParaRPr lang="en-US" dirty="0"/>
          </a:p>
        </p:txBody>
      </p:sp>
      <p:sp>
        <p:nvSpPr>
          <p:cNvPr id="4" name="Footer Placeholder 3">
            <a:extLst>
              <a:ext uri="{FF2B5EF4-FFF2-40B4-BE49-F238E27FC236}">
                <a16:creationId xmlns:a16="http://schemas.microsoft.com/office/drawing/2014/main" id="{BE0F4AEA-A5CE-CE91-97FA-67EB14022414}"/>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F7D9A098-386B-EDAE-12C9-C522986B9D01}"/>
              </a:ext>
            </a:extLst>
          </p:cNvPr>
          <p:cNvSpPr>
            <a:spLocks noGrp="1"/>
          </p:cNvSpPr>
          <p:nvPr>
            <p:ph type="sldNum" sz="quarter" idx="4"/>
          </p:nvPr>
        </p:nvSpPr>
        <p:spPr/>
        <p:txBody>
          <a:bodyPr/>
          <a:lstStyle/>
          <a:p>
            <a:fld id="{37290FF7-652B-4475-AEAB-8B1A5D23AE09}" type="slidenum">
              <a:rPr lang="en-US" smtClean="0"/>
              <a:pPr/>
              <a:t>31</a:t>
            </a:fld>
            <a:endParaRPr lang="en-US" dirty="0"/>
          </a:p>
        </p:txBody>
      </p:sp>
      <p:pic>
        <p:nvPicPr>
          <p:cNvPr id="6" name="Picture 5">
            <a:extLst>
              <a:ext uri="{FF2B5EF4-FFF2-40B4-BE49-F238E27FC236}">
                <a16:creationId xmlns:a16="http://schemas.microsoft.com/office/drawing/2014/main" id="{11454245-59DC-EE0B-0CBB-80AD32458583}"/>
              </a:ext>
            </a:extLst>
          </p:cNvPr>
          <p:cNvPicPr>
            <a:picLocks noChangeAspect="1"/>
          </p:cNvPicPr>
          <p:nvPr/>
        </p:nvPicPr>
        <p:blipFill>
          <a:blip r:embed="rId2"/>
          <a:stretch>
            <a:fillRect/>
          </a:stretch>
        </p:blipFill>
        <p:spPr>
          <a:xfrm>
            <a:off x="336319" y="1524302"/>
            <a:ext cx="4235681" cy="4264349"/>
          </a:xfrm>
          <a:prstGeom prst="rect">
            <a:avLst/>
          </a:prstGeom>
        </p:spPr>
      </p:pic>
      <p:sp>
        <p:nvSpPr>
          <p:cNvPr id="7" name="TextBox 6">
            <a:extLst>
              <a:ext uri="{FF2B5EF4-FFF2-40B4-BE49-F238E27FC236}">
                <a16:creationId xmlns:a16="http://schemas.microsoft.com/office/drawing/2014/main" id="{F25E2DB2-8B6C-760A-1CD8-6ACF92267C60}"/>
              </a:ext>
            </a:extLst>
          </p:cNvPr>
          <p:cNvSpPr txBox="1"/>
          <p:nvPr/>
        </p:nvSpPr>
        <p:spPr>
          <a:xfrm>
            <a:off x="3018605" y="5887835"/>
            <a:ext cx="6125395" cy="369332"/>
          </a:xfrm>
          <a:prstGeom prst="rect">
            <a:avLst/>
          </a:prstGeom>
          <a:noFill/>
        </p:spPr>
        <p:txBody>
          <a:bodyPr wrap="none" rtlCol="0">
            <a:spAutoFit/>
          </a:bodyPr>
          <a:lstStyle/>
          <a:p>
            <a:pPr algn="r"/>
            <a:r>
              <a:rPr lang="en-US" sz="900" dirty="0"/>
              <a:t>Stable Diffusion, mdjrney-v4:</a:t>
            </a:r>
          </a:p>
          <a:p>
            <a:pPr algn="r"/>
            <a:r>
              <a:rPr lang="en-US" sz="900" dirty="0"/>
              <a:t>word network, data science, natural language processing, , Detailed and Intricate, 4K,, </a:t>
            </a:r>
            <a:r>
              <a:rPr lang="en-US" sz="900" dirty="0" err="1"/>
              <a:t>Synthwave</a:t>
            </a:r>
            <a:r>
              <a:rPr lang="en-US" sz="900" dirty="0"/>
              <a:t>, Dynamic Lighting, </a:t>
            </a:r>
            <a:r>
              <a:rPr lang="en-US" sz="900" dirty="0" err="1"/>
              <a:t>Artstation</a:t>
            </a:r>
            <a:endParaRPr lang="en-US" sz="900" dirty="0"/>
          </a:p>
        </p:txBody>
      </p:sp>
      <p:sp>
        <p:nvSpPr>
          <p:cNvPr id="8" name="TextBox 7">
            <a:extLst>
              <a:ext uri="{FF2B5EF4-FFF2-40B4-BE49-F238E27FC236}">
                <a16:creationId xmlns:a16="http://schemas.microsoft.com/office/drawing/2014/main" id="{C481F85E-BB76-34A2-A5E1-F32BCB85D089}"/>
              </a:ext>
            </a:extLst>
          </p:cNvPr>
          <p:cNvSpPr txBox="1"/>
          <p:nvPr/>
        </p:nvSpPr>
        <p:spPr>
          <a:xfrm>
            <a:off x="5225143" y="2828835"/>
            <a:ext cx="3582538" cy="1200329"/>
          </a:xfrm>
          <a:prstGeom prst="rect">
            <a:avLst/>
          </a:prstGeom>
          <a:noFill/>
        </p:spPr>
        <p:txBody>
          <a:bodyPr wrap="square" rtlCol="0">
            <a:spAutoFit/>
          </a:bodyPr>
          <a:lstStyle/>
          <a:p>
            <a:r>
              <a:rPr lang="en-US" dirty="0"/>
              <a:t>Learning Objective</a:t>
            </a:r>
          </a:p>
          <a:p>
            <a:r>
              <a:rPr lang="en-US" dirty="0"/>
              <a:t>Use Dendrogram to identify phrases</a:t>
            </a:r>
          </a:p>
          <a:p>
            <a:r>
              <a:rPr lang="en-US" dirty="0"/>
              <a:t>Use Word networks to see second and third order word connections.</a:t>
            </a:r>
          </a:p>
        </p:txBody>
      </p:sp>
    </p:spTree>
    <p:extLst>
      <p:ext uri="{BB962C8B-B14F-4D97-AF65-F5344CB8AC3E}">
        <p14:creationId xmlns:p14="http://schemas.microsoft.com/office/powerpoint/2010/main" val="38853988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p:cNvSpPr>
            <a:spLocks noGrp="1"/>
          </p:cNvSpPr>
          <p:nvPr>
            <p:ph type="title"/>
          </p:nvPr>
        </p:nvSpPr>
        <p:spPr/>
        <p:txBody>
          <a:bodyPr/>
          <a:lstStyle/>
          <a:p>
            <a:r>
              <a:rPr lang="en-US"/>
              <a:t>What is a word cloud?</a:t>
            </a:r>
            <a:endParaRPr lang="en-US" dirty="0"/>
          </a:p>
        </p:txBody>
      </p:sp>
      <p:sp>
        <p:nvSpPr>
          <p:cNvPr id="5" name="Footer Placeholder 4"/>
          <p:cNvSpPr>
            <a:spLocks noGrp="1"/>
          </p:cNvSpPr>
          <p:nvPr>
            <p:ph type="ftr" sz="quarter" idx="3"/>
          </p:nvPr>
        </p:nvSpPr>
        <p:spPr/>
        <p:txBody>
          <a:bodyPr/>
          <a:lstStyle/>
          <a:p>
            <a:r>
              <a:rPr lang="en-US"/>
              <a:t>Kwartler</a:t>
            </a:r>
            <a:endParaRPr lang="en-US" dirty="0"/>
          </a:p>
        </p:txBody>
      </p:sp>
      <p:sp>
        <p:nvSpPr>
          <p:cNvPr id="4" name="Slide Number Placeholder 3"/>
          <p:cNvSpPr>
            <a:spLocks noGrp="1"/>
          </p:cNvSpPr>
          <p:nvPr>
            <p:ph type="sldNum" sz="quarter" idx="4"/>
          </p:nvPr>
        </p:nvSpPr>
        <p:spPr/>
        <p:txBody>
          <a:bodyPr/>
          <a:lstStyle/>
          <a:p>
            <a:fld id="{37290FF7-652B-4475-AEAB-8B1A5D23AE09}" type="slidenum">
              <a:rPr lang="en-US" smtClean="0"/>
              <a:pPr/>
              <a:t>32</a:t>
            </a:fld>
            <a:endParaRPr lang="en-US"/>
          </a:p>
        </p:txBody>
      </p:sp>
      <p:pic>
        <p:nvPicPr>
          <p:cNvPr id="6" name="Picture 5"/>
          <p:cNvPicPr/>
          <p:nvPr/>
        </p:nvPicPr>
        <p:blipFill rotWithShape="1">
          <a:blip r:embed="rId2" cstate="print">
            <a:extLst>
              <a:ext uri="{28A0092B-C50C-407E-A947-70E740481C1C}">
                <a14:useLocalDpi xmlns:a14="http://schemas.microsoft.com/office/drawing/2010/main" val="0"/>
              </a:ext>
            </a:extLst>
          </a:blip>
          <a:srcRect l="10516" t="8799" r="12302" b="10606"/>
          <a:stretch/>
        </p:blipFill>
        <p:spPr bwMode="auto">
          <a:xfrm>
            <a:off x="2305668" y="1543324"/>
            <a:ext cx="4532664" cy="4732951"/>
          </a:xfrm>
          <a:prstGeom prst="rect">
            <a:avLst/>
          </a:prstGeom>
          <a:noFill/>
          <a:ln>
            <a:noFill/>
          </a:ln>
          <a:extLst>
            <a:ext uri="{53640926-AAD7-44D8-BBD7-CCE9431645EC}">
              <a14:shadowObscured xmlns:a14="http://schemas.microsoft.com/office/drawing/2010/main"/>
            </a:ext>
          </a:extLst>
        </p:spPr>
      </p:pic>
      <p:sp>
        <p:nvSpPr>
          <p:cNvPr id="7" name="TextBox 6">
            <a:extLst>
              <a:ext uri="{FF2B5EF4-FFF2-40B4-BE49-F238E27FC236}">
                <a16:creationId xmlns:a16="http://schemas.microsoft.com/office/drawing/2014/main" id="{A5A3EE36-0573-4214-8E8B-E9BD628BC999}"/>
              </a:ext>
            </a:extLst>
          </p:cNvPr>
          <p:cNvSpPr txBox="1"/>
          <p:nvPr/>
        </p:nvSpPr>
        <p:spPr>
          <a:xfrm>
            <a:off x="157656" y="1156594"/>
            <a:ext cx="8828688" cy="340806"/>
          </a:xfrm>
          <a:prstGeom prst="rect">
            <a:avLst/>
          </a:prstGeom>
          <a:solidFill>
            <a:schemeClr val="accent6">
              <a:lumMod val="60000"/>
              <a:lumOff val="40000"/>
            </a:schemeClr>
          </a:solidFill>
        </p:spPr>
        <p:txBody>
          <a:bodyPr wrap="square" rtlCol="0">
            <a:spAutoFit/>
          </a:bodyPr>
          <a:lstStyle/>
          <a:p>
            <a:pPr algn="ctr" defTabSz="457200"/>
            <a:r>
              <a:rPr lang="en-US" sz="1600" dirty="0">
                <a:solidFill>
                  <a:prstClr val="white"/>
                </a:solidFill>
                <a:latin typeface="+mj-lt"/>
                <a:ea typeface="Arial Unicode MS" panose="020B0604020202020204" pitchFamily="34" charset="-128"/>
                <a:cs typeface="Arial Unicode MS" panose="020B0604020202020204" pitchFamily="34" charset="-128"/>
              </a:rPr>
              <a:t>Maligned and overused, a word cloud is a frequency visualization.</a:t>
            </a:r>
            <a:endParaRPr lang="en-US" sz="1600" kern="1200" dirty="0">
              <a:solidFill>
                <a:prstClr val="white"/>
              </a:solidFill>
              <a:latin typeface="+mj-lt"/>
              <a:ea typeface="Arial Unicode MS" panose="020B0604020202020204" pitchFamily="34" charset="-128"/>
              <a:cs typeface="Arial Unicode MS" panose="020B0604020202020204" pitchFamily="34" charset="-128"/>
            </a:endParaRPr>
          </a:p>
        </p:txBody>
      </p:sp>
      <p:cxnSp>
        <p:nvCxnSpPr>
          <p:cNvPr id="8" name="Straight Connector 7">
            <a:extLst>
              <a:ext uri="{FF2B5EF4-FFF2-40B4-BE49-F238E27FC236}">
                <a16:creationId xmlns:a16="http://schemas.microsoft.com/office/drawing/2014/main" id="{B85616C1-C45A-E245-8EE5-0AFE85E92FBC}"/>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E518DE2-FD71-7747-AEEF-905D94721542}"/>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93612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246B7D1-453D-487B-B491-889C15C460F6}"/>
              </a:ext>
            </a:extLst>
          </p:cNvPr>
          <p:cNvSpPr/>
          <p:nvPr/>
        </p:nvSpPr>
        <p:spPr>
          <a:xfrm>
            <a:off x="512916" y="2025076"/>
            <a:ext cx="8118168" cy="3176852"/>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t" anchorCtr="0"/>
          <a:lstStyle/>
          <a:p>
            <a:pPr defTabSz="457200"/>
            <a:endParaRPr lang="en-US" sz="1000" dirty="0">
              <a:solidFill>
                <a:schemeClr val="tx2"/>
              </a:solidFill>
            </a:endParaRPr>
          </a:p>
        </p:txBody>
      </p:sp>
      <p:sp>
        <p:nvSpPr>
          <p:cNvPr id="12" name="Rectangle 11">
            <a:extLst>
              <a:ext uri="{FF2B5EF4-FFF2-40B4-BE49-F238E27FC236}">
                <a16:creationId xmlns:a16="http://schemas.microsoft.com/office/drawing/2014/main" id="{2C95F845-8979-407C-9F4E-6FBCB9476B2D}"/>
              </a:ext>
            </a:extLst>
          </p:cNvPr>
          <p:cNvSpPr/>
          <p:nvPr/>
        </p:nvSpPr>
        <p:spPr>
          <a:xfrm>
            <a:off x="512916" y="1656073"/>
            <a:ext cx="8118168" cy="365760"/>
          </a:xfrm>
          <a:prstGeom prst="rect">
            <a:avLst/>
          </a:prstGeom>
          <a:solidFill>
            <a:schemeClr val="accent3"/>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bg1"/>
                </a:solidFill>
              </a:rPr>
              <a:t>“Text mining is so fun.  So do text mining!</a:t>
            </a:r>
          </a:p>
        </p:txBody>
      </p:sp>
      <p:sp>
        <p:nvSpPr>
          <p:cNvPr id="2" name="Date Placeholder 1"/>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p:cNvSpPr>
            <a:spLocks noGrp="1"/>
          </p:cNvSpPr>
          <p:nvPr>
            <p:ph type="title"/>
          </p:nvPr>
        </p:nvSpPr>
        <p:spPr/>
        <p:txBody>
          <a:bodyPr/>
          <a:lstStyle/>
          <a:p>
            <a:r>
              <a:rPr lang="en-US"/>
              <a:t>Unigram Tokenization</a:t>
            </a:r>
            <a:endParaRPr lang="en-US" dirty="0"/>
          </a:p>
        </p:txBody>
      </p:sp>
      <p:sp>
        <p:nvSpPr>
          <p:cNvPr id="5" name="Footer Placeholder 4"/>
          <p:cNvSpPr>
            <a:spLocks noGrp="1"/>
          </p:cNvSpPr>
          <p:nvPr>
            <p:ph type="ftr" sz="quarter" idx="3"/>
          </p:nvPr>
        </p:nvSpPr>
        <p:spPr/>
        <p:txBody>
          <a:bodyPr/>
          <a:lstStyle/>
          <a:p>
            <a:r>
              <a:rPr lang="en-US"/>
              <a:t>Kwartler</a:t>
            </a:r>
            <a:endParaRPr lang="en-US" dirty="0"/>
          </a:p>
        </p:txBody>
      </p:sp>
      <p:sp>
        <p:nvSpPr>
          <p:cNvPr id="4" name="Slide Number Placeholder 3"/>
          <p:cNvSpPr>
            <a:spLocks noGrp="1"/>
          </p:cNvSpPr>
          <p:nvPr>
            <p:ph type="sldNum" sz="quarter" idx="4"/>
          </p:nvPr>
        </p:nvSpPr>
        <p:spPr/>
        <p:txBody>
          <a:bodyPr/>
          <a:lstStyle/>
          <a:p>
            <a:fld id="{37290FF7-652B-4475-AEAB-8B1A5D23AE09}" type="slidenum">
              <a:rPr lang="en-US" smtClean="0"/>
              <a:pPr/>
              <a:t>33</a:t>
            </a:fld>
            <a:endParaRPr lang="en-US"/>
          </a:p>
        </p:txBody>
      </p:sp>
      <p:sp>
        <p:nvSpPr>
          <p:cNvPr id="7" name="TextBox 6">
            <a:extLst>
              <a:ext uri="{FF2B5EF4-FFF2-40B4-BE49-F238E27FC236}">
                <a16:creationId xmlns:a16="http://schemas.microsoft.com/office/drawing/2014/main" id="{B99349F3-A8F2-4D17-B849-7F8115A13DC7}"/>
              </a:ext>
            </a:extLst>
          </p:cNvPr>
          <p:cNvSpPr txBox="1"/>
          <p:nvPr/>
        </p:nvSpPr>
        <p:spPr>
          <a:xfrm>
            <a:off x="440250" y="5196043"/>
            <a:ext cx="1890261" cy="276999"/>
          </a:xfrm>
          <a:prstGeom prst="rect">
            <a:avLst/>
          </a:prstGeom>
          <a:noFill/>
        </p:spPr>
        <p:txBody>
          <a:bodyPr wrap="none" rtlCol="0">
            <a:spAutoFit/>
          </a:bodyPr>
          <a:lstStyle/>
          <a:p>
            <a:pPr defTabSz="457200"/>
            <a:r>
              <a:rPr lang="en-US" sz="1200" i="1"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*with common </a:t>
            </a:r>
            <a:r>
              <a:rPr lang="en-US" sz="1200" i="1" kern="1200" dirty="0" err="1">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stopwords</a:t>
            </a:r>
            <a:endParaRPr lang="en-US" sz="1200" i="1"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endParaRPr>
          </a:p>
        </p:txBody>
      </p:sp>
      <p:pic>
        <p:nvPicPr>
          <p:cNvPr id="10" name="Picture 9">
            <a:extLst>
              <a:ext uri="{FF2B5EF4-FFF2-40B4-BE49-F238E27FC236}">
                <a16:creationId xmlns:a16="http://schemas.microsoft.com/office/drawing/2014/main" id="{352C3F10-AE75-4FEA-BD93-24F01EF1F0F8}"/>
              </a:ext>
            </a:extLst>
          </p:cNvPr>
          <p:cNvPicPr>
            <a:picLocks noChangeAspect="1"/>
          </p:cNvPicPr>
          <p:nvPr/>
        </p:nvPicPr>
        <p:blipFill>
          <a:blip r:embed="rId2"/>
          <a:stretch>
            <a:fillRect/>
          </a:stretch>
        </p:blipFill>
        <p:spPr>
          <a:xfrm>
            <a:off x="628650" y="2784643"/>
            <a:ext cx="2644556" cy="1830846"/>
          </a:xfrm>
          <a:prstGeom prst="rect">
            <a:avLst/>
          </a:prstGeom>
          <a:solidFill>
            <a:schemeClr val="accent6"/>
          </a:solidFill>
          <a:ln>
            <a:solidFill>
              <a:schemeClr val="accent6"/>
            </a:solidFill>
          </a:ln>
        </p:spPr>
      </p:pic>
      <p:sp>
        <p:nvSpPr>
          <p:cNvPr id="13" name="TextBox 12">
            <a:extLst>
              <a:ext uri="{FF2B5EF4-FFF2-40B4-BE49-F238E27FC236}">
                <a16:creationId xmlns:a16="http://schemas.microsoft.com/office/drawing/2014/main" id="{A5A3EE36-0573-4214-8E8B-E9BD628BC999}"/>
              </a:ext>
            </a:extLst>
          </p:cNvPr>
          <p:cNvSpPr txBox="1"/>
          <p:nvPr/>
        </p:nvSpPr>
        <p:spPr>
          <a:xfrm>
            <a:off x="512380" y="1198603"/>
            <a:ext cx="8119241" cy="338554"/>
          </a:xfrm>
          <a:prstGeom prst="rect">
            <a:avLst/>
          </a:prstGeom>
          <a:solidFill>
            <a:schemeClr val="accent6">
              <a:lumMod val="60000"/>
              <a:lumOff val="40000"/>
            </a:schemeClr>
          </a:solidFill>
        </p:spPr>
        <p:txBody>
          <a:bodyPr wrap="square" rtlCol="0">
            <a:spAutoFit/>
          </a:bodyPr>
          <a:lstStyle/>
          <a:p>
            <a:pPr algn="ctr" defTabSz="457200"/>
            <a:r>
              <a:rPr lang="en-US" sz="1600" dirty="0">
                <a:solidFill>
                  <a:prstClr val="white"/>
                </a:solidFill>
                <a:latin typeface="+mj-lt"/>
                <a:ea typeface="Arial Unicode MS" panose="020B0604020202020204" pitchFamily="34" charset="-128"/>
                <a:cs typeface="Arial Unicode MS" panose="020B0604020202020204" pitchFamily="34" charset="-128"/>
              </a:rPr>
              <a:t>Thus far, we have performed unigram tokenization of terms.</a:t>
            </a:r>
            <a:endParaRPr lang="en-US" sz="1600" kern="1200" dirty="0">
              <a:solidFill>
                <a:prstClr val="white"/>
              </a:solidFill>
              <a:latin typeface="+mj-lt"/>
              <a:ea typeface="Arial Unicode MS" panose="020B0604020202020204" pitchFamily="34" charset="-128"/>
              <a:cs typeface="Arial Unicode MS" panose="020B0604020202020204" pitchFamily="34" charset="-128"/>
            </a:endParaRPr>
          </a:p>
        </p:txBody>
      </p:sp>
      <p:cxnSp>
        <p:nvCxnSpPr>
          <p:cNvPr id="14" name="Straight Connector 13">
            <a:extLst>
              <a:ext uri="{FF2B5EF4-FFF2-40B4-BE49-F238E27FC236}">
                <a16:creationId xmlns:a16="http://schemas.microsoft.com/office/drawing/2014/main" id="{D5EE2E8A-5825-E94E-BAF3-6B45FE58D5A2}"/>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9E0A8EA-FC60-D047-B731-CA4FB9098607}"/>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EF857E12-DF33-380C-5E09-FE4833E4C81B}"/>
              </a:ext>
            </a:extLst>
          </p:cNvPr>
          <p:cNvPicPr>
            <a:picLocks noChangeAspect="1"/>
          </p:cNvPicPr>
          <p:nvPr/>
        </p:nvPicPr>
        <p:blipFill>
          <a:blip r:embed="rId3"/>
          <a:srcRect l="617" t="89059" r="84578" b="3184"/>
          <a:stretch>
            <a:fillRect/>
          </a:stretch>
        </p:blipFill>
        <p:spPr>
          <a:xfrm>
            <a:off x="3966210" y="3022748"/>
            <a:ext cx="4136783" cy="1354636"/>
          </a:xfrm>
          <a:prstGeom prst="rect">
            <a:avLst/>
          </a:prstGeom>
          <a:solidFill>
            <a:schemeClr val="accent6"/>
          </a:solidFill>
          <a:ln>
            <a:solidFill>
              <a:schemeClr val="accent6"/>
            </a:solidFill>
          </a:ln>
        </p:spPr>
      </p:pic>
      <p:sp>
        <p:nvSpPr>
          <p:cNvPr id="8" name="TextBox 7">
            <a:extLst>
              <a:ext uri="{FF2B5EF4-FFF2-40B4-BE49-F238E27FC236}">
                <a16:creationId xmlns:a16="http://schemas.microsoft.com/office/drawing/2014/main" id="{3F35B699-2DEC-C368-F78B-CEC64CE28652}"/>
              </a:ext>
            </a:extLst>
          </p:cNvPr>
          <p:cNvSpPr txBox="1"/>
          <p:nvPr/>
        </p:nvSpPr>
        <p:spPr>
          <a:xfrm>
            <a:off x="512380" y="2414378"/>
            <a:ext cx="2388870" cy="369332"/>
          </a:xfrm>
          <a:prstGeom prst="rect">
            <a:avLst/>
          </a:prstGeom>
          <a:noFill/>
        </p:spPr>
        <p:txBody>
          <a:bodyPr wrap="square" rtlCol="0">
            <a:spAutoFit/>
          </a:bodyPr>
          <a:lstStyle/>
          <a:p>
            <a:r>
              <a:rPr lang="en-US" i="1" dirty="0" err="1"/>
              <a:t>TermDocumentMatrix</a:t>
            </a:r>
            <a:endParaRPr lang="en-US" i="1" dirty="0"/>
          </a:p>
        </p:txBody>
      </p:sp>
      <p:sp>
        <p:nvSpPr>
          <p:cNvPr id="9" name="TextBox 8">
            <a:extLst>
              <a:ext uri="{FF2B5EF4-FFF2-40B4-BE49-F238E27FC236}">
                <a16:creationId xmlns:a16="http://schemas.microsoft.com/office/drawing/2014/main" id="{D5A9FEF1-CF7D-21B6-1102-C481AF9F2819}"/>
              </a:ext>
            </a:extLst>
          </p:cNvPr>
          <p:cNvSpPr txBox="1"/>
          <p:nvPr/>
        </p:nvSpPr>
        <p:spPr>
          <a:xfrm>
            <a:off x="3853882" y="2650173"/>
            <a:ext cx="2388870" cy="369332"/>
          </a:xfrm>
          <a:prstGeom prst="rect">
            <a:avLst/>
          </a:prstGeom>
          <a:noFill/>
        </p:spPr>
        <p:txBody>
          <a:bodyPr wrap="square" rtlCol="0">
            <a:spAutoFit/>
          </a:bodyPr>
          <a:lstStyle/>
          <a:p>
            <a:r>
              <a:rPr lang="en-US" i="1" dirty="0" err="1"/>
              <a:t>DocumentTermMatrix</a:t>
            </a:r>
            <a:endParaRPr lang="en-US" i="1" dirty="0"/>
          </a:p>
        </p:txBody>
      </p:sp>
    </p:spTree>
    <p:extLst>
      <p:ext uri="{BB962C8B-B14F-4D97-AF65-F5344CB8AC3E}">
        <p14:creationId xmlns:p14="http://schemas.microsoft.com/office/powerpoint/2010/main" val="25450447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246B7D1-453D-487B-B491-889C15C460F6}"/>
              </a:ext>
            </a:extLst>
          </p:cNvPr>
          <p:cNvSpPr/>
          <p:nvPr/>
        </p:nvSpPr>
        <p:spPr>
          <a:xfrm>
            <a:off x="141891" y="2025076"/>
            <a:ext cx="8860219" cy="3582348"/>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t" anchorCtr="0"/>
          <a:lstStyle/>
          <a:p>
            <a:pPr defTabSz="457200"/>
            <a:endParaRPr lang="en-US" sz="1000" dirty="0">
              <a:solidFill>
                <a:schemeClr val="tx2"/>
              </a:solidFill>
            </a:endParaRPr>
          </a:p>
        </p:txBody>
      </p:sp>
      <p:sp>
        <p:nvSpPr>
          <p:cNvPr id="12" name="Rectangle 11">
            <a:extLst>
              <a:ext uri="{FF2B5EF4-FFF2-40B4-BE49-F238E27FC236}">
                <a16:creationId xmlns:a16="http://schemas.microsoft.com/office/drawing/2014/main" id="{2C95F845-8979-407C-9F4E-6FBCB9476B2D}"/>
              </a:ext>
            </a:extLst>
          </p:cNvPr>
          <p:cNvSpPr/>
          <p:nvPr/>
        </p:nvSpPr>
        <p:spPr>
          <a:xfrm>
            <a:off x="141890" y="1671145"/>
            <a:ext cx="8860220" cy="331076"/>
          </a:xfrm>
          <a:prstGeom prst="rect">
            <a:avLst/>
          </a:prstGeom>
          <a:solidFill>
            <a:schemeClr val="accent3"/>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bg1"/>
                </a:solidFill>
              </a:rPr>
              <a:t>Within R</a:t>
            </a:r>
          </a:p>
        </p:txBody>
      </p:sp>
      <p:sp>
        <p:nvSpPr>
          <p:cNvPr id="2" name="Date Placeholder 1"/>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p:cNvSpPr>
            <a:spLocks noGrp="1"/>
          </p:cNvSpPr>
          <p:nvPr>
            <p:ph type="title"/>
          </p:nvPr>
        </p:nvSpPr>
        <p:spPr/>
        <p:txBody>
          <a:bodyPr/>
          <a:lstStyle/>
          <a:p>
            <a:r>
              <a:rPr lang="en-US"/>
              <a:t>Changing Tokenization Schema</a:t>
            </a:r>
            <a:endParaRPr lang="en-US" dirty="0"/>
          </a:p>
        </p:txBody>
      </p:sp>
      <p:sp>
        <p:nvSpPr>
          <p:cNvPr id="5" name="Footer Placeholder 4"/>
          <p:cNvSpPr>
            <a:spLocks noGrp="1"/>
          </p:cNvSpPr>
          <p:nvPr>
            <p:ph type="ftr" sz="quarter" idx="3"/>
          </p:nvPr>
        </p:nvSpPr>
        <p:spPr/>
        <p:txBody>
          <a:bodyPr/>
          <a:lstStyle/>
          <a:p>
            <a:r>
              <a:rPr lang="en-US"/>
              <a:t>Kwartler</a:t>
            </a:r>
            <a:endParaRPr lang="en-US" dirty="0"/>
          </a:p>
        </p:txBody>
      </p:sp>
      <p:sp>
        <p:nvSpPr>
          <p:cNvPr id="4" name="Slide Number Placeholder 3"/>
          <p:cNvSpPr>
            <a:spLocks noGrp="1"/>
          </p:cNvSpPr>
          <p:nvPr>
            <p:ph type="sldNum" sz="quarter" idx="4"/>
          </p:nvPr>
        </p:nvSpPr>
        <p:spPr/>
        <p:txBody>
          <a:bodyPr/>
          <a:lstStyle/>
          <a:p>
            <a:fld id="{37290FF7-652B-4475-AEAB-8B1A5D23AE09}" type="slidenum">
              <a:rPr lang="en-US" smtClean="0"/>
              <a:pPr/>
              <a:t>34</a:t>
            </a:fld>
            <a:endParaRPr lang="en-US"/>
          </a:p>
        </p:txBody>
      </p:sp>
      <p:sp>
        <p:nvSpPr>
          <p:cNvPr id="13" name="TextBox 12">
            <a:extLst>
              <a:ext uri="{FF2B5EF4-FFF2-40B4-BE49-F238E27FC236}">
                <a16:creationId xmlns:a16="http://schemas.microsoft.com/office/drawing/2014/main" id="{A5A3EE36-0573-4214-8E8B-E9BD628BC999}"/>
              </a:ext>
            </a:extLst>
          </p:cNvPr>
          <p:cNvSpPr txBox="1"/>
          <p:nvPr/>
        </p:nvSpPr>
        <p:spPr>
          <a:xfrm>
            <a:off x="157656" y="1130091"/>
            <a:ext cx="8828688" cy="340806"/>
          </a:xfrm>
          <a:prstGeom prst="rect">
            <a:avLst/>
          </a:prstGeom>
          <a:solidFill>
            <a:schemeClr val="accent6">
              <a:lumMod val="60000"/>
              <a:lumOff val="40000"/>
            </a:schemeClr>
          </a:solidFill>
        </p:spPr>
        <p:txBody>
          <a:bodyPr wrap="square" rtlCol="0">
            <a:spAutoFit/>
          </a:bodyPr>
          <a:lstStyle/>
          <a:p>
            <a:pPr algn="ctr" defTabSz="457200"/>
            <a:r>
              <a:rPr lang="en-US" sz="1600" dirty="0">
                <a:solidFill>
                  <a:prstClr val="white"/>
                </a:solidFill>
                <a:latin typeface="+mj-lt"/>
                <a:ea typeface="Arial Unicode MS" panose="020B0604020202020204" pitchFamily="34" charset="-128"/>
                <a:cs typeface="Arial Unicode MS" panose="020B0604020202020204" pitchFamily="34" charset="-128"/>
              </a:rPr>
              <a:t>First create a function defining tokenization then add as a control parameter to TDM or DTM.</a:t>
            </a:r>
            <a:endParaRPr lang="en-US" sz="1600" kern="1200" dirty="0">
              <a:solidFill>
                <a:prstClr val="white"/>
              </a:solidFill>
              <a:latin typeface="+mj-lt"/>
              <a:ea typeface="Arial Unicode MS" panose="020B0604020202020204" pitchFamily="34" charset="-128"/>
              <a:cs typeface="Arial Unicode MS" panose="020B0604020202020204" pitchFamily="34" charset="-128"/>
            </a:endParaRPr>
          </a:p>
        </p:txBody>
      </p:sp>
      <p:sp>
        <p:nvSpPr>
          <p:cNvPr id="14" name="Rectangle 13">
            <a:extLst>
              <a:ext uri="{FF2B5EF4-FFF2-40B4-BE49-F238E27FC236}">
                <a16:creationId xmlns:a16="http://schemas.microsoft.com/office/drawing/2014/main" id="{6C96FE2F-7E19-48CB-9942-7E78DB569A67}"/>
              </a:ext>
            </a:extLst>
          </p:cNvPr>
          <p:cNvSpPr/>
          <p:nvPr/>
        </p:nvSpPr>
        <p:spPr>
          <a:xfrm>
            <a:off x="197069" y="2097871"/>
            <a:ext cx="8749862" cy="738664"/>
          </a:xfrm>
          <a:prstGeom prst="rect">
            <a:avLst/>
          </a:prstGeom>
          <a:solidFill>
            <a:schemeClr val="bg1">
              <a:lumMod val="85000"/>
            </a:schemeClr>
          </a:solidFill>
        </p:spPr>
        <p:txBody>
          <a:bodyPr wrap="square">
            <a:spAutoFit/>
          </a:bodyPr>
          <a:lstStyle/>
          <a:p>
            <a:pPr defTabSz="457200"/>
            <a:r>
              <a:rPr lang="en-US" sz="14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#bigram token maker</a:t>
            </a:r>
          </a:p>
          <a:p>
            <a:pPr defTabSz="457200"/>
            <a:r>
              <a:rPr lang="en-US" sz="14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bigramTokens</a:t>
            </a:r>
            <a:r>
              <a:rPr lang="en-US" sz="14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&lt;-function(x)</a:t>
            </a:r>
          </a:p>
          <a:p>
            <a:pPr defTabSz="457200"/>
            <a:r>
              <a:rPr lang="en-US" sz="14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4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unlist</a:t>
            </a:r>
            <a:r>
              <a:rPr lang="en-US" sz="14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4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lapply</a:t>
            </a:r>
            <a:r>
              <a:rPr lang="en-US" sz="14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(NLP::</a:t>
            </a:r>
            <a:r>
              <a:rPr lang="en-US" sz="14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ngrams</a:t>
            </a:r>
            <a:r>
              <a:rPr lang="en-US" sz="14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(words(x), 2), paste, collapse = " "), </a:t>
            </a:r>
            <a:r>
              <a:rPr lang="en-US" sz="14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use.names</a:t>
            </a:r>
            <a:r>
              <a:rPr lang="en-US" sz="14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 FALSE)</a:t>
            </a:r>
          </a:p>
        </p:txBody>
      </p:sp>
      <p:sp>
        <p:nvSpPr>
          <p:cNvPr id="15" name="Rectangle 14">
            <a:extLst>
              <a:ext uri="{FF2B5EF4-FFF2-40B4-BE49-F238E27FC236}">
                <a16:creationId xmlns:a16="http://schemas.microsoft.com/office/drawing/2014/main" id="{2527D424-4DA2-4B6A-970C-CF74FF337084}"/>
              </a:ext>
            </a:extLst>
          </p:cNvPr>
          <p:cNvSpPr/>
          <p:nvPr/>
        </p:nvSpPr>
        <p:spPr>
          <a:xfrm>
            <a:off x="197069" y="2946446"/>
            <a:ext cx="7017252" cy="307777"/>
          </a:xfrm>
          <a:prstGeom prst="rect">
            <a:avLst/>
          </a:prstGeom>
          <a:solidFill>
            <a:schemeClr val="bg1">
              <a:lumMod val="85000"/>
            </a:schemeClr>
          </a:solidFill>
        </p:spPr>
        <p:txBody>
          <a:bodyPr wrap="square">
            <a:spAutoFit/>
          </a:bodyPr>
          <a:lstStyle/>
          <a:p>
            <a:pPr defTabSz="457200"/>
            <a:r>
              <a:rPr lang="en-US" sz="12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wineTDM</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&lt;-</a:t>
            </a:r>
            <a:r>
              <a:rPr lang="en-US" sz="14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TermDocumentMatrix</a:t>
            </a:r>
            <a:r>
              <a:rPr lang="en-US" sz="14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4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txtCorpus</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control=list(tokenize=</a:t>
            </a:r>
            <a:r>
              <a:rPr lang="en-US" sz="12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bigramTokens</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p:txBody>
      </p:sp>
      <p:pic>
        <p:nvPicPr>
          <p:cNvPr id="16" name="Picture 2" descr="Image result for NLP  meme">
            <a:extLst>
              <a:ext uri="{FF2B5EF4-FFF2-40B4-BE49-F238E27FC236}">
                <a16:creationId xmlns:a16="http://schemas.microsoft.com/office/drawing/2014/main" id="{8F8F3932-9559-4796-94CE-420F11DB60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2854" y="4003150"/>
            <a:ext cx="2238292" cy="2227293"/>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Straight Connector 16">
            <a:extLst>
              <a:ext uri="{FF2B5EF4-FFF2-40B4-BE49-F238E27FC236}">
                <a16:creationId xmlns:a16="http://schemas.microsoft.com/office/drawing/2014/main" id="{90F168D2-8199-6044-8A07-31ED6B366506}"/>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C654BCF-9273-FE4D-AC9D-804EC4BE03D9}"/>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54433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246B7D1-453D-487B-B491-889C15C460F6}"/>
              </a:ext>
            </a:extLst>
          </p:cNvPr>
          <p:cNvSpPr/>
          <p:nvPr/>
        </p:nvSpPr>
        <p:spPr>
          <a:xfrm>
            <a:off x="141891" y="2025076"/>
            <a:ext cx="8860219" cy="3176852"/>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t" anchorCtr="0"/>
          <a:lstStyle/>
          <a:p>
            <a:pPr defTabSz="457200"/>
            <a:endParaRPr lang="en-US" sz="1000" dirty="0">
              <a:solidFill>
                <a:schemeClr val="tx2"/>
              </a:solidFill>
            </a:endParaRPr>
          </a:p>
        </p:txBody>
      </p:sp>
      <p:pic>
        <p:nvPicPr>
          <p:cNvPr id="22" name="Picture 21">
            <a:extLst>
              <a:ext uri="{FF2B5EF4-FFF2-40B4-BE49-F238E27FC236}">
                <a16:creationId xmlns:a16="http://schemas.microsoft.com/office/drawing/2014/main" id="{EEF187DC-FA36-64FE-67F2-DD8C88E0AD61}"/>
              </a:ext>
            </a:extLst>
          </p:cNvPr>
          <p:cNvPicPr>
            <a:picLocks noChangeAspect="1"/>
          </p:cNvPicPr>
          <p:nvPr/>
        </p:nvPicPr>
        <p:blipFill>
          <a:blip r:embed="rId2"/>
          <a:stretch>
            <a:fillRect/>
          </a:stretch>
        </p:blipFill>
        <p:spPr>
          <a:xfrm>
            <a:off x="684334" y="3842293"/>
            <a:ext cx="7772400" cy="554438"/>
          </a:xfrm>
          <a:prstGeom prst="rect">
            <a:avLst/>
          </a:prstGeom>
        </p:spPr>
      </p:pic>
      <p:sp>
        <p:nvSpPr>
          <p:cNvPr id="12" name="Rectangle 11">
            <a:extLst>
              <a:ext uri="{FF2B5EF4-FFF2-40B4-BE49-F238E27FC236}">
                <a16:creationId xmlns:a16="http://schemas.microsoft.com/office/drawing/2014/main" id="{2C95F845-8979-407C-9F4E-6FBCB9476B2D}"/>
              </a:ext>
            </a:extLst>
          </p:cNvPr>
          <p:cNvSpPr/>
          <p:nvPr/>
        </p:nvSpPr>
        <p:spPr>
          <a:xfrm>
            <a:off x="141890" y="1671145"/>
            <a:ext cx="8860220" cy="331076"/>
          </a:xfrm>
          <a:prstGeom prst="rect">
            <a:avLst/>
          </a:prstGeom>
          <a:solidFill>
            <a:schemeClr val="accent3"/>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bg1"/>
                </a:solidFill>
              </a:rPr>
              <a:t>“Text mining is so fun.  So do text mining</a:t>
            </a:r>
          </a:p>
        </p:txBody>
      </p:sp>
      <p:sp>
        <p:nvSpPr>
          <p:cNvPr id="2" name="Date Placeholder 1"/>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p:cNvSpPr>
            <a:spLocks noGrp="1"/>
          </p:cNvSpPr>
          <p:nvPr>
            <p:ph type="title"/>
          </p:nvPr>
        </p:nvSpPr>
        <p:spPr>
          <a:xfrm>
            <a:off x="0" y="397567"/>
            <a:ext cx="9144000" cy="400012"/>
          </a:xfrm>
        </p:spPr>
        <p:txBody>
          <a:bodyPr/>
          <a:lstStyle/>
          <a:p>
            <a:pPr algn="ctr" defTabSz="457200"/>
            <a:r>
              <a:rPr lang="en-US" sz="2000" dirty="0">
                <a:ea typeface="Arial Unicode MS" panose="020B0604020202020204" pitchFamily="34" charset="-128"/>
                <a:cs typeface="Arial Unicode MS" panose="020B0604020202020204" pitchFamily="34" charset="-128"/>
              </a:rPr>
              <a:t>Tokenization is the process of chopping up a string into predefined units called tokens.</a:t>
            </a:r>
          </a:p>
        </p:txBody>
      </p:sp>
      <p:sp>
        <p:nvSpPr>
          <p:cNvPr id="5" name="Footer Placeholder 4"/>
          <p:cNvSpPr>
            <a:spLocks noGrp="1"/>
          </p:cNvSpPr>
          <p:nvPr>
            <p:ph type="ftr" sz="quarter" idx="3"/>
          </p:nvPr>
        </p:nvSpPr>
        <p:spPr/>
        <p:txBody>
          <a:bodyPr/>
          <a:lstStyle/>
          <a:p>
            <a:r>
              <a:rPr lang="en-US"/>
              <a:t>Kwartler</a:t>
            </a:r>
            <a:endParaRPr lang="en-US" dirty="0"/>
          </a:p>
        </p:txBody>
      </p:sp>
      <p:sp>
        <p:nvSpPr>
          <p:cNvPr id="4" name="Slide Number Placeholder 3"/>
          <p:cNvSpPr>
            <a:spLocks noGrp="1"/>
          </p:cNvSpPr>
          <p:nvPr>
            <p:ph type="sldNum" sz="quarter" idx="4"/>
          </p:nvPr>
        </p:nvSpPr>
        <p:spPr>
          <a:xfrm>
            <a:off x="7245743" y="6356351"/>
            <a:ext cx="857250" cy="365125"/>
          </a:xfrm>
          <a:prstGeom prst="rect">
            <a:avLst/>
          </a:prstGeom>
        </p:spPr>
        <p:txBody>
          <a:bodyPr/>
          <a:lstStyle>
            <a:defPPr>
              <a:defRPr lang="en-US"/>
            </a:defPPr>
            <a:lvl1pPr marL="0" algn="l" defTabSz="914400" rtl="0" eaLnBrk="1" latinLnBrk="0" hangingPunct="1">
              <a:lnSpc>
                <a:spcPct val="200000"/>
              </a:lnSpc>
              <a:defRPr lang="en-US" sz="900" kern="1200" smtClean="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7290FF7-652B-4475-AEAB-8B1A5D23AE09}" type="slidenum">
              <a:rPr lang="en-US" smtClean="0"/>
              <a:pPr/>
              <a:t>35</a:t>
            </a:fld>
            <a:endParaRPr lang="en-US"/>
          </a:p>
        </p:txBody>
      </p:sp>
      <p:sp>
        <p:nvSpPr>
          <p:cNvPr id="13" name="TextBox 12">
            <a:extLst>
              <a:ext uri="{FF2B5EF4-FFF2-40B4-BE49-F238E27FC236}">
                <a16:creationId xmlns:a16="http://schemas.microsoft.com/office/drawing/2014/main" id="{A5A3EE36-0573-4214-8E8B-E9BD628BC999}"/>
              </a:ext>
            </a:extLst>
          </p:cNvPr>
          <p:cNvSpPr txBox="1"/>
          <p:nvPr/>
        </p:nvSpPr>
        <p:spPr>
          <a:xfrm>
            <a:off x="157656" y="1157509"/>
            <a:ext cx="8828688" cy="340806"/>
          </a:xfrm>
          <a:prstGeom prst="rect">
            <a:avLst/>
          </a:prstGeom>
          <a:solidFill>
            <a:schemeClr val="accent6">
              <a:lumMod val="60000"/>
              <a:lumOff val="40000"/>
            </a:schemeClr>
          </a:solidFill>
        </p:spPr>
        <p:txBody>
          <a:bodyPr wrap="square" rtlCol="0">
            <a:spAutoFit/>
          </a:bodyPr>
          <a:lstStyle/>
          <a:p>
            <a:pPr algn="ctr" defTabSz="457200"/>
            <a:r>
              <a:rPr lang="en-US" sz="1600" dirty="0">
                <a:solidFill>
                  <a:prstClr val="white"/>
                </a:solidFill>
                <a:latin typeface="+mj-lt"/>
                <a:ea typeface="Arial Unicode MS" panose="020B0604020202020204" pitchFamily="34" charset="-128"/>
                <a:cs typeface="Arial Unicode MS" panose="020B0604020202020204" pitchFamily="34" charset="-128"/>
              </a:rPr>
              <a:t>Now the TDM has two terms instead of one.</a:t>
            </a:r>
            <a:endParaRPr lang="en-US" sz="1600" kern="1200" dirty="0">
              <a:solidFill>
                <a:prstClr val="white"/>
              </a:solidFill>
              <a:latin typeface="+mj-lt"/>
              <a:ea typeface="Arial Unicode MS" panose="020B0604020202020204" pitchFamily="34" charset="-128"/>
              <a:cs typeface="Arial Unicode MS" panose="020B0604020202020204" pitchFamily="34" charset="-128"/>
            </a:endParaRPr>
          </a:p>
        </p:txBody>
      </p:sp>
      <p:sp>
        <p:nvSpPr>
          <p:cNvPr id="16" name="Rectangle 15">
            <a:extLst>
              <a:ext uri="{FF2B5EF4-FFF2-40B4-BE49-F238E27FC236}">
                <a16:creationId xmlns:a16="http://schemas.microsoft.com/office/drawing/2014/main" id="{6C96FE2F-7E19-48CB-9942-7E78DB569A67}"/>
              </a:ext>
            </a:extLst>
          </p:cNvPr>
          <p:cNvSpPr/>
          <p:nvPr/>
        </p:nvSpPr>
        <p:spPr>
          <a:xfrm>
            <a:off x="254029" y="2129410"/>
            <a:ext cx="8633011" cy="646331"/>
          </a:xfrm>
          <a:prstGeom prst="rect">
            <a:avLst/>
          </a:prstGeom>
          <a:solidFill>
            <a:schemeClr val="bg1">
              <a:lumMod val="85000"/>
            </a:schemeClr>
          </a:solidFill>
        </p:spPr>
        <p:txBody>
          <a:bodyPr wrap="square">
            <a:spAutoFit/>
          </a:bodyPr>
          <a:lstStyle/>
          <a:p>
            <a:pPr defTabSz="457200"/>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#bigram token maker</a:t>
            </a:r>
          </a:p>
          <a:p>
            <a:pPr defTabSz="457200"/>
            <a:r>
              <a:rPr lang="en-US" sz="12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bigramTokens</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&lt;-function(x)</a:t>
            </a:r>
          </a:p>
          <a:p>
            <a:pPr defTabSz="457200"/>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2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unlist</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2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lapply</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(NLP::</a:t>
            </a:r>
            <a:r>
              <a:rPr lang="en-US" sz="12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ngrams</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(words(x), 2), paste, collapse = " "), </a:t>
            </a:r>
            <a:r>
              <a:rPr lang="en-US" sz="12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use.names</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 FALSE)</a:t>
            </a:r>
          </a:p>
        </p:txBody>
      </p:sp>
      <p:sp>
        <p:nvSpPr>
          <p:cNvPr id="17" name="Rectangle 16">
            <a:extLst>
              <a:ext uri="{FF2B5EF4-FFF2-40B4-BE49-F238E27FC236}">
                <a16:creationId xmlns:a16="http://schemas.microsoft.com/office/drawing/2014/main" id="{2527D424-4DA2-4B6A-970C-CF74FF337084}"/>
              </a:ext>
            </a:extLst>
          </p:cNvPr>
          <p:cNvSpPr/>
          <p:nvPr/>
        </p:nvSpPr>
        <p:spPr>
          <a:xfrm>
            <a:off x="254028" y="2977985"/>
            <a:ext cx="7796033" cy="276999"/>
          </a:xfrm>
          <a:prstGeom prst="rect">
            <a:avLst/>
          </a:prstGeom>
          <a:solidFill>
            <a:schemeClr val="bg1">
              <a:lumMod val="85000"/>
            </a:schemeClr>
          </a:solidFill>
        </p:spPr>
        <p:txBody>
          <a:bodyPr wrap="square">
            <a:spAutoFit/>
          </a:bodyPr>
          <a:lstStyle/>
          <a:p>
            <a:pPr defTabSz="457200"/>
            <a:r>
              <a:rPr lang="en-US" sz="12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wineTDM</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&lt;-</a:t>
            </a:r>
            <a:r>
              <a:rPr lang="en-US" sz="12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DocumentTermMatrix</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2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txtCorpus</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control=list(tokenize=</a:t>
            </a:r>
            <a:r>
              <a:rPr lang="en-US" sz="12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bigramTokens</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p:txBody>
      </p:sp>
      <p:cxnSp>
        <p:nvCxnSpPr>
          <p:cNvPr id="14" name="Straight Connector 13">
            <a:extLst>
              <a:ext uri="{FF2B5EF4-FFF2-40B4-BE49-F238E27FC236}">
                <a16:creationId xmlns:a16="http://schemas.microsoft.com/office/drawing/2014/main" id="{21650522-D226-6E4A-83F6-16AEC6542291}"/>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466ACFB-C18C-8C44-8E0B-8D1B87248CF7}"/>
              </a:ext>
            </a:extLst>
          </p:cNvPr>
          <p:cNvCxnSpPr/>
          <p:nvPr/>
        </p:nvCxnSpPr>
        <p:spPr>
          <a:xfrm>
            <a:off x="7076661" y="3904115"/>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52FB7B4-5660-FCE2-EDEC-E4CCCF579735}"/>
              </a:ext>
            </a:extLst>
          </p:cNvPr>
          <p:cNvCxnSpPr/>
          <p:nvPr/>
        </p:nvCxnSpPr>
        <p:spPr>
          <a:xfrm>
            <a:off x="2266224" y="3842293"/>
            <a:ext cx="0" cy="460712"/>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59E1C17-C09F-D47C-A135-CD5A34C574D3}"/>
              </a:ext>
            </a:extLst>
          </p:cNvPr>
          <p:cNvCxnSpPr/>
          <p:nvPr/>
        </p:nvCxnSpPr>
        <p:spPr>
          <a:xfrm>
            <a:off x="3235738" y="3847221"/>
            <a:ext cx="0" cy="460712"/>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EE22B7B-5215-D16D-8B37-6F3EA133F6B1}"/>
              </a:ext>
            </a:extLst>
          </p:cNvPr>
          <p:cNvCxnSpPr/>
          <p:nvPr/>
        </p:nvCxnSpPr>
        <p:spPr>
          <a:xfrm>
            <a:off x="3985388" y="3842293"/>
            <a:ext cx="0" cy="460712"/>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9F5C08C-B699-A9B9-B481-7702D9553DA1}"/>
              </a:ext>
            </a:extLst>
          </p:cNvPr>
          <p:cNvCxnSpPr/>
          <p:nvPr/>
        </p:nvCxnSpPr>
        <p:spPr>
          <a:xfrm>
            <a:off x="5235654" y="3842293"/>
            <a:ext cx="0" cy="46071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98CA4C6-66BC-C622-AAB0-9ABD579426BB}"/>
              </a:ext>
            </a:extLst>
          </p:cNvPr>
          <p:cNvCxnSpPr/>
          <p:nvPr/>
        </p:nvCxnSpPr>
        <p:spPr>
          <a:xfrm>
            <a:off x="6948255" y="3889156"/>
            <a:ext cx="0" cy="460712"/>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A043536-92AE-649B-8656-FD7A1BE8E9B3}"/>
              </a:ext>
            </a:extLst>
          </p:cNvPr>
          <p:cNvCxnSpPr/>
          <p:nvPr/>
        </p:nvCxnSpPr>
        <p:spPr>
          <a:xfrm>
            <a:off x="5951662" y="3842293"/>
            <a:ext cx="0" cy="46071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4309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246B7D1-453D-487B-B491-889C15C460F6}"/>
              </a:ext>
            </a:extLst>
          </p:cNvPr>
          <p:cNvSpPr/>
          <p:nvPr/>
        </p:nvSpPr>
        <p:spPr>
          <a:xfrm>
            <a:off x="141891" y="2025076"/>
            <a:ext cx="8860219" cy="4089974"/>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t" anchorCtr="0"/>
          <a:lstStyle/>
          <a:p>
            <a:pPr defTabSz="457200"/>
            <a:r>
              <a:rPr lang="en-US" sz="1000" dirty="0" err="1">
                <a:solidFill>
                  <a:schemeClr val="tx2"/>
                </a:solidFill>
              </a:rPr>
              <a:t>txtDTM</a:t>
            </a:r>
            <a:r>
              <a:rPr lang="en-US" sz="1000" dirty="0">
                <a:solidFill>
                  <a:schemeClr val="tx2"/>
                </a:solidFill>
              </a:rPr>
              <a:t>  &lt;- </a:t>
            </a:r>
            <a:r>
              <a:rPr lang="en-US" sz="1000" dirty="0" err="1">
                <a:solidFill>
                  <a:schemeClr val="tx2"/>
                </a:solidFill>
              </a:rPr>
              <a:t>DocumentTermMatrix</a:t>
            </a:r>
            <a:r>
              <a:rPr lang="en-US" sz="1000" dirty="0">
                <a:solidFill>
                  <a:schemeClr val="tx2"/>
                </a:solidFill>
              </a:rPr>
              <a:t>(</a:t>
            </a:r>
            <a:r>
              <a:rPr lang="en-US" sz="1000" dirty="0" err="1">
                <a:solidFill>
                  <a:schemeClr val="tx2"/>
                </a:solidFill>
              </a:rPr>
              <a:t>txtCorpus</a:t>
            </a:r>
            <a:r>
              <a:rPr lang="en-US" sz="1000" dirty="0">
                <a:solidFill>
                  <a:schemeClr val="tx2"/>
                </a:solidFill>
              </a:rPr>
              <a:t>,</a:t>
            </a:r>
          </a:p>
          <a:p>
            <a:pPr defTabSz="457200"/>
            <a:r>
              <a:rPr lang="en-US" sz="1000" dirty="0">
                <a:solidFill>
                  <a:schemeClr val="tx2"/>
                </a:solidFill>
              </a:rPr>
              <a:t>                               control=list(tokenize=</a:t>
            </a:r>
            <a:r>
              <a:rPr lang="en-US" sz="1000" dirty="0" err="1">
                <a:solidFill>
                  <a:schemeClr val="tx2"/>
                </a:solidFill>
              </a:rPr>
              <a:t>bigramTokens</a:t>
            </a:r>
            <a:r>
              <a:rPr lang="en-US" sz="1000" dirty="0">
                <a:solidFill>
                  <a:schemeClr val="tx2"/>
                </a:solidFill>
              </a:rPr>
              <a:t>))</a:t>
            </a:r>
          </a:p>
        </p:txBody>
      </p:sp>
      <p:sp>
        <p:nvSpPr>
          <p:cNvPr id="12" name="Rectangle 11">
            <a:extLst>
              <a:ext uri="{FF2B5EF4-FFF2-40B4-BE49-F238E27FC236}">
                <a16:creationId xmlns:a16="http://schemas.microsoft.com/office/drawing/2014/main" id="{2C95F845-8979-407C-9F4E-6FBCB9476B2D}"/>
              </a:ext>
            </a:extLst>
          </p:cNvPr>
          <p:cNvSpPr/>
          <p:nvPr/>
        </p:nvSpPr>
        <p:spPr>
          <a:xfrm>
            <a:off x="141890" y="1671145"/>
            <a:ext cx="8860220" cy="331076"/>
          </a:xfrm>
          <a:prstGeom prst="rect">
            <a:avLst/>
          </a:prstGeom>
          <a:solidFill>
            <a:schemeClr val="accent3"/>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bg1"/>
                </a:solidFill>
              </a:rPr>
              <a:t>“Text mining is so fun.  So do text mining!</a:t>
            </a:r>
          </a:p>
        </p:txBody>
      </p:sp>
      <p:sp>
        <p:nvSpPr>
          <p:cNvPr id="2" name="Date Placeholder 1"/>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p:cNvSpPr>
            <a:spLocks noGrp="1"/>
          </p:cNvSpPr>
          <p:nvPr>
            <p:ph type="title"/>
          </p:nvPr>
        </p:nvSpPr>
        <p:spPr>
          <a:xfrm>
            <a:off x="0" y="397567"/>
            <a:ext cx="9144000" cy="400012"/>
          </a:xfrm>
        </p:spPr>
        <p:txBody>
          <a:bodyPr/>
          <a:lstStyle/>
          <a:p>
            <a:pPr algn="ctr" defTabSz="457200"/>
            <a:r>
              <a:rPr lang="en-US" sz="2000" dirty="0">
                <a:ea typeface="Arial Unicode MS" panose="020B0604020202020204" pitchFamily="34" charset="-128"/>
                <a:cs typeface="Arial Unicode MS" panose="020B0604020202020204" pitchFamily="34" charset="-128"/>
              </a:rPr>
              <a:t>Tokenization is the process of chopping up a string into predefined units called tokens.</a:t>
            </a:r>
          </a:p>
        </p:txBody>
      </p:sp>
      <p:sp>
        <p:nvSpPr>
          <p:cNvPr id="5" name="Footer Placeholder 4"/>
          <p:cNvSpPr>
            <a:spLocks noGrp="1"/>
          </p:cNvSpPr>
          <p:nvPr>
            <p:ph type="ftr" sz="quarter" idx="3"/>
          </p:nvPr>
        </p:nvSpPr>
        <p:spPr/>
        <p:txBody>
          <a:bodyPr/>
          <a:lstStyle/>
          <a:p>
            <a:r>
              <a:rPr lang="en-US"/>
              <a:t>Kwartler</a:t>
            </a:r>
            <a:endParaRPr lang="en-US" dirty="0"/>
          </a:p>
        </p:txBody>
      </p:sp>
      <p:sp>
        <p:nvSpPr>
          <p:cNvPr id="4" name="Slide Number Placeholder 3"/>
          <p:cNvSpPr>
            <a:spLocks noGrp="1"/>
          </p:cNvSpPr>
          <p:nvPr>
            <p:ph type="sldNum" sz="quarter" idx="4"/>
          </p:nvPr>
        </p:nvSpPr>
        <p:spPr/>
        <p:txBody>
          <a:bodyPr/>
          <a:lstStyle/>
          <a:p>
            <a:fld id="{37290FF7-652B-4475-AEAB-8B1A5D23AE09}" type="slidenum">
              <a:rPr lang="en-US" smtClean="0"/>
              <a:pPr/>
              <a:t>36</a:t>
            </a:fld>
            <a:endParaRPr lang="en-US"/>
          </a:p>
        </p:txBody>
      </p:sp>
      <p:sp>
        <p:nvSpPr>
          <p:cNvPr id="13" name="TextBox 12">
            <a:extLst>
              <a:ext uri="{FF2B5EF4-FFF2-40B4-BE49-F238E27FC236}">
                <a16:creationId xmlns:a16="http://schemas.microsoft.com/office/drawing/2014/main" id="{A5A3EE36-0573-4214-8E8B-E9BD628BC999}"/>
              </a:ext>
            </a:extLst>
          </p:cNvPr>
          <p:cNvSpPr txBox="1"/>
          <p:nvPr/>
        </p:nvSpPr>
        <p:spPr>
          <a:xfrm>
            <a:off x="157656" y="1157509"/>
            <a:ext cx="8828688" cy="340806"/>
          </a:xfrm>
          <a:prstGeom prst="rect">
            <a:avLst/>
          </a:prstGeom>
          <a:solidFill>
            <a:schemeClr val="accent6">
              <a:lumMod val="60000"/>
              <a:lumOff val="40000"/>
            </a:schemeClr>
          </a:solidFill>
        </p:spPr>
        <p:txBody>
          <a:bodyPr wrap="square" rtlCol="0">
            <a:spAutoFit/>
          </a:bodyPr>
          <a:lstStyle/>
          <a:p>
            <a:pPr algn="ctr" defTabSz="457200"/>
            <a:r>
              <a:rPr lang="en-US" sz="1600" dirty="0">
                <a:solidFill>
                  <a:prstClr val="white"/>
                </a:solidFill>
                <a:latin typeface="+mj-lt"/>
                <a:ea typeface="Arial Unicode MS" panose="020B0604020202020204" pitchFamily="34" charset="-128"/>
                <a:cs typeface="Arial Unicode MS" panose="020B0604020202020204" pitchFamily="34" charset="-128"/>
              </a:rPr>
              <a:t>Now the TDM has two terms instead of one.</a:t>
            </a:r>
            <a:endParaRPr lang="en-US" sz="1600" kern="1200" dirty="0">
              <a:solidFill>
                <a:prstClr val="white"/>
              </a:solidFill>
              <a:latin typeface="+mj-lt"/>
              <a:ea typeface="Arial Unicode MS" panose="020B0604020202020204" pitchFamily="34" charset="-128"/>
              <a:cs typeface="Arial Unicode MS" panose="020B0604020202020204" pitchFamily="34" charset="-128"/>
            </a:endParaRPr>
          </a:p>
        </p:txBody>
      </p:sp>
      <p:sp>
        <p:nvSpPr>
          <p:cNvPr id="16" name="Rectangle 15">
            <a:extLst>
              <a:ext uri="{FF2B5EF4-FFF2-40B4-BE49-F238E27FC236}">
                <a16:creationId xmlns:a16="http://schemas.microsoft.com/office/drawing/2014/main" id="{6C96FE2F-7E19-48CB-9942-7E78DB569A67}"/>
              </a:ext>
            </a:extLst>
          </p:cNvPr>
          <p:cNvSpPr/>
          <p:nvPr/>
        </p:nvSpPr>
        <p:spPr>
          <a:xfrm>
            <a:off x="254029" y="2129410"/>
            <a:ext cx="8633011" cy="646331"/>
          </a:xfrm>
          <a:prstGeom prst="rect">
            <a:avLst/>
          </a:prstGeom>
          <a:solidFill>
            <a:schemeClr val="bg1">
              <a:lumMod val="85000"/>
            </a:schemeClr>
          </a:solidFill>
        </p:spPr>
        <p:txBody>
          <a:bodyPr wrap="square">
            <a:spAutoFit/>
          </a:bodyPr>
          <a:lstStyle/>
          <a:p>
            <a:pPr defTabSz="457200"/>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#bigram token maker</a:t>
            </a:r>
          </a:p>
          <a:p>
            <a:pPr defTabSz="457200"/>
            <a:r>
              <a:rPr lang="en-US" sz="12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bigramTokens</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&lt;-function(x)</a:t>
            </a:r>
          </a:p>
          <a:p>
            <a:pPr defTabSz="457200"/>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2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unlist</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2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lapply</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(NLP::</a:t>
            </a:r>
            <a:r>
              <a:rPr lang="en-US" sz="12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ngrams</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(words(x), 2), paste, collapse = " "), </a:t>
            </a:r>
            <a:r>
              <a:rPr lang="en-US" sz="12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use.names</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 FALSE)</a:t>
            </a:r>
          </a:p>
        </p:txBody>
      </p:sp>
      <p:sp>
        <p:nvSpPr>
          <p:cNvPr id="17" name="Rectangle 16">
            <a:extLst>
              <a:ext uri="{FF2B5EF4-FFF2-40B4-BE49-F238E27FC236}">
                <a16:creationId xmlns:a16="http://schemas.microsoft.com/office/drawing/2014/main" id="{2527D424-4DA2-4B6A-970C-CF74FF337084}"/>
              </a:ext>
            </a:extLst>
          </p:cNvPr>
          <p:cNvSpPr/>
          <p:nvPr/>
        </p:nvSpPr>
        <p:spPr>
          <a:xfrm>
            <a:off x="254028" y="2977985"/>
            <a:ext cx="7796033" cy="276999"/>
          </a:xfrm>
          <a:prstGeom prst="rect">
            <a:avLst/>
          </a:prstGeom>
          <a:solidFill>
            <a:schemeClr val="bg1">
              <a:lumMod val="85000"/>
            </a:schemeClr>
          </a:solidFill>
        </p:spPr>
        <p:txBody>
          <a:bodyPr wrap="square">
            <a:spAutoFit/>
          </a:bodyPr>
          <a:lstStyle/>
          <a:p>
            <a:pPr defTabSz="457200"/>
            <a:r>
              <a:rPr lang="en-US" sz="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txtDTM</a:t>
            </a:r>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&lt;-</a:t>
            </a:r>
            <a:r>
              <a:rPr lang="en-US" sz="12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TermDocumentMatrix</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2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txtCorpus</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control=list(tokenize=</a:t>
            </a:r>
            <a:r>
              <a:rPr lang="en-US" sz="1200" kern="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bigramTokens</a:t>
            </a:r>
            <a:r>
              <a:rPr lang="en-US" sz="1200"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p:txBody>
      </p:sp>
      <p:pic>
        <p:nvPicPr>
          <p:cNvPr id="18" name="Picture 17">
            <a:extLst>
              <a:ext uri="{FF2B5EF4-FFF2-40B4-BE49-F238E27FC236}">
                <a16:creationId xmlns:a16="http://schemas.microsoft.com/office/drawing/2014/main" id="{578A2A16-CCBE-454A-AF89-90B40E9371F7}"/>
              </a:ext>
            </a:extLst>
          </p:cNvPr>
          <p:cNvPicPr>
            <a:picLocks noChangeAspect="1"/>
          </p:cNvPicPr>
          <p:nvPr/>
        </p:nvPicPr>
        <p:blipFill>
          <a:blip r:embed="rId2"/>
          <a:stretch>
            <a:fillRect/>
          </a:stretch>
        </p:blipFill>
        <p:spPr>
          <a:xfrm>
            <a:off x="443510" y="4027270"/>
            <a:ext cx="1913831" cy="1845965"/>
          </a:xfrm>
          <a:prstGeom prst="rect">
            <a:avLst/>
          </a:prstGeom>
          <a:ln>
            <a:solidFill>
              <a:schemeClr val="accent6"/>
            </a:solidFill>
          </a:ln>
        </p:spPr>
      </p:pic>
      <p:cxnSp>
        <p:nvCxnSpPr>
          <p:cNvPr id="14" name="Straight Connector 13">
            <a:extLst>
              <a:ext uri="{FF2B5EF4-FFF2-40B4-BE49-F238E27FC236}">
                <a16:creationId xmlns:a16="http://schemas.microsoft.com/office/drawing/2014/main" id="{21650522-D226-6E4A-83F6-16AEC6542291}"/>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466ACFB-C18C-8C44-8E0B-8D1B87248CF7}"/>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E5D90D2-3420-A5F9-82CD-B7ECA8A74467}"/>
              </a:ext>
            </a:extLst>
          </p:cNvPr>
          <p:cNvSpPr txBox="1"/>
          <p:nvPr/>
        </p:nvSpPr>
        <p:spPr>
          <a:xfrm>
            <a:off x="254029" y="3390954"/>
            <a:ext cx="7796032" cy="461665"/>
          </a:xfrm>
          <a:prstGeom prst="rect">
            <a:avLst/>
          </a:prstGeom>
          <a:solidFill>
            <a:schemeClr val="bg1">
              <a:lumMod val="75000"/>
            </a:schemeClr>
          </a:solidFill>
        </p:spPr>
        <p:txBody>
          <a:bodyPr wrap="square">
            <a:spAutoFit/>
          </a:bodyPr>
          <a:lstStyle/>
          <a:p>
            <a:pPr defTabSz="457200"/>
            <a:r>
              <a:rPr lang="en-US" sz="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txtDTM</a:t>
            </a:r>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&lt;- </a:t>
            </a:r>
            <a:r>
              <a:rPr lang="en-US" sz="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DocumentTermMatrix</a:t>
            </a:r>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txtCorpus</a:t>
            </a:r>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a:p>
            <a:pPr defTabSz="457200"/>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control=list(tokenize=</a:t>
            </a:r>
            <a:r>
              <a:rPr lang="en-US" sz="12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bigramTokens</a:t>
            </a:r>
            <a:r>
              <a:rPr lang="en-US" sz="12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p:txBody>
      </p:sp>
      <p:pic>
        <p:nvPicPr>
          <p:cNvPr id="8" name="Picture 7">
            <a:extLst>
              <a:ext uri="{FF2B5EF4-FFF2-40B4-BE49-F238E27FC236}">
                <a16:creationId xmlns:a16="http://schemas.microsoft.com/office/drawing/2014/main" id="{17813EE5-E5B1-7581-E4F1-20B41B9ED9DB}"/>
              </a:ext>
            </a:extLst>
          </p:cNvPr>
          <p:cNvPicPr>
            <a:picLocks noChangeAspect="1"/>
          </p:cNvPicPr>
          <p:nvPr/>
        </p:nvPicPr>
        <p:blipFill>
          <a:blip r:embed="rId3"/>
          <a:stretch>
            <a:fillRect/>
          </a:stretch>
        </p:blipFill>
        <p:spPr>
          <a:xfrm>
            <a:off x="3343851" y="4378894"/>
            <a:ext cx="4902200" cy="965200"/>
          </a:xfrm>
          <a:prstGeom prst="rect">
            <a:avLst/>
          </a:prstGeom>
          <a:ln>
            <a:solidFill>
              <a:schemeClr val="accent6"/>
            </a:solidFill>
          </a:ln>
        </p:spPr>
      </p:pic>
    </p:spTree>
    <p:extLst>
      <p:ext uri="{BB962C8B-B14F-4D97-AF65-F5344CB8AC3E}">
        <p14:creationId xmlns:p14="http://schemas.microsoft.com/office/powerpoint/2010/main" val="2792661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246B7D1-453D-487B-B491-889C15C460F6}"/>
              </a:ext>
            </a:extLst>
          </p:cNvPr>
          <p:cNvSpPr/>
          <p:nvPr/>
        </p:nvSpPr>
        <p:spPr>
          <a:xfrm>
            <a:off x="141891" y="1176940"/>
            <a:ext cx="8860219" cy="4926679"/>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t" anchorCtr="0"/>
          <a:lstStyle/>
          <a:p>
            <a:pPr defTabSz="457200"/>
            <a:endParaRPr lang="en-US" sz="1000" dirty="0">
              <a:solidFill>
                <a:schemeClr val="tx2"/>
              </a:solidFill>
            </a:endParaRPr>
          </a:p>
        </p:txBody>
      </p:sp>
      <p:graphicFrame>
        <p:nvGraphicFramePr>
          <p:cNvPr id="13" name="Table 12">
            <a:extLst>
              <a:ext uri="{FF2B5EF4-FFF2-40B4-BE49-F238E27FC236}">
                <a16:creationId xmlns:a16="http://schemas.microsoft.com/office/drawing/2014/main" id="{24CE201F-5128-4231-9B1E-A4D42C29CC68}"/>
              </a:ext>
            </a:extLst>
          </p:cNvPr>
          <p:cNvGraphicFramePr>
            <a:graphicFrameLocks noGrp="1"/>
          </p:cNvGraphicFramePr>
          <p:nvPr>
            <p:extLst>
              <p:ext uri="{D42A27DB-BD31-4B8C-83A1-F6EECF244321}">
                <p14:modId xmlns:p14="http://schemas.microsoft.com/office/powerpoint/2010/main" val="3925943625"/>
              </p:ext>
            </p:extLst>
          </p:nvPr>
        </p:nvGraphicFramePr>
        <p:xfrm>
          <a:off x="533464" y="2646811"/>
          <a:ext cx="4453647" cy="2225040"/>
        </p:xfrm>
        <a:graphic>
          <a:graphicData uri="http://schemas.openxmlformats.org/drawingml/2006/table">
            <a:tbl>
              <a:tblPr firstRow="1" bandRow="1">
                <a:tableStyleId>{69C7853C-536D-4A76-A0AE-DD22124D55A5}</a:tableStyleId>
              </a:tblPr>
              <a:tblGrid>
                <a:gridCol w="701993">
                  <a:extLst>
                    <a:ext uri="{9D8B030D-6E8A-4147-A177-3AD203B41FA5}">
                      <a16:colId xmlns:a16="http://schemas.microsoft.com/office/drawing/2014/main" val="20000"/>
                    </a:ext>
                  </a:extLst>
                </a:gridCol>
                <a:gridCol w="694055">
                  <a:extLst>
                    <a:ext uri="{9D8B030D-6E8A-4147-A177-3AD203B41FA5}">
                      <a16:colId xmlns:a16="http://schemas.microsoft.com/office/drawing/2014/main" val="20001"/>
                    </a:ext>
                  </a:extLst>
                </a:gridCol>
                <a:gridCol w="576654">
                  <a:extLst>
                    <a:ext uri="{9D8B030D-6E8A-4147-A177-3AD203B41FA5}">
                      <a16:colId xmlns:a16="http://schemas.microsoft.com/office/drawing/2014/main" val="20002"/>
                    </a:ext>
                  </a:extLst>
                </a:gridCol>
                <a:gridCol w="646430">
                  <a:extLst>
                    <a:ext uri="{9D8B030D-6E8A-4147-A177-3AD203B41FA5}">
                      <a16:colId xmlns:a16="http://schemas.microsoft.com/office/drawing/2014/main" val="20003"/>
                    </a:ext>
                  </a:extLst>
                </a:gridCol>
                <a:gridCol w="694055">
                  <a:extLst>
                    <a:ext uri="{9D8B030D-6E8A-4147-A177-3AD203B41FA5}">
                      <a16:colId xmlns:a16="http://schemas.microsoft.com/office/drawing/2014/main" val="20004"/>
                    </a:ext>
                  </a:extLst>
                </a:gridCol>
                <a:gridCol w="360680">
                  <a:extLst>
                    <a:ext uri="{9D8B030D-6E8A-4147-A177-3AD203B41FA5}">
                      <a16:colId xmlns:a16="http://schemas.microsoft.com/office/drawing/2014/main" val="20005"/>
                    </a:ext>
                  </a:extLst>
                </a:gridCol>
                <a:gridCol w="779780">
                  <a:extLst>
                    <a:ext uri="{9D8B030D-6E8A-4147-A177-3AD203B41FA5}">
                      <a16:colId xmlns:a16="http://schemas.microsoft.com/office/drawing/2014/main" val="20006"/>
                    </a:ext>
                  </a:extLst>
                </a:gridCol>
              </a:tblGrid>
              <a:tr h="370840">
                <a:tc>
                  <a:txBody>
                    <a:bodyPr/>
                    <a:lstStyle/>
                    <a:p>
                      <a:endParaRPr lang="en-US" sz="1000" dirty="0">
                        <a:latin typeface="Arial Unicode MS" panose="020B0604020202020204" pitchFamily="34" charset="-128"/>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6BA51"/>
                    </a:solidFill>
                  </a:tcPr>
                </a:tc>
                <a:tc>
                  <a:txBody>
                    <a:bodyPr/>
                    <a:lstStyle/>
                    <a:p>
                      <a:r>
                        <a:rPr lang="en-US" sz="1000" dirty="0">
                          <a:latin typeface="Arial Unicode MS" panose="020B0604020202020204" pitchFamily="34" charset="-128"/>
                        </a:rPr>
                        <a:t>Term1</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6BA51"/>
                    </a:solidFill>
                  </a:tcPr>
                </a:tc>
                <a:tc>
                  <a:txBody>
                    <a:bodyPr/>
                    <a:lstStyle/>
                    <a:p>
                      <a:r>
                        <a:rPr lang="en-US" sz="1000" dirty="0">
                          <a:latin typeface="Arial Unicode MS" panose="020B0604020202020204" pitchFamily="34" charset="-128"/>
                        </a:rPr>
                        <a:t>Term2</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6BA51"/>
                    </a:solidFill>
                  </a:tcPr>
                </a:tc>
                <a:tc>
                  <a:txBody>
                    <a:bodyPr/>
                    <a:lstStyle/>
                    <a:p>
                      <a:r>
                        <a:rPr lang="en-US" sz="1000" dirty="0">
                          <a:latin typeface="Arial Unicode MS" panose="020B0604020202020204" pitchFamily="34" charset="-128"/>
                        </a:rPr>
                        <a:t>Term3</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6BA51"/>
                    </a:solidFill>
                  </a:tcPr>
                </a:tc>
                <a:tc>
                  <a:txBody>
                    <a:bodyPr/>
                    <a:lstStyle/>
                    <a:p>
                      <a:r>
                        <a:rPr lang="en-US" sz="1000" dirty="0">
                          <a:latin typeface="Arial Unicode MS" panose="020B0604020202020204" pitchFamily="34" charset="-128"/>
                        </a:rPr>
                        <a:t>Term4</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6BA51"/>
                    </a:solidFill>
                  </a:tcPr>
                </a:tc>
                <a:tc>
                  <a:txBody>
                    <a:bodyPr/>
                    <a:lstStyle/>
                    <a:p>
                      <a:r>
                        <a:rPr lang="en-US" sz="1000" dirty="0">
                          <a:latin typeface="Arial Unicode MS" panose="020B0604020202020204" pitchFamily="34" charset="-128"/>
                        </a:rPr>
                        <a:t>…</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6BA51"/>
                    </a:solidFill>
                  </a:tcPr>
                </a:tc>
                <a:tc>
                  <a:txBody>
                    <a:bodyPr/>
                    <a:lstStyle/>
                    <a:p>
                      <a:r>
                        <a:rPr lang="en-US" sz="1000" dirty="0" err="1">
                          <a:latin typeface="Arial Unicode MS" panose="020B0604020202020204" pitchFamily="34" charset="-128"/>
                        </a:rPr>
                        <a:t>Term_n</a:t>
                      </a:r>
                      <a:endParaRPr lang="en-US" sz="1000" dirty="0">
                        <a:latin typeface="Arial Unicode MS" panose="020B0604020202020204" pitchFamily="34" charset="-128"/>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6BA51"/>
                    </a:solidFill>
                  </a:tcPr>
                </a:tc>
                <a:extLst>
                  <a:ext uri="{0D108BD9-81ED-4DB2-BD59-A6C34878D82A}">
                    <a16:rowId xmlns:a16="http://schemas.microsoft.com/office/drawing/2014/main" val="10000"/>
                  </a:ext>
                </a:extLst>
              </a:tr>
              <a:tr h="370840">
                <a:tc>
                  <a:txBody>
                    <a:bodyPr/>
                    <a:lstStyle/>
                    <a:p>
                      <a:r>
                        <a:rPr lang="en-US" sz="1000" dirty="0">
                          <a:latin typeface="Arial Unicode MS" panose="020B0604020202020204" pitchFamily="34" charset="-128"/>
                        </a:rPr>
                        <a:t>Doc1</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0</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0</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0</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0</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0</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0</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1"/>
                  </a:ext>
                </a:extLst>
              </a:tr>
              <a:tr h="370840">
                <a:tc>
                  <a:txBody>
                    <a:bodyPr/>
                    <a:lstStyle/>
                    <a:p>
                      <a:r>
                        <a:rPr lang="en-US" sz="1000" dirty="0">
                          <a:latin typeface="Arial Unicode MS" panose="020B0604020202020204" pitchFamily="34" charset="-128"/>
                        </a:rPr>
                        <a:t>Doc2</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1</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1</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0</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0</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0</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0</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n-US" sz="1000" dirty="0">
                          <a:latin typeface="Arial Unicode MS" panose="020B0604020202020204" pitchFamily="34" charset="-128"/>
                        </a:rPr>
                        <a:t>Doc3</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1</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0</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0</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2</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0</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0</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3"/>
                  </a:ext>
                </a:extLst>
              </a:tr>
              <a:tr h="370840">
                <a:tc>
                  <a:txBody>
                    <a:bodyPr/>
                    <a:lstStyle/>
                    <a:p>
                      <a:r>
                        <a:rPr lang="en-US" sz="1000" dirty="0">
                          <a:latin typeface="Arial Unicode MS" panose="020B0604020202020204" pitchFamily="34" charset="-128"/>
                        </a:rPr>
                        <a:t>…</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0</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0</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3</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0</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1</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1</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r>
                        <a:rPr lang="en-US" sz="1000" dirty="0" err="1">
                          <a:latin typeface="Arial Unicode MS" panose="020B0604020202020204" pitchFamily="34" charset="-128"/>
                        </a:rPr>
                        <a:t>Doc_n</a:t>
                      </a:r>
                      <a:endParaRPr lang="en-US" sz="1000" dirty="0">
                        <a:latin typeface="Arial Unicode MS" panose="020B0604020202020204" pitchFamily="34" charset="-128"/>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0</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0</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0</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1</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1</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tc>
                  <a:txBody>
                    <a:bodyPr/>
                    <a:lstStyle/>
                    <a:p>
                      <a:r>
                        <a:rPr lang="en-US" sz="1000" dirty="0">
                          <a:latin typeface="Arial Unicode MS" panose="020B0604020202020204" pitchFamily="34" charset="-128"/>
                        </a:rPr>
                        <a:t>0</a:t>
                      </a: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2" name="Date Placeholder 1"/>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p:cNvSpPr>
            <a:spLocks noGrp="1"/>
          </p:cNvSpPr>
          <p:nvPr>
            <p:ph type="title"/>
          </p:nvPr>
        </p:nvSpPr>
        <p:spPr/>
        <p:txBody>
          <a:bodyPr/>
          <a:lstStyle/>
          <a:p>
            <a:r>
              <a:rPr lang="en-US"/>
              <a:t>To make a wordcloud start with a WFM</a:t>
            </a:r>
            <a:endParaRPr lang="en-US" dirty="0"/>
          </a:p>
        </p:txBody>
      </p:sp>
      <p:sp>
        <p:nvSpPr>
          <p:cNvPr id="5" name="Footer Placeholder 4"/>
          <p:cNvSpPr>
            <a:spLocks noGrp="1"/>
          </p:cNvSpPr>
          <p:nvPr>
            <p:ph type="ftr" sz="quarter" idx="3"/>
          </p:nvPr>
        </p:nvSpPr>
        <p:spPr/>
        <p:txBody>
          <a:bodyPr/>
          <a:lstStyle/>
          <a:p>
            <a:r>
              <a:rPr lang="en-US"/>
              <a:t>Kwartler</a:t>
            </a:r>
            <a:endParaRPr lang="en-US" dirty="0"/>
          </a:p>
        </p:txBody>
      </p:sp>
      <p:sp>
        <p:nvSpPr>
          <p:cNvPr id="4" name="Slide Number Placeholder 3"/>
          <p:cNvSpPr>
            <a:spLocks noGrp="1"/>
          </p:cNvSpPr>
          <p:nvPr>
            <p:ph type="sldNum" sz="quarter" idx="4"/>
          </p:nvPr>
        </p:nvSpPr>
        <p:spPr/>
        <p:txBody>
          <a:bodyPr/>
          <a:lstStyle/>
          <a:p>
            <a:fld id="{37290FF7-652B-4475-AEAB-8B1A5D23AE09}" type="slidenum">
              <a:rPr lang="en-US" smtClean="0"/>
              <a:pPr/>
              <a:t>37</a:t>
            </a:fld>
            <a:endParaRPr lang="en-US"/>
          </a:p>
        </p:txBody>
      </p:sp>
      <p:sp>
        <p:nvSpPr>
          <p:cNvPr id="9" name="Rectangle 8">
            <a:extLst>
              <a:ext uri="{FF2B5EF4-FFF2-40B4-BE49-F238E27FC236}">
                <a16:creationId xmlns:a16="http://schemas.microsoft.com/office/drawing/2014/main" id="{6C96FE2F-7E19-48CB-9942-7E78DB569A67}"/>
              </a:ext>
            </a:extLst>
          </p:cNvPr>
          <p:cNvSpPr/>
          <p:nvPr/>
        </p:nvSpPr>
        <p:spPr>
          <a:xfrm>
            <a:off x="254029" y="1281275"/>
            <a:ext cx="8633011" cy="923330"/>
          </a:xfrm>
          <a:prstGeom prst="rect">
            <a:avLst/>
          </a:prstGeom>
          <a:solidFill>
            <a:schemeClr val="bg1">
              <a:lumMod val="85000"/>
            </a:schemeClr>
          </a:solidFill>
        </p:spPr>
        <p:txBody>
          <a:bodyPr wrap="square">
            <a:spAutoFit/>
          </a:bodyPr>
          <a:lstStyle/>
          <a:p>
            <a:pPr defTabSz="457200"/>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Get Row Sums &amp; organize</a:t>
            </a:r>
          </a:p>
          <a:p>
            <a:pPr defTabSz="457200"/>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wineTDMv</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&lt;- sort(</a:t>
            </a:r>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rowSums</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wineTDMm</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decreasing = TRUE)</a:t>
            </a:r>
          </a:p>
          <a:p>
            <a:pPr defTabSz="457200"/>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wineDF</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&lt;- </a:t>
            </a:r>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data.frame</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(word = names(</a:t>
            </a:r>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wineTDMv</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freq</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 </a:t>
            </a:r>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wineTDMv</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endParaRPr lang="en-US"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endParaRPr>
          </a:p>
        </p:txBody>
      </p:sp>
      <p:sp>
        <p:nvSpPr>
          <p:cNvPr id="14" name="TextBox 13">
            <a:extLst>
              <a:ext uri="{FF2B5EF4-FFF2-40B4-BE49-F238E27FC236}">
                <a16:creationId xmlns:a16="http://schemas.microsoft.com/office/drawing/2014/main" id="{A424BF5E-7E73-42C2-8E87-C2BA20C0EACF}"/>
              </a:ext>
            </a:extLst>
          </p:cNvPr>
          <p:cNvSpPr txBox="1"/>
          <p:nvPr/>
        </p:nvSpPr>
        <p:spPr>
          <a:xfrm>
            <a:off x="441293" y="2410790"/>
            <a:ext cx="1555234" cy="253916"/>
          </a:xfrm>
          <a:prstGeom prst="rect">
            <a:avLst/>
          </a:prstGeom>
          <a:noFill/>
        </p:spPr>
        <p:txBody>
          <a:bodyPr wrap="none" rtlCol="0">
            <a:spAutoFit/>
          </a:bodyPr>
          <a:lstStyle/>
          <a:p>
            <a:pPr defTabSz="457200"/>
            <a:r>
              <a:rPr lang="en-US" sz="1050" i="1"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Document Term Matrix</a:t>
            </a:r>
          </a:p>
        </p:txBody>
      </p:sp>
      <p:sp>
        <p:nvSpPr>
          <p:cNvPr id="15" name="Isosceles Triangle 14">
            <a:extLst>
              <a:ext uri="{FF2B5EF4-FFF2-40B4-BE49-F238E27FC236}">
                <a16:creationId xmlns:a16="http://schemas.microsoft.com/office/drawing/2014/main" id="{FE9613A4-ECF0-4D0F-9696-5C023D56C131}"/>
              </a:ext>
            </a:extLst>
          </p:cNvPr>
          <p:cNvSpPr/>
          <p:nvPr/>
        </p:nvSpPr>
        <p:spPr>
          <a:xfrm rot="5400000">
            <a:off x="4878720" y="3534720"/>
            <a:ext cx="1339350" cy="402476"/>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kern="1200" dirty="0">
              <a:solidFill>
                <a:prstClr val="white"/>
              </a:solidFill>
              <a:latin typeface="Arial Unicode MS" panose="020B0604020202020204" pitchFamily="34" charset="-128"/>
            </a:endParaRPr>
          </a:p>
        </p:txBody>
      </p:sp>
      <p:graphicFrame>
        <p:nvGraphicFramePr>
          <p:cNvPr id="16" name="Table 15">
            <a:extLst>
              <a:ext uri="{FF2B5EF4-FFF2-40B4-BE49-F238E27FC236}">
                <a16:creationId xmlns:a16="http://schemas.microsoft.com/office/drawing/2014/main" id="{48162493-A50D-45FF-960A-0540DF7356AB}"/>
              </a:ext>
            </a:extLst>
          </p:cNvPr>
          <p:cNvGraphicFramePr>
            <a:graphicFrameLocks noGrp="1"/>
          </p:cNvGraphicFramePr>
          <p:nvPr>
            <p:extLst>
              <p:ext uri="{D42A27DB-BD31-4B8C-83A1-F6EECF244321}">
                <p14:modId xmlns:p14="http://schemas.microsoft.com/office/powerpoint/2010/main" val="1239972999"/>
              </p:ext>
            </p:extLst>
          </p:nvPr>
        </p:nvGraphicFramePr>
        <p:xfrm>
          <a:off x="6101536" y="2646811"/>
          <a:ext cx="2057083" cy="2595880"/>
        </p:xfrm>
        <a:graphic>
          <a:graphicData uri="http://schemas.openxmlformats.org/drawingml/2006/table">
            <a:tbl>
              <a:tblPr firstRow="1" bandRow="1">
                <a:tableStyleId>{5C22544A-7EE6-4342-B048-85BDC9FD1C3A}</a:tableStyleId>
              </a:tblPr>
              <a:tblGrid>
                <a:gridCol w="1289433">
                  <a:extLst>
                    <a:ext uri="{9D8B030D-6E8A-4147-A177-3AD203B41FA5}">
                      <a16:colId xmlns:a16="http://schemas.microsoft.com/office/drawing/2014/main" val="20000"/>
                    </a:ext>
                  </a:extLst>
                </a:gridCol>
                <a:gridCol w="767650">
                  <a:extLst>
                    <a:ext uri="{9D8B030D-6E8A-4147-A177-3AD203B41FA5}">
                      <a16:colId xmlns:a16="http://schemas.microsoft.com/office/drawing/2014/main" val="20001"/>
                    </a:ext>
                  </a:extLst>
                </a:gridCol>
              </a:tblGrid>
              <a:tr h="370840">
                <a:tc>
                  <a:txBody>
                    <a:bodyPr/>
                    <a:lstStyle/>
                    <a:p>
                      <a:r>
                        <a:rPr lang="en-US" dirty="0">
                          <a:latin typeface="Arial Unicode MS" panose="020B0604020202020204" pitchFamily="34" charset="-128"/>
                        </a:rPr>
                        <a:t>word</a:t>
                      </a:r>
                    </a:p>
                  </a:txBody>
                  <a:tcPr/>
                </a:tc>
                <a:tc>
                  <a:txBody>
                    <a:bodyPr/>
                    <a:lstStyle/>
                    <a:p>
                      <a:r>
                        <a:rPr lang="en-US" dirty="0" err="1">
                          <a:latin typeface="Arial Unicode MS" panose="020B0604020202020204" pitchFamily="34" charset="-128"/>
                        </a:rPr>
                        <a:t>freq</a:t>
                      </a:r>
                      <a:endParaRPr lang="en-US" dirty="0">
                        <a:latin typeface="Arial Unicode MS" panose="020B0604020202020204" pitchFamily="34" charset="-128"/>
                      </a:endParaRPr>
                    </a:p>
                  </a:txBody>
                  <a:tcPr/>
                </a:tc>
                <a:extLst>
                  <a:ext uri="{0D108BD9-81ED-4DB2-BD59-A6C34878D82A}">
                    <a16:rowId xmlns:a16="http://schemas.microsoft.com/office/drawing/2014/main" val="10000"/>
                  </a:ext>
                </a:extLst>
              </a:tr>
              <a:tr h="370840">
                <a:tc>
                  <a:txBody>
                    <a:bodyPr/>
                    <a:lstStyle/>
                    <a:p>
                      <a:r>
                        <a:rPr lang="en-US" dirty="0">
                          <a:latin typeface="Arial Unicode MS" panose="020B0604020202020204" pitchFamily="34" charset="-128"/>
                        </a:rPr>
                        <a:t>Term1</a:t>
                      </a:r>
                    </a:p>
                  </a:txBody>
                  <a:tcPr/>
                </a:tc>
                <a:tc>
                  <a:txBody>
                    <a:bodyPr/>
                    <a:lstStyle/>
                    <a:p>
                      <a:r>
                        <a:rPr lang="en-US" dirty="0">
                          <a:latin typeface="Arial Unicode MS" panose="020B0604020202020204" pitchFamily="34" charset="-128"/>
                        </a:rPr>
                        <a:t>2</a:t>
                      </a:r>
                    </a:p>
                  </a:txBody>
                  <a:tcPr/>
                </a:tc>
                <a:extLst>
                  <a:ext uri="{0D108BD9-81ED-4DB2-BD59-A6C34878D82A}">
                    <a16:rowId xmlns:a16="http://schemas.microsoft.com/office/drawing/2014/main" val="10001"/>
                  </a:ext>
                </a:extLst>
              </a:tr>
              <a:tr h="370840">
                <a:tc>
                  <a:txBody>
                    <a:bodyPr/>
                    <a:lstStyle/>
                    <a:p>
                      <a:r>
                        <a:rPr lang="en-US" dirty="0">
                          <a:latin typeface="Arial Unicode MS" panose="020B0604020202020204" pitchFamily="34" charset="-128"/>
                        </a:rPr>
                        <a:t>Term2</a:t>
                      </a:r>
                    </a:p>
                  </a:txBody>
                  <a:tcPr/>
                </a:tc>
                <a:tc>
                  <a:txBody>
                    <a:bodyPr/>
                    <a:lstStyle/>
                    <a:p>
                      <a:r>
                        <a:rPr lang="en-US" dirty="0">
                          <a:latin typeface="Arial Unicode MS" panose="020B0604020202020204" pitchFamily="34" charset="-128"/>
                        </a:rPr>
                        <a:t>1</a:t>
                      </a:r>
                    </a:p>
                  </a:txBody>
                  <a:tcPr/>
                </a:tc>
                <a:extLst>
                  <a:ext uri="{0D108BD9-81ED-4DB2-BD59-A6C34878D82A}">
                    <a16:rowId xmlns:a16="http://schemas.microsoft.com/office/drawing/2014/main" val="10002"/>
                  </a:ext>
                </a:extLst>
              </a:tr>
              <a:tr h="370840">
                <a:tc>
                  <a:txBody>
                    <a:bodyPr/>
                    <a:lstStyle/>
                    <a:p>
                      <a:r>
                        <a:rPr lang="en-US" dirty="0">
                          <a:latin typeface="Arial Unicode MS" panose="020B0604020202020204" pitchFamily="34" charset="-128"/>
                        </a:rPr>
                        <a:t>Term3</a:t>
                      </a:r>
                    </a:p>
                  </a:txBody>
                  <a:tcPr/>
                </a:tc>
                <a:tc>
                  <a:txBody>
                    <a:bodyPr/>
                    <a:lstStyle/>
                    <a:p>
                      <a:r>
                        <a:rPr lang="en-US" dirty="0">
                          <a:latin typeface="Arial Unicode MS" panose="020B0604020202020204" pitchFamily="34" charset="-128"/>
                        </a:rPr>
                        <a:t>3</a:t>
                      </a:r>
                    </a:p>
                  </a:txBody>
                  <a:tcPr/>
                </a:tc>
                <a:extLst>
                  <a:ext uri="{0D108BD9-81ED-4DB2-BD59-A6C34878D82A}">
                    <a16:rowId xmlns:a16="http://schemas.microsoft.com/office/drawing/2014/main" val="10003"/>
                  </a:ext>
                </a:extLst>
              </a:tr>
              <a:tr h="370840">
                <a:tc>
                  <a:txBody>
                    <a:bodyPr/>
                    <a:lstStyle/>
                    <a:p>
                      <a:r>
                        <a:rPr lang="en-US" dirty="0">
                          <a:latin typeface="Arial Unicode MS" panose="020B0604020202020204" pitchFamily="34" charset="-128"/>
                        </a:rPr>
                        <a:t>Term4</a:t>
                      </a:r>
                    </a:p>
                  </a:txBody>
                  <a:tcPr/>
                </a:tc>
                <a:tc>
                  <a:txBody>
                    <a:bodyPr/>
                    <a:lstStyle/>
                    <a:p>
                      <a:r>
                        <a:rPr lang="en-US" dirty="0">
                          <a:latin typeface="Arial Unicode MS" panose="020B0604020202020204" pitchFamily="34" charset="-128"/>
                        </a:rPr>
                        <a:t>3</a:t>
                      </a:r>
                    </a:p>
                  </a:txBody>
                  <a:tcPr/>
                </a:tc>
                <a:extLst>
                  <a:ext uri="{0D108BD9-81ED-4DB2-BD59-A6C34878D82A}">
                    <a16:rowId xmlns:a16="http://schemas.microsoft.com/office/drawing/2014/main" val="10004"/>
                  </a:ext>
                </a:extLst>
              </a:tr>
              <a:tr h="370840">
                <a:tc>
                  <a:txBody>
                    <a:bodyPr/>
                    <a:lstStyle/>
                    <a:p>
                      <a:r>
                        <a:rPr lang="en-US" dirty="0">
                          <a:latin typeface="Arial Unicode MS" panose="020B0604020202020204" pitchFamily="34" charset="-128"/>
                        </a:rPr>
                        <a:t>Term …</a:t>
                      </a:r>
                    </a:p>
                  </a:txBody>
                  <a:tcPr/>
                </a:tc>
                <a:tc>
                  <a:txBody>
                    <a:bodyPr/>
                    <a:lstStyle/>
                    <a:p>
                      <a:r>
                        <a:rPr lang="en-US" dirty="0">
                          <a:latin typeface="Arial Unicode MS" panose="020B0604020202020204" pitchFamily="34" charset="-128"/>
                        </a:rPr>
                        <a:t>2</a:t>
                      </a:r>
                    </a:p>
                  </a:txBody>
                  <a:tcPr/>
                </a:tc>
                <a:extLst>
                  <a:ext uri="{0D108BD9-81ED-4DB2-BD59-A6C34878D82A}">
                    <a16:rowId xmlns:a16="http://schemas.microsoft.com/office/drawing/2014/main" val="10005"/>
                  </a:ext>
                </a:extLst>
              </a:tr>
              <a:tr h="370840">
                <a:tc>
                  <a:txBody>
                    <a:bodyPr/>
                    <a:lstStyle/>
                    <a:p>
                      <a:r>
                        <a:rPr lang="en-US" dirty="0" err="1">
                          <a:latin typeface="Arial Unicode MS" panose="020B0604020202020204" pitchFamily="34" charset="-128"/>
                        </a:rPr>
                        <a:t>Term_n</a:t>
                      </a:r>
                      <a:endParaRPr lang="en-US" dirty="0">
                        <a:latin typeface="Arial Unicode MS" panose="020B0604020202020204" pitchFamily="34" charset="-128"/>
                      </a:endParaRPr>
                    </a:p>
                  </a:txBody>
                  <a:tcPr/>
                </a:tc>
                <a:tc>
                  <a:txBody>
                    <a:bodyPr/>
                    <a:lstStyle/>
                    <a:p>
                      <a:r>
                        <a:rPr lang="en-US" dirty="0">
                          <a:latin typeface="Arial Unicode MS" panose="020B0604020202020204" pitchFamily="34" charset="-128"/>
                        </a:rPr>
                        <a:t>1</a:t>
                      </a:r>
                    </a:p>
                  </a:txBody>
                  <a:tcPr/>
                </a:tc>
                <a:extLst>
                  <a:ext uri="{0D108BD9-81ED-4DB2-BD59-A6C34878D82A}">
                    <a16:rowId xmlns:a16="http://schemas.microsoft.com/office/drawing/2014/main" val="2852717402"/>
                  </a:ext>
                </a:extLst>
              </a:tr>
            </a:tbl>
          </a:graphicData>
        </a:graphic>
      </p:graphicFrame>
      <p:sp>
        <p:nvSpPr>
          <p:cNvPr id="17" name="TextBox 16">
            <a:extLst>
              <a:ext uri="{FF2B5EF4-FFF2-40B4-BE49-F238E27FC236}">
                <a16:creationId xmlns:a16="http://schemas.microsoft.com/office/drawing/2014/main" id="{A424BF5E-7E73-42C2-8E87-C2BA20C0EACF}"/>
              </a:ext>
            </a:extLst>
          </p:cNvPr>
          <p:cNvSpPr txBox="1"/>
          <p:nvPr/>
        </p:nvSpPr>
        <p:spPr>
          <a:xfrm>
            <a:off x="6017031" y="2437066"/>
            <a:ext cx="1225015" cy="253916"/>
          </a:xfrm>
          <a:prstGeom prst="rect">
            <a:avLst/>
          </a:prstGeom>
          <a:noFill/>
        </p:spPr>
        <p:txBody>
          <a:bodyPr wrap="none" rtlCol="0">
            <a:spAutoFit/>
          </a:bodyPr>
          <a:lstStyle/>
          <a:p>
            <a:pPr defTabSz="457200"/>
            <a:r>
              <a:rPr lang="en-US" sz="1050" i="1"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Word </a:t>
            </a:r>
            <a:r>
              <a:rPr lang="en-US" sz="1050" i="1" dirty="0" err="1">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Freq</a:t>
            </a:r>
            <a:r>
              <a:rPr lang="en-US" sz="1050" i="1"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 </a:t>
            </a:r>
            <a:r>
              <a:rPr lang="en-US" sz="1050" i="1"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Matrix</a:t>
            </a:r>
          </a:p>
        </p:txBody>
      </p:sp>
      <p:cxnSp>
        <p:nvCxnSpPr>
          <p:cNvPr id="18" name="Straight Connector 17">
            <a:extLst>
              <a:ext uri="{FF2B5EF4-FFF2-40B4-BE49-F238E27FC236}">
                <a16:creationId xmlns:a16="http://schemas.microsoft.com/office/drawing/2014/main" id="{4C8E6464-BB7A-0044-A03A-16E72CB0F222}"/>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561E8D2-A24D-AD46-8AFD-FDD46848BEB5}"/>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257364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p:cNvSpPr>
            <a:spLocks noGrp="1"/>
          </p:cNvSpPr>
          <p:nvPr>
            <p:ph type="title"/>
          </p:nvPr>
        </p:nvSpPr>
        <p:spPr/>
        <p:txBody>
          <a:bodyPr/>
          <a:lstStyle/>
          <a:p>
            <a:r>
              <a:rPr lang="en-US" dirty="0"/>
              <a:t>Then sort it decreasing = TRUE</a:t>
            </a:r>
          </a:p>
        </p:txBody>
      </p:sp>
      <p:sp>
        <p:nvSpPr>
          <p:cNvPr id="5" name="Footer Placeholder 4"/>
          <p:cNvSpPr>
            <a:spLocks noGrp="1"/>
          </p:cNvSpPr>
          <p:nvPr>
            <p:ph type="ftr" sz="quarter" idx="3"/>
          </p:nvPr>
        </p:nvSpPr>
        <p:spPr/>
        <p:txBody>
          <a:bodyPr/>
          <a:lstStyle/>
          <a:p>
            <a:r>
              <a:rPr lang="en-US"/>
              <a:t>Kwartler</a:t>
            </a:r>
            <a:endParaRPr lang="en-US" dirty="0"/>
          </a:p>
        </p:txBody>
      </p:sp>
      <p:sp>
        <p:nvSpPr>
          <p:cNvPr id="4" name="Slide Number Placeholder 3"/>
          <p:cNvSpPr>
            <a:spLocks noGrp="1"/>
          </p:cNvSpPr>
          <p:nvPr>
            <p:ph type="sldNum" sz="quarter" idx="4"/>
          </p:nvPr>
        </p:nvSpPr>
        <p:spPr/>
        <p:txBody>
          <a:bodyPr/>
          <a:lstStyle/>
          <a:p>
            <a:fld id="{37290FF7-652B-4475-AEAB-8B1A5D23AE09}" type="slidenum">
              <a:rPr lang="en-US" smtClean="0"/>
              <a:pPr/>
              <a:t>38</a:t>
            </a:fld>
            <a:endParaRPr lang="en-US"/>
          </a:p>
        </p:txBody>
      </p:sp>
      <p:sp>
        <p:nvSpPr>
          <p:cNvPr id="6" name="Rectangle 5">
            <a:extLst>
              <a:ext uri="{FF2B5EF4-FFF2-40B4-BE49-F238E27FC236}">
                <a16:creationId xmlns:a16="http://schemas.microsoft.com/office/drawing/2014/main" id="{C246B7D1-453D-487B-B491-889C15C460F6}"/>
              </a:ext>
            </a:extLst>
          </p:cNvPr>
          <p:cNvSpPr/>
          <p:nvPr/>
        </p:nvSpPr>
        <p:spPr>
          <a:xfrm>
            <a:off x="141891" y="1017911"/>
            <a:ext cx="8860219" cy="3855462"/>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t" anchorCtr="0"/>
          <a:lstStyle/>
          <a:p>
            <a:pPr defTabSz="457200"/>
            <a:endParaRPr lang="en-US" sz="1000" dirty="0">
              <a:solidFill>
                <a:schemeClr val="tx2"/>
              </a:solidFill>
            </a:endParaRPr>
          </a:p>
        </p:txBody>
      </p:sp>
      <p:sp>
        <p:nvSpPr>
          <p:cNvPr id="9" name="Rectangle 8">
            <a:extLst>
              <a:ext uri="{FF2B5EF4-FFF2-40B4-BE49-F238E27FC236}">
                <a16:creationId xmlns:a16="http://schemas.microsoft.com/office/drawing/2014/main" id="{6C96FE2F-7E19-48CB-9942-7E78DB569A67}"/>
              </a:ext>
            </a:extLst>
          </p:cNvPr>
          <p:cNvSpPr/>
          <p:nvPr/>
        </p:nvSpPr>
        <p:spPr>
          <a:xfrm>
            <a:off x="254029" y="1122245"/>
            <a:ext cx="8633011" cy="923330"/>
          </a:xfrm>
          <a:prstGeom prst="rect">
            <a:avLst/>
          </a:prstGeom>
          <a:solidFill>
            <a:schemeClr val="bg1">
              <a:lumMod val="85000"/>
            </a:schemeClr>
          </a:solidFill>
        </p:spPr>
        <p:txBody>
          <a:bodyPr wrap="square">
            <a:spAutoFit/>
          </a:bodyPr>
          <a:lstStyle/>
          <a:p>
            <a:pPr defTabSz="457200"/>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Get Row Sums &amp; organize</a:t>
            </a:r>
          </a:p>
          <a:p>
            <a:pPr defTabSz="457200"/>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wineTDMv</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&lt;- sort(</a:t>
            </a:r>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rowSums</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wineTDMm</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decreasing = TRUE)</a:t>
            </a:r>
          </a:p>
          <a:p>
            <a:pPr defTabSz="457200"/>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wineDF</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&lt;- </a:t>
            </a:r>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data.frame</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(word = names(</a:t>
            </a:r>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wineTDMv</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freq</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 </a:t>
            </a:r>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wineTDMv</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endParaRPr lang="en-US" kern="1200" dirty="0">
              <a:solidFill>
                <a:prstClr val="black"/>
              </a:solidFill>
              <a:latin typeface="Consolas" panose="020B0609020204030204" pitchFamily="49" charset="0"/>
              <a:ea typeface="Arial Unicode MS" panose="020B0604020202020204" pitchFamily="34" charset="-128"/>
              <a:cs typeface="Consolas" panose="020B0609020204030204" pitchFamily="49" charset="0"/>
            </a:endParaRPr>
          </a:p>
        </p:txBody>
      </p:sp>
      <p:sp>
        <p:nvSpPr>
          <p:cNvPr id="15" name="Isosceles Triangle 14">
            <a:extLst>
              <a:ext uri="{FF2B5EF4-FFF2-40B4-BE49-F238E27FC236}">
                <a16:creationId xmlns:a16="http://schemas.microsoft.com/office/drawing/2014/main" id="{FE9613A4-ECF0-4D0F-9696-5C023D56C131}"/>
              </a:ext>
            </a:extLst>
          </p:cNvPr>
          <p:cNvSpPr/>
          <p:nvPr/>
        </p:nvSpPr>
        <p:spPr>
          <a:xfrm rot="5400000">
            <a:off x="3651509" y="3249562"/>
            <a:ext cx="1339350" cy="402476"/>
          </a:xfrm>
          <a:prstGeom prst="triangle">
            <a:avLst/>
          </a:prstGeom>
          <a:solidFill>
            <a:schemeClr val="accent6">
              <a:lumMod val="60000"/>
              <a:lumOff val="4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kern="1200" dirty="0">
              <a:solidFill>
                <a:prstClr val="white"/>
              </a:solidFill>
              <a:latin typeface="Arial Unicode MS" panose="020B0604020202020204" pitchFamily="34" charset="-128"/>
            </a:endParaRPr>
          </a:p>
        </p:txBody>
      </p:sp>
      <p:graphicFrame>
        <p:nvGraphicFramePr>
          <p:cNvPr id="16" name="Table 15">
            <a:extLst>
              <a:ext uri="{FF2B5EF4-FFF2-40B4-BE49-F238E27FC236}">
                <a16:creationId xmlns:a16="http://schemas.microsoft.com/office/drawing/2014/main" id="{48162493-A50D-45FF-960A-0540DF7356AB}"/>
              </a:ext>
            </a:extLst>
          </p:cNvPr>
          <p:cNvGraphicFramePr>
            <a:graphicFrameLocks noGrp="1"/>
          </p:cNvGraphicFramePr>
          <p:nvPr>
            <p:extLst>
              <p:ext uri="{D42A27DB-BD31-4B8C-83A1-F6EECF244321}">
                <p14:modId xmlns:p14="http://schemas.microsoft.com/office/powerpoint/2010/main" val="1290664457"/>
              </p:ext>
            </p:extLst>
          </p:nvPr>
        </p:nvGraphicFramePr>
        <p:xfrm>
          <a:off x="5175472" y="2216546"/>
          <a:ext cx="2057083" cy="2595880"/>
        </p:xfrm>
        <a:graphic>
          <a:graphicData uri="http://schemas.openxmlformats.org/drawingml/2006/table">
            <a:tbl>
              <a:tblPr firstRow="1" bandRow="1">
                <a:tableStyleId>{5C22544A-7EE6-4342-B048-85BDC9FD1C3A}</a:tableStyleId>
              </a:tblPr>
              <a:tblGrid>
                <a:gridCol w="1289433">
                  <a:extLst>
                    <a:ext uri="{9D8B030D-6E8A-4147-A177-3AD203B41FA5}">
                      <a16:colId xmlns:a16="http://schemas.microsoft.com/office/drawing/2014/main" val="20000"/>
                    </a:ext>
                  </a:extLst>
                </a:gridCol>
                <a:gridCol w="767650">
                  <a:extLst>
                    <a:ext uri="{9D8B030D-6E8A-4147-A177-3AD203B41FA5}">
                      <a16:colId xmlns:a16="http://schemas.microsoft.com/office/drawing/2014/main" val="20001"/>
                    </a:ext>
                  </a:extLst>
                </a:gridCol>
              </a:tblGrid>
              <a:tr h="370840">
                <a:tc>
                  <a:txBody>
                    <a:bodyPr/>
                    <a:lstStyle/>
                    <a:p>
                      <a:r>
                        <a:rPr lang="en-US" dirty="0">
                          <a:latin typeface="Arial Unicode MS" panose="020B0604020202020204" pitchFamily="34" charset="-128"/>
                        </a:rPr>
                        <a:t>word</a:t>
                      </a:r>
                    </a:p>
                  </a:txBody>
                  <a:tcPr/>
                </a:tc>
                <a:tc>
                  <a:txBody>
                    <a:bodyPr/>
                    <a:lstStyle/>
                    <a:p>
                      <a:r>
                        <a:rPr lang="en-US" dirty="0" err="1">
                          <a:latin typeface="Arial Unicode MS" panose="020B0604020202020204" pitchFamily="34" charset="-128"/>
                        </a:rPr>
                        <a:t>freq</a:t>
                      </a:r>
                      <a:endParaRPr lang="en-US" dirty="0">
                        <a:latin typeface="Arial Unicode MS" panose="020B0604020202020204" pitchFamily="34" charset="-128"/>
                      </a:endParaRPr>
                    </a:p>
                  </a:txBody>
                  <a:tcPr/>
                </a:tc>
                <a:extLst>
                  <a:ext uri="{0D108BD9-81ED-4DB2-BD59-A6C34878D82A}">
                    <a16:rowId xmlns:a16="http://schemas.microsoft.com/office/drawing/2014/main" val="10000"/>
                  </a:ext>
                </a:extLst>
              </a:tr>
              <a:tr h="370840">
                <a:tc>
                  <a:txBody>
                    <a:bodyPr/>
                    <a:lstStyle/>
                    <a:p>
                      <a:r>
                        <a:rPr lang="en-US" dirty="0">
                          <a:latin typeface="Arial Unicode MS" panose="020B0604020202020204" pitchFamily="34" charset="-128"/>
                        </a:rPr>
                        <a:t>Term3</a:t>
                      </a:r>
                    </a:p>
                  </a:txBody>
                  <a:tcPr/>
                </a:tc>
                <a:tc>
                  <a:txBody>
                    <a:bodyPr/>
                    <a:lstStyle/>
                    <a:p>
                      <a:r>
                        <a:rPr lang="en-US" dirty="0">
                          <a:latin typeface="Arial Unicode MS" panose="020B0604020202020204" pitchFamily="34" charset="-128"/>
                        </a:rPr>
                        <a:t>3</a:t>
                      </a:r>
                    </a:p>
                  </a:txBody>
                  <a:tcPr/>
                </a:tc>
                <a:extLst>
                  <a:ext uri="{0D108BD9-81ED-4DB2-BD59-A6C34878D82A}">
                    <a16:rowId xmlns:a16="http://schemas.microsoft.com/office/drawing/2014/main" val="10001"/>
                  </a:ext>
                </a:extLst>
              </a:tr>
              <a:tr h="370840">
                <a:tc>
                  <a:txBody>
                    <a:bodyPr/>
                    <a:lstStyle/>
                    <a:p>
                      <a:r>
                        <a:rPr lang="en-US" dirty="0">
                          <a:latin typeface="Arial Unicode MS" panose="020B0604020202020204" pitchFamily="34" charset="-128"/>
                        </a:rPr>
                        <a:t>Term4</a:t>
                      </a:r>
                    </a:p>
                  </a:txBody>
                  <a:tcPr/>
                </a:tc>
                <a:tc>
                  <a:txBody>
                    <a:bodyPr/>
                    <a:lstStyle/>
                    <a:p>
                      <a:r>
                        <a:rPr lang="en-US" dirty="0">
                          <a:latin typeface="Arial Unicode MS" panose="020B0604020202020204" pitchFamily="34" charset="-128"/>
                        </a:rPr>
                        <a:t>3</a:t>
                      </a:r>
                    </a:p>
                  </a:txBody>
                  <a:tcPr/>
                </a:tc>
                <a:extLst>
                  <a:ext uri="{0D108BD9-81ED-4DB2-BD59-A6C34878D82A}">
                    <a16:rowId xmlns:a16="http://schemas.microsoft.com/office/drawing/2014/main" val="10002"/>
                  </a:ext>
                </a:extLst>
              </a:tr>
              <a:tr h="370840">
                <a:tc>
                  <a:txBody>
                    <a:bodyPr/>
                    <a:lstStyle/>
                    <a:p>
                      <a:r>
                        <a:rPr lang="en-US" dirty="0">
                          <a:latin typeface="Arial Unicode MS" panose="020B0604020202020204" pitchFamily="34" charset="-128"/>
                        </a:rPr>
                        <a:t>Term1</a:t>
                      </a:r>
                    </a:p>
                  </a:txBody>
                  <a:tcPr/>
                </a:tc>
                <a:tc>
                  <a:txBody>
                    <a:bodyPr/>
                    <a:lstStyle/>
                    <a:p>
                      <a:r>
                        <a:rPr lang="en-US" dirty="0">
                          <a:latin typeface="Arial Unicode MS" panose="020B0604020202020204" pitchFamily="34" charset="-128"/>
                        </a:rPr>
                        <a:t>2</a:t>
                      </a:r>
                    </a:p>
                  </a:txBody>
                  <a:tcPr/>
                </a:tc>
                <a:extLst>
                  <a:ext uri="{0D108BD9-81ED-4DB2-BD59-A6C34878D82A}">
                    <a16:rowId xmlns:a16="http://schemas.microsoft.com/office/drawing/2014/main" val="10003"/>
                  </a:ext>
                </a:extLst>
              </a:tr>
              <a:tr h="370840">
                <a:tc>
                  <a:txBody>
                    <a:bodyPr/>
                    <a:lstStyle/>
                    <a:p>
                      <a:r>
                        <a:rPr lang="en-US" dirty="0">
                          <a:latin typeface="Arial Unicode MS" panose="020B0604020202020204" pitchFamily="34" charset="-128"/>
                        </a:rPr>
                        <a:t>Term_...</a:t>
                      </a:r>
                    </a:p>
                  </a:txBody>
                  <a:tcPr/>
                </a:tc>
                <a:tc>
                  <a:txBody>
                    <a:bodyPr/>
                    <a:lstStyle/>
                    <a:p>
                      <a:r>
                        <a:rPr lang="en-US" dirty="0">
                          <a:latin typeface="Arial Unicode MS" panose="020B0604020202020204" pitchFamily="34" charset="-128"/>
                        </a:rPr>
                        <a:t>2</a:t>
                      </a:r>
                    </a:p>
                  </a:txBody>
                  <a:tcPr/>
                </a:tc>
                <a:extLst>
                  <a:ext uri="{0D108BD9-81ED-4DB2-BD59-A6C34878D82A}">
                    <a16:rowId xmlns:a16="http://schemas.microsoft.com/office/drawing/2014/main" val="10004"/>
                  </a:ext>
                </a:extLst>
              </a:tr>
              <a:tr h="370840">
                <a:tc>
                  <a:txBody>
                    <a:bodyPr/>
                    <a:lstStyle/>
                    <a:p>
                      <a:r>
                        <a:rPr lang="en-US" dirty="0">
                          <a:latin typeface="Arial Unicode MS" panose="020B0604020202020204" pitchFamily="34" charset="-128"/>
                        </a:rPr>
                        <a:t>Term2</a:t>
                      </a:r>
                    </a:p>
                  </a:txBody>
                  <a:tcPr/>
                </a:tc>
                <a:tc>
                  <a:txBody>
                    <a:bodyPr/>
                    <a:lstStyle/>
                    <a:p>
                      <a:r>
                        <a:rPr lang="en-US" dirty="0">
                          <a:latin typeface="Arial Unicode MS" panose="020B0604020202020204" pitchFamily="34" charset="-128"/>
                        </a:rPr>
                        <a:t>1</a:t>
                      </a:r>
                    </a:p>
                  </a:txBody>
                  <a:tcPr/>
                </a:tc>
                <a:extLst>
                  <a:ext uri="{0D108BD9-81ED-4DB2-BD59-A6C34878D82A}">
                    <a16:rowId xmlns:a16="http://schemas.microsoft.com/office/drawing/2014/main" val="10005"/>
                  </a:ext>
                </a:extLst>
              </a:tr>
              <a:tr h="370840">
                <a:tc>
                  <a:txBody>
                    <a:bodyPr/>
                    <a:lstStyle/>
                    <a:p>
                      <a:r>
                        <a:rPr lang="en-US" dirty="0" err="1">
                          <a:latin typeface="Arial Unicode MS" panose="020B0604020202020204" pitchFamily="34" charset="-128"/>
                        </a:rPr>
                        <a:t>Term_n</a:t>
                      </a:r>
                      <a:endParaRPr lang="en-US" dirty="0">
                        <a:latin typeface="Arial Unicode MS" panose="020B0604020202020204" pitchFamily="34" charset="-128"/>
                      </a:endParaRPr>
                    </a:p>
                  </a:txBody>
                  <a:tcPr/>
                </a:tc>
                <a:tc>
                  <a:txBody>
                    <a:bodyPr/>
                    <a:lstStyle/>
                    <a:p>
                      <a:r>
                        <a:rPr lang="en-US" dirty="0">
                          <a:latin typeface="Arial Unicode MS" panose="020B0604020202020204" pitchFamily="34" charset="-128"/>
                        </a:rPr>
                        <a:t>1</a:t>
                      </a:r>
                    </a:p>
                  </a:txBody>
                  <a:tcPr/>
                </a:tc>
                <a:extLst>
                  <a:ext uri="{0D108BD9-81ED-4DB2-BD59-A6C34878D82A}">
                    <a16:rowId xmlns:a16="http://schemas.microsoft.com/office/drawing/2014/main" val="891294806"/>
                  </a:ext>
                </a:extLst>
              </a:tr>
            </a:tbl>
          </a:graphicData>
        </a:graphic>
      </p:graphicFrame>
      <p:cxnSp>
        <p:nvCxnSpPr>
          <p:cNvPr id="12" name="Straight Connector 11">
            <a:extLst>
              <a:ext uri="{FF2B5EF4-FFF2-40B4-BE49-F238E27FC236}">
                <a16:creationId xmlns:a16="http://schemas.microsoft.com/office/drawing/2014/main" id="{C9A7DE34-7F03-824A-BC6E-CC885DC78FD2}"/>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FB178DC-B68C-1149-BEB2-78F5402BDED3}"/>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aphicFrame>
        <p:nvGraphicFramePr>
          <p:cNvPr id="7" name="Table 6">
            <a:extLst>
              <a:ext uri="{FF2B5EF4-FFF2-40B4-BE49-F238E27FC236}">
                <a16:creationId xmlns:a16="http://schemas.microsoft.com/office/drawing/2014/main" id="{31ACC4ED-A148-F210-885E-EF5C898933E3}"/>
              </a:ext>
            </a:extLst>
          </p:cNvPr>
          <p:cNvGraphicFramePr>
            <a:graphicFrameLocks noGrp="1"/>
          </p:cNvGraphicFramePr>
          <p:nvPr>
            <p:extLst>
              <p:ext uri="{D42A27DB-BD31-4B8C-83A1-F6EECF244321}">
                <p14:modId xmlns:p14="http://schemas.microsoft.com/office/powerpoint/2010/main" val="2534711772"/>
              </p:ext>
            </p:extLst>
          </p:nvPr>
        </p:nvGraphicFramePr>
        <p:xfrm>
          <a:off x="1348835" y="2230613"/>
          <a:ext cx="2057083" cy="2595880"/>
        </p:xfrm>
        <a:graphic>
          <a:graphicData uri="http://schemas.openxmlformats.org/drawingml/2006/table">
            <a:tbl>
              <a:tblPr firstRow="1" bandRow="1">
                <a:tableStyleId>{5C22544A-7EE6-4342-B048-85BDC9FD1C3A}</a:tableStyleId>
              </a:tblPr>
              <a:tblGrid>
                <a:gridCol w="1289433">
                  <a:extLst>
                    <a:ext uri="{9D8B030D-6E8A-4147-A177-3AD203B41FA5}">
                      <a16:colId xmlns:a16="http://schemas.microsoft.com/office/drawing/2014/main" val="20000"/>
                    </a:ext>
                  </a:extLst>
                </a:gridCol>
                <a:gridCol w="767650">
                  <a:extLst>
                    <a:ext uri="{9D8B030D-6E8A-4147-A177-3AD203B41FA5}">
                      <a16:colId xmlns:a16="http://schemas.microsoft.com/office/drawing/2014/main" val="20001"/>
                    </a:ext>
                  </a:extLst>
                </a:gridCol>
              </a:tblGrid>
              <a:tr h="370840">
                <a:tc>
                  <a:txBody>
                    <a:bodyPr/>
                    <a:lstStyle/>
                    <a:p>
                      <a:r>
                        <a:rPr lang="en-US" dirty="0">
                          <a:latin typeface="Arial Unicode MS" panose="020B0604020202020204" pitchFamily="34" charset="-128"/>
                        </a:rPr>
                        <a:t>word</a:t>
                      </a:r>
                    </a:p>
                  </a:txBody>
                  <a:tcPr/>
                </a:tc>
                <a:tc>
                  <a:txBody>
                    <a:bodyPr/>
                    <a:lstStyle/>
                    <a:p>
                      <a:r>
                        <a:rPr lang="en-US" dirty="0" err="1">
                          <a:latin typeface="Arial Unicode MS" panose="020B0604020202020204" pitchFamily="34" charset="-128"/>
                        </a:rPr>
                        <a:t>freq</a:t>
                      </a:r>
                      <a:endParaRPr lang="en-US" dirty="0">
                        <a:latin typeface="Arial Unicode MS" panose="020B0604020202020204" pitchFamily="34" charset="-128"/>
                      </a:endParaRPr>
                    </a:p>
                  </a:txBody>
                  <a:tcPr/>
                </a:tc>
                <a:extLst>
                  <a:ext uri="{0D108BD9-81ED-4DB2-BD59-A6C34878D82A}">
                    <a16:rowId xmlns:a16="http://schemas.microsoft.com/office/drawing/2014/main" val="10000"/>
                  </a:ext>
                </a:extLst>
              </a:tr>
              <a:tr h="370840">
                <a:tc>
                  <a:txBody>
                    <a:bodyPr/>
                    <a:lstStyle/>
                    <a:p>
                      <a:r>
                        <a:rPr lang="en-US" dirty="0">
                          <a:latin typeface="Arial Unicode MS" panose="020B0604020202020204" pitchFamily="34" charset="-128"/>
                        </a:rPr>
                        <a:t>Term1</a:t>
                      </a:r>
                    </a:p>
                  </a:txBody>
                  <a:tcPr/>
                </a:tc>
                <a:tc>
                  <a:txBody>
                    <a:bodyPr/>
                    <a:lstStyle/>
                    <a:p>
                      <a:r>
                        <a:rPr lang="en-US" dirty="0">
                          <a:latin typeface="Arial Unicode MS" panose="020B0604020202020204" pitchFamily="34" charset="-128"/>
                        </a:rPr>
                        <a:t>2</a:t>
                      </a:r>
                    </a:p>
                  </a:txBody>
                  <a:tcPr/>
                </a:tc>
                <a:extLst>
                  <a:ext uri="{0D108BD9-81ED-4DB2-BD59-A6C34878D82A}">
                    <a16:rowId xmlns:a16="http://schemas.microsoft.com/office/drawing/2014/main" val="10001"/>
                  </a:ext>
                </a:extLst>
              </a:tr>
              <a:tr h="370840">
                <a:tc>
                  <a:txBody>
                    <a:bodyPr/>
                    <a:lstStyle/>
                    <a:p>
                      <a:r>
                        <a:rPr lang="en-US" dirty="0">
                          <a:latin typeface="Arial Unicode MS" panose="020B0604020202020204" pitchFamily="34" charset="-128"/>
                        </a:rPr>
                        <a:t>Term2</a:t>
                      </a:r>
                    </a:p>
                  </a:txBody>
                  <a:tcPr/>
                </a:tc>
                <a:tc>
                  <a:txBody>
                    <a:bodyPr/>
                    <a:lstStyle/>
                    <a:p>
                      <a:r>
                        <a:rPr lang="en-US" dirty="0">
                          <a:latin typeface="Arial Unicode MS" panose="020B0604020202020204" pitchFamily="34" charset="-128"/>
                        </a:rPr>
                        <a:t>1</a:t>
                      </a:r>
                    </a:p>
                  </a:txBody>
                  <a:tcPr/>
                </a:tc>
                <a:extLst>
                  <a:ext uri="{0D108BD9-81ED-4DB2-BD59-A6C34878D82A}">
                    <a16:rowId xmlns:a16="http://schemas.microsoft.com/office/drawing/2014/main" val="10002"/>
                  </a:ext>
                </a:extLst>
              </a:tr>
              <a:tr h="370840">
                <a:tc>
                  <a:txBody>
                    <a:bodyPr/>
                    <a:lstStyle/>
                    <a:p>
                      <a:r>
                        <a:rPr lang="en-US" dirty="0">
                          <a:latin typeface="Arial Unicode MS" panose="020B0604020202020204" pitchFamily="34" charset="-128"/>
                        </a:rPr>
                        <a:t>Term3</a:t>
                      </a:r>
                    </a:p>
                  </a:txBody>
                  <a:tcPr/>
                </a:tc>
                <a:tc>
                  <a:txBody>
                    <a:bodyPr/>
                    <a:lstStyle/>
                    <a:p>
                      <a:r>
                        <a:rPr lang="en-US" dirty="0">
                          <a:latin typeface="Arial Unicode MS" panose="020B0604020202020204" pitchFamily="34" charset="-128"/>
                        </a:rPr>
                        <a:t>3</a:t>
                      </a:r>
                    </a:p>
                  </a:txBody>
                  <a:tcPr/>
                </a:tc>
                <a:extLst>
                  <a:ext uri="{0D108BD9-81ED-4DB2-BD59-A6C34878D82A}">
                    <a16:rowId xmlns:a16="http://schemas.microsoft.com/office/drawing/2014/main" val="10003"/>
                  </a:ext>
                </a:extLst>
              </a:tr>
              <a:tr h="370840">
                <a:tc>
                  <a:txBody>
                    <a:bodyPr/>
                    <a:lstStyle/>
                    <a:p>
                      <a:r>
                        <a:rPr lang="en-US" dirty="0">
                          <a:latin typeface="Arial Unicode MS" panose="020B0604020202020204" pitchFamily="34" charset="-128"/>
                        </a:rPr>
                        <a:t>Term4</a:t>
                      </a:r>
                    </a:p>
                  </a:txBody>
                  <a:tcPr/>
                </a:tc>
                <a:tc>
                  <a:txBody>
                    <a:bodyPr/>
                    <a:lstStyle/>
                    <a:p>
                      <a:r>
                        <a:rPr lang="en-US" dirty="0">
                          <a:latin typeface="Arial Unicode MS" panose="020B0604020202020204" pitchFamily="34" charset="-128"/>
                        </a:rPr>
                        <a:t>3</a:t>
                      </a:r>
                    </a:p>
                  </a:txBody>
                  <a:tcPr/>
                </a:tc>
                <a:extLst>
                  <a:ext uri="{0D108BD9-81ED-4DB2-BD59-A6C34878D82A}">
                    <a16:rowId xmlns:a16="http://schemas.microsoft.com/office/drawing/2014/main" val="10004"/>
                  </a:ext>
                </a:extLst>
              </a:tr>
              <a:tr h="370840">
                <a:tc>
                  <a:txBody>
                    <a:bodyPr/>
                    <a:lstStyle/>
                    <a:p>
                      <a:r>
                        <a:rPr lang="en-US" dirty="0">
                          <a:latin typeface="Arial Unicode MS" panose="020B0604020202020204" pitchFamily="34" charset="-128"/>
                        </a:rPr>
                        <a:t>Term …</a:t>
                      </a:r>
                    </a:p>
                  </a:txBody>
                  <a:tcPr/>
                </a:tc>
                <a:tc>
                  <a:txBody>
                    <a:bodyPr/>
                    <a:lstStyle/>
                    <a:p>
                      <a:r>
                        <a:rPr lang="en-US" dirty="0">
                          <a:latin typeface="Arial Unicode MS" panose="020B0604020202020204" pitchFamily="34" charset="-128"/>
                        </a:rPr>
                        <a:t>2</a:t>
                      </a:r>
                    </a:p>
                  </a:txBody>
                  <a:tcPr/>
                </a:tc>
                <a:extLst>
                  <a:ext uri="{0D108BD9-81ED-4DB2-BD59-A6C34878D82A}">
                    <a16:rowId xmlns:a16="http://schemas.microsoft.com/office/drawing/2014/main" val="10005"/>
                  </a:ext>
                </a:extLst>
              </a:tr>
              <a:tr h="370840">
                <a:tc>
                  <a:txBody>
                    <a:bodyPr/>
                    <a:lstStyle/>
                    <a:p>
                      <a:r>
                        <a:rPr lang="en-US" dirty="0" err="1">
                          <a:latin typeface="Arial Unicode MS" panose="020B0604020202020204" pitchFamily="34" charset="-128"/>
                        </a:rPr>
                        <a:t>Term_n</a:t>
                      </a:r>
                      <a:endParaRPr lang="en-US" dirty="0">
                        <a:latin typeface="Arial Unicode MS" panose="020B0604020202020204" pitchFamily="34" charset="-128"/>
                      </a:endParaRPr>
                    </a:p>
                  </a:txBody>
                  <a:tcPr/>
                </a:tc>
                <a:tc>
                  <a:txBody>
                    <a:bodyPr/>
                    <a:lstStyle/>
                    <a:p>
                      <a:r>
                        <a:rPr lang="en-US" dirty="0">
                          <a:latin typeface="Arial Unicode MS" panose="020B0604020202020204" pitchFamily="34" charset="-128"/>
                        </a:rPr>
                        <a:t>1</a:t>
                      </a:r>
                    </a:p>
                  </a:txBody>
                  <a:tcPr/>
                </a:tc>
                <a:extLst>
                  <a:ext uri="{0D108BD9-81ED-4DB2-BD59-A6C34878D82A}">
                    <a16:rowId xmlns:a16="http://schemas.microsoft.com/office/drawing/2014/main" val="2852717402"/>
                  </a:ext>
                </a:extLst>
              </a:tr>
            </a:tbl>
          </a:graphicData>
        </a:graphic>
      </p:graphicFrame>
    </p:spTree>
    <p:extLst>
      <p:ext uri="{BB962C8B-B14F-4D97-AF65-F5344CB8AC3E}">
        <p14:creationId xmlns:p14="http://schemas.microsoft.com/office/powerpoint/2010/main" val="33234293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p:cNvSpPr>
            <a:spLocks noGrp="1"/>
          </p:cNvSpPr>
          <p:nvPr>
            <p:ph type="title"/>
          </p:nvPr>
        </p:nvSpPr>
        <p:spPr/>
        <p:txBody>
          <a:bodyPr/>
          <a:lstStyle/>
          <a:p>
            <a:r>
              <a:rPr lang="en-US"/>
              <a:t>Setting a pre-made color palette for your WC</a:t>
            </a:r>
            <a:endParaRPr lang="en-US" dirty="0"/>
          </a:p>
        </p:txBody>
      </p:sp>
      <p:sp>
        <p:nvSpPr>
          <p:cNvPr id="5" name="Footer Placeholder 4"/>
          <p:cNvSpPr>
            <a:spLocks noGrp="1"/>
          </p:cNvSpPr>
          <p:nvPr>
            <p:ph type="ftr" sz="quarter" idx="3"/>
          </p:nvPr>
        </p:nvSpPr>
        <p:spPr/>
        <p:txBody>
          <a:bodyPr/>
          <a:lstStyle/>
          <a:p>
            <a:r>
              <a:rPr lang="en-US"/>
              <a:t>Kwartler</a:t>
            </a:r>
            <a:endParaRPr lang="en-US" dirty="0"/>
          </a:p>
        </p:txBody>
      </p:sp>
      <p:sp>
        <p:nvSpPr>
          <p:cNvPr id="4" name="Slide Number Placeholder 3"/>
          <p:cNvSpPr>
            <a:spLocks noGrp="1"/>
          </p:cNvSpPr>
          <p:nvPr>
            <p:ph type="sldNum" sz="quarter" idx="4"/>
          </p:nvPr>
        </p:nvSpPr>
        <p:spPr/>
        <p:txBody>
          <a:bodyPr/>
          <a:lstStyle/>
          <a:p>
            <a:fld id="{37290FF7-652B-4475-AEAB-8B1A5D23AE09}" type="slidenum">
              <a:rPr lang="en-US" smtClean="0"/>
              <a:pPr/>
              <a:t>39</a:t>
            </a:fld>
            <a:endParaRPr lang="en-US"/>
          </a:p>
        </p:txBody>
      </p:sp>
      <p:sp>
        <p:nvSpPr>
          <p:cNvPr id="6" name="Rectangle 5">
            <a:extLst>
              <a:ext uri="{FF2B5EF4-FFF2-40B4-BE49-F238E27FC236}">
                <a16:creationId xmlns:a16="http://schemas.microsoft.com/office/drawing/2014/main" id="{C246B7D1-453D-487B-B491-889C15C460F6}"/>
              </a:ext>
            </a:extLst>
          </p:cNvPr>
          <p:cNvSpPr/>
          <p:nvPr/>
        </p:nvSpPr>
        <p:spPr>
          <a:xfrm>
            <a:off x="141891" y="1599398"/>
            <a:ext cx="8860219" cy="3855462"/>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t" anchorCtr="0"/>
          <a:lstStyle/>
          <a:p>
            <a:pPr defTabSz="457200"/>
            <a:endParaRPr lang="en-US" sz="1000" dirty="0">
              <a:solidFill>
                <a:schemeClr val="tx2"/>
              </a:solidFill>
            </a:endParaRPr>
          </a:p>
        </p:txBody>
      </p:sp>
      <p:sp>
        <p:nvSpPr>
          <p:cNvPr id="9" name="Rectangle 8">
            <a:extLst>
              <a:ext uri="{FF2B5EF4-FFF2-40B4-BE49-F238E27FC236}">
                <a16:creationId xmlns:a16="http://schemas.microsoft.com/office/drawing/2014/main" id="{6C96FE2F-7E19-48CB-9942-7E78DB569A67}"/>
              </a:ext>
            </a:extLst>
          </p:cNvPr>
          <p:cNvSpPr/>
          <p:nvPr/>
        </p:nvSpPr>
        <p:spPr>
          <a:xfrm>
            <a:off x="254029" y="1703732"/>
            <a:ext cx="8633011" cy="1754326"/>
          </a:xfrm>
          <a:prstGeom prst="rect">
            <a:avLst/>
          </a:prstGeom>
          <a:solidFill>
            <a:schemeClr val="bg1">
              <a:lumMod val="85000"/>
            </a:schemeClr>
          </a:solidFill>
        </p:spPr>
        <p:txBody>
          <a:bodyPr wrap="square">
            <a:spAutoFit/>
          </a:bodyPr>
          <a:lstStyle/>
          <a:p>
            <a:r>
              <a:rPr lang="en-US" dirty="0">
                <a:latin typeface="Consolas" panose="020B0609020204030204" pitchFamily="49" charset="0"/>
                <a:cs typeface="Consolas" panose="020B0609020204030204" pitchFamily="49" charset="0"/>
              </a:rPr>
              <a:t># Review all </a:t>
            </a:r>
            <a:r>
              <a:rPr lang="en-US" dirty="0" err="1">
                <a:latin typeface="Consolas" panose="020B0609020204030204" pitchFamily="49" charset="0"/>
                <a:cs typeface="Consolas" panose="020B0609020204030204" pitchFamily="49" charset="0"/>
              </a:rPr>
              <a:t>Pallettes</a:t>
            </a:r>
            <a:endParaRPr lang="en-US" dirty="0">
              <a:latin typeface="Consolas" panose="020B0609020204030204" pitchFamily="49" charset="0"/>
              <a:cs typeface="Consolas" panose="020B0609020204030204" pitchFamily="49" charset="0"/>
            </a:endParaRPr>
          </a:p>
          <a:p>
            <a:r>
              <a:rPr lang="en-US" dirty="0" err="1">
                <a:latin typeface="Consolas" panose="020B0609020204030204" pitchFamily="49" charset="0"/>
                <a:cs typeface="Consolas" panose="020B0609020204030204" pitchFamily="49" charset="0"/>
              </a:rPr>
              <a:t>display.brewer.all</a:t>
            </a:r>
            <a:r>
              <a:rPr lang="en-US" dirty="0">
                <a:latin typeface="Consolas" panose="020B0609020204030204" pitchFamily="49" charset="0"/>
                <a:cs typeface="Consolas" panose="020B0609020204030204" pitchFamily="49" charset="0"/>
              </a:rPr>
              <a:t>()</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Choose a color &amp; drop light ones</a:t>
            </a:r>
          </a:p>
          <a:p>
            <a:r>
              <a:rPr lang="en-US" dirty="0">
                <a:solidFill>
                  <a:srgbClr val="FF0000"/>
                </a:solidFill>
                <a:latin typeface="Consolas" panose="020B0609020204030204" pitchFamily="49" charset="0"/>
                <a:cs typeface="Consolas" panose="020B0609020204030204" pitchFamily="49" charset="0"/>
              </a:rPr>
              <a:t>pal &lt;- </a:t>
            </a:r>
            <a:r>
              <a:rPr lang="en-US" dirty="0" err="1">
                <a:solidFill>
                  <a:srgbClr val="FF0000"/>
                </a:solidFill>
                <a:latin typeface="Consolas" panose="020B0609020204030204" pitchFamily="49" charset="0"/>
                <a:cs typeface="Consolas" panose="020B0609020204030204" pitchFamily="49" charset="0"/>
              </a:rPr>
              <a:t>brewer.pal</a:t>
            </a:r>
            <a:r>
              <a:rPr lang="en-US" dirty="0">
                <a:solidFill>
                  <a:srgbClr val="FF0000"/>
                </a:solidFill>
                <a:latin typeface="Consolas" panose="020B0609020204030204" pitchFamily="49" charset="0"/>
                <a:cs typeface="Consolas" panose="020B0609020204030204" pitchFamily="49" charset="0"/>
              </a:rPr>
              <a:t>(8, "Blues")</a:t>
            </a:r>
          </a:p>
          <a:p>
            <a:r>
              <a:rPr lang="en-US" dirty="0">
                <a:latin typeface="Consolas" panose="020B0609020204030204" pitchFamily="49" charset="0"/>
                <a:cs typeface="Consolas" panose="020B0609020204030204" pitchFamily="49" charset="0"/>
              </a:rPr>
              <a:t>pal &lt;- pal[-(1:2)]</a:t>
            </a:r>
          </a:p>
        </p:txBody>
      </p:sp>
      <p:cxnSp>
        <p:nvCxnSpPr>
          <p:cNvPr id="10" name="Straight Connector 9">
            <a:extLst>
              <a:ext uri="{FF2B5EF4-FFF2-40B4-BE49-F238E27FC236}">
                <a16:creationId xmlns:a16="http://schemas.microsoft.com/office/drawing/2014/main" id="{BC861B5A-D33E-554B-9A67-71C710302914}"/>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43D161A-6B5C-AB49-B67A-372B398FE1B7}"/>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96310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p:cNvSpPr>
            <a:spLocks noGrp="1"/>
          </p:cNvSpPr>
          <p:nvPr>
            <p:ph type="title"/>
          </p:nvPr>
        </p:nvSpPr>
        <p:spPr/>
        <p:txBody>
          <a:bodyPr/>
          <a:lstStyle/>
          <a:p>
            <a:r>
              <a:rPr lang="en-US"/>
              <a:t>Setting a pre-made color palette for your WC</a:t>
            </a:r>
            <a:endParaRPr lang="en-US" dirty="0"/>
          </a:p>
        </p:txBody>
      </p:sp>
      <p:sp>
        <p:nvSpPr>
          <p:cNvPr id="5" name="Footer Placeholder 4"/>
          <p:cNvSpPr>
            <a:spLocks noGrp="1"/>
          </p:cNvSpPr>
          <p:nvPr>
            <p:ph type="ftr" sz="quarter" idx="3"/>
          </p:nvPr>
        </p:nvSpPr>
        <p:spPr/>
        <p:txBody>
          <a:bodyPr/>
          <a:lstStyle/>
          <a:p>
            <a:r>
              <a:rPr lang="en-US"/>
              <a:t>Kwartler</a:t>
            </a:r>
            <a:endParaRPr lang="en-US" dirty="0"/>
          </a:p>
        </p:txBody>
      </p:sp>
      <p:sp>
        <p:nvSpPr>
          <p:cNvPr id="4" name="Slide Number Placeholder 3"/>
          <p:cNvSpPr>
            <a:spLocks noGrp="1"/>
          </p:cNvSpPr>
          <p:nvPr>
            <p:ph type="sldNum" sz="quarter" idx="4"/>
          </p:nvPr>
        </p:nvSpPr>
        <p:spPr/>
        <p:txBody>
          <a:bodyPr/>
          <a:lstStyle/>
          <a:p>
            <a:fld id="{37290FF7-652B-4475-AEAB-8B1A5D23AE09}" type="slidenum">
              <a:rPr lang="en-US" smtClean="0"/>
              <a:pPr/>
              <a:t>40</a:t>
            </a:fld>
            <a:endParaRPr lang="en-US"/>
          </a:p>
        </p:txBody>
      </p:sp>
      <p:sp>
        <p:nvSpPr>
          <p:cNvPr id="6" name="Rectangle 5">
            <a:extLst>
              <a:ext uri="{FF2B5EF4-FFF2-40B4-BE49-F238E27FC236}">
                <a16:creationId xmlns:a16="http://schemas.microsoft.com/office/drawing/2014/main" id="{C246B7D1-453D-487B-B491-889C15C460F6}"/>
              </a:ext>
            </a:extLst>
          </p:cNvPr>
          <p:cNvSpPr/>
          <p:nvPr/>
        </p:nvSpPr>
        <p:spPr>
          <a:xfrm>
            <a:off x="141891" y="1599398"/>
            <a:ext cx="8860219" cy="3855462"/>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t" anchorCtr="0"/>
          <a:lstStyle/>
          <a:p>
            <a:pPr defTabSz="457200"/>
            <a:endParaRPr lang="en-US" sz="1000" dirty="0">
              <a:solidFill>
                <a:schemeClr val="tx2"/>
              </a:solidFill>
            </a:endParaRPr>
          </a:p>
        </p:txBody>
      </p:sp>
      <p:sp>
        <p:nvSpPr>
          <p:cNvPr id="7" name="Rectangle 6">
            <a:extLst>
              <a:ext uri="{FF2B5EF4-FFF2-40B4-BE49-F238E27FC236}">
                <a16:creationId xmlns:a16="http://schemas.microsoft.com/office/drawing/2014/main" id="{2C95F845-8979-407C-9F4E-6FBCB9476B2D}"/>
              </a:ext>
            </a:extLst>
          </p:cNvPr>
          <p:cNvSpPr/>
          <p:nvPr/>
        </p:nvSpPr>
        <p:spPr>
          <a:xfrm>
            <a:off x="141890" y="1245467"/>
            <a:ext cx="8860220" cy="331076"/>
          </a:xfrm>
          <a:prstGeom prst="rect">
            <a:avLst/>
          </a:prstGeom>
          <a:solidFill>
            <a:schemeClr val="accent3"/>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bg1"/>
                </a:solidFill>
              </a:rPr>
              <a:t>In R…</a:t>
            </a:r>
          </a:p>
        </p:txBody>
      </p:sp>
      <p:pic>
        <p:nvPicPr>
          <p:cNvPr id="10" name="Picture 9" descr="Screen Shot 2015-05-28 at 7.25.09 PM.png">
            <a:extLst>
              <a:ext uri="{FF2B5EF4-FFF2-40B4-BE49-F238E27FC236}">
                <a16:creationId xmlns:a16="http://schemas.microsoft.com/office/drawing/2014/main" id="{52DB3460-B2F3-4D1D-B3EF-20DB130BE3BD}"/>
              </a:ext>
            </a:extLst>
          </p:cNvPr>
          <p:cNvPicPr>
            <a:picLocks noChangeAspect="1"/>
          </p:cNvPicPr>
          <p:nvPr/>
        </p:nvPicPr>
        <p:blipFill rotWithShape="1">
          <a:blip r:embed="rId2">
            <a:extLst>
              <a:ext uri="{28A0092B-C50C-407E-A947-70E740481C1C}">
                <a14:useLocalDpi xmlns:a14="http://schemas.microsoft.com/office/drawing/2010/main" val="0"/>
              </a:ext>
            </a:extLst>
          </a:blip>
          <a:srcRect r="23884" b="50542"/>
          <a:stretch/>
        </p:blipFill>
        <p:spPr>
          <a:xfrm>
            <a:off x="311150" y="1767278"/>
            <a:ext cx="8659429" cy="3529936"/>
          </a:xfrm>
          <a:prstGeom prst="rect">
            <a:avLst/>
          </a:prstGeom>
        </p:spPr>
      </p:pic>
      <p:sp>
        <p:nvSpPr>
          <p:cNvPr id="8" name="Right Arrow 7"/>
          <p:cNvSpPr/>
          <p:nvPr/>
        </p:nvSpPr>
        <p:spPr>
          <a:xfrm>
            <a:off x="63064" y="5060730"/>
            <a:ext cx="394138" cy="14188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A396226C-2EF2-C348-8428-21D06B273E2A}"/>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315B933-9FA3-F44D-B34F-7C379FA4A3F6}"/>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61878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6/2/26</a:t>
            </a:fld>
            <a:endParaRPr lang="en-US"/>
          </a:p>
        </p:txBody>
      </p:sp>
      <p:sp>
        <p:nvSpPr>
          <p:cNvPr id="3" name="Title 2"/>
          <p:cNvSpPr>
            <a:spLocks noGrp="1"/>
          </p:cNvSpPr>
          <p:nvPr>
            <p:ph type="title"/>
          </p:nvPr>
        </p:nvSpPr>
        <p:spPr/>
        <p:txBody>
          <a:bodyPr/>
          <a:lstStyle/>
          <a:p>
            <a:r>
              <a:rPr lang="en-US" dirty="0"/>
              <a:t>Let’s practice!</a:t>
            </a:r>
          </a:p>
        </p:txBody>
      </p:sp>
      <p:sp>
        <p:nvSpPr>
          <p:cNvPr id="4" name="Footer Placeholder 3"/>
          <p:cNvSpPr>
            <a:spLocks noGrp="1"/>
          </p:cNvSpPr>
          <p:nvPr>
            <p:ph type="ftr" sz="quarter" idx="3"/>
          </p:nvPr>
        </p:nvSpPr>
        <p:spPr/>
        <p:txBody>
          <a:bodyPr/>
          <a:lstStyle/>
          <a:p>
            <a:r>
              <a:rPr lang="en-US"/>
              <a:t>Kwartler</a:t>
            </a:r>
            <a:endParaRPr lang="en-US" dirty="0"/>
          </a:p>
        </p:txBody>
      </p:sp>
      <p:sp>
        <p:nvSpPr>
          <p:cNvPr id="5" name="Slide Number Placeholder 4"/>
          <p:cNvSpPr>
            <a:spLocks noGrp="1"/>
          </p:cNvSpPr>
          <p:nvPr>
            <p:ph type="sldNum" sz="quarter" idx="4"/>
          </p:nvPr>
        </p:nvSpPr>
        <p:spPr/>
        <p:txBody>
          <a:bodyPr/>
          <a:lstStyle/>
          <a:p>
            <a:fld id="{37290FF7-652B-4475-AEAB-8B1A5D23AE09}" type="slidenum">
              <a:rPr lang="en-US" smtClean="0"/>
              <a:pPr/>
              <a:t>41</a:t>
            </a:fld>
            <a:endParaRPr lang="en-US" dirty="0"/>
          </a:p>
        </p:txBody>
      </p:sp>
      <p:sp>
        <p:nvSpPr>
          <p:cNvPr id="6" name="Title 1">
            <a:extLst>
              <a:ext uri="{FF2B5EF4-FFF2-40B4-BE49-F238E27FC236}">
                <a16:creationId xmlns:a16="http://schemas.microsoft.com/office/drawing/2014/main" id="{E8480011-97CA-4140-B847-37A78687DD1B}"/>
              </a:ext>
            </a:extLst>
          </p:cNvPr>
          <p:cNvSpPr txBox="1">
            <a:spLocks/>
          </p:cNvSpPr>
          <p:nvPr/>
        </p:nvSpPr>
        <p:spPr>
          <a:xfrm>
            <a:off x="628650" y="1725003"/>
            <a:ext cx="8026619" cy="1901066"/>
          </a:xfrm>
          <a:prstGeom prst="rect">
            <a:avLst/>
          </a:prstGeom>
        </p:spPr>
        <p:txBody>
          <a:bodyP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dirty="0" err="1"/>
              <a:t>D_SimpleWordCloud.R</a:t>
            </a:r>
            <a:endParaRPr lang="en-US" dirty="0"/>
          </a:p>
        </p:txBody>
      </p:sp>
      <p:cxnSp>
        <p:nvCxnSpPr>
          <p:cNvPr id="7" name="Straight Connector 6">
            <a:extLst>
              <a:ext uri="{FF2B5EF4-FFF2-40B4-BE49-F238E27FC236}">
                <a16:creationId xmlns:a16="http://schemas.microsoft.com/office/drawing/2014/main" id="{B2AE2AB6-D339-4749-BB78-CA72959CABAB}"/>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95B00FC-DDE3-C44B-B849-21D38B553FE5}"/>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57737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6/2/26</a:t>
            </a:fld>
            <a:endParaRPr lang="en-US"/>
          </a:p>
        </p:txBody>
      </p:sp>
      <p:sp>
        <p:nvSpPr>
          <p:cNvPr id="3" name="Title 2"/>
          <p:cNvSpPr>
            <a:spLocks noGrp="1"/>
          </p:cNvSpPr>
          <p:nvPr>
            <p:ph type="title"/>
          </p:nvPr>
        </p:nvSpPr>
        <p:spPr/>
        <p:txBody>
          <a:bodyPr/>
          <a:lstStyle/>
          <a:p>
            <a:r>
              <a:rPr lang="en-US" dirty="0" err="1"/>
              <a:t>D_SimpleWordCloud.R</a:t>
            </a:r>
            <a:endParaRPr lang="en-US" dirty="0"/>
          </a:p>
        </p:txBody>
      </p:sp>
      <p:sp>
        <p:nvSpPr>
          <p:cNvPr id="4" name="Footer Placeholder 3"/>
          <p:cNvSpPr>
            <a:spLocks noGrp="1"/>
          </p:cNvSpPr>
          <p:nvPr>
            <p:ph type="ftr" sz="quarter" idx="3"/>
          </p:nvPr>
        </p:nvSpPr>
        <p:spPr/>
        <p:txBody>
          <a:bodyPr/>
          <a:lstStyle/>
          <a:p>
            <a:r>
              <a:rPr lang="en-US"/>
              <a:t>Kwartler</a:t>
            </a:r>
            <a:endParaRPr lang="en-US" dirty="0"/>
          </a:p>
        </p:txBody>
      </p:sp>
      <p:sp>
        <p:nvSpPr>
          <p:cNvPr id="5" name="Slide Number Placeholder 4"/>
          <p:cNvSpPr>
            <a:spLocks noGrp="1"/>
          </p:cNvSpPr>
          <p:nvPr>
            <p:ph type="sldNum" sz="quarter" idx="4"/>
          </p:nvPr>
        </p:nvSpPr>
        <p:spPr/>
        <p:txBody>
          <a:bodyPr/>
          <a:lstStyle/>
          <a:p>
            <a:fld id="{37290FF7-652B-4475-AEAB-8B1A5D23AE09}" type="slidenum">
              <a:rPr lang="en-US" smtClean="0"/>
              <a:pPr/>
              <a:t>42</a:t>
            </a:fld>
            <a:endParaRPr lang="en-US" dirty="0"/>
          </a:p>
        </p:txBody>
      </p:sp>
      <p:pic>
        <p:nvPicPr>
          <p:cNvPr id="6" name="Picture 5"/>
          <p:cNvPicPr>
            <a:picLocks noChangeAspect="1"/>
          </p:cNvPicPr>
          <p:nvPr/>
        </p:nvPicPr>
        <p:blipFill rotWithShape="1">
          <a:blip r:embed="rId2"/>
          <a:srcRect l="24178" t="7772" r="25822" b="8662"/>
          <a:stretch/>
        </p:blipFill>
        <p:spPr>
          <a:xfrm>
            <a:off x="300251" y="1428430"/>
            <a:ext cx="4121624" cy="4047803"/>
          </a:xfrm>
          <a:prstGeom prst="rect">
            <a:avLst/>
          </a:prstGeom>
        </p:spPr>
      </p:pic>
      <p:sp>
        <p:nvSpPr>
          <p:cNvPr id="7" name="TextBox 6"/>
          <p:cNvSpPr txBox="1"/>
          <p:nvPr/>
        </p:nvSpPr>
        <p:spPr>
          <a:xfrm>
            <a:off x="4626592" y="1857580"/>
            <a:ext cx="4517408" cy="2800767"/>
          </a:xfrm>
          <a:prstGeom prst="rect">
            <a:avLst/>
          </a:prstGeom>
          <a:noFill/>
        </p:spPr>
        <p:txBody>
          <a:bodyPr wrap="square" rtlCol="0">
            <a:spAutoFit/>
          </a:bodyPr>
          <a:lstStyle/>
          <a:p>
            <a:pPr marL="109538" indent="-109538" defTabSz="457200">
              <a:buFont typeface="Arial"/>
              <a:buChar char="•"/>
            </a:pPr>
            <a:r>
              <a:rPr lang="en-US" sz="16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Bigram Tokenization has captured “</a:t>
            </a:r>
            <a:r>
              <a:rPr lang="en-US" sz="1600" kern="1200" dirty="0" err="1">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marvin</a:t>
            </a:r>
            <a:r>
              <a:rPr lang="en-US" sz="16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 </a:t>
            </a:r>
            <a:r>
              <a:rPr lang="en-US" sz="1600" kern="1200" dirty="0" err="1">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gaye</a:t>
            </a:r>
            <a:r>
              <a:rPr lang="en-US" sz="16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a:t>
            </a:r>
          </a:p>
          <a:p>
            <a:pPr marL="109538" indent="-109538" defTabSz="457200">
              <a:buFont typeface="Arial"/>
              <a:buChar char="•"/>
            </a:pPr>
            <a:endParaRPr lang="en-US" sz="16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endParaRPr>
          </a:p>
          <a:p>
            <a:pPr marL="109538" indent="-109538" defTabSz="457200">
              <a:buFont typeface="Arial"/>
              <a:buChar char="•"/>
            </a:pPr>
            <a:r>
              <a:rPr lang="en-US" sz="16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A word cloud is a frequency visualization.  The larger the term (or bigram here) the more frequent the term.</a:t>
            </a:r>
          </a:p>
          <a:p>
            <a:pPr marL="109538" indent="-109538" defTabSz="457200">
              <a:buFont typeface="Arial"/>
              <a:buChar char="•"/>
            </a:pPr>
            <a:endParaRPr lang="en-US" sz="16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endParaRPr>
          </a:p>
          <a:p>
            <a:pPr marL="109538" indent="-109538" defTabSz="457200">
              <a:buFont typeface="Arial"/>
              <a:buChar char="•"/>
            </a:pPr>
            <a:r>
              <a:rPr lang="en-US" sz="16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You may get warnings if certain tokens are to large to be plotted in the graphics device.</a:t>
            </a:r>
          </a:p>
          <a:p>
            <a:pPr marL="109538" indent="-109538" defTabSz="457200">
              <a:buFont typeface="Arial"/>
              <a:buChar char="•"/>
            </a:pPr>
            <a:endParaRPr lang="en-US" sz="16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endParaRPr>
          </a:p>
          <a:p>
            <a:pPr marL="109538" indent="-109538" defTabSz="457200">
              <a:buFont typeface="Arial"/>
              <a:buChar char="•"/>
            </a:pPr>
            <a:r>
              <a:rPr lang="en-US" sz="16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Be careful with your preprocessing steps!</a:t>
            </a:r>
          </a:p>
        </p:txBody>
      </p:sp>
      <p:cxnSp>
        <p:nvCxnSpPr>
          <p:cNvPr id="8" name="Straight Connector 7"/>
          <p:cNvCxnSpPr/>
          <p:nvPr/>
        </p:nvCxnSpPr>
        <p:spPr>
          <a:xfrm flipV="1">
            <a:off x="4443663" y="1346307"/>
            <a:ext cx="0" cy="4507832"/>
          </a:xfrm>
          <a:prstGeom prst="line">
            <a:avLst/>
          </a:prstGeom>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189F7E83-934D-C449-BAAD-ECBEA317C616}"/>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9213516-DED1-0C4F-8AB5-AEF020DB9BF4}"/>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429085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6/2/26</a:t>
            </a:fld>
            <a:endParaRPr lang="en-US"/>
          </a:p>
        </p:txBody>
      </p:sp>
      <p:sp>
        <p:nvSpPr>
          <p:cNvPr id="3" name="Title 2"/>
          <p:cNvSpPr>
            <a:spLocks noGrp="1"/>
          </p:cNvSpPr>
          <p:nvPr>
            <p:ph type="title"/>
          </p:nvPr>
        </p:nvSpPr>
        <p:spPr/>
        <p:txBody>
          <a:bodyPr/>
          <a:lstStyle/>
          <a:p>
            <a:r>
              <a:rPr lang="en-US" dirty="0" err="1"/>
              <a:t>D_SimpleWordCloud.R</a:t>
            </a:r>
            <a:endParaRPr lang="en-US" dirty="0"/>
          </a:p>
        </p:txBody>
      </p:sp>
      <p:sp>
        <p:nvSpPr>
          <p:cNvPr id="4" name="Footer Placeholder 3"/>
          <p:cNvSpPr>
            <a:spLocks noGrp="1"/>
          </p:cNvSpPr>
          <p:nvPr>
            <p:ph type="ftr" sz="quarter" idx="3"/>
          </p:nvPr>
        </p:nvSpPr>
        <p:spPr/>
        <p:txBody>
          <a:bodyPr/>
          <a:lstStyle/>
          <a:p>
            <a:r>
              <a:rPr lang="en-US"/>
              <a:t>Kwartler</a:t>
            </a:r>
            <a:endParaRPr lang="en-US" dirty="0"/>
          </a:p>
        </p:txBody>
      </p:sp>
      <p:sp>
        <p:nvSpPr>
          <p:cNvPr id="5" name="Slide Number Placeholder 4"/>
          <p:cNvSpPr>
            <a:spLocks noGrp="1"/>
          </p:cNvSpPr>
          <p:nvPr>
            <p:ph type="sldNum" sz="quarter" idx="4"/>
          </p:nvPr>
        </p:nvSpPr>
        <p:spPr/>
        <p:txBody>
          <a:bodyPr/>
          <a:lstStyle/>
          <a:p>
            <a:fld id="{37290FF7-652B-4475-AEAB-8B1A5D23AE09}" type="slidenum">
              <a:rPr lang="en-US" smtClean="0"/>
              <a:pPr/>
              <a:t>43</a:t>
            </a:fld>
            <a:endParaRPr lang="en-US" dirty="0"/>
          </a:p>
        </p:txBody>
      </p:sp>
      <p:pic>
        <p:nvPicPr>
          <p:cNvPr id="6" name="Picture 5"/>
          <p:cNvPicPr>
            <a:picLocks noChangeAspect="1"/>
          </p:cNvPicPr>
          <p:nvPr/>
        </p:nvPicPr>
        <p:blipFill rotWithShape="1">
          <a:blip r:embed="rId2"/>
          <a:srcRect l="24178" t="7772" r="25822" b="8662"/>
          <a:stretch/>
        </p:blipFill>
        <p:spPr>
          <a:xfrm>
            <a:off x="300251" y="1846754"/>
            <a:ext cx="4121624" cy="4047803"/>
          </a:xfrm>
          <a:prstGeom prst="rect">
            <a:avLst/>
          </a:prstGeom>
        </p:spPr>
      </p:pic>
      <p:sp>
        <p:nvSpPr>
          <p:cNvPr id="7" name="Rectangle 6"/>
          <p:cNvSpPr/>
          <p:nvPr/>
        </p:nvSpPr>
        <p:spPr>
          <a:xfrm>
            <a:off x="216397" y="1124908"/>
            <a:ext cx="8510842" cy="646331"/>
          </a:xfrm>
          <a:prstGeom prst="rect">
            <a:avLst/>
          </a:prstGeom>
          <a:solidFill>
            <a:schemeClr val="bg1">
              <a:lumMod val="85000"/>
            </a:schemeClr>
          </a:solidFill>
        </p:spPr>
        <p:txBody>
          <a:bodyPr wrap="square">
            <a:spAutoFit/>
          </a:bodyPr>
          <a:lstStyle/>
          <a:p>
            <a:pPr defTabSz="457200"/>
            <a:r>
              <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In </a:t>
            </a:r>
            <a:r>
              <a:rPr lang="en-US" kern="1200" dirty="0" err="1">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qdaap</a:t>
            </a:r>
            <a:r>
              <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 the function </a:t>
            </a:r>
            <a:r>
              <a:rPr lang="en-US" kern="1200" dirty="0" err="1">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replace_symbol</a:t>
            </a:r>
            <a:r>
              <a:rPr lang="en-US"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 changes numeric with the generic string “number” so be careful with your preprocessing steps!</a:t>
            </a:r>
          </a:p>
        </p:txBody>
      </p:sp>
      <p:sp>
        <p:nvSpPr>
          <p:cNvPr id="8" name="Oval 7"/>
          <p:cNvSpPr/>
          <p:nvPr/>
        </p:nvSpPr>
        <p:spPr>
          <a:xfrm>
            <a:off x="2393684" y="1087717"/>
            <a:ext cx="1937380" cy="437258"/>
          </a:xfrm>
          <a:prstGeom prst="ellipse">
            <a:avLst/>
          </a:prstGeom>
          <a:noFill/>
          <a:ln w="28575" cmpd="sng">
            <a:solidFill>
              <a:srgbClr val="BA2D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kern="1200" dirty="0">
              <a:solidFill>
                <a:prstClr val="white"/>
              </a:solidFill>
              <a:latin typeface="Arial Unicode MS" panose="020B0604020202020204" pitchFamily="34" charset="-128"/>
            </a:endParaRPr>
          </a:p>
        </p:txBody>
      </p:sp>
      <p:pic>
        <p:nvPicPr>
          <p:cNvPr id="9" name="Picture 8"/>
          <p:cNvPicPr>
            <a:picLocks noChangeAspect="1"/>
          </p:cNvPicPr>
          <p:nvPr/>
        </p:nvPicPr>
        <p:blipFill rotWithShape="1">
          <a:blip r:embed="rId3"/>
          <a:srcRect l="26119" t="11075" r="27165" b="9931"/>
          <a:stretch/>
        </p:blipFill>
        <p:spPr>
          <a:xfrm>
            <a:off x="4812612" y="1914992"/>
            <a:ext cx="3914627" cy="3889613"/>
          </a:xfrm>
          <a:prstGeom prst="rect">
            <a:avLst/>
          </a:prstGeom>
        </p:spPr>
      </p:pic>
      <p:cxnSp>
        <p:nvCxnSpPr>
          <p:cNvPr id="10" name="Straight Connector 9"/>
          <p:cNvCxnSpPr/>
          <p:nvPr/>
        </p:nvCxnSpPr>
        <p:spPr>
          <a:xfrm flipV="1">
            <a:off x="4443663" y="1796717"/>
            <a:ext cx="0" cy="4507832"/>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468173" y="3384198"/>
            <a:ext cx="2142535" cy="358963"/>
          </a:xfrm>
          <a:prstGeom prst="ellipse">
            <a:avLst/>
          </a:prstGeom>
          <a:noFill/>
          <a:ln w="28575" cmpd="sng">
            <a:solidFill>
              <a:srgbClr val="BA2D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kern="1200" dirty="0">
              <a:solidFill>
                <a:prstClr val="white"/>
              </a:solidFill>
              <a:latin typeface="Arial Unicode MS" panose="020B0604020202020204" pitchFamily="34" charset="-128"/>
            </a:endParaRPr>
          </a:p>
        </p:txBody>
      </p:sp>
      <p:cxnSp>
        <p:nvCxnSpPr>
          <p:cNvPr id="12" name="Straight Connector 11">
            <a:extLst>
              <a:ext uri="{FF2B5EF4-FFF2-40B4-BE49-F238E27FC236}">
                <a16:creationId xmlns:a16="http://schemas.microsoft.com/office/drawing/2014/main" id="{5A505D25-DE9E-E445-92FA-A1A5BAB82D03}"/>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81F9A8C-567F-2344-B858-457D13016FD8}"/>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1872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6/2/26</a:t>
            </a:fld>
            <a:endParaRPr lang="en-US"/>
          </a:p>
        </p:txBody>
      </p:sp>
      <p:sp>
        <p:nvSpPr>
          <p:cNvPr id="3" name="Title 2"/>
          <p:cNvSpPr>
            <a:spLocks noGrp="1"/>
          </p:cNvSpPr>
          <p:nvPr>
            <p:ph type="title"/>
          </p:nvPr>
        </p:nvSpPr>
        <p:spPr/>
        <p:txBody>
          <a:bodyPr/>
          <a:lstStyle/>
          <a:p>
            <a:r>
              <a:rPr lang="en-US" dirty="0"/>
              <a:t>Another WC package</a:t>
            </a:r>
          </a:p>
        </p:txBody>
      </p:sp>
      <p:sp>
        <p:nvSpPr>
          <p:cNvPr id="4" name="Footer Placeholder 3"/>
          <p:cNvSpPr>
            <a:spLocks noGrp="1"/>
          </p:cNvSpPr>
          <p:nvPr>
            <p:ph type="ftr" sz="quarter" idx="3"/>
          </p:nvPr>
        </p:nvSpPr>
        <p:spPr/>
        <p:txBody>
          <a:bodyPr/>
          <a:lstStyle/>
          <a:p>
            <a:r>
              <a:rPr lang="en-US"/>
              <a:t>Kwartler</a:t>
            </a:r>
            <a:endParaRPr lang="en-US" dirty="0"/>
          </a:p>
        </p:txBody>
      </p:sp>
      <p:sp>
        <p:nvSpPr>
          <p:cNvPr id="5" name="Slide Number Placeholder 4"/>
          <p:cNvSpPr>
            <a:spLocks noGrp="1"/>
          </p:cNvSpPr>
          <p:nvPr>
            <p:ph type="sldNum" sz="quarter" idx="4"/>
          </p:nvPr>
        </p:nvSpPr>
        <p:spPr/>
        <p:txBody>
          <a:bodyPr/>
          <a:lstStyle/>
          <a:p>
            <a:fld id="{37290FF7-652B-4475-AEAB-8B1A5D23AE09}" type="slidenum">
              <a:rPr lang="en-US" smtClean="0"/>
              <a:pPr/>
              <a:t>44</a:t>
            </a:fld>
            <a:endParaRPr lang="en-US" dirty="0"/>
          </a:p>
        </p:txBody>
      </p:sp>
      <p:sp>
        <p:nvSpPr>
          <p:cNvPr id="7" name="Title 1">
            <a:extLst>
              <a:ext uri="{FF2B5EF4-FFF2-40B4-BE49-F238E27FC236}">
                <a16:creationId xmlns:a16="http://schemas.microsoft.com/office/drawing/2014/main" id="{E8480011-97CA-4140-B847-37A78687DD1B}"/>
              </a:ext>
            </a:extLst>
          </p:cNvPr>
          <p:cNvSpPr txBox="1">
            <a:spLocks/>
          </p:cNvSpPr>
          <p:nvPr/>
        </p:nvSpPr>
        <p:spPr>
          <a:xfrm>
            <a:off x="628650" y="1725003"/>
            <a:ext cx="8026619" cy="1901066"/>
          </a:xfrm>
          <a:prstGeom prst="rect">
            <a:avLst/>
          </a:prstGeom>
        </p:spPr>
        <p:txBody>
          <a:bodyP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dirty="0"/>
              <a:t>E_d3_wordcloud.R</a:t>
            </a:r>
          </a:p>
        </p:txBody>
      </p:sp>
      <p:cxnSp>
        <p:nvCxnSpPr>
          <p:cNvPr id="8" name="Straight Connector 7">
            <a:extLst>
              <a:ext uri="{FF2B5EF4-FFF2-40B4-BE49-F238E27FC236}">
                <a16:creationId xmlns:a16="http://schemas.microsoft.com/office/drawing/2014/main" id="{762E3117-89AB-1B4C-9E59-F16A764B1D01}"/>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F35AEF6-8072-014C-9F93-2E38378D6BD7}"/>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06992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p:cNvSpPr>
            <a:spLocks noGrp="1"/>
          </p:cNvSpPr>
          <p:nvPr>
            <p:ph type="title"/>
          </p:nvPr>
        </p:nvSpPr>
        <p:spPr/>
        <p:txBody>
          <a:bodyPr/>
          <a:lstStyle/>
          <a:p>
            <a:r>
              <a:rPr lang="en-US"/>
              <a:t>WCs are boring with a single corpus.</a:t>
            </a:r>
            <a:endParaRPr lang="en-US" dirty="0"/>
          </a:p>
        </p:txBody>
      </p:sp>
      <p:sp>
        <p:nvSpPr>
          <p:cNvPr id="5" name="Footer Placeholder 4"/>
          <p:cNvSpPr>
            <a:spLocks noGrp="1"/>
          </p:cNvSpPr>
          <p:nvPr>
            <p:ph type="ftr" sz="quarter" idx="3"/>
          </p:nvPr>
        </p:nvSpPr>
        <p:spPr/>
        <p:txBody>
          <a:bodyPr/>
          <a:lstStyle/>
          <a:p>
            <a:r>
              <a:rPr lang="en-US"/>
              <a:t>Kwartler</a:t>
            </a:r>
            <a:endParaRPr lang="en-US" dirty="0"/>
          </a:p>
        </p:txBody>
      </p:sp>
      <p:sp>
        <p:nvSpPr>
          <p:cNvPr id="4" name="Slide Number Placeholder 3"/>
          <p:cNvSpPr>
            <a:spLocks noGrp="1"/>
          </p:cNvSpPr>
          <p:nvPr>
            <p:ph type="sldNum" sz="quarter" idx="4"/>
          </p:nvPr>
        </p:nvSpPr>
        <p:spPr/>
        <p:txBody>
          <a:bodyPr/>
          <a:lstStyle/>
          <a:p>
            <a:fld id="{37290FF7-652B-4475-AEAB-8B1A5D23AE09}" type="slidenum">
              <a:rPr lang="en-US" smtClean="0"/>
              <a:pPr/>
              <a:t>45</a:t>
            </a:fld>
            <a:endParaRPr lang="en-US"/>
          </a:p>
        </p:txBody>
      </p:sp>
      <p:grpSp>
        <p:nvGrpSpPr>
          <p:cNvPr id="6" name="Group 5"/>
          <p:cNvGrpSpPr/>
          <p:nvPr/>
        </p:nvGrpSpPr>
        <p:grpSpPr>
          <a:xfrm>
            <a:off x="1286326" y="1290671"/>
            <a:ext cx="2295922" cy="4825781"/>
            <a:chOff x="225365" y="447850"/>
            <a:chExt cx="2295922" cy="4825781"/>
          </a:xfrm>
        </p:grpSpPr>
        <p:pic>
          <p:nvPicPr>
            <p:cNvPr id="7" name="Picture 6"/>
            <p:cNvPicPr>
              <a:picLocks noChangeAspect="1"/>
            </p:cNvPicPr>
            <p:nvPr/>
          </p:nvPicPr>
          <p:blipFill rotWithShape="1">
            <a:blip r:embed="rId2"/>
            <a:srcRect l="4491" t="2469" r="5086" b="4019"/>
            <a:stretch/>
          </p:blipFill>
          <p:spPr>
            <a:xfrm>
              <a:off x="660400" y="3885361"/>
              <a:ext cx="1402665" cy="1388270"/>
            </a:xfrm>
            <a:prstGeom prst="rect">
              <a:avLst/>
            </a:prstGeom>
            <a:ln>
              <a:solidFill>
                <a:schemeClr val="tx1"/>
              </a:solidFill>
            </a:ln>
          </p:spPr>
        </p:pic>
        <p:sp>
          <p:nvSpPr>
            <p:cNvPr id="8" name="Oval 7"/>
            <p:cNvSpPr/>
            <p:nvPr/>
          </p:nvSpPr>
          <p:spPr>
            <a:xfrm>
              <a:off x="225365" y="851615"/>
              <a:ext cx="2295922" cy="2295922"/>
            </a:xfrm>
            <a:prstGeom prst="ellipse">
              <a:avLst/>
            </a:prstGeom>
            <a:solidFill>
              <a:srgbClr val="2776B2">
                <a:alpha val="53000"/>
              </a:srgbClr>
            </a:solidFill>
            <a:ln>
              <a:solidFill>
                <a:srgbClr val="1C28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r>
                <a:rPr lang="en-US" sz="1800" kern="1200" dirty="0" err="1">
                  <a:solidFill>
                    <a:prstClr val="white"/>
                  </a:solidFill>
                  <a:latin typeface="Arial Unicode MS" panose="020B0604020202020204" pitchFamily="34" charset="-128"/>
                  <a:cs typeface="Arial Unicode MS" panose="020B0604020202020204" pitchFamily="34" charset="-128"/>
                </a:rPr>
                <a:t>wordcloud</a:t>
              </a:r>
              <a:r>
                <a:rPr lang="en-US" sz="1800" kern="1200" dirty="0">
                  <a:solidFill>
                    <a:prstClr val="white"/>
                  </a:solidFill>
                  <a:latin typeface="Arial Unicode MS" panose="020B0604020202020204" pitchFamily="34" charset="-128"/>
                  <a:cs typeface="Arial Unicode MS" panose="020B0604020202020204" pitchFamily="34" charset="-128"/>
                </a:rPr>
                <a:t>( )</a:t>
              </a:r>
            </a:p>
          </p:txBody>
        </p:sp>
        <p:sp>
          <p:nvSpPr>
            <p:cNvPr id="9" name="TextBox 8"/>
            <p:cNvSpPr txBox="1"/>
            <p:nvPr/>
          </p:nvSpPr>
          <p:spPr>
            <a:xfrm>
              <a:off x="560458" y="447850"/>
              <a:ext cx="1625737" cy="369332"/>
            </a:xfrm>
            <a:prstGeom prst="rect">
              <a:avLst/>
            </a:prstGeom>
            <a:noFill/>
          </p:spPr>
          <p:txBody>
            <a:bodyPr wrap="none" rtlCol="0">
              <a:spAutoFit/>
            </a:bodyPr>
            <a:lstStyle/>
            <a:p>
              <a:pPr defTabSz="457200"/>
              <a:r>
                <a:rPr lang="en-US" sz="1800" kern="1200" dirty="0">
                  <a:solidFill>
                    <a:srgbClr val="F09511"/>
                  </a:solidFill>
                  <a:latin typeface="Arial Unicode MS" panose="020B0604020202020204" pitchFamily="34" charset="-128"/>
                  <a:ea typeface="Arial Unicode MS" panose="020B0604020202020204" pitchFamily="34" charset="-128"/>
                  <a:cs typeface="Arial Unicode MS" panose="020B0604020202020204" pitchFamily="34" charset="-128"/>
                </a:rPr>
                <a:t>Single Corpus</a:t>
              </a:r>
            </a:p>
          </p:txBody>
        </p:sp>
        <p:cxnSp>
          <p:nvCxnSpPr>
            <p:cNvPr id="10" name="Straight Arrow Connector 9"/>
            <p:cNvCxnSpPr/>
            <p:nvPr/>
          </p:nvCxnSpPr>
          <p:spPr>
            <a:xfrm>
              <a:off x="1365833" y="2194560"/>
              <a:ext cx="0" cy="1650078"/>
            </a:xfrm>
            <a:prstGeom prst="straightConnector1">
              <a:avLst/>
            </a:prstGeom>
            <a:ln>
              <a:solidFill>
                <a:schemeClr val="accent2"/>
              </a:solidFill>
              <a:tailEnd type="arrow"/>
            </a:ln>
            <a:effectLst/>
          </p:spPr>
          <p:style>
            <a:lnRef idx="2">
              <a:schemeClr val="accent1"/>
            </a:lnRef>
            <a:fillRef idx="0">
              <a:schemeClr val="accent1"/>
            </a:fillRef>
            <a:effectRef idx="1">
              <a:schemeClr val="accent1"/>
            </a:effectRef>
            <a:fontRef idx="minor">
              <a:schemeClr val="tx1"/>
            </a:fontRef>
          </p:style>
        </p:cxnSp>
      </p:grpSp>
      <p:pic>
        <p:nvPicPr>
          <p:cNvPr id="1026" name="Picture 2" descr="Image result for word cloud me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75713" y="1504809"/>
            <a:ext cx="3006896" cy="2255173"/>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a:extLst>
              <a:ext uri="{FF2B5EF4-FFF2-40B4-BE49-F238E27FC236}">
                <a16:creationId xmlns:a16="http://schemas.microsoft.com/office/drawing/2014/main" id="{1D3651B1-7632-5D4E-9137-3C66FA63FE32}"/>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3EA89D9-002F-7E44-AE0D-EF48E3205015}"/>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2448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p:cNvSpPr>
            <a:spLocks noGrp="1"/>
          </p:cNvSpPr>
          <p:nvPr>
            <p:ph type="title"/>
          </p:nvPr>
        </p:nvSpPr>
        <p:spPr/>
        <p:txBody>
          <a:bodyPr/>
          <a:lstStyle/>
          <a:p>
            <a:r>
              <a:rPr lang="en-US" dirty="0"/>
              <a:t>With 2+ Corpora, WCs are more insightful</a:t>
            </a:r>
          </a:p>
        </p:txBody>
      </p:sp>
      <p:sp>
        <p:nvSpPr>
          <p:cNvPr id="5" name="Footer Placeholder 4"/>
          <p:cNvSpPr>
            <a:spLocks noGrp="1"/>
          </p:cNvSpPr>
          <p:nvPr>
            <p:ph type="ftr" sz="quarter" idx="3"/>
          </p:nvPr>
        </p:nvSpPr>
        <p:spPr/>
        <p:txBody>
          <a:bodyPr/>
          <a:lstStyle/>
          <a:p>
            <a:r>
              <a:rPr lang="en-US"/>
              <a:t>Kwartler</a:t>
            </a:r>
            <a:endParaRPr lang="en-US" dirty="0"/>
          </a:p>
        </p:txBody>
      </p:sp>
      <p:sp>
        <p:nvSpPr>
          <p:cNvPr id="4" name="Slide Number Placeholder 3"/>
          <p:cNvSpPr>
            <a:spLocks noGrp="1"/>
          </p:cNvSpPr>
          <p:nvPr>
            <p:ph type="sldNum" sz="quarter" idx="4"/>
          </p:nvPr>
        </p:nvSpPr>
        <p:spPr/>
        <p:txBody>
          <a:bodyPr/>
          <a:lstStyle/>
          <a:p>
            <a:fld id="{37290FF7-652B-4475-AEAB-8B1A5D23AE09}" type="slidenum">
              <a:rPr lang="en-US" smtClean="0"/>
              <a:pPr/>
              <a:t>46</a:t>
            </a:fld>
            <a:endParaRPr lang="en-US"/>
          </a:p>
        </p:txBody>
      </p:sp>
      <p:grpSp>
        <p:nvGrpSpPr>
          <p:cNvPr id="6" name="Group 5"/>
          <p:cNvGrpSpPr/>
          <p:nvPr/>
        </p:nvGrpSpPr>
        <p:grpSpPr>
          <a:xfrm>
            <a:off x="1980137" y="1089254"/>
            <a:ext cx="4839173" cy="4894072"/>
            <a:chOff x="4063632" y="447850"/>
            <a:chExt cx="4839173" cy="4894072"/>
          </a:xfrm>
        </p:grpSpPr>
        <p:sp>
          <p:nvSpPr>
            <p:cNvPr id="7" name="Oval 6"/>
            <p:cNvSpPr/>
            <p:nvPr/>
          </p:nvSpPr>
          <p:spPr>
            <a:xfrm>
              <a:off x="4063632" y="1590511"/>
              <a:ext cx="2294850" cy="2294850"/>
            </a:xfrm>
            <a:prstGeom prst="ellipse">
              <a:avLst/>
            </a:prstGeom>
            <a:solidFill>
              <a:srgbClr val="2776B2">
                <a:alpha val="53000"/>
              </a:srgbClr>
            </a:solidFill>
            <a:ln>
              <a:solidFill>
                <a:srgbClr val="1C28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kern="1200" dirty="0">
                <a:solidFill>
                  <a:prstClr val="white"/>
                </a:solidFill>
                <a:latin typeface="Arial Unicode MS" panose="020B0604020202020204" pitchFamily="34" charset="-128"/>
              </a:endParaRPr>
            </a:p>
          </p:txBody>
        </p:sp>
        <p:sp>
          <p:nvSpPr>
            <p:cNvPr id="8" name="Oval 7"/>
            <p:cNvSpPr/>
            <p:nvPr/>
          </p:nvSpPr>
          <p:spPr>
            <a:xfrm>
              <a:off x="5314265" y="1561976"/>
              <a:ext cx="2294850" cy="2294850"/>
            </a:xfrm>
            <a:prstGeom prst="ellipse">
              <a:avLst/>
            </a:prstGeom>
            <a:solidFill>
              <a:srgbClr val="2776B2">
                <a:alpha val="53000"/>
              </a:srgbClr>
            </a:solidFill>
            <a:ln>
              <a:solidFill>
                <a:srgbClr val="1C28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kern="1200" dirty="0">
                <a:solidFill>
                  <a:prstClr val="white"/>
                </a:solidFill>
                <a:latin typeface="Arial Unicode MS" panose="020B0604020202020204" pitchFamily="34" charset="-128"/>
              </a:endParaRPr>
            </a:p>
          </p:txBody>
        </p:sp>
        <p:sp>
          <p:nvSpPr>
            <p:cNvPr id="9" name="Oval 8"/>
            <p:cNvSpPr/>
            <p:nvPr/>
          </p:nvSpPr>
          <p:spPr>
            <a:xfrm>
              <a:off x="4688515" y="801251"/>
              <a:ext cx="2294850" cy="2294850"/>
            </a:xfrm>
            <a:prstGeom prst="ellipse">
              <a:avLst/>
            </a:prstGeom>
            <a:solidFill>
              <a:srgbClr val="2776B2">
                <a:alpha val="53000"/>
              </a:srgbClr>
            </a:solidFill>
            <a:ln>
              <a:solidFill>
                <a:srgbClr val="1C28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kern="1200" dirty="0">
                <a:solidFill>
                  <a:prstClr val="white"/>
                </a:solidFill>
                <a:latin typeface="Arial Unicode MS" panose="020B0604020202020204" pitchFamily="34" charset="-128"/>
              </a:endParaRPr>
            </a:p>
          </p:txBody>
        </p:sp>
        <p:sp>
          <p:nvSpPr>
            <p:cNvPr id="10" name="TextBox 9"/>
            <p:cNvSpPr txBox="1"/>
            <p:nvPr/>
          </p:nvSpPr>
          <p:spPr>
            <a:xfrm>
              <a:off x="4823430" y="447850"/>
              <a:ext cx="1942431" cy="369332"/>
            </a:xfrm>
            <a:prstGeom prst="rect">
              <a:avLst/>
            </a:prstGeom>
            <a:noFill/>
          </p:spPr>
          <p:txBody>
            <a:bodyPr wrap="none" rtlCol="0">
              <a:spAutoFit/>
            </a:bodyPr>
            <a:lstStyle/>
            <a:p>
              <a:pPr defTabSz="457200"/>
              <a:r>
                <a:rPr lang="en-US" sz="1800" kern="1200" dirty="0">
                  <a:solidFill>
                    <a:srgbClr val="F09511"/>
                  </a:solidFill>
                  <a:latin typeface="Arial Unicode MS" panose="020B0604020202020204" pitchFamily="34" charset="-128"/>
                  <a:ea typeface="Arial Unicode MS" panose="020B0604020202020204" pitchFamily="34" charset="-128"/>
                  <a:cs typeface="Arial Unicode MS" panose="020B0604020202020204" pitchFamily="34" charset="-128"/>
                </a:rPr>
                <a:t>Multiple Corpora</a:t>
              </a:r>
            </a:p>
          </p:txBody>
        </p:sp>
        <p:sp>
          <p:nvSpPr>
            <p:cNvPr id="11" name="TextBox 10"/>
            <p:cNvSpPr txBox="1"/>
            <p:nvPr/>
          </p:nvSpPr>
          <p:spPr>
            <a:xfrm>
              <a:off x="5089803" y="1189008"/>
              <a:ext cx="1415857" cy="261610"/>
            </a:xfrm>
            <a:prstGeom prst="rect">
              <a:avLst/>
            </a:prstGeom>
            <a:noFill/>
          </p:spPr>
          <p:txBody>
            <a:bodyPr wrap="none" rtlCol="0">
              <a:spAutoFit/>
            </a:bodyPr>
            <a:lstStyle/>
            <a:p>
              <a:pPr defTabSz="457200"/>
              <a:r>
                <a:rPr lang="en-US" sz="1100" kern="1200" dirty="0" err="1">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comparison.cloud</a:t>
              </a:r>
              <a:r>
                <a:rPr lang="en-US" sz="11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 )</a:t>
              </a:r>
            </a:p>
          </p:txBody>
        </p:sp>
        <p:sp>
          <p:nvSpPr>
            <p:cNvPr id="12" name="TextBox 11"/>
            <p:cNvSpPr txBox="1"/>
            <p:nvPr/>
          </p:nvSpPr>
          <p:spPr>
            <a:xfrm>
              <a:off x="6173836" y="3057372"/>
              <a:ext cx="1415857" cy="261610"/>
            </a:xfrm>
            <a:prstGeom prst="rect">
              <a:avLst/>
            </a:prstGeom>
            <a:noFill/>
          </p:spPr>
          <p:txBody>
            <a:bodyPr wrap="none" rtlCol="0">
              <a:spAutoFit/>
            </a:bodyPr>
            <a:lstStyle/>
            <a:p>
              <a:pPr defTabSz="457200"/>
              <a:r>
                <a:rPr lang="en-US" sz="1100" kern="1200" dirty="0" err="1">
                  <a:latin typeface="Arial Unicode MS" panose="020B0604020202020204" pitchFamily="34" charset="-128"/>
                  <a:ea typeface="Arial Unicode MS" panose="020B0604020202020204" pitchFamily="34" charset="-128"/>
                  <a:cs typeface="Arial Unicode MS" panose="020B0604020202020204" pitchFamily="34" charset="-128"/>
                </a:rPr>
                <a:t>comparison.cloud</a:t>
              </a:r>
              <a:r>
                <a:rPr lang="en-US" sz="1100" kern="1200" dirty="0">
                  <a:latin typeface="Arial Unicode MS" panose="020B0604020202020204" pitchFamily="34" charset="-128"/>
                  <a:ea typeface="Arial Unicode MS" panose="020B0604020202020204" pitchFamily="34" charset="-128"/>
                  <a:cs typeface="Arial Unicode MS" panose="020B0604020202020204" pitchFamily="34" charset="-128"/>
                </a:rPr>
                <a:t>( )</a:t>
              </a:r>
            </a:p>
          </p:txBody>
        </p:sp>
        <p:pic>
          <p:nvPicPr>
            <p:cNvPr id="13" name="Picture 12"/>
            <p:cNvPicPr>
              <a:picLocks noChangeAspect="1"/>
            </p:cNvPicPr>
            <p:nvPr/>
          </p:nvPicPr>
          <p:blipFill rotWithShape="1">
            <a:blip r:embed="rId2"/>
            <a:srcRect l="19795" t="15431" r="18889" b="16741"/>
            <a:stretch/>
          </p:blipFill>
          <p:spPr>
            <a:xfrm>
              <a:off x="5161865" y="3957072"/>
              <a:ext cx="1308096" cy="1384850"/>
            </a:xfrm>
            <a:prstGeom prst="rect">
              <a:avLst/>
            </a:prstGeom>
            <a:ln>
              <a:solidFill>
                <a:schemeClr val="tx1"/>
              </a:solidFill>
            </a:ln>
          </p:spPr>
        </p:pic>
        <p:pic>
          <p:nvPicPr>
            <p:cNvPr id="14" name="Picture 13"/>
            <p:cNvPicPr>
              <a:picLocks noChangeAspect="1"/>
            </p:cNvPicPr>
            <p:nvPr/>
          </p:nvPicPr>
          <p:blipFill>
            <a:blip r:embed="rId3"/>
            <a:stretch>
              <a:fillRect/>
            </a:stretch>
          </p:blipFill>
          <p:spPr>
            <a:xfrm>
              <a:off x="7273027" y="3965029"/>
              <a:ext cx="1629778" cy="1359060"/>
            </a:xfrm>
            <a:prstGeom prst="rect">
              <a:avLst/>
            </a:prstGeom>
            <a:ln>
              <a:solidFill>
                <a:schemeClr val="tx1"/>
              </a:solidFill>
            </a:ln>
          </p:spPr>
        </p:pic>
        <p:sp>
          <p:nvSpPr>
            <p:cNvPr id="15" name="TextBox 14"/>
            <p:cNvSpPr txBox="1"/>
            <p:nvPr/>
          </p:nvSpPr>
          <p:spPr>
            <a:xfrm>
              <a:off x="4094112" y="3057372"/>
              <a:ext cx="1415857" cy="261610"/>
            </a:xfrm>
            <a:prstGeom prst="rect">
              <a:avLst/>
            </a:prstGeom>
            <a:noFill/>
          </p:spPr>
          <p:txBody>
            <a:bodyPr wrap="none" rtlCol="0">
              <a:spAutoFit/>
            </a:bodyPr>
            <a:lstStyle/>
            <a:p>
              <a:pPr defTabSz="457200"/>
              <a:r>
                <a:rPr lang="en-US" sz="1100" kern="1200" dirty="0" err="1">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comparison.cloud</a:t>
              </a:r>
              <a:r>
                <a:rPr lang="en-US" sz="1100" kern="1200" dirty="0">
                  <a:solidFill>
                    <a:prstClr val="black"/>
                  </a:solidFill>
                  <a:latin typeface="Arial Unicode MS" panose="020B0604020202020204" pitchFamily="34" charset="-128"/>
                  <a:ea typeface="Arial Unicode MS" panose="020B0604020202020204" pitchFamily="34" charset="-128"/>
                  <a:cs typeface="Arial Unicode MS" panose="020B0604020202020204" pitchFamily="34" charset="-128"/>
                </a:rPr>
                <a:t>( )</a:t>
              </a:r>
            </a:p>
          </p:txBody>
        </p:sp>
        <p:cxnSp>
          <p:nvCxnSpPr>
            <p:cNvPr id="16" name="Elbow Connector 15"/>
            <p:cNvCxnSpPr>
              <a:stCxn id="12" idx="3"/>
              <a:endCxn id="14" idx="0"/>
            </p:cNvCxnSpPr>
            <p:nvPr/>
          </p:nvCxnSpPr>
          <p:spPr>
            <a:xfrm>
              <a:off x="7589693" y="3188177"/>
              <a:ext cx="498223" cy="776852"/>
            </a:xfrm>
            <a:prstGeom prst="bentConnector2">
              <a:avLst/>
            </a:prstGeom>
            <a:ln>
              <a:solidFill>
                <a:schemeClr val="accent2"/>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7" name="Elbow Connector 16"/>
            <p:cNvCxnSpPr>
              <a:stCxn id="11" idx="3"/>
              <a:endCxn id="14" idx="0"/>
            </p:cNvCxnSpPr>
            <p:nvPr/>
          </p:nvCxnSpPr>
          <p:spPr>
            <a:xfrm>
              <a:off x="6505660" y="1319813"/>
              <a:ext cx="1582256" cy="2645216"/>
            </a:xfrm>
            <a:prstGeom prst="bentConnector2">
              <a:avLst/>
            </a:prstGeom>
            <a:ln>
              <a:solidFill>
                <a:schemeClr val="accent2"/>
              </a:solidFill>
              <a:tailEnd type="arrow"/>
            </a:ln>
            <a:effectLst/>
          </p:spPr>
          <p:style>
            <a:lnRef idx="2">
              <a:schemeClr val="accent1"/>
            </a:lnRef>
            <a:fillRef idx="0">
              <a:schemeClr val="accent1"/>
            </a:fillRef>
            <a:effectRef idx="1">
              <a:schemeClr val="accent1"/>
            </a:effectRef>
            <a:fontRef idx="minor">
              <a:schemeClr val="tx1"/>
            </a:fontRef>
          </p:style>
        </p:cxnSp>
        <p:cxnSp>
          <p:nvCxnSpPr>
            <p:cNvPr id="18" name="Straight Arrow Connector 17"/>
            <p:cNvCxnSpPr>
              <a:endCxn id="13" idx="0"/>
            </p:cNvCxnSpPr>
            <p:nvPr/>
          </p:nvCxnSpPr>
          <p:spPr>
            <a:xfrm>
              <a:off x="5815913" y="2905760"/>
              <a:ext cx="0" cy="1051312"/>
            </a:xfrm>
            <a:prstGeom prst="straightConnector1">
              <a:avLst/>
            </a:prstGeom>
            <a:ln>
              <a:solidFill>
                <a:schemeClr val="accent2"/>
              </a:solidFill>
              <a:tailEnd type="arrow"/>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rot="16200000">
              <a:off x="5128545" y="2242846"/>
              <a:ext cx="1358688" cy="246221"/>
            </a:xfrm>
            <a:prstGeom prst="rect">
              <a:avLst/>
            </a:prstGeom>
            <a:noFill/>
          </p:spPr>
          <p:txBody>
            <a:bodyPr wrap="none" rtlCol="0">
              <a:spAutoFit/>
            </a:bodyPr>
            <a:lstStyle/>
            <a:p>
              <a:pPr defTabSz="457200"/>
              <a:r>
                <a:rPr lang="en-US" sz="1000" kern="1200" dirty="0" err="1">
                  <a:latin typeface="Arial Unicode MS" panose="020B0604020202020204" pitchFamily="34" charset="-128"/>
                  <a:ea typeface="Arial Unicode MS" panose="020B0604020202020204" pitchFamily="34" charset="-128"/>
                  <a:cs typeface="Arial Unicode MS" panose="020B0604020202020204" pitchFamily="34" charset="-128"/>
                </a:rPr>
                <a:t>commonality.cloud</a:t>
              </a:r>
              <a:r>
                <a:rPr lang="en-US" sz="1000" kern="1200" dirty="0">
                  <a:latin typeface="Arial Unicode MS" panose="020B0604020202020204" pitchFamily="34" charset="-128"/>
                  <a:ea typeface="Arial Unicode MS" panose="020B0604020202020204" pitchFamily="34" charset="-128"/>
                  <a:cs typeface="Arial Unicode MS" panose="020B0604020202020204" pitchFamily="34" charset="-128"/>
                </a:rPr>
                <a:t>( )</a:t>
              </a:r>
            </a:p>
          </p:txBody>
        </p:sp>
      </p:grpSp>
      <p:cxnSp>
        <p:nvCxnSpPr>
          <p:cNvPr id="20" name="Straight Connector 19">
            <a:extLst>
              <a:ext uri="{FF2B5EF4-FFF2-40B4-BE49-F238E27FC236}">
                <a16:creationId xmlns:a16="http://schemas.microsoft.com/office/drawing/2014/main" id="{BA8C95DC-C064-8641-8C5E-E4C24892415D}"/>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1AA8A86-25D4-C449-9941-39DFA6F7D5FB}"/>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23244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p:cNvSpPr>
            <a:spLocks noGrp="1"/>
          </p:cNvSpPr>
          <p:nvPr>
            <p:ph type="title"/>
          </p:nvPr>
        </p:nvSpPr>
        <p:spPr/>
        <p:txBody>
          <a:bodyPr/>
          <a:lstStyle/>
          <a:p>
            <a:r>
              <a:rPr lang="en-US" dirty="0"/>
              <a:t>Dealing with many text files is tricky </a:t>
            </a:r>
            <a:r>
              <a:rPr lang="en-US" dirty="0">
                <a:solidFill>
                  <a:srgbClr val="FF0000"/>
                </a:solidFill>
              </a:rPr>
              <a:t>[LOOP]</a:t>
            </a:r>
          </a:p>
        </p:txBody>
      </p:sp>
      <p:sp>
        <p:nvSpPr>
          <p:cNvPr id="5" name="Footer Placeholder 4"/>
          <p:cNvSpPr>
            <a:spLocks noGrp="1"/>
          </p:cNvSpPr>
          <p:nvPr>
            <p:ph type="ftr" sz="quarter" idx="3"/>
          </p:nvPr>
        </p:nvSpPr>
        <p:spPr/>
        <p:txBody>
          <a:bodyPr/>
          <a:lstStyle/>
          <a:p>
            <a:r>
              <a:rPr lang="en-US"/>
              <a:t>Kwartler</a:t>
            </a:r>
            <a:endParaRPr lang="en-US" dirty="0"/>
          </a:p>
        </p:txBody>
      </p:sp>
      <p:sp>
        <p:nvSpPr>
          <p:cNvPr id="4" name="Slide Number Placeholder 3"/>
          <p:cNvSpPr>
            <a:spLocks noGrp="1"/>
          </p:cNvSpPr>
          <p:nvPr>
            <p:ph type="sldNum" sz="quarter" idx="4"/>
          </p:nvPr>
        </p:nvSpPr>
        <p:spPr/>
        <p:txBody>
          <a:bodyPr/>
          <a:lstStyle/>
          <a:p>
            <a:fld id="{37290FF7-652B-4475-AEAB-8B1A5D23AE09}" type="slidenum">
              <a:rPr lang="en-US" smtClean="0"/>
              <a:pPr/>
              <a:t>47</a:t>
            </a:fld>
            <a:endParaRPr lang="en-US"/>
          </a:p>
        </p:txBody>
      </p:sp>
      <p:sp>
        <p:nvSpPr>
          <p:cNvPr id="6" name="Rectangle 5">
            <a:extLst>
              <a:ext uri="{FF2B5EF4-FFF2-40B4-BE49-F238E27FC236}">
                <a16:creationId xmlns:a16="http://schemas.microsoft.com/office/drawing/2014/main" id="{C246B7D1-453D-487B-B491-889C15C460F6}"/>
              </a:ext>
            </a:extLst>
          </p:cNvPr>
          <p:cNvSpPr/>
          <p:nvPr/>
        </p:nvSpPr>
        <p:spPr>
          <a:xfrm>
            <a:off x="141891" y="1599398"/>
            <a:ext cx="8860219" cy="2628045"/>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t" anchorCtr="0"/>
          <a:lstStyle/>
          <a:p>
            <a:pPr defTabSz="457200"/>
            <a:endParaRPr lang="en-US" sz="1000" dirty="0">
              <a:solidFill>
                <a:schemeClr val="tx2"/>
              </a:solidFill>
            </a:endParaRPr>
          </a:p>
        </p:txBody>
      </p:sp>
      <p:sp>
        <p:nvSpPr>
          <p:cNvPr id="9" name="Rectangle 8">
            <a:extLst>
              <a:ext uri="{FF2B5EF4-FFF2-40B4-BE49-F238E27FC236}">
                <a16:creationId xmlns:a16="http://schemas.microsoft.com/office/drawing/2014/main" id="{6C96FE2F-7E19-48CB-9942-7E78DB569A67}"/>
              </a:ext>
            </a:extLst>
          </p:cNvPr>
          <p:cNvSpPr/>
          <p:nvPr/>
        </p:nvSpPr>
        <p:spPr>
          <a:xfrm>
            <a:off x="254029" y="1703732"/>
            <a:ext cx="8633011" cy="3046988"/>
          </a:xfrm>
          <a:prstGeom prst="rect">
            <a:avLst/>
          </a:prstGeom>
          <a:solidFill>
            <a:schemeClr val="bg1">
              <a:lumMod val="85000"/>
            </a:schemeClr>
          </a:solidFill>
        </p:spPr>
        <p:txBody>
          <a:bodyPr wrap="square">
            <a:spAutoFit/>
          </a:bodyPr>
          <a:lstStyle/>
          <a:p>
            <a:pPr defTabSz="457200"/>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chardonnay &lt;- '</a:t>
            </a:r>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chardonnay.csv</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a:p>
            <a:pPr defTabSz="457200"/>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coffee     &lt;- '</a:t>
            </a:r>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coffee.csv</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a:p>
            <a:pPr defTabSz="457200"/>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txtFiles</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&lt;- c(chardonnay, coffee)</a:t>
            </a:r>
          </a:p>
          <a:p>
            <a:pPr defTabSz="457200"/>
            <a:endPar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endParaRPr>
          </a:p>
          <a:p>
            <a:pPr defTabSz="457200"/>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Topic names</a:t>
            </a:r>
          </a:p>
          <a:p>
            <a:pPr defTabSz="457200"/>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topicNames</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&lt;- c('</a:t>
            </a:r>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chardonnay','coffee</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a:p>
            <a:pPr defTabSz="457200"/>
            <a:endPar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endParaRPr>
          </a:p>
          <a:p>
            <a:pPr defTabSz="457200"/>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Read in the files</a:t>
            </a:r>
          </a:p>
          <a:p>
            <a:pPr defTabSz="457200"/>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for (</a:t>
            </a:r>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i</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in 1:length(</a:t>
            </a:r>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txtFiles</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a:p>
            <a:pPr defTabSz="457200"/>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assign(</a:t>
            </a:r>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topicNames</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i</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read.csv</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txtFiles</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i</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a:p>
            <a:pPr defTabSz="457200"/>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cat(paste('read completed:',</a:t>
            </a:r>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txtFiles</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sz="1600"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i</a:t>
            </a:r>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],'\n'))</a:t>
            </a:r>
          </a:p>
          <a:p>
            <a:pPr defTabSz="457200"/>
            <a:r>
              <a:rPr lang="en-US" sz="1600"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p:txBody>
      </p:sp>
      <p:sp>
        <p:nvSpPr>
          <p:cNvPr id="10" name="TextBox 9">
            <a:extLst>
              <a:ext uri="{FF2B5EF4-FFF2-40B4-BE49-F238E27FC236}">
                <a16:creationId xmlns:a16="http://schemas.microsoft.com/office/drawing/2014/main" id="{A5A3EE36-0573-4214-8E8B-E9BD628BC999}"/>
              </a:ext>
            </a:extLst>
          </p:cNvPr>
          <p:cNvSpPr txBox="1"/>
          <p:nvPr/>
        </p:nvSpPr>
        <p:spPr>
          <a:xfrm>
            <a:off x="157656" y="5876940"/>
            <a:ext cx="8828688" cy="584775"/>
          </a:xfrm>
          <a:prstGeom prst="rect">
            <a:avLst/>
          </a:prstGeom>
          <a:solidFill>
            <a:schemeClr val="accent6">
              <a:lumMod val="60000"/>
              <a:lumOff val="40000"/>
            </a:schemeClr>
          </a:solidFill>
        </p:spPr>
        <p:txBody>
          <a:bodyPr wrap="square" rtlCol="0">
            <a:spAutoFit/>
          </a:bodyPr>
          <a:lstStyle/>
          <a:p>
            <a:pPr algn="ctr" defTabSz="457200"/>
            <a:r>
              <a:rPr lang="en-US" sz="1600" dirty="0">
                <a:solidFill>
                  <a:prstClr val="white"/>
                </a:solidFill>
                <a:latin typeface="+mj-lt"/>
                <a:ea typeface="Arial Unicode MS" panose="020B0604020202020204" pitchFamily="34" charset="-128"/>
                <a:cs typeface="Arial Unicode MS" panose="020B0604020202020204" pitchFamily="34" charset="-128"/>
              </a:rPr>
              <a:t>As shown, using a loop each file is an individual object that is read into memory.  </a:t>
            </a:r>
          </a:p>
          <a:p>
            <a:pPr algn="ctr" defTabSz="457200"/>
            <a:r>
              <a:rPr lang="en-US" sz="1600" i="1" dirty="0">
                <a:solidFill>
                  <a:prstClr val="white"/>
                </a:solidFill>
                <a:latin typeface="+mj-lt"/>
                <a:ea typeface="Arial Unicode MS" panose="020B0604020202020204" pitchFamily="34" charset="-128"/>
                <a:cs typeface="Arial Unicode MS" panose="020B0604020202020204" pitchFamily="34" charset="-128"/>
              </a:rPr>
              <a:t>You can create a list from a loop that’s not the point of the example.</a:t>
            </a:r>
            <a:endParaRPr lang="en-US" sz="1600" i="1" kern="1200" dirty="0">
              <a:solidFill>
                <a:prstClr val="white"/>
              </a:solidFill>
              <a:latin typeface="+mj-lt"/>
              <a:ea typeface="Arial Unicode MS" panose="020B0604020202020204" pitchFamily="34" charset="-128"/>
              <a:cs typeface="Arial Unicode MS" panose="020B0604020202020204" pitchFamily="34" charset="-128"/>
            </a:endParaRPr>
          </a:p>
        </p:txBody>
      </p:sp>
      <p:cxnSp>
        <p:nvCxnSpPr>
          <p:cNvPr id="11" name="Straight Connector 10">
            <a:extLst>
              <a:ext uri="{FF2B5EF4-FFF2-40B4-BE49-F238E27FC236}">
                <a16:creationId xmlns:a16="http://schemas.microsoft.com/office/drawing/2014/main" id="{2F808727-3CEC-3641-9961-FD7ADEAE8827}"/>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A94917D-5BA6-2946-A840-A8DED6CB19C0}"/>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88862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p:cNvSpPr>
            <a:spLocks noGrp="1"/>
          </p:cNvSpPr>
          <p:nvPr>
            <p:ph type="title"/>
          </p:nvPr>
        </p:nvSpPr>
        <p:spPr/>
        <p:txBody>
          <a:bodyPr/>
          <a:lstStyle/>
          <a:p>
            <a:r>
              <a:rPr lang="en-US" dirty="0"/>
              <a:t>Dealing with many text files is tricky. </a:t>
            </a:r>
            <a:r>
              <a:rPr lang="en-US" dirty="0">
                <a:solidFill>
                  <a:srgbClr val="FF0000"/>
                </a:solidFill>
              </a:rPr>
              <a:t>[LIST]</a:t>
            </a:r>
          </a:p>
        </p:txBody>
      </p:sp>
      <p:sp>
        <p:nvSpPr>
          <p:cNvPr id="5" name="Footer Placeholder 4"/>
          <p:cNvSpPr>
            <a:spLocks noGrp="1"/>
          </p:cNvSpPr>
          <p:nvPr>
            <p:ph type="ftr" sz="quarter" idx="3"/>
          </p:nvPr>
        </p:nvSpPr>
        <p:spPr/>
        <p:txBody>
          <a:bodyPr/>
          <a:lstStyle/>
          <a:p>
            <a:r>
              <a:rPr lang="en-US"/>
              <a:t>Kwartler</a:t>
            </a:r>
            <a:endParaRPr lang="en-US" dirty="0"/>
          </a:p>
        </p:txBody>
      </p:sp>
      <p:sp>
        <p:nvSpPr>
          <p:cNvPr id="4" name="Slide Number Placeholder 3"/>
          <p:cNvSpPr>
            <a:spLocks noGrp="1"/>
          </p:cNvSpPr>
          <p:nvPr>
            <p:ph type="sldNum" sz="quarter" idx="4"/>
          </p:nvPr>
        </p:nvSpPr>
        <p:spPr/>
        <p:txBody>
          <a:bodyPr/>
          <a:lstStyle/>
          <a:p>
            <a:fld id="{37290FF7-652B-4475-AEAB-8B1A5D23AE09}" type="slidenum">
              <a:rPr lang="en-US" smtClean="0"/>
              <a:pPr/>
              <a:t>48</a:t>
            </a:fld>
            <a:endParaRPr lang="en-US"/>
          </a:p>
        </p:txBody>
      </p:sp>
      <p:sp>
        <p:nvSpPr>
          <p:cNvPr id="6" name="Rectangle 5">
            <a:extLst>
              <a:ext uri="{FF2B5EF4-FFF2-40B4-BE49-F238E27FC236}">
                <a16:creationId xmlns:a16="http://schemas.microsoft.com/office/drawing/2014/main" id="{C246B7D1-453D-487B-B491-889C15C460F6}"/>
              </a:ext>
            </a:extLst>
          </p:cNvPr>
          <p:cNvSpPr/>
          <p:nvPr/>
        </p:nvSpPr>
        <p:spPr>
          <a:xfrm>
            <a:off x="141891" y="1599398"/>
            <a:ext cx="8860219" cy="2455767"/>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t" anchorCtr="0"/>
          <a:lstStyle/>
          <a:p>
            <a:pPr defTabSz="457200"/>
            <a:endParaRPr lang="en-US" sz="1000" dirty="0">
              <a:solidFill>
                <a:schemeClr val="tx2"/>
              </a:solidFill>
            </a:endParaRPr>
          </a:p>
        </p:txBody>
      </p:sp>
      <p:sp>
        <p:nvSpPr>
          <p:cNvPr id="7" name="Rectangle 6">
            <a:extLst>
              <a:ext uri="{FF2B5EF4-FFF2-40B4-BE49-F238E27FC236}">
                <a16:creationId xmlns:a16="http://schemas.microsoft.com/office/drawing/2014/main" id="{2C95F845-8979-407C-9F4E-6FBCB9476B2D}"/>
              </a:ext>
            </a:extLst>
          </p:cNvPr>
          <p:cNvSpPr/>
          <p:nvPr/>
        </p:nvSpPr>
        <p:spPr>
          <a:xfrm>
            <a:off x="141890" y="1245467"/>
            <a:ext cx="8860220" cy="331076"/>
          </a:xfrm>
          <a:prstGeom prst="rect">
            <a:avLst/>
          </a:prstGeom>
          <a:solidFill>
            <a:schemeClr val="accent3"/>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ctr"/>
          <a:lstStyle/>
          <a:p>
            <a:r>
              <a:rPr lang="en-US" sz="1200" b="1" dirty="0">
                <a:solidFill>
                  <a:schemeClr val="bg1"/>
                </a:solidFill>
              </a:rPr>
              <a:t>Option 2 – not in our script but is more concise code. </a:t>
            </a:r>
          </a:p>
        </p:txBody>
      </p:sp>
      <p:sp>
        <p:nvSpPr>
          <p:cNvPr id="9" name="Rectangle 8">
            <a:extLst>
              <a:ext uri="{FF2B5EF4-FFF2-40B4-BE49-F238E27FC236}">
                <a16:creationId xmlns:a16="http://schemas.microsoft.com/office/drawing/2014/main" id="{6C96FE2F-7E19-48CB-9942-7E78DB569A67}"/>
              </a:ext>
            </a:extLst>
          </p:cNvPr>
          <p:cNvSpPr/>
          <p:nvPr/>
        </p:nvSpPr>
        <p:spPr>
          <a:xfrm>
            <a:off x="254029" y="1703732"/>
            <a:ext cx="8633011" cy="1477328"/>
          </a:xfrm>
          <a:prstGeom prst="rect">
            <a:avLst/>
          </a:prstGeom>
          <a:solidFill>
            <a:schemeClr val="bg1">
              <a:lumMod val="85000"/>
            </a:schemeClr>
          </a:solidFill>
        </p:spPr>
        <p:txBody>
          <a:bodyPr wrap="square">
            <a:spAutoFit/>
          </a:bodyPr>
          <a:lstStyle/>
          <a:p>
            <a:pPr defTabSz="457200"/>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Read in multiple files as individuals; </a:t>
            </a:r>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list.files</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t>
            </a:r>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dir</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a:p>
            <a:pPr defTabSz="457200"/>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txtFiles</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&lt;- c('chardonnay.csv','coffee.csv','beer.csv') </a:t>
            </a:r>
          </a:p>
          <a:p>
            <a:pPr defTabSz="457200"/>
            <a:endPar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endParaRPr>
          </a:p>
          <a:p>
            <a:pPr defTabSz="457200"/>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Read them into a single list with individual elements</a:t>
            </a:r>
          </a:p>
          <a:p>
            <a:pPr defTabSz="457200"/>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allDocs</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&lt;- </a:t>
            </a:r>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lapply</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(txtFiles,read.csv)</a:t>
            </a:r>
          </a:p>
        </p:txBody>
      </p:sp>
      <p:sp>
        <p:nvSpPr>
          <p:cNvPr id="10" name="TextBox 9">
            <a:extLst>
              <a:ext uri="{FF2B5EF4-FFF2-40B4-BE49-F238E27FC236}">
                <a16:creationId xmlns:a16="http://schemas.microsoft.com/office/drawing/2014/main" id="{A5A3EE36-0573-4214-8E8B-E9BD628BC999}"/>
              </a:ext>
            </a:extLst>
          </p:cNvPr>
          <p:cNvSpPr txBox="1"/>
          <p:nvPr/>
        </p:nvSpPr>
        <p:spPr>
          <a:xfrm>
            <a:off x="157656" y="3740769"/>
            <a:ext cx="8828688" cy="340806"/>
          </a:xfrm>
          <a:prstGeom prst="rect">
            <a:avLst/>
          </a:prstGeom>
          <a:solidFill>
            <a:schemeClr val="accent6">
              <a:lumMod val="60000"/>
              <a:lumOff val="40000"/>
            </a:schemeClr>
          </a:solidFill>
        </p:spPr>
        <p:txBody>
          <a:bodyPr wrap="square" rtlCol="0">
            <a:spAutoFit/>
          </a:bodyPr>
          <a:lstStyle/>
          <a:p>
            <a:pPr algn="ctr" defTabSz="457200"/>
            <a:r>
              <a:rPr lang="en-US" sz="1600" dirty="0">
                <a:solidFill>
                  <a:prstClr val="white"/>
                </a:solidFill>
                <a:latin typeface="+mj-lt"/>
                <a:ea typeface="Arial Unicode MS" panose="020B0604020202020204" pitchFamily="34" charset="-128"/>
                <a:cs typeface="Arial Unicode MS" panose="020B0604020202020204" pitchFamily="34" charset="-128"/>
              </a:rPr>
              <a:t>As shown, the </a:t>
            </a:r>
            <a:r>
              <a:rPr lang="en-US" sz="1600" dirty="0" err="1">
                <a:solidFill>
                  <a:prstClr val="white"/>
                </a:solidFill>
                <a:latin typeface="+mj-lt"/>
                <a:ea typeface="Arial Unicode MS" panose="020B0604020202020204" pitchFamily="34" charset="-128"/>
                <a:cs typeface="Arial Unicode MS" panose="020B0604020202020204" pitchFamily="34" charset="-128"/>
              </a:rPr>
              <a:t>lapply</a:t>
            </a:r>
            <a:r>
              <a:rPr lang="en-US" sz="1600" dirty="0">
                <a:solidFill>
                  <a:prstClr val="white"/>
                </a:solidFill>
                <a:latin typeface="+mj-lt"/>
                <a:ea typeface="Arial Unicode MS" panose="020B0604020202020204" pitchFamily="34" charset="-128"/>
                <a:cs typeface="Arial Unicode MS" panose="020B0604020202020204" pitchFamily="34" charset="-128"/>
              </a:rPr>
              <a:t> function will create a single list object with 3 data frame elements.</a:t>
            </a:r>
            <a:endParaRPr lang="en-US" sz="1600" kern="1200" dirty="0">
              <a:solidFill>
                <a:prstClr val="white"/>
              </a:solidFill>
              <a:latin typeface="+mj-lt"/>
              <a:ea typeface="Arial Unicode MS" panose="020B0604020202020204" pitchFamily="34" charset="-128"/>
              <a:cs typeface="Arial Unicode MS" panose="020B0604020202020204" pitchFamily="34" charset="-128"/>
            </a:endParaRPr>
          </a:p>
        </p:txBody>
      </p:sp>
      <p:cxnSp>
        <p:nvCxnSpPr>
          <p:cNvPr id="11" name="Straight Connector 10">
            <a:extLst>
              <a:ext uri="{FF2B5EF4-FFF2-40B4-BE49-F238E27FC236}">
                <a16:creationId xmlns:a16="http://schemas.microsoft.com/office/drawing/2014/main" id="{59AFA0D3-E54F-DB43-8E7F-E3125D9102C4}"/>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154B4A7-532D-7248-BFCA-B0CB2A7E537A}"/>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72066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p:cNvSpPr>
            <a:spLocks noGrp="1"/>
          </p:cNvSpPr>
          <p:nvPr>
            <p:ph type="title"/>
          </p:nvPr>
        </p:nvSpPr>
        <p:spPr/>
        <p:txBody>
          <a:bodyPr/>
          <a:lstStyle/>
          <a:p>
            <a:r>
              <a:rPr lang="en-US"/>
              <a:t>Manipulating multiple corpora</a:t>
            </a:r>
            <a:endParaRPr lang="en-US" dirty="0"/>
          </a:p>
        </p:txBody>
      </p:sp>
      <p:sp>
        <p:nvSpPr>
          <p:cNvPr id="5" name="Footer Placeholder 4"/>
          <p:cNvSpPr>
            <a:spLocks noGrp="1"/>
          </p:cNvSpPr>
          <p:nvPr>
            <p:ph type="ftr" sz="quarter" idx="3"/>
          </p:nvPr>
        </p:nvSpPr>
        <p:spPr/>
        <p:txBody>
          <a:bodyPr/>
          <a:lstStyle/>
          <a:p>
            <a:r>
              <a:rPr lang="en-US"/>
              <a:t>Kwartler</a:t>
            </a:r>
            <a:endParaRPr lang="en-US" dirty="0"/>
          </a:p>
        </p:txBody>
      </p:sp>
      <p:sp>
        <p:nvSpPr>
          <p:cNvPr id="4" name="Slide Number Placeholder 3"/>
          <p:cNvSpPr>
            <a:spLocks noGrp="1"/>
          </p:cNvSpPr>
          <p:nvPr>
            <p:ph type="sldNum" sz="quarter" idx="4"/>
          </p:nvPr>
        </p:nvSpPr>
        <p:spPr/>
        <p:txBody>
          <a:bodyPr/>
          <a:lstStyle/>
          <a:p>
            <a:fld id="{37290FF7-652B-4475-AEAB-8B1A5D23AE09}" type="slidenum">
              <a:rPr lang="en-US" smtClean="0"/>
              <a:pPr/>
              <a:t>49</a:t>
            </a:fld>
            <a:endParaRPr lang="en-US"/>
          </a:p>
        </p:txBody>
      </p:sp>
      <p:pic>
        <p:nvPicPr>
          <p:cNvPr id="6" name="Picture 2" descr="Image result for document ic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40761" y="1682660"/>
            <a:ext cx="946096" cy="94609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6306208" y="961242"/>
            <a:ext cx="2615203" cy="646331"/>
          </a:xfrm>
          <a:prstGeom prst="rect">
            <a:avLst/>
          </a:prstGeom>
          <a:noFill/>
        </p:spPr>
        <p:txBody>
          <a:bodyPr wrap="none" rtlCol="0">
            <a:spAutoFit/>
          </a:bodyPr>
          <a:lstStyle/>
          <a:p>
            <a:pPr algn="ctr"/>
            <a:r>
              <a:rPr lang="en-US" b="1" u="sng" dirty="0"/>
              <a:t>Combined/Collapsed </a:t>
            </a:r>
          </a:p>
          <a:p>
            <a:pPr algn="ctr"/>
            <a:r>
              <a:rPr lang="en-US" b="1" u="sng" dirty="0"/>
              <a:t>into a 2 document corpus</a:t>
            </a:r>
          </a:p>
        </p:txBody>
      </p:sp>
      <p:sp>
        <p:nvSpPr>
          <p:cNvPr id="8" name="TextBox 7"/>
          <p:cNvSpPr txBox="1"/>
          <p:nvPr/>
        </p:nvSpPr>
        <p:spPr>
          <a:xfrm>
            <a:off x="288146" y="1245022"/>
            <a:ext cx="2409121" cy="369332"/>
          </a:xfrm>
          <a:prstGeom prst="rect">
            <a:avLst/>
          </a:prstGeom>
          <a:noFill/>
        </p:spPr>
        <p:txBody>
          <a:bodyPr wrap="none" rtlCol="0">
            <a:spAutoFit/>
          </a:bodyPr>
          <a:lstStyle/>
          <a:p>
            <a:r>
              <a:rPr lang="en-US" b="1" u="sng" dirty="0" err="1"/>
              <a:t>CorpusA</a:t>
            </a:r>
            <a:r>
              <a:rPr lang="en-US" b="1" u="sng" dirty="0"/>
              <a:t> – 1000 Tweets</a:t>
            </a:r>
          </a:p>
        </p:txBody>
      </p:sp>
      <p:grpSp>
        <p:nvGrpSpPr>
          <p:cNvPr id="9" name="Group 8"/>
          <p:cNvGrpSpPr/>
          <p:nvPr/>
        </p:nvGrpSpPr>
        <p:grpSpPr>
          <a:xfrm>
            <a:off x="-1" y="1599580"/>
            <a:ext cx="3008243" cy="825575"/>
            <a:chOff x="2393494" y="2948152"/>
            <a:chExt cx="3008243" cy="825575"/>
          </a:xfrm>
        </p:grpSpPr>
        <p:grpSp>
          <p:nvGrpSpPr>
            <p:cNvPr id="10" name="Group 9"/>
            <p:cNvGrpSpPr/>
            <p:nvPr/>
          </p:nvGrpSpPr>
          <p:grpSpPr>
            <a:xfrm>
              <a:off x="2511573" y="3074532"/>
              <a:ext cx="2736003" cy="572814"/>
              <a:chOff x="2538396" y="3039060"/>
              <a:chExt cx="2736003" cy="572814"/>
            </a:xfrm>
          </p:grpSpPr>
          <p:pic>
            <p:nvPicPr>
              <p:cNvPr id="12" name="Picture 2" descr="Image result for document ic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66941" y="3039060"/>
                <a:ext cx="572814" cy="57281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Image result for document ic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8396" y="3039060"/>
                <a:ext cx="572814" cy="57281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Image result for document ic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01585" y="3039060"/>
                <a:ext cx="572814" cy="572814"/>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descr="Image result for document ic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86293" y="3039060"/>
                <a:ext cx="572814" cy="57281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Image result for document ic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26617" y="3039060"/>
                <a:ext cx="572814" cy="572814"/>
              </a:xfrm>
              <a:prstGeom prst="rect">
                <a:avLst/>
              </a:prstGeom>
              <a:noFill/>
              <a:extLst>
                <a:ext uri="{909E8E84-426E-40DD-AFC4-6F175D3DCCD1}">
                  <a14:hiddenFill xmlns:a14="http://schemas.microsoft.com/office/drawing/2010/main">
                    <a:solidFill>
                      <a:srgbClr val="FFFFFF"/>
                    </a:solidFill>
                  </a14:hiddenFill>
                </a:ext>
              </a:extLst>
            </p:spPr>
          </p:pic>
        </p:grpSp>
        <p:sp>
          <p:nvSpPr>
            <p:cNvPr id="11" name="Rounded Rectangle 10"/>
            <p:cNvSpPr/>
            <p:nvPr/>
          </p:nvSpPr>
          <p:spPr>
            <a:xfrm>
              <a:off x="2393494" y="2948152"/>
              <a:ext cx="3008243" cy="825575"/>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TextBox 16"/>
          <p:cNvSpPr txBox="1"/>
          <p:nvPr/>
        </p:nvSpPr>
        <p:spPr>
          <a:xfrm>
            <a:off x="292955" y="3187610"/>
            <a:ext cx="2399503" cy="369332"/>
          </a:xfrm>
          <a:prstGeom prst="rect">
            <a:avLst/>
          </a:prstGeom>
          <a:noFill/>
        </p:spPr>
        <p:txBody>
          <a:bodyPr wrap="none" rtlCol="0">
            <a:spAutoFit/>
          </a:bodyPr>
          <a:lstStyle/>
          <a:p>
            <a:r>
              <a:rPr lang="en-US" b="1" u="sng" dirty="0" err="1"/>
              <a:t>CorpusB</a:t>
            </a:r>
            <a:r>
              <a:rPr lang="en-US" b="1" u="sng" dirty="0"/>
              <a:t> – 1000 Tweets</a:t>
            </a:r>
          </a:p>
        </p:txBody>
      </p:sp>
      <p:sp>
        <p:nvSpPr>
          <p:cNvPr id="27" name="Right Arrow 26"/>
          <p:cNvSpPr/>
          <p:nvPr/>
        </p:nvSpPr>
        <p:spPr>
          <a:xfrm>
            <a:off x="3151392" y="1647844"/>
            <a:ext cx="3058511" cy="693683"/>
          </a:xfrm>
          <a:prstGeom prst="rightArrow">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Clean &amp; Collapse</a:t>
            </a:r>
          </a:p>
        </p:txBody>
      </p:sp>
      <p:sp>
        <p:nvSpPr>
          <p:cNvPr id="28" name="Right Arrow 27"/>
          <p:cNvSpPr/>
          <p:nvPr/>
        </p:nvSpPr>
        <p:spPr>
          <a:xfrm>
            <a:off x="3124888" y="3567127"/>
            <a:ext cx="3058511" cy="693683"/>
          </a:xfrm>
          <a:prstGeom prst="rightArrow">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Clean &amp; Collapse</a:t>
            </a:r>
          </a:p>
        </p:txBody>
      </p:sp>
      <p:sp>
        <p:nvSpPr>
          <p:cNvPr id="29" name="Rounded Rectangle 28"/>
          <p:cNvSpPr/>
          <p:nvPr/>
        </p:nvSpPr>
        <p:spPr>
          <a:xfrm>
            <a:off x="6738823" y="1612599"/>
            <a:ext cx="1749972" cy="3038914"/>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 descr="Image result for document ic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40761" y="3466909"/>
            <a:ext cx="946096" cy="946096"/>
          </a:xfrm>
          <a:prstGeom prst="rect">
            <a:avLst/>
          </a:prstGeom>
          <a:noFill/>
          <a:extLst>
            <a:ext uri="{909E8E84-426E-40DD-AFC4-6F175D3DCCD1}">
              <a14:hiddenFill xmlns:a14="http://schemas.microsoft.com/office/drawing/2010/main">
                <a:solidFill>
                  <a:srgbClr val="FFFFFF"/>
                </a:solidFill>
              </a14:hiddenFill>
            </a:ext>
          </a:extLst>
        </p:spPr>
      </p:pic>
      <p:cxnSp>
        <p:nvCxnSpPr>
          <p:cNvPr id="31" name="Straight Connector 30">
            <a:extLst>
              <a:ext uri="{FF2B5EF4-FFF2-40B4-BE49-F238E27FC236}">
                <a16:creationId xmlns:a16="http://schemas.microsoft.com/office/drawing/2014/main" id="{2EC3254C-1925-7F41-8A43-DBAC6D44A709}"/>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CD7B3A5F-49B5-1648-A77E-C5C4D988FD47}"/>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39" name="Group 38">
            <a:extLst>
              <a:ext uri="{FF2B5EF4-FFF2-40B4-BE49-F238E27FC236}">
                <a16:creationId xmlns:a16="http://schemas.microsoft.com/office/drawing/2014/main" id="{D73FE44A-9F88-734F-8D23-FFB10CFA7D60}"/>
              </a:ext>
            </a:extLst>
          </p:cNvPr>
          <p:cNvGrpSpPr/>
          <p:nvPr/>
        </p:nvGrpSpPr>
        <p:grpSpPr>
          <a:xfrm>
            <a:off x="0" y="3527766"/>
            <a:ext cx="3008243" cy="825575"/>
            <a:chOff x="2393494" y="2948152"/>
            <a:chExt cx="3008243" cy="825575"/>
          </a:xfrm>
        </p:grpSpPr>
        <p:grpSp>
          <p:nvGrpSpPr>
            <p:cNvPr id="40" name="Group 39">
              <a:extLst>
                <a:ext uri="{FF2B5EF4-FFF2-40B4-BE49-F238E27FC236}">
                  <a16:creationId xmlns:a16="http://schemas.microsoft.com/office/drawing/2014/main" id="{67D4849A-1539-984E-9B85-8F70502119D9}"/>
                </a:ext>
              </a:extLst>
            </p:cNvPr>
            <p:cNvGrpSpPr/>
            <p:nvPr/>
          </p:nvGrpSpPr>
          <p:grpSpPr>
            <a:xfrm>
              <a:off x="2511573" y="3074532"/>
              <a:ext cx="2736003" cy="572814"/>
              <a:chOff x="2538396" y="3039060"/>
              <a:chExt cx="2736003" cy="572814"/>
            </a:xfrm>
          </p:grpSpPr>
          <p:pic>
            <p:nvPicPr>
              <p:cNvPr id="42" name="Picture 2" descr="Image result for document icon">
                <a:extLst>
                  <a:ext uri="{FF2B5EF4-FFF2-40B4-BE49-F238E27FC236}">
                    <a16:creationId xmlns:a16="http://schemas.microsoft.com/office/drawing/2014/main" id="{E8F73898-D105-984F-A07C-C1875831E91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66941" y="3039060"/>
                <a:ext cx="572814" cy="572814"/>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Image result for document icon">
                <a:extLst>
                  <a:ext uri="{FF2B5EF4-FFF2-40B4-BE49-F238E27FC236}">
                    <a16:creationId xmlns:a16="http://schemas.microsoft.com/office/drawing/2014/main" id="{EFB51C31-6582-6C48-ADE8-54D7BE0C1CE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8396" y="3039060"/>
                <a:ext cx="572814" cy="572814"/>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 descr="Image result for document icon">
                <a:extLst>
                  <a:ext uri="{FF2B5EF4-FFF2-40B4-BE49-F238E27FC236}">
                    <a16:creationId xmlns:a16="http://schemas.microsoft.com/office/drawing/2014/main" id="{0C71A069-BF77-AC46-ACFD-392DA1ED371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01585" y="3039060"/>
                <a:ext cx="572814" cy="572814"/>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 descr="Image result for document icon">
                <a:extLst>
                  <a:ext uri="{FF2B5EF4-FFF2-40B4-BE49-F238E27FC236}">
                    <a16:creationId xmlns:a16="http://schemas.microsoft.com/office/drawing/2014/main" id="{13C7D2AF-2006-AC47-87B0-02A4E90D693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86293" y="3039060"/>
                <a:ext cx="572814" cy="572814"/>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2" descr="Image result for document icon">
                <a:extLst>
                  <a:ext uri="{FF2B5EF4-FFF2-40B4-BE49-F238E27FC236}">
                    <a16:creationId xmlns:a16="http://schemas.microsoft.com/office/drawing/2014/main" id="{C95E6A5F-5399-AA49-B02B-E59FEA5E1A2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26617" y="3039060"/>
                <a:ext cx="572814" cy="572814"/>
              </a:xfrm>
              <a:prstGeom prst="rect">
                <a:avLst/>
              </a:prstGeom>
              <a:noFill/>
              <a:extLst>
                <a:ext uri="{909E8E84-426E-40DD-AFC4-6F175D3DCCD1}">
                  <a14:hiddenFill xmlns:a14="http://schemas.microsoft.com/office/drawing/2010/main">
                    <a:solidFill>
                      <a:srgbClr val="FFFFFF"/>
                    </a:solidFill>
                  </a14:hiddenFill>
                </a:ext>
              </a:extLst>
            </p:spPr>
          </p:pic>
        </p:grpSp>
        <p:sp>
          <p:nvSpPr>
            <p:cNvPr id="41" name="Rounded Rectangle 40">
              <a:extLst>
                <a:ext uri="{FF2B5EF4-FFF2-40B4-BE49-F238E27FC236}">
                  <a16:creationId xmlns:a16="http://schemas.microsoft.com/office/drawing/2014/main" id="{71EDE7D1-6797-9149-A68F-D69F9135976A}"/>
                </a:ext>
              </a:extLst>
            </p:cNvPr>
            <p:cNvSpPr/>
            <p:nvPr/>
          </p:nvSpPr>
          <p:spPr>
            <a:xfrm>
              <a:off x="2393494" y="2948152"/>
              <a:ext cx="3008243" cy="825575"/>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569238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p:cNvSpPr>
            <a:spLocks noGrp="1"/>
          </p:cNvSpPr>
          <p:nvPr>
            <p:ph type="title"/>
          </p:nvPr>
        </p:nvSpPr>
        <p:spPr/>
        <p:txBody>
          <a:bodyPr/>
          <a:lstStyle/>
          <a:p>
            <a:r>
              <a:rPr lang="en-US"/>
              <a:t>The new WC will examine inner and disjoins</a:t>
            </a:r>
            <a:endParaRPr lang="en-US" dirty="0"/>
          </a:p>
        </p:txBody>
      </p:sp>
      <p:sp>
        <p:nvSpPr>
          <p:cNvPr id="5" name="Footer Placeholder 4"/>
          <p:cNvSpPr>
            <a:spLocks noGrp="1"/>
          </p:cNvSpPr>
          <p:nvPr>
            <p:ph type="ftr" sz="quarter" idx="3"/>
          </p:nvPr>
        </p:nvSpPr>
        <p:spPr/>
        <p:txBody>
          <a:bodyPr/>
          <a:lstStyle/>
          <a:p>
            <a:r>
              <a:rPr lang="en-US"/>
              <a:t>Kwartler</a:t>
            </a:r>
            <a:endParaRPr lang="en-US" dirty="0"/>
          </a:p>
        </p:txBody>
      </p:sp>
      <p:sp>
        <p:nvSpPr>
          <p:cNvPr id="4" name="Slide Number Placeholder 3"/>
          <p:cNvSpPr>
            <a:spLocks noGrp="1"/>
          </p:cNvSpPr>
          <p:nvPr>
            <p:ph type="sldNum" sz="quarter" idx="4"/>
          </p:nvPr>
        </p:nvSpPr>
        <p:spPr/>
        <p:txBody>
          <a:bodyPr/>
          <a:lstStyle/>
          <a:p>
            <a:fld id="{37290FF7-652B-4475-AEAB-8B1A5D23AE09}" type="slidenum">
              <a:rPr lang="en-US" smtClean="0"/>
              <a:pPr/>
              <a:t>50</a:t>
            </a:fld>
            <a:endParaRPr lang="en-US"/>
          </a:p>
        </p:txBody>
      </p:sp>
      <p:grpSp>
        <p:nvGrpSpPr>
          <p:cNvPr id="13" name="Group 12"/>
          <p:cNvGrpSpPr/>
          <p:nvPr/>
        </p:nvGrpSpPr>
        <p:grpSpPr>
          <a:xfrm>
            <a:off x="2799259" y="2281575"/>
            <a:ext cx="3545483" cy="2294850"/>
            <a:chOff x="4469945" y="1539730"/>
            <a:chExt cx="3545483" cy="2294850"/>
          </a:xfrm>
        </p:grpSpPr>
        <p:sp>
          <p:nvSpPr>
            <p:cNvPr id="9" name="Oval 8"/>
            <p:cNvSpPr/>
            <p:nvPr/>
          </p:nvSpPr>
          <p:spPr>
            <a:xfrm>
              <a:off x="4469945" y="1539730"/>
              <a:ext cx="2294850" cy="2294850"/>
            </a:xfrm>
            <a:prstGeom prst="ellipse">
              <a:avLst/>
            </a:prstGeom>
            <a:no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kern="1200" dirty="0">
                <a:solidFill>
                  <a:prstClr val="white"/>
                </a:solidFill>
                <a:latin typeface="Arial Unicode MS" panose="020B0604020202020204" pitchFamily="34" charset="-128"/>
              </a:endParaRPr>
            </a:p>
          </p:txBody>
        </p:sp>
        <p:sp>
          <p:nvSpPr>
            <p:cNvPr id="10" name="Oval 9"/>
            <p:cNvSpPr/>
            <p:nvPr/>
          </p:nvSpPr>
          <p:spPr>
            <a:xfrm>
              <a:off x="5720578" y="1539730"/>
              <a:ext cx="2294850" cy="2294850"/>
            </a:xfrm>
            <a:prstGeom prst="ellipse">
              <a:avLst/>
            </a:prstGeom>
            <a:no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kern="1200" dirty="0">
                <a:solidFill>
                  <a:prstClr val="white"/>
                </a:solidFill>
                <a:latin typeface="Arial Unicode MS" panose="020B0604020202020204" pitchFamily="34" charset="-128"/>
              </a:endParaRPr>
            </a:p>
          </p:txBody>
        </p:sp>
        <p:pic>
          <p:nvPicPr>
            <p:cNvPr id="11" name="Picture 2" descr="Image result for document ic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65271" y="2214107"/>
              <a:ext cx="946096" cy="94609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Image result for document ic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04582" y="2214107"/>
              <a:ext cx="946096" cy="946096"/>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4" name="Straight Connector 13">
            <a:extLst>
              <a:ext uri="{FF2B5EF4-FFF2-40B4-BE49-F238E27FC236}">
                <a16:creationId xmlns:a16="http://schemas.microsoft.com/office/drawing/2014/main" id="{E908BD7F-74F5-FF4C-BC2E-26798FDC78EE}"/>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ABF0BB3-2992-974A-9F32-A64ED69B38EA}"/>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17627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6FFA28-2AFC-46BA-97EC-72EA43A5FCF1}"/>
              </a:ext>
            </a:extLst>
          </p:cNvPr>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a:extLst>
              <a:ext uri="{FF2B5EF4-FFF2-40B4-BE49-F238E27FC236}">
                <a16:creationId xmlns:a16="http://schemas.microsoft.com/office/drawing/2014/main" id="{1A28C5AC-3677-4E2E-BC72-2BFCF0C6A5EC}"/>
              </a:ext>
            </a:extLst>
          </p:cNvPr>
          <p:cNvSpPr>
            <a:spLocks noGrp="1"/>
          </p:cNvSpPr>
          <p:nvPr>
            <p:ph type="title"/>
          </p:nvPr>
        </p:nvSpPr>
        <p:spPr/>
        <p:txBody>
          <a:bodyPr/>
          <a:lstStyle/>
          <a:p>
            <a:r>
              <a:rPr lang="en-US"/>
              <a:t>Lets make some improved word clouds</a:t>
            </a:r>
            <a:endParaRPr lang="en-US" dirty="0"/>
          </a:p>
        </p:txBody>
      </p:sp>
      <p:sp>
        <p:nvSpPr>
          <p:cNvPr id="8" name="Footer Placeholder 5">
            <a:extLst>
              <a:ext uri="{FF2B5EF4-FFF2-40B4-BE49-F238E27FC236}">
                <a16:creationId xmlns:a16="http://schemas.microsoft.com/office/drawing/2014/main" id="{53F5E589-703C-43D9-B204-17A2B658FCCE}"/>
              </a:ext>
            </a:extLst>
          </p:cNvPr>
          <p:cNvSpPr>
            <a:spLocks noGrp="1"/>
          </p:cNvSpPr>
          <p:nvPr>
            <p:ph type="ftr" sz="quarter" idx="3"/>
          </p:nvPr>
        </p:nvSpPr>
        <p:spPr/>
        <p:txBody>
          <a:bodyPr/>
          <a:lstStyle/>
          <a:p>
            <a:r>
              <a:rPr lang="en-US"/>
              <a:t>Kwartler</a:t>
            </a:r>
            <a:endParaRPr lang="en-US" dirty="0"/>
          </a:p>
        </p:txBody>
      </p:sp>
      <p:sp>
        <p:nvSpPr>
          <p:cNvPr id="4" name="Slide Number Placeholder 3">
            <a:extLst>
              <a:ext uri="{FF2B5EF4-FFF2-40B4-BE49-F238E27FC236}">
                <a16:creationId xmlns:a16="http://schemas.microsoft.com/office/drawing/2014/main" id="{912D24EB-6B7F-42DA-A05B-461AF5085D91}"/>
              </a:ext>
            </a:extLst>
          </p:cNvPr>
          <p:cNvSpPr>
            <a:spLocks noGrp="1"/>
          </p:cNvSpPr>
          <p:nvPr>
            <p:ph type="sldNum" sz="quarter" idx="4"/>
          </p:nvPr>
        </p:nvSpPr>
        <p:spPr/>
        <p:txBody>
          <a:bodyPr/>
          <a:lstStyle/>
          <a:p>
            <a:fld id="{37290FF7-652B-4475-AEAB-8B1A5D23AE09}" type="slidenum">
              <a:rPr lang="en-US" smtClean="0"/>
              <a:pPr/>
              <a:t>51</a:t>
            </a:fld>
            <a:endParaRPr lang="en-US"/>
          </a:p>
        </p:txBody>
      </p:sp>
      <p:sp>
        <p:nvSpPr>
          <p:cNvPr id="6" name="TextBox 5">
            <a:extLst>
              <a:ext uri="{FF2B5EF4-FFF2-40B4-BE49-F238E27FC236}">
                <a16:creationId xmlns:a16="http://schemas.microsoft.com/office/drawing/2014/main" id="{C0F8E680-27F4-40BF-A3FC-AF16D46EC879}"/>
              </a:ext>
            </a:extLst>
          </p:cNvPr>
          <p:cNvSpPr txBox="1"/>
          <p:nvPr/>
        </p:nvSpPr>
        <p:spPr>
          <a:xfrm>
            <a:off x="660181" y="1699846"/>
            <a:ext cx="3605474" cy="523220"/>
          </a:xfrm>
          <a:prstGeom prst="rect">
            <a:avLst/>
          </a:prstGeom>
          <a:noFill/>
        </p:spPr>
        <p:txBody>
          <a:bodyPr wrap="none" rtlCol="0">
            <a:spAutoFit/>
          </a:bodyPr>
          <a:lstStyle/>
          <a:p>
            <a:r>
              <a:rPr lang="en-US" sz="2800" dirty="0" err="1"/>
              <a:t>F_CommonalityCloud.R</a:t>
            </a:r>
            <a:endParaRPr lang="en-US" sz="2800" dirty="0"/>
          </a:p>
        </p:txBody>
      </p:sp>
      <p:pic>
        <p:nvPicPr>
          <p:cNvPr id="12290" name="Picture 2" descr="Image result for nlp  meme">
            <a:extLst>
              <a:ext uri="{FF2B5EF4-FFF2-40B4-BE49-F238E27FC236}">
                <a16:creationId xmlns:a16="http://schemas.microsoft.com/office/drawing/2014/main" id="{E084A14F-187D-4780-97E6-5521F3FF95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6130" y="2269741"/>
            <a:ext cx="3296172" cy="3296172"/>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Connector 8">
            <a:extLst>
              <a:ext uri="{FF2B5EF4-FFF2-40B4-BE49-F238E27FC236}">
                <a16:creationId xmlns:a16="http://schemas.microsoft.com/office/drawing/2014/main" id="{7E7705FF-846C-5140-9872-5D036398A8A8}"/>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068F6EE-46D3-9843-8C17-434EF07721CC}"/>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54329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p:cNvSpPr>
            <a:spLocks noGrp="1"/>
          </p:cNvSpPr>
          <p:nvPr>
            <p:ph type="title"/>
          </p:nvPr>
        </p:nvSpPr>
        <p:spPr/>
        <p:txBody>
          <a:bodyPr/>
          <a:lstStyle/>
          <a:p>
            <a:r>
              <a:rPr lang="en-US"/>
              <a:t>What tokens are in common?</a:t>
            </a:r>
            <a:endParaRPr lang="en-US" dirty="0"/>
          </a:p>
        </p:txBody>
      </p:sp>
      <p:sp>
        <p:nvSpPr>
          <p:cNvPr id="5" name="Footer Placeholder 4"/>
          <p:cNvSpPr>
            <a:spLocks noGrp="1"/>
          </p:cNvSpPr>
          <p:nvPr>
            <p:ph type="ftr" sz="quarter" idx="3"/>
          </p:nvPr>
        </p:nvSpPr>
        <p:spPr/>
        <p:txBody>
          <a:bodyPr/>
          <a:lstStyle/>
          <a:p>
            <a:r>
              <a:rPr lang="en-US"/>
              <a:t>Kwartler</a:t>
            </a:r>
            <a:endParaRPr lang="en-US" dirty="0"/>
          </a:p>
        </p:txBody>
      </p:sp>
      <p:sp>
        <p:nvSpPr>
          <p:cNvPr id="4" name="Slide Number Placeholder 3"/>
          <p:cNvSpPr>
            <a:spLocks noGrp="1"/>
          </p:cNvSpPr>
          <p:nvPr>
            <p:ph type="sldNum" sz="quarter" idx="4"/>
          </p:nvPr>
        </p:nvSpPr>
        <p:spPr/>
        <p:txBody>
          <a:bodyPr/>
          <a:lstStyle/>
          <a:p>
            <a:fld id="{37290FF7-652B-4475-AEAB-8B1A5D23AE09}" type="slidenum">
              <a:rPr lang="en-US" smtClean="0"/>
              <a:pPr/>
              <a:t>52</a:t>
            </a:fld>
            <a:endParaRPr lang="en-US"/>
          </a:p>
        </p:txBody>
      </p:sp>
      <p:pic>
        <p:nvPicPr>
          <p:cNvPr id="6" name="Picture 5"/>
          <p:cNvPicPr>
            <a:picLocks noChangeAspect="1"/>
          </p:cNvPicPr>
          <p:nvPr/>
        </p:nvPicPr>
        <p:blipFill>
          <a:blip r:embed="rId2"/>
          <a:stretch>
            <a:fillRect/>
          </a:stretch>
        </p:blipFill>
        <p:spPr>
          <a:xfrm>
            <a:off x="5080767" y="1467972"/>
            <a:ext cx="3333750" cy="3248025"/>
          </a:xfrm>
          <a:prstGeom prst="rect">
            <a:avLst/>
          </a:prstGeom>
        </p:spPr>
      </p:pic>
      <p:sp>
        <p:nvSpPr>
          <p:cNvPr id="8" name="Oval 7"/>
          <p:cNvSpPr/>
          <p:nvPr/>
        </p:nvSpPr>
        <p:spPr>
          <a:xfrm>
            <a:off x="387135" y="1897263"/>
            <a:ext cx="2294850" cy="2294850"/>
          </a:xfrm>
          <a:prstGeom prst="ellipse">
            <a:avLst/>
          </a:prstGeom>
          <a:no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kern="1200" dirty="0">
              <a:solidFill>
                <a:prstClr val="white"/>
              </a:solidFill>
              <a:latin typeface="Arial Unicode MS" panose="020B0604020202020204" pitchFamily="34" charset="-128"/>
            </a:endParaRPr>
          </a:p>
        </p:txBody>
      </p:sp>
      <p:sp>
        <p:nvSpPr>
          <p:cNvPr id="9" name="Oval 8"/>
          <p:cNvSpPr/>
          <p:nvPr/>
        </p:nvSpPr>
        <p:spPr>
          <a:xfrm>
            <a:off x="1637768" y="1897263"/>
            <a:ext cx="2294850" cy="2294850"/>
          </a:xfrm>
          <a:prstGeom prst="ellipse">
            <a:avLst/>
          </a:prstGeom>
          <a:no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kern="1200" dirty="0">
              <a:solidFill>
                <a:prstClr val="white"/>
              </a:solidFill>
              <a:latin typeface="Arial Unicode MS" panose="020B0604020202020204" pitchFamily="34" charset="-128"/>
            </a:endParaRPr>
          </a:p>
        </p:txBody>
      </p:sp>
      <p:pic>
        <p:nvPicPr>
          <p:cNvPr id="10" name="Picture 2" descr="Image result for document ic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2461" y="2571640"/>
            <a:ext cx="946096" cy="94609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Image result for document ic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21772" y="2571640"/>
            <a:ext cx="946096" cy="946096"/>
          </a:xfrm>
          <a:prstGeom prst="rect">
            <a:avLst/>
          </a:prstGeom>
          <a:noFill/>
          <a:extLst>
            <a:ext uri="{909E8E84-426E-40DD-AFC4-6F175D3DCCD1}">
              <a14:hiddenFill xmlns:a14="http://schemas.microsoft.com/office/drawing/2010/main">
                <a:solidFill>
                  <a:srgbClr val="FFFFFF"/>
                </a:solidFill>
              </a14:hiddenFill>
            </a:ext>
          </a:extLst>
        </p:spPr>
      </p:pic>
      <p:sp>
        <p:nvSpPr>
          <p:cNvPr id="14" name="Freeform 13"/>
          <p:cNvSpPr/>
          <p:nvPr/>
        </p:nvSpPr>
        <p:spPr>
          <a:xfrm>
            <a:off x="1648279" y="2093884"/>
            <a:ext cx="1044217" cy="1922633"/>
          </a:xfrm>
          <a:custGeom>
            <a:avLst/>
            <a:gdLst>
              <a:gd name="connsiteX0" fmla="*/ 522109 w 1044217"/>
              <a:gd name="connsiteY0" fmla="*/ 0 h 1922633"/>
              <a:gd name="connsiteX1" fmla="*/ 538328 w 1044217"/>
              <a:gd name="connsiteY1" fmla="*/ 9853 h 1922633"/>
              <a:gd name="connsiteX2" fmla="*/ 1044217 w 1044217"/>
              <a:gd name="connsiteY2" fmla="*/ 961316 h 1922633"/>
              <a:gd name="connsiteX3" fmla="*/ 538328 w 1044217"/>
              <a:gd name="connsiteY3" fmla="*/ 1912779 h 1922633"/>
              <a:gd name="connsiteX4" fmla="*/ 522109 w 1044217"/>
              <a:gd name="connsiteY4" fmla="*/ 1922633 h 1922633"/>
              <a:gd name="connsiteX5" fmla="*/ 505889 w 1044217"/>
              <a:gd name="connsiteY5" fmla="*/ 1912779 h 1922633"/>
              <a:gd name="connsiteX6" fmla="*/ 0 w 1044217"/>
              <a:gd name="connsiteY6" fmla="*/ 961316 h 1922633"/>
              <a:gd name="connsiteX7" fmla="*/ 505889 w 1044217"/>
              <a:gd name="connsiteY7" fmla="*/ 9853 h 192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4217" h="1922633">
                <a:moveTo>
                  <a:pt x="522109" y="0"/>
                </a:moveTo>
                <a:lnTo>
                  <a:pt x="538328" y="9853"/>
                </a:lnTo>
                <a:cubicBezTo>
                  <a:pt x="843545" y="216054"/>
                  <a:pt x="1044217" y="565251"/>
                  <a:pt x="1044217" y="961316"/>
                </a:cubicBezTo>
                <a:cubicBezTo>
                  <a:pt x="1044217" y="1357382"/>
                  <a:pt x="843545" y="1706578"/>
                  <a:pt x="538328" y="1912779"/>
                </a:cubicBezTo>
                <a:lnTo>
                  <a:pt x="522109" y="1922633"/>
                </a:lnTo>
                <a:lnTo>
                  <a:pt x="505889" y="1912779"/>
                </a:lnTo>
                <a:cubicBezTo>
                  <a:pt x="200672" y="1706578"/>
                  <a:pt x="0" y="1357382"/>
                  <a:pt x="0" y="961316"/>
                </a:cubicBezTo>
                <a:cubicBezTo>
                  <a:pt x="0" y="565251"/>
                  <a:pt x="200672" y="216054"/>
                  <a:pt x="505889" y="9853"/>
                </a:cubicBezTo>
                <a:close/>
              </a:path>
            </a:pathLst>
          </a:custGeom>
          <a:solidFill>
            <a:srgbClr val="FFC000"/>
          </a:solid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defTabSz="457200"/>
            <a:endParaRPr lang="en-US" sz="1800" kern="1200" dirty="0">
              <a:solidFill>
                <a:prstClr val="white"/>
              </a:solidFill>
              <a:latin typeface="Arial Unicode MS" panose="020B0604020202020204" pitchFamily="34" charset="-128"/>
            </a:endParaRPr>
          </a:p>
        </p:txBody>
      </p:sp>
      <p:cxnSp>
        <p:nvCxnSpPr>
          <p:cNvPr id="12" name="Straight Connector 11">
            <a:extLst>
              <a:ext uri="{FF2B5EF4-FFF2-40B4-BE49-F238E27FC236}">
                <a16:creationId xmlns:a16="http://schemas.microsoft.com/office/drawing/2014/main" id="{9ED387FF-F19C-0344-A809-8F897502B9CF}"/>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4067D0F9-68E8-9647-8022-E9DE7BB17D40}"/>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166259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p:cNvSpPr>
            <a:spLocks noGrp="1"/>
          </p:cNvSpPr>
          <p:nvPr>
            <p:ph type="title"/>
          </p:nvPr>
        </p:nvSpPr>
        <p:spPr>
          <a:xfrm>
            <a:off x="189185" y="97108"/>
            <a:ext cx="8734097" cy="591477"/>
          </a:xfrm>
        </p:spPr>
        <p:txBody>
          <a:bodyPr/>
          <a:lstStyle/>
          <a:p>
            <a:r>
              <a:rPr lang="en-US" dirty="0"/>
              <a:t>Introducing TF-IDF Term Frequency Inverse Document Frequency</a:t>
            </a:r>
          </a:p>
        </p:txBody>
      </p:sp>
      <p:sp>
        <p:nvSpPr>
          <p:cNvPr id="5" name="Footer Placeholder 4"/>
          <p:cNvSpPr>
            <a:spLocks noGrp="1"/>
          </p:cNvSpPr>
          <p:nvPr>
            <p:ph type="ftr" sz="quarter" idx="3"/>
          </p:nvPr>
        </p:nvSpPr>
        <p:spPr/>
        <p:txBody>
          <a:bodyPr/>
          <a:lstStyle/>
          <a:p>
            <a:r>
              <a:rPr lang="en-US"/>
              <a:t>Kwartler</a:t>
            </a:r>
            <a:endParaRPr lang="en-US" dirty="0"/>
          </a:p>
        </p:txBody>
      </p:sp>
      <p:sp>
        <p:nvSpPr>
          <p:cNvPr id="4" name="Slide Number Placeholder 3"/>
          <p:cNvSpPr>
            <a:spLocks noGrp="1"/>
          </p:cNvSpPr>
          <p:nvPr>
            <p:ph type="sldNum" sz="quarter" idx="4"/>
          </p:nvPr>
        </p:nvSpPr>
        <p:spPr/>
        <p:txBody>
          <a:bodyPr/>
          <a:lstStyle/>
          <a:p>
            <a:fld id="{37290FF7-652B-4475-AEAB-8B1A5D23AE09}" type="slidenum">
              <a:rPr lang="en-US" smtClean="0"/>
              <a:pPr/>
              <a:t>53</a:t>
            </a:fld>
            <a:endParaRPr lang="en-US"/>
          </a:p>
        </p:txBody>
      </p:sp>
      <p:sp>
        <p:nvSpPr>
          <p:cNvPr id="7" name="TextBox 6">
            <a:extLst>
              <a:ext uri="{FF2B5EF4-FFF2-40B4-BE49-F238E27FC236}">
                <a16:creationId xmlns:a16="http://schemas.microsoft.com/office/drawing/2014/main" id="{A5A3EE36-0573-4214-8E8B-E9BD628BC999}"/>
              </a:ext>
            </a:extLst>
          </p:cNvPr>
          <p:cNvSpPr txBox="1"/>
          <p:nvPr/>
        </p:nvSpPr>
        <p:spPr>
          <a:xfrm>
            <a:off x="157656" y="1129855"/>
            <a:ext cx="8828688" cy="584775"/>
          </a:xfrm>
          <a:prstGeom prst="rect">
            <a:avLst/>
          </a:prstGeom>
          <a:solidFill>
            <a:schemeClr val="accent6">
              <a:lumMod val="60000"/>
              <a:lumOff val="40000"/>
            </a:schemeClr>
          </a:solidFill>
        </p:spPr>
        <p:txBody>
          <a:bodyPr wrap="square" rtlCol="0">
            <a:spAutoFit/>
          </a:bodyPr>
          <a:lstStyle/>
          <a:p>
            <a:pPr algn="ctr" defTabSz="457200"/>
            <a:r>
              <a:rPr lang="en-US" sz="1600" dirty="0">
                <a:solidFill>
                  <a:prstClr val="white"/>
                </a:solidFill>
                <a:latin typeface="+mj-lt"/>
                <a:ea typeface="Arial Unicode MS" panose="020B0604020202020204" pitchFamily="34" charset="-128"/>
                <a:cs typeface="Arial Unicode MS" panose="020B0604020202020204" pitchFamily="34" charset="-128"/>
              </a:rPr>
              <a:t>So far, you have used simple term frequency to identify informative words. </a:t>
            </a:r>
            <a:r>
              <a:rPr lang="en-US" sz="1600" dirty="0">
                <a:solidFill>
                  <a:prstClr val="white"/>
                </a:solidFill>
                <a:ea typeface="Arial Unicode MS" panose="020B0604020202020204" pitchFamily="34" charset="-128"/>
                <a:cs typeface="Arial Unicode MS" panose="020B0604020202020204" pitchFamily="34" charset="-128"/>
              </a:rPr>
              <a:t>Chardonnay is highly frequent in the tweets, but since it appears in all documents it isn’t informative.</a:t>
            </a:r>
          </a:p>
        </p:txBody>
      </p:sp>
      <p:sp>
        <p:nvSpPr>
          <p:cNvPr id="8" name="TextBox 7"/>
          <p:cNvSpPr txBox="1"/>
          <p:nvPr/>
        </p:nvSpPr>
        <p:spPr>
          <a:xfrm>
            <a:off x="2275666" y="1749966"/>
            <a:ext cx="4592668" cy="369332"/>
          </a:xfrm>
          <a:prstGeom prst="rect">
            <a:avLst/>
          </a:prstGeom>
          <a:noFill/>
        </p:spPr>
        <p:txBody>
          <a:bodyPr wrap="none" rtlCol="0">
            <a:spAutoFit/>
          </a:bodyPr>
          <a:lstStyle/>
          <a:p>
            <a:r>
              <a:rPr lang="en-US" i="1" dirty="0"/>
              <a:t>Term frequency * inverse-document-frequency</a:t>
            </a:r>
          </a:p>
        </p:txBody>
      </p:sp>
      <p:sp>
        <p:nvSpPr>
          <p:cNvPr id="11" name="TextBox 10"/>
          <p:cNvSpPr txBox="1"/>
          <p:nvPr/>
        </p:nvSpPr>
        <p:spPr>
          <a:xfrm>
            <a:off x="1008994" y="2827276"/>
            <a:ext cx="2569779" cy="923330"/>
          </a:xfrm>
          <a:prstGeom prst="rect">
            <a:avLst/>
          </a:prstGeom>
          <a:noFill/>
        </p:spPr>
        <p:txBody>
          <a:bodyPr wrap="square" rtlCol="0">
            <a:spAutoFit/>
          </a:bodyPr>
          <a:lstStyle/>
          <a:p>
            <a:r>
              <a:rPr lang="en-US" dirty="0"/>
              <a:t>If a term appears often, it must be important to the corpus.</a:t>
            </a:r>
          </a:p>
        </p:txBody>
      </p:sp>
      <p:sp>
        <p:nvSpPr>
          <p:cNvPr id="15" name="TextBox 14"/>
          <p:cNvSpPr txBox="1"/>
          <p:nvPr/>
        </p:nvSpPr>
        <p:spPr>
          <a:xfrm>
            <a:off x="4614042" y="2827276"/>
            <a:ext cx="2953406" cy="923330"/>
          </a:xfrm>
          <a:prstGeom prst="rect">
            <a:avLst/>
          </a:prstGeom>
          <a:noFill/>
        </p:spPr>
        <p:txBody>
          <a:bodyPr wrap="square" rtlCol="0">
            <a:spAutoFit/>
          </a:bodyPr>
          <a:lstStyle/>
          <a:p>
            <a:r>
              <a:rPr lang="en-US" dirty="0"/>
              <a:t>But, if a term appear in many documents, it can’t be distinctive or informative</a:t>
            </a:r>
          </a:p>
        </p:txBody>
      </p:sp>
      <p:sp>
        <p:nvSpPr>
          <p:cNvPr id="18" name="Up Arrow 17"/>
          <p:cNvSpPr/>
          <p:nvPr/>
        </p:nvSpPr>
        <p:spPr>
          <a:xfrm>
            <a:off x="1939158" y="3678614"/>
            <a:ext cx="457200" cy="1103586"/>
          </a:xfrm>
          <a:prstGeom prst="up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p:cNvCxnSpPr>
            <a:endCxn id="11" idx="0"/>
          </p:cNvCxnSpPr>
          <p:nvPr/>
        </p:nvCxnSpPr>
        <p:spPr>
          <a:xfrm flipH="1">
            <a:off x="2293884" y="2159869"/>
            <a:ext cx="843454" cy="667407"/>
          </a:xfrm>
          <a:prstGeom prst="line">
            <a:avLst/>
          </a:prstGeom>
        </p:spPr>
        <p:style>
          <a:lnRef idx="1">
            <a:schemeClr val="accent1"/>
          </a:lnRef>
          <a:fillRef idx="0">
            <a:schemeClr val="accent1"/>
          </a:fillRef>
          <a:effectRef idx="0">
            <a:schemeClr val="accent1"/>
          </a:effectRef>
          <a:fontRef idx="minor">
            <a:schemeClr val="tx1"/>
          </a:fontRef>
        </p:style>
      </p:cxnSp>
      <p:sp>
        <p:nvSpPr>
          <p:cNvPr id="21" name="Up Arrow 20"/>
          <p:cNvSpPr/>
          <p:nvPr/>
        </p:nvSpPr>
        <p:spPr>
          <a:xfrm flipV="1">
            <a:off x="5764923" y="3678614"/>
            <a:ext cx="457200" cy="1103586"/>
          </a:xfrm>
          <a:prstGeom prst="up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Connector 22"/>
          <p:cNvCxnSpPr>
            <a:endCxn id="15" idx="0"/>
          </p:cNvCxnSpPr>
          <p:nvPr/>
        </p:nvCxnSpPr>
        <p:spPr>
          <a:xfrm>
            <a:off x="5376041" y="2081042"/>
            <a:ext cx="714704" cy="746234"/>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1702677" y="4411717"/>
            <a:ext cx="1025665" cy="523220"/>
          </a:xfrm>
          <a:prstGeom prst="rect">
            <a:avLst/>
          </a:prstGeom>
          <a:noFill/>
        </p:spPr>
        <p:txBody>
          <a:bodyPr wrap="none" rtlCol="0">
            <a:spAutoFit/>
          </a:bodyPr>
          <a:lstStyle/>
          <a:p>
            <a:pPr algn="ctr"/>
            <a:r>
              <a:rPr lang="en-US" sz="1400" dirty="0"/>
              <a:t>Increasing</a:t>
            </a:r>
          </a:p>
          <a:p>
            <a:pPr algn="ctr"/>
            <a:r>
              <a:rPr lang="en-US" sz="1400" dirty="0"/>
              <a:t>importance</a:t>
            </a:r>
          </a:p>
        </p:txBody>
      </p:sp>
      <p:sp>
        <p:nvSpPr>
          <p:cNvPr id="25" name="TextBox 24"/>
          <p:cNvSpPr txBox="1"/>
          <p:nvPr/>
        </p:nvSpPr>
        <p:spPr>
          <a:xfrm>
            <a:off x="5512677" y="4411717"/>
            <a:ext cx="1025665" cy="523220"/>
          </a:xfrm>
          <a:prstGeom prst="rect">
            <a:avLst/>
          </a:prstGeom>
          <a:noFill/>
        </p:spPr>
        <p:txBody>
          <a:bodyPr wrap="none" rtlCol="0">
            <a:spAutoFit/>
          </a:bodyPr>
          <a:lstStyle/>
          <a:p>
            <a:pPr algn="ctr"/>
            <a:r>
              <a:rPr lang="en-US" sz="1400" dirty="0"/>
              <a:t>Offsetting</a:t>
            </a:r>
          </a:p>
          <a:p>
            <a:r>
              <a:rPr lang="en-US" sz="1400" dirty="0"/>
              <a:t>importance</a:t>
            </a:r>
          </a:p>
        </p:txBody>
      </p:sp>
      <p:cxnSp>
        <p:nvCxnSpPr>
          <p:cNvPr id="17" name="Straight Connector 16">
            <a:extLst>
              <a:ext uri="{FF2B5EF4-FFF2-40B4-BE49-F238E27FC236}">
                <a16:creationId xmlns:a16="http://schemas.microsoft.com/office/drawing/2014/main" id="{E89FC4BD-A0F1-B04C-A4FB-AE92762E02B8}"/>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0209444C-52BF-B743-9D9D-830988D158E8}"/>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7624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5" grpId="0"/>
      <p:bldP spid="18" grpId="0" animBg="1"/>
      <p:bldP spid="21" grpId="0" animBg="1"/>
      <p:bldP spid="24" grpId="0"/>
      <p:bldP spid="2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p:cNvSpPr>
            <a:spLocks noGrp="1"/>
          </p:cNvSpPr>
          <p:nvPr>
            <p:ph type="title"/>
          </p:nvPr>
        </p:nvSpPr>
        <p:spPr/>
        <p:txBody>
          <a:bodyPr/>
          <a:lstStyle/>
          <a:p>
            <a:r>
              <a:rPr lang="en-US"/>
              <a:t>The TF of TF-IDF</a:t>
            </a:r>
            <a:endParaRPr lang="en-US" dirty="0"/>
          </a:p>
        </p:txBody>
      </p:sp>
      <p:sp>
        <p:nvSpPr>
          <p:cNvPr id="5" name="Footer Placeholder 4"/>
          <p:cNvSpPr>
            <a:spLocks noGrp="1"/>
          </p:cNvSpPr>
          <p:nvPr>
            <p:ph type="ftr" sz="quarter" idx="3"/>
          </p:nvPr>
        </p:nvSpPr>
        <p:spPr/>
        <p:txBody>
          <a:bodyPr/>
          <a:lstStyle/>
          <a:p>
            <a:r>
              <a:rPr lang="en-US"/>
              <a:t>Kwartler</a:t>
            </a:r>
            <a:endParaRPr lang="en-US" dirty="0"/>
          </a:p>
        </p:txBody>
      </p:sp>
      <p:sp>
        <p:nvSpPr>
          <p:cNvPr id="4" name="Slide Number Placeholder 3"/>
          <p:cNvSpPr>
            <a:spLocks noGrp="1"/>
          </p:cNvSpPr>
          <p:nvPr>
            <p:ph type="sldNum" sz="quarter" idx="4"/>
          </p:nvPr>
        </p:nvSpPr>
        <p:spPr>
          <a:xfrm>
            <a:off x="7245743" y="6356351"/>
            <a:ext cx="857250" cy="365125"/>
          </a:xfrm>
          <a:prstGeom prst="rect">
            <a:avLst/>
          </a:prstGeom>
        </p:spPr>
        <p:txBody>
          <a:bodyPr/>
          <a:lstStyle>
            <a:defPPr>
              <a:defRPr lang="en-US"/>
            </a:defPPr>
            <a:lvl1pPr marL="0" algn="l" defTabSz="914400" rtl="0" eaLnBrk="1" latinLnBrk="0" hangingPunct="1">
              <a:lnSpc>
                <a:spcPct val="200000"/>
              </a:lnSpc>
              <a:defRPr lang="en-US" sz="900" kern="1200" smtClean="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7290FF7-652B-4475-AEAB-8B1A5D23AE09}" type="slidenum">
              <a:rPr lang="en-US" smtClean="0"/>
              <a:pPr/>
              <a:t>54</a:t>
            </a:fld>
            <a:endParaRPr lang="en-US"/>
          </a:p>
        </p:txBody>
      </p:sp>
      <p:sp>
        <p:nvSpPr>
          <p:cNvPr id="6" name="TextBox 5">
            <a:extLst>
              <a:ext uri="{FF2B5EF4-FFF2-40B4-BE49-F238E27FC236}">
                <a16:creationId xmlns:a16="http://schemas.microsoft.com/office/drawing/2014/main" id="{A5A3EE36-0573-4214-8E8B-E9BD628BC999}"/>
              </a:ext>
            </a:extLst>
          </p:cNvPr>
          <p:cNvSpPr txBox="1"/>
          <p:nvPr/>
        </p:nvSpPr>
        <p:spPr>
          <a:xfrm>
            <a:off x="157656" y="1209147"/>
            <a:ext cx="8828688" cy="584775"/>
          </a:xfrm>
          <a:prstGeom prst="rect">
            <a:avLst/>
          </a:prstGeom>
          <a:solidFill>
            <a:schemeClr val="accent6">
              <a:lumMod val="60000"/>
              <a:lumOff val="40000"/>
            </a:schemeClr>
          </a:solidFill>
        </p:spPr>
        <p:txBody>
          <a:bodyPr wrap="square" rtlCol="0">
            <a:spAutoFit/>
          </a:bodyPr>
          <a:lstStyle/>
          <a:p>
            <a:pPr algn="ctr" defTabSz="457200"/>
            <a:r>
              <a:rPr lang="en-US" sz="1600" dirty="0">
                <a:solidFill>
                  <a:prstClr val="white"/>
                </a:solidFill>
                <a:latin typeface="+mj-lt"/>
                <a:ea typeface="Arial Unicode MS" panose="020B0604020202020204" pitchFamily="34" charset="-128"/>
                <a:cs typeface="Arial Unicode MS" panose="020B0604020202020204" pitchFamily="34" charset="-128"/>
              </a:rPr>
              <a:t>Term Frequency isn’t just a count.  It is normalized because unique  terms will naturally increase the longer the document.</a:t>
            </a:r>
            <a:endParaRPr lang="en-US" sz="1600" kern="1200" dirty="0">
              <a:solidFill>
                <a:prstClr val="white"/>
              </a:solidFill>
              <a:latin typeface="+mj-lt"/>
              <a:ea typeface="Arial Unicode MS" panose="020B0604020202020204" pitchFamily="34" charset="-128"/>
              <a:cs typeface="Arial Unicode MS" panose="020B0604020202020204" pitchFamily="34" charset="-128"/>
            </a:endParaRPr>
          </a:p>
        </p:txBody>
      </p:sp>
      <p:sp>
        <p:nvSpPr>
          <p:cNvPr id="8" name="TextBox 7"/>
          <p:cNvSpPr txBox="1"/>
          <p:nvPr/>
        </p:nvSpPr>
        <p:spPr>
          <a:xfrm>
            <a:off x="773941" y="2932378"/>
            <a:ext cx="7596118" cy="400110"/>
          </a:xfrm>
          <a:prstGeom prst="rect">
            <a:avLst/>
          </a:prstGeom>
          <a:noFill/>
        </p:spPr>
        <p:txBody>
          <a:bodyPr wrap="none" rtlCol="0">
            <a:spAutoFit/>
          </a:bodyPr>
          <a:lstStyle/>
          <a:p>
            <a:r>
              <a:rPr lang="en-US" sz="2000" b="1" i="1" dirty="0"/>
              <a:t>Term frequency = Term Occurrence / total unique terms in a document</a:t>
            </a:r>
          </a:p>
        </p:txBody>
      </p:sp>
      <p:cxnSp>
        <p:nvCxnSpPr>
          <p:cNvPr id="9" name="Straight Connector 8">
            <a:extLst>
              <a:ext uri="{FF2B5EF4-FFF2-40B4-BE49-F238E27FC236}">
                <a16:creationId xmlns:a16="http://schemas.microsoft.com/office/drawing/2014/main" id="{5CD42AD2-9023-E446-9F24-C7B709323490}"/>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EB9E91A-EF9D-4B42-ABB9-60053F0CB9DA}"/>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70929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p:cNvSpPr>
            <a:spLocks noGrp="1"/>
          </p:cNvSpPr>
          <p:nvPr>
            <p:ph type="title"/>
          </p:nvPr>
        </p:nvSpPr>
        <p:spPr/>
        <p:txBody>
          <a:bodyPr/>
          <a:lstStyle/>
          <a:p>
            <a:r>
              <a:rPr lang="en-US"/>
              <a:t>Inverse Document Frequency</a:t>
            </a:r>
            <a:endParaRPr lang="en-US" dirty="0"/>
          </a:p>
        </p:txBody>
      </p:sp>
      <p:sp>
        <p:nvSpPr>
          <p:cNvPr id="5" name="Footer Placeholder 4"/>
          <p:cNvSpPr>
            <a:spLocks noGrp="1"/>
          </p:cNvSpPr>
          <p:nvPr>
            <p:ph type="ftr" sz="quarter" idx="3"/>
          </p:nvPr>
        </p:nvSpPr>
        <p:spPr/>
        <p:txBody>
          <a:bodyPr/>
          <a:lstStyle/>
          <a:p>
            <a:r>
              <a:rPr lang="en-US"/>
              <a:t>Kwartler</a:t>
            </a:r>
            <a:endParaRPr lang="en-US" dirty="0"/>
          </a:p>
        </p:txBody>
      </p:sp>
      <p:sp>
        <p:nvSpPr>
          <p:cNvPr id="4" name="Slide Number Placeholder 3"/>
          <p:cNvSpPr>
            <a:spLocks noGrp="1"/>
          </p:cNvSpPr>
          <p:nvPr>
            <p:ph type="sldNum" sz="quarter" idx="4"/>
          </p:nvPr>
        </p:nvSpPr>
        <p:spPr>
          <a:xfrm>
            <a:off x="7245743" y="6356351"/>
            <a:ext cx="857250" cy="365125"/>
          </a:xfrm>
          <a:prstGeom prst="rect">
            <a:avLst/>
          </a:prstGeom>
        </p:spPr>
        <p:txBody>
          <a:bodyPr/>
          <a:lstStyle>
            <a:defPPr>
              <a:defRPr lang="en-US"/>
            </a:defPPr>
            <a:lvl1pPr marL="0" algn="l" defTabSz="914400" rtl="0" eaLnBrk="1" latinLnBrk="0" hangingPunct="1">
              <a:lnSpc>
                <a:spcPct val="200000"/>
              </a:lnSpc>
              <a:defRPr lang="en-US" sz="900" kern="1200" smtClean="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7290FF7-652B-4475-AEAB-8B1A5D23AE09}" type="slidenum">
              <a:rPr lang="en-US" smtClean="0"/>
              <a:pPr/>
              <a:t>55</a:t>
            </a:fld>
            <a:endParaRPr lang="en-US"/>
          </a:p>
        </p:txBody>
      </p:sp>
      <p:sp>
        <p:nvSpPr>
          <p:cNvPr id="6" name="TextBox 5">
            <a:extLst>
              <a:ext uri="{FF2B5EF4-FFF2-40B4-BE49-F238E27FC236}">
                <a16:creationId xmlns:a16="http://schemas.microsoft.com/office/drawing/2014/main" id="{A5A3EE36-0573-4214-8E8B-E9BD628BC999}"/>
              </a:ext>
            </a:extLst>
          </p:cNvPr>
          <p:cNvSpPr txBox="1"/>
          <p:nvPr/>
        </p:nvSpPr>
        <p:spPr>
          <a:xfrm>
            <a:off x="157656" y="1262156"/>
            <a:ext cx="8828688" cy="338554"/>
          </a:xfrm>
          <a:prstGeom prst="rect">
            <a:avLst/>
          </a:prstGeom>
          <a:solidFill>
            <a:schemeClr val="accent6">
              <a:lumMod val="60000"/>
              <a:lumOff val="40000"/>
            </a:schemeClr>
          </a:solidFill>
        </p:spPr>
        <p:txBody>
          <a:bodyPr wrap="square" rtlCol="0">
            <a:spAutoFit/>
          </a:bodyPr>
          <a:lstStyle/>
          <a:p>
            <a:pPr algn="ctr" defTabSz="457200"/>
            <a:r>
              <a:rPr lang="en-US" sz="1600" dirty="0">
                <a:solidFill>
                  <a:prstClr val="white"/>
                </a:solidFill>
                <a:latin typeface="+mj-lt"/>
                <a:ea typeface="Arial Unicode MS" panose="020B0604020202020204" pitchFamily="34" charset="-128"/>
                <a:cs typeface="Arial Unicode MS" panose="020B0604020202020204" pitchFamily="34" charset="-128"/>
              </a:rPr>
              <a:t>IDF is the natural log of total documents divided by the number of documents containing a specific token.</a:t>
            </a:r>
            <a:endParaRPr lang="en-US" sz="1600" kern="1200" dirty="0">
              <a:solidFill>
                <a:prstClr val="white"/>
              </a:solidFill>
              <a:latin typeface="+mj-lt"/>
              <a:ea typeface="Arial Unicode MS" panose="020B0604020202020204" pitchFamily="34" charset="-128"/>
              <a:cs typeface="Arial Unicode MS" panose="020B0604020202020204" pitchFamily="34" charset="-128"/>
            </a:endParaRPr>
          </a:p>
        </p:txBody>
      </p:sp>
      <p:cxnSp>
        <p:nvCxnSpPr>
          <p:cNvPr id="9" name="Straight Connector 8">
            <a:extLst>
              <a:ext uri="{FF2B5EF4-FFF2-40B4-BE49-F238E27FC236}">
                <a16:creationId xmlns:a16="http://schemas.microsoft.com/office/drawing/2014/main" id="{AC85DD30-A42D-CD46-A153-646C0EDE7ECA}"/>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5638C52-1BCD-DA4F-95A4-C58C2A40532F}"/>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5E7BBD25-AD04-D5D2-1842-1BF78E7D63E5}"/>
              </a:ext>
            </a:extLst>
          </p:cNvPr>
          <p:cNvSpPr txBox="1"/>
          <p:nvPr/>
        </p:nvSpPr>
        <p:spPr>
          <a:xfrm>
            <a:off x="4572000" y="4051861"/>
            <a:ext cx="4213179" cy="1384995"/>
          </a:xfrm>
          <a:prstGeom prst="rect">
            <a:avLst/>
          </a:prstGeom>
          <a:noFill/>
        </p:spPr>
        <p:txBody>
          <a:bodyPr wrap="square" rtlCol="0">
            <a:spAutoFit/>
          </a:bodyPr>
          <a:lstStyle/>
          <a:p>
            <a:r>
              <a:rPr lang="en-US" sz="1400" i="1" dirty="0"/>
              <a:t>Not to be confused with raw term frequency... it is strictly the number of unique documents containing the term. For example, if you have a corpus of 10 documents, and a specific term shows up 50 times but only across 3 of those documents, the denominator used here is 3, not 150.</a:t>
            </a:r>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DFB2885E-E2ED-C439-F4C6-C91C505DB375}"/>
                  </a:ext>
                </a:extLst>
              </p:cNvPr>
              <p:cNvSpPr txBox="1"/>
              <p:nvPr/>
            </p:nvSpPr>
            <p:spPr>
              <a:xfrm>
                <a:off x="1269390" y="2806139"/>
                <a:ext cx="6717141" cy="9196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unc>
                        <m:funcPr>
                          <m:ctrlPr>
                            <a:rPr lang="en-US" sz="2800" i="1" smtClean="0">
                              <a:latin typeface="Cambria Math" panose="02040503050406030204" pitchFamily="18" charset="0"/>
                            </a:rPr>
                          </m:ctrlPr>
                        </m:funcPr>
                        <m:fName>
                          <m:r>
                            <m:rPr>
                              <m:sty m:val="p"/>
                            </m:rPr>
                            <a:rPr lang="en-US" sz="2800" i="0">
                              <a:latin typeface="Cambria Math" panose="02040503050406030204" pitchFamily="18" charset="0"/>
                            </a:rPr>
                            <m:t>ln</m:t>
                          </m:r>
                        </m:fName>
                        <m:e>
                          <m:d>
                            <m:dPr>
                              <m:ctrlPr>
                                <a:rPr lang="en-US" sz="2800" i="1">
                                  <a:latin typeface="Cambria Math" panose="02040503050406030204" pitchFamily="18" charset="0"/>
                                </a:rPr>
                              </m:ctrlPr>
                            </m:dPr>
                            <m:e>
                              <m:f>
                                <m:fPr>
                                  <m:ctrlPr>
                                    <a:rPr lang="en-US" sz="2800" i="1">
                                      <a:latin typeface="Cambria Math" panose="02040503050406030204" pitchFamily="18" charset="0"/>
                                    </a:rPr>
                                  </m:ctrlPr>
                                </m:fPr>
                                <m:num>
                                  <m:r>
                                    <m:rPr>
                                      <m:nor/>
                                    </m:rPr>
                                    <a:rPr lang="en-US" sz="2800" i="0">
                                      <a:latin typeface="Cambria Math" panose="02040503050406030204" pitchFamily="18" charset="0"/>
                                    </a:rPr>
                                    <m:t>total</m:t>
                                  </m:r>
                                  <m:r>
                                    <m:rPr>
                                      <m:nor/>
                                    </m:rPr>
                                    <a:rPr lang="en-US" sz="2800" i="0">
                                      <a:latin typeface="Cambria Math" panose="02040503050406030204" pitchFamily="18" charset="0"/>
                                    </a:rPr>
                                    <m:t> </m:t>
                                  </m:r>
                                  <m:r>
                                    <m:rPr>
                                      <m:nor/>
                                    </m:rPr>
                                    <a:rPr lang="en-US" sz="2800" i="0">
                                      <a:latin typeface="Cambria Math" panose="02040503050406030204" pitchFamily="18" charset="0"/>
                                    </a:rPr>
                                    <m:t>documents</m:t>
                                  </m:r>
                                  <m:r>
                                    <m:rPr>
                                      <m:nor/>
                                    </m:rPr>
                                    <a:rPr lang="en-US" sz="2800" i="0">
                                      <a:latin typeface="Cambria Math" panose="02040503050406030204" pitchFamily="18" charset="0"/>
                                    </a:rPr>
                                    <m:t> </m:t>
                                  </m:r>
                                  <m:r>
                                    <m:rPr>
                                      <m:nor/>
                                    </m:rPr>
                                    <a:rPr lang="en-US" sz="2800" i="0">
                                      <a:latin typeface="Cambria Math" panose="02040503050406030204" pitchFamily="18" charset="0"/>
                                    </a:rPr>
                                    <m:t>in</m:t>
                                  </m:r>
                                  <m:r>
                                    <m:rPr>
                                      <m:nor/>
                                    </m:rPr>
                                    <a:rPr lang="en-US" sz="2800" i="0">
                                      <a:latin typeface="Cambria Math" panose="02040503050406030204" pitchFamily="18" charset="0"/>
                                    </a:rPr>
                                    <m:t> </m:t>
                                  </m:r>
                                  <m:r>
                                    <m:rPr>
                                      <m:nor/>
                                    </m:rPr>
                                    <a:rPr lang="en-US" sz="2800" i="0">
                                      <a:latin typeface="Cambria Math" panose="02040503050406030204" pitchFamily="18" charset="0"/>
                                    </a:rPr>
                                    <m:t>corpus</m:t>
                                  </m:r>
                                </m:num>
                                <m:den>
                                  <m:r>
                                    <m:rPr>
                                      <m:nor/>
                                    </m:rPr>
                                    <a:rPr lang="en-US" sz="2800" i="0">
                                      <a:latin typeface="Cambria Math" panose="02040503050406030204" pitchFamily="18" charset="0"/>
                                    </a:rPr>
                                    <m:t>number</m:t>
                                  </m:r>
                                  <m:r>
                                    <m:rPr>
                                      <m:nor/>
                                    </m:rPr>
                                    <a:rPr lang="en-US" sz="2800" i="0">
                                      <a:latin typeface="Cambria Math" panose="02040503050406030204" pitchFamily="18" charset="0"/>
                                    </a:rPr>
                                    <m:t> </m:t>
                                  </m:r>
                                  <m:r>
                                    <m:rPr>
                                      <m:nor/>
                                    </m:rPr>
                                    <a:rPr lang="en-US" sz="2800" i="0">
                                      <a:latin typeface="Cambria Math" panose="02040503050406030204" pitchFamily="18" charset="0"/>
                                    </a:rPr>
                                    <m:t>of</m:t>
                                  </m:r>
                                  <m:r>
                                    <m:rPr>
                                      <m:nor/>
                                    </m:rPr>
                                    <a:rPr lang="en-US" sz="2800" i="0">
                                      <a:latin typeface="Cambria Math" panose="02040503050406030204" pitchFamily="18" charset="0"/>
                                    </a:rPr>
                                    <m:t> </m:t>
                                  </m:r>
                                  <m:r>
                                    <m:rPr>
                                      <m:nor/>
                                    </m:rPr>
                                    <a:rPr lang="en-US" sz="2800" i="0">
                                      <a:latin typeface="Cambria Math" panose="02040503050406030204" pitchFamily="18" charset="0"/>
                                    </a:rPr>
                                    <m:t>documents</m:t>
                                  </m:r>
                                  <m:r>
                                    <m:rPr>
                                      <m:nor/>
                                    </m:rPr>
                                    <a:rPr lang="en-US" sz="2800" i="0">
                                      <a:latin typeface="Cambria Math" panose="02040503050406030204" pitchFamily="18" charset="0"/>
                                    </a:rPr>
                                    <m:t> </m:t>
                                  </m:r>
                                  <m:r>
                                    <m:rPr>
                                      <m:nor/>
                                    </m:rPr>
                                    <a:rPr lang="en-US" sz="2800" i="0">
                                      <a:latin typeface="Cambria Math" panose="02040503050406030204" pitchFamily="18" charset="0"/>
                                    </a:rPr>
                                    <m:t>with</m:t>
                                  </m:r>
                                  <m:r>
                                    <m:rPr>
                                      <m:nor/>
                                    </m:rPr>
                                    <a:rPr lang="en-US" sz="2800" i="0">
                                      <a:latin typeface="Cambria Math" panose="02040503050406030204" pitchFamily="18" charset="0"/>
                                    </a:rPr>
                                    <m:t> </m:t>
                                  </m:r>
                                  <m:r>
                                    <m:rPr>
                                      <m:nor/>
                                    </m:rPr>
                                    <a:rPr lang="en-US" sz="2800" i="0">
                                      <a:latin typeface="Cambria Math" panose="02040503050406030204" pitchFamily="18" charset="0"/>
                                    </a:rPr>
                                    <m:t>term</m:t>
                                  </m:r>
                                  <m:r>
                                    <m:rPr>
                                      <m:nor/>
                                    </m:rPr>
                                    <a:rPr lang="en-US" sz="2800" i="0">
                                      <a:latin typeface="Cambria Math" panose="02040503050406030204" pitchFamily="18" charset="0"/>
                                    </a:rPr>
                                    <m:t> </m:t>
                                  </m:r>
                                  <m:r>
                                    <m:rPr>
                                      <m:nor/>
                                    </m:rPr>
                                    <a:rPr lang="en-US" sz="2800" i="0">
                                      <a:latin typeface="Cambria Math" panose="02040503050406030204" pitchFamily="18" charset="0"/>
                                    </a:rPr>
                                    <m:t>in</m:t>
                                  </m:r>
                                  <m:r>
                                    <m:rPr>
                                      <m:nor/>
                                    </m:rPr>
                                    <a:rPr lang="en-US" sz="2800" i="0">
                                      <a:latin typeface="Cambria Math" panose="02040503050406030204" pitchFamily="18" charset="0"/>
                                    </a:rPr>
                                    <m:t> </m:t>
                                  </m:r>
                                  <m:r>
                                    <m:rPr>
                                      <m:nor/>
                                    </m:rPr>
                                    <a:rPr lang="en-US" sz="2800" i="0">
                                      <a:latin typeface="Cambria Math" panose="02040503050406030204" pitchFamily="18" charset="0"/>
                                    </a:rPr>
                                    <m:t>it</m:t>
                                  </m:r>
                                </m:den>
                              </m:f>
                            </m:e>
                          </m:d>
                        </m:e>
                      </m:func>
                    </m:oMath>
                  </m:oMathPara>
                </a14:m>
                <a:endParaRPr lang="en-US" sz="2800" dirty="0"/>
              </a:p>
            </p:txBody>
          </p:sp>
        </mc:Choice>
        <mc:Fallback>
          <p:sp>
            <p:nvSpPr>
              <p:cNvPr id="12" name="TextBox 11">
                <a:extLst>
                  <a:ext uri="{FF2B5EF4-FFF2-40B4-BE49-F238E27FC236}">
                    <a16:creationId xmlns:a16="http://schemas.microsoft.com/office/drawing/2014/main" id="{DFB2885E-E2ED-C439-F4C6-C91C505DB375}"/>
                  </a:ext>
                </a:extLst>
              </p:cNvPr>
              <p:cNvSpPr txBox="1">
                <a:spLocks noRot="1" noChangeAspect="1" noMove="1" noResize="1" noEditPoints="1" noAdjustHandles="1" noChangeArrowheads="1" noChangeShapeType="1" noTextEdit="1"/>
              </p:cNvSpPr>
              <p:nvPr/>
            </p:nvSpPr>
            <p:spPr>
              <a:xfrm>
                <a:off x="1269390" y="2806139"/>
                <a:ext cx="6717141" cy="919675"/>
              </a:xfrm>
              <a:prstGeom prst="rect">
                <a:avLst/>
              </a:prstGeom>
              <a:blipFill>
                <a:blip r:embed="rId3"/>
                <a:stretch>
                  <a:fillRect t="-1351" b="-20270"/>
                </a:stretch>
              </a:blipFill>
            </p:spPr>
            <p:txBody>
              <a:bodyPr/>
              <a:lstStyle/>
              <a:p>
                <a:r>
                  <a:rPr lang="en-US">
                    <a:noFill/>
                  </a:rPr>
                  <a:t> </a:t>
                </a:r>
              </a:p>
            </p:txBody>
          </p:sp>
        </mc:Fallback>
      </mc:AlternateContent>
    </p:spTree>
    <p:extLst>
      <p:ext uri="{BB962C8B-B14F-4D97-AF65-F5344CB8AC3E}">
        <p14:creationId xmlns:p14="http://schemas.microsoft.com/office/powerpoint/2010/main" val="42539099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p:cNvSpPr>
            <a:spLocks noGrp="1"/>
          </p:cNvSpPr>
          <p:nvPr>
            <p:ph type="title"/>
          </p:nvPr>
        </p:nvSpPr>
        <p:spPr/>
        <p:txBody>
          <a:bodyPr/>
          <a:lstStyle/>
          <a:p>
            <a:r>
              <a:rPr lang="en-US" dirty="0"/>
              <a:t>Term Frequency </a:t>
            </a:r>
            <a:r>
              <a:rPr lang="en-US" sz="2400" dirty="0">
                <a:solidFill>
                  <a:srgbClr val="FF0000"/>
                </a:solidFill>
              </a:rPr>
              <a:t>[not quite frequency from before]</a:t>
            </a:r>
            <a:endParaRPr lang="en-US" dirty="0">
              <a:solidFill>
                <a:srgbClr val="FF0000"/>
              </a:solidFill>
            </a:endParaRPr>
          </a:p>
        </p:txBody>
      </p:sp>
      <p:sp>
        <p:nvSpPr>
          <p:cNvPr id="5" name="Footer Placeholder 4"/>
          <p:cNvSpPr>
            <a:spLocks noGrp="1"/>
          </p:cNvSpPr>
          <p:nvPr>
            <p:ph type="ftr" sz="quarter" idx="3"/>
          </p:nvPr>
        </p:nvSpPr>
        <p:spPr/>
        <p:txBody>
          <a:bodyPr/>
          <a:lstStyle/>
          <a:p>
            <a:r>
              <a:rPr lang="en-US"/>
              <a:t>Kwartler</a:t>
            </a:r>
            <a:endParaRPr lang="en-US" dirty="0"/>
          </a:p>
        </p:txBody>
      </p:sp>
      <p:sp>
        <p:nvSpPr>
          <p:cNvPr id="4" name="Slide Number Placeholder 3"/>
          <p:cNvSpPr>
            <a:spLocks noGrp="1"/>
          </p:cNvSpPr>
          <p:nvPr>
            <p:ph type="sldNum" sz="quarter" idx="4"/>
          </p:nvPr>
        </p:nvSpPr>
        <p:spPr>
          <a:xfrm>
            <a:off x="7245743" y="6356351"/>
            <a:ext cx="857250" cy="365125"/>
          </a:xfrm>
          <a:prstGeom prst="rect">
            <a:avLst/>
          </a:prstGeom>
        </p:spPr>
        <p:txBody>
          <a:bodyPr/>
          <a:lstStyle>
            <a:defPPr>
              <a:defRPr lang="en-US"/>
            </a:defPPr>
            <a:lvl1pPr marL="0" algn="l" defTabSz="914400" rtl="0" eaLnBrk="1" latinLnBrk="0" hangingPunct="1">
              <a:lnSpc>
                <a:spcPct val="200000"/>
              </a:lnSpc>
              <a:defRPr lang="en-US" sz="900" kern="1200" smtClean="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7290FF7-652B-4475-AEAB-8B1A5D23AE09}" type="slidenum">
              <a:rPr lang="en-US" smtClean="0"/>
              <a:pPr/>
              <a:t>56</a:t>
            </a:fld>
            <a:endParaRPr lang="en-US"/>
          </a:p>
        </p:txBody>
      </p:sp>
      <p:sp>
        <p:nvSpPr>
          <p:cNvPr id="6" name="TextBox 5"/>
          <p:cNvSpPr txBox="1"/>
          <p:nvPr/>
        </p:nvSpPr>
        <p:spPr>
          <a:xfrm>
            <a:off x="115754" y="3059668"/>
            <a:ext cx="8912504" cy="1477328"/>
          </a:xfrm>
          <a:prstGeom prst="rect">
            <a:avLst/>
          </a:prstGeom>
          <a:noFill/>
        </p:spPr>
        <p:txBody>
          <a:bodyPr wrap="none" rtlCol="0">
            <a:spAutoFit/>
          </a:bodyPr>
          <a:lstStyle/>
          <a:p>
            <a:pPr algn="ctr"/>
            <a:r>
              <a:rPr lang="en-US" dirty="0"/>
              <a:t>In 1000 documents, each with 10 words suppose token “coffee” occurs 1 time per document.</a:t>
            </a:r>
            <a:endParaRPr lang="en-US" sz="2400" b="1" i="1" dirty="0"/>
          </a:p>
          <a:p>
            <a:pPr algn="ctr"/>
            <a:r>
              <a:rPr lang="en-US" sz="2400" b="1" i="1" dirty="0"/>
              <a:t>TF = 1 time in a document / 10 unique terms in a document</a:t>
            </a:r>
          </a:p>
          <a:p>
            <a:pPr algn="ctr"/>
            <a:r>
              <a:rPr lang="en-US" sz="2400" b="1" i="1" dirty="0"/>
              <a:t>TF = 1/10</a:t>
            </a:r>
          </a:p>
          <a:p>
            <a:pPr algn="ctr"/>
            <a:r>
              <a:rPr lang="en-US" sz="2400" b="1" i="1" dirty="0"/>
              <a:t>TF = 0.10</a:t>
            </a:r>
          </a:p>
        </p:txBody>
      </p:sp>
      <p:cxnSp>
        <p:nvCxnSpPr>
          <p:cNvPr id="7" name="Straight Connector 6">
            <a:extLst>
              <a:ext uri="{FF2B5EF4-FFF2-40B4-BE49-F238E27FC236}">
                <a16:creationId xmlns:a16="http://schemas.microsoft.com/office/drawing/2014/main" id="{E576A44B-07B6-EF4C-9CC2-21E5F961E314}"/>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2350BD2-33E4-094D-8AB5-70C60415B4CF}"/>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6D98F603-7088-AE70-DDDA-6D58EFCABA7B}"/>
              </a:ext>
            </a:extLst>
          </p:cNvPr>
          <p:cNvSpPr txBox="1"/>
          <p:nvPr/>
        </p:nvSpPr>
        <p:spPr>
          <a:xfrm>
            <a:off x="773941" y="1808080"/>
            <a:ext cx="7596118" cy="400110"/>
          </a:xfrm>
          <a:prstGeom prst="rect">
            <a:avLst/>
          </a:prstGeom>
          <a:noFill/>
        </p:spPr>
        <p:txBody>
          <a:bodyPr wrap="none" rtlCol="0">
            <a:spAutoFit/>
          </a:bodyPr>
          <a:lstStyle/>
          <a:p>
            <a:r>
              <a:rPr lang="en-US" sz="2000" b="1" i="1" dirty="0"/>
              <a:t>Term frequency = Term Occurrence / total unique terms in a document</a:t>
            </a:r>
          </a:p>
        </p:txBody>
      </p:sp>
    </p:spTree>
    <p:extLst>
      <p:ext uri="{BB962C8B-B14F-4D97-AF65-F5344CB8AC3E}">
        <p14:creationId xmlns:p14="http://schemas.microsoft.com/office/powerpoint/2010/main" val="25334288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DC13A7-8EA5-0154-B126-72E8560C6427}"/>
              </a:ext>
            </a:extLst>
          </p:cNvPr>
          <p:cNvSpPr>
            <a:spLocks noGrp="1"/>
          </p:cNvSpPr>
          <p:nvPr>
            <p:ph type="dt" sz="half" idx="10"/>
          </p:nvPr>
        </p:nvSpPr>
        <p:spPr/>
        <p:txBody>
          <a:bodyPr/>
          <a:lstStyle/>
          <a:p>
            <a:fld id="{6700A58B-DD98-43D0-B791-721480A02982}" type="datetime1">
              <a:rPr lang="en-US" smtClean="0"/>
              <a:t>6/2/26</a:t>
            </a:fld>
            <a:endParaRPr lang="en-US"/>
          </a:p>
        </p:txBody>
      </p:sp>
      <p:sp>
        <p:nvSpPr>
          <p:cNvPr id="3" name="Title 2">
            <a:extLst>
              <a:ext uri="{FF2B5EF4-FFF2-40B4-BE49-F238E27FC236}">
                <a16:creationId xmlns:a16="http://schemas.microsoft.com/office/drawing/2014/main" id="{E3A84406-C8AD-3AFF-1E2A-60AB1AC4CF12}"/>
              </a:ext>
            </a:extLst>
          </p:cNvPr>
          <p:cNvSpPr>
            <a:spLocks noGrp="1"/>
          </p:cNvSpPr>
          <p:nvPr>
            <p:ph type="title"/>
          </p:nvPr>
        </p:nvSpPr>
        <p:spPr/>
        <p:txBody>
          <a:bodyPr/>
          <a:lstStyle/>
          <a:p>
            <a:r>
              <a:rPr lang="en-US" dirty="0"/>
              <a:t>Inverse Document Frequency of TF-IDF</a:t>
            </a:r>
          </a:p>
        </p:txBody>
      </p:sp>
      <p:sp>
        <p:nvSpPr>
          <p:cNvPr id="4" name="Slide Number Placeholder 3">
            <a:extLst>
              <a:ext uri="{FF2B5EF4-FFF2-40B4-BE49-F238E27FC236}">
                <a16:creationId xmlns:a16="http://schemas.microsoft.com/office/drawing/2014/main" id="{6E8E51C6-73AD-92F5-8F6B-AE6813A2D2B2}"/>
              </a:ext>
            </a:extLst>
          </p:cNvPr>
          <p:cNvSpPr>
            <a:spLocks noGrp="1"/>
          </p:cNvSpPr>
          <p:nvPr>
            <p:ph type="sldNum" sz="quarter" idx="12"/>
          </p:nvPr>
        </p:nvSpPr>
        <p:spPr>
          <a:xfrm>
            <a:off x="6457950" y="6356351"/>
            <a:ext cx="85725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7290FF7-652B-4475-AEAB-8B1A5D23AE09}" type="slidenum">
              <a:rPr lang="en-US" smtClean="0"/>
              <a:pPr/>
              <a:t>57</a:t>
            </a:fld>
            <a:endParaRPr lang="en-US"/>
          </a:p>
        </p:txBody>
      </p:sp>
      <p:sp>
        <p:nvSpPr>
          <p:cNvPr id="5" name="Footer Placeholder 4">
            <a:extLst>
              <a:ext uri="{FF2B5EF4-FFF2-40B4-BE49-F238E27FC236}">
                <a16:creationId xmlns:a16="http://schemas.microsoft.com/office/drawing/2014/main" id="{ABCEFEC4-3DA0-F702-3E1B-17074F457933}"/>
              </a:ext>
            </a:extLst>
          </p:cNvPr>
          <p:cNvSpPr>
            <a:spLocks noGrp="1"/>
          </p:cNvSpPr>
          <p:nvPr>
            <p:ph type="ftr" sz="quarter" idx="3"/>
          </p:nvPr>
        </p:nvSpPr>
        <p:spPr/>
        <p:txBody>
          <a:bodyPr/>
          <a:lstStyle/>
          <a:p>
            <a:r>
              <a:rPr lang="en-US"/>
              <a:t>Kwartler CSCI E-96</a:t>
            </a:r>
            <a:endParaRPr lang="en-US" dirty="0"/>
          </a:p>
        </p:txBody>
      </p:sp>
      <p:sp>
        <p:nvSpPr>
          <p:cNvPr id="6" name="TextBox 5">
            <a:extLst>
              <a:ext uri="{FF2B5EF4-FFF2-40B4-BE49-F238E27FC236}">
                <a16:creationId xmlns:a16="http://schemas.microsoft.com/office/drawing/2014/main" id="{68C929FF-22F0-5CDE-3865-5DFAF7921BBD}"/>
              </a:ext>
            </a:extLst>
          </p:cNvPr>
          <p:cNvSpPr txBox="1"/>
          <p:nvPr/>
        </p:nvSpPr>
        <p:spPr>
          <a:xfrm>
            <a:off x="237255" y="1874140"/>
            <a:ext cx="8669489" cy="707886"/>
          </a:xfrm>
          <a:prstGeom prst="rect">
            <a:avLst/>
          </a:prstGeom>
          <a:noFill/>
        </p:spPr>
        <p:txBody>
          <a:bodyPr wrap="none" rtlCol="0">
            <a:spAutoFit/>
          </a:bodyPr>
          <a:lstStyle/>
          <a:p>
            <a:r>
              <a:rPr lang="en-US" sz="2000" b="1" i="1" dirty="0"/>
              <a:t>Inverse Document Frequency = </a:t>
            </a:r>
          </a:p>
          <a:p>
            <a:r>
              <a:rPr lang="en-US" sz="2000" b="1" i="1" dirty="0"/>
              <a:t>	log(total documents in corpus / number of documents with term in it)</a:t>
            </a:r>
          </a:p>
        </p:txBody>
      </p:sp>
      <p:sp>
        <p:nvSpPr>
          <p:cNvPr id="7" name="TextBox 6">
            <a:extLst>
              <a:ext uri="{FF2B5EF4-FFF2-40B4-BE49-F238E27FC236}">
                <a16:creationId xmlns:a16="http://schemas.microsoft.com/office/drawing/2014/main" id="{00D9349E-8480-55F0-4719-270AF9E1082F}"/>
              </a:ext>
            </a:extLst>
          </p:cNvPr>
          <p:cNvSpPr txBox="1"/>
          <p:nvPr/>
        </p:nvSpPr>
        <p:spPr>
          <a:xfrm>
            <a:off x="80577" y="3145620"/>
            <a:ext cx="8982844" cy="707886"/>
          </a:xfrm>
          <a:prstGeom prst="rect">
            <a:avLst/>
          </a:prstGeom>
          <a:noFill/>
        </p:spPr>
        <p:txBody>
          <a:bodyPr wrap="none" rtlCol="0">
            <a:spAutoFit/>
          </a:bodyPr>
          <a:lstStyle/>
          <a:p>
            <a:r>
              <a:rPr lang="en-US" sz="2000" b="1" i="1" dirty="0"/>
              <a:t>Since there are 1000 documents, and all 1000 have ”coffee”</a:t>
            </a:r>
          </a:p>
          <a:p>
            <a:r>
              <a:rPr lang="en-US" sz="2000" b="1" i="1" dirty="0"/>
              <a:t>	IDF = log(total documents in corpus / number of documents with term in it)</a:t>
            </a:r>
          </a:p>
        </p:txBody>
      </p:sp>
      <p:sp>
        <p:nvSpPr>
          <p:cNvPr id="8" name="TextBox 7">
            <a:extLst>
              <a:ext uri="{FF2B5EF4-FFF2-40B4-BE49-F238E27FC236}">
                <a16:creationId xmlns:a16="http://schemas.microsoft.com/office/drawing/2014/main" id="{1BDE412A-32BF-742A-38FC-6A1920688676}"/>
              </a:ext>
            </a:extLst>
          </p:cNvPr>
          <p:cNvSpPr txBox="1"/>
          <p:nvPr/>
        </p:nvSpPr>
        <p:spPr>
          <a:xfrm>
            <a:off x="80577" y="3750083"/>
            <a:ext cx="3398687" cy="1015663"/>
          </a:xfrm>
          <a:prstGeom prst="rect">
            <a:avLst/>
          </a:prstGeom>
          <a:noFill/>
        </p:spPr>
        <p:txBody>
          <a:bodyPr wrap="none" rtlCol="0">
            <a:spAutoFit/>
          </a:bodyPr>
          <a:lstStyle/>
          <a:p>
            <a:r>
              <a:rPr lang="en-US" sz="2000" b="1" i="1" dirty="0"/>
              <a:t>	IDF = log(1000/ 1000)</a:t>
            </a:r>
          </a:p>
          <a:p>
            <a:r>
              <a:rPr lang="en-US" sz="2000" b="1" i="1" dirty="0"/>
              <a:t>	IDF = log(1)</a:t>
            </a:r>
          </a:p>
          <a:p>
            <a:r>
              <a:rPr lang="en-US" sz="2000" b="1" i="1" dirty="0"/>
              <a:t>	IDF = 0</a:t>
            </a:r>
          </a:p>
        </p:txBody>
      </p:sp>
    </p:spTree>
    <p:extLst>
      <p:ext uri="{BB962C8B-B14F-4D97-AF65-F5344CB8AC3E}">
        <p14:creationId xmlns:p14="http://schemas.microsoft.com/office/powerpoint/2010/main" val="11516066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p:cNvSpPr>
            <a:spLocks noGrp="1"/>
          </p:cNvSpPr>
          <p:nvPr>
            <p:ph type="title"/>
          </p:nvPr>
        </p:nvSpPr>
        <p:spPr/>
        <p:txBody>
          <a:bodyPr/>
          <a:lstStyle/>
          <a:p>
            <a:r>
              <a:rPr lang="en-US"/>
              <a:t>TF-IDF Simple Example</a:t>
            </a:r>
            <a:endParaRPr lang="en-US" dirty="0"/>
          </a:p>
        </p:txBody>
      </p:sp>
      <p:sp>
        <p:nvSpPr>
          <p:cNvPr id="5" name="Footer Placeholder 4"/>
          <p:cNvSpPr>
            <a:spLocks noGrp="1"/>
          </p:cNvSpPr>
          <p:nvPr>
            <p:ph type="ftr" sz="quarter" idx="3"/>
          </p:nvPr>
        </p:nvSpPr>
        <p:spPr/>
        <p:txBody>
          <a:bodyPr/>
          <a:lstStyle/>
          <a:p>
            <a:r>
              <a:rPr lang="en-US"/>
              <a:t>Kwartler</a:t>
            </a:r>
            <a:endParaRPr lang="en-US" dirty="0"/>
          </a:p>
        </p:txBody>
      </p:sp>
      <p:sp>
        <p:nvSpPr>
          <p:cNvPr id="4" name="Slide Number Placeholder 3"/>
          <p:cNvSpPr>
            <a:spLocks noGrp="1"/>
          </p:cNvSpPr>
          <p:nvPr>
            <p:ph type="sldNum" sz="quarter" idx="4"/>
          </p:nvPr>
        </p:nvSpPr>
        <p:spPr>
          <a:xfrm>
            <a:off x="7245743" y="6356351"/>
            <a:ext cx="857250" cy="365125"/>
          </a:xfrm>
          <a:prstGeom prst="rect">
            <a:avLst/>
          </a:prstGeom>
        </p:spPr>
        <p:txBody>
          <a:bodyPr/>
          <a:lstStyle>
            <a:defPPr>
              <a:defRPr lang="en-US"/>
            </a:defPPr>
            <a:lvl1pPr marL="0" algn="l" defTabSz="914400" rtl="0" eaLnBrk="1" latinLnBrk="0" hangingPunct="1">
              <a:lnSpc>
                <a:spcPct val="200000"/>
              </a:lnSpc>
              <a:defRPr lang="en-US" sz="900" kern="1200" smtClean="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7290FF7-652B-4475-AEAB-8B1A5D23AE09}" type="slidenum">
              <a:rPr lang="en-US" smtClean="0"/>
              <a:pPr/>
              <a:t>58</a:t>
            </a:fld>
            <a:endParaRPr lang="en-US"/>
          </a:p>
        </p:txBody>
      </p:sp>
      <p:sp>
        <p:nvSpPr>
          <p:cNvPr id="6" name="TextBox 5"/>
          <p:cNvSpPr txBox="1"/>
          <p:nvPr/>
        </p:nvSpPr>
        <p:spPr>
          <a:xfrm>
            <a:off x="63063" y="1700208"/>
            <a:ext cx="7902356" cy="769441"/>
          </a:xfrm>
          <a:prstGeom prst="rect">
            <a:avLst/>
          </a:prstGeom>
          <a:noFill/>
        </p:spPr>
        <p:txBody>
          <a:bodyPr wrap="none" rtlCol="0">
            <a:spAutoFit/>
          </a:bodyPr>
          <a:lstStyle/>
          <a:p>
            <a:r>
              <a:rPr lang="en-US" sz="2000" b="1" i="1" dirty="0"/>
              <a:t>Coffee occurs 1 time in all documents, and each document is 1000 words.</a:t>
            </a:r>
          </a:p>
          <a:p>
            <a:r>
              <a:rPr lang="en-US" sz="2400" b="1" i="1" dirty="0"/>
              <a:t>TF = 0.10</a:t>
            </a:r>
          </a:p>
        </p:txBody>
      </p:sp>
      <p:sp>
        <p:nvSpPr>
          <p:cNvPr id="10" name="TextBox 9">
            <a:extLst>
              <a:ext uri="{FF2B5EF4-FFF2-40B4-BE49-F238E27FC236}">
                <a16:creationId xmlns:a16="http://schemas.microsoft.com/office/drawing/2014/main" id="{A5A3EE36-0573-4214-8E8B-E9BD628BC999}"/>
              </a:ext>
            </a:extLst>
          </p:cNvPr>
          <p:cNvSpPr txBox="1"/>
          <p:nvPr/>
        </p:nvSpPr>
        <p:spPr>
          <a:xfrm>
            <a:off x="63063" y="1227885"/>
            <a:ext cx="9017875" cy="338554"/>
          </a:xfrm>
          <a:prstGeom prst="rect">
            <a:avLst/>
          </a:prstGeom>
          <a:solidFill>
            <a:schemeClr val="accent6">
              <a:lumMod val="60000"/>
              <a:lumOff val="40000"/>
            </a:schemeClr>
          </a:solidFill>
        </p:spPr>
        <p:txBody>
          <a:bodyPr wrap="square" rtlCol="0">
            <a:spAutoFit/>
          </a:bodyPr>
          <a:lstStyle/>
          <a:p>
            <a:pPr algn="ctr" defTabSz="457200"/>
            <a:r>
              <a:rPr lang="en-US" sz="1600" dirty="0">
                <a:solidFill>
                  <a:prstClr val="white"/>
                </a:solidFill>
                <a:latin typeface="+mj-lt"/>
                <a:ea typeface="Arial Unicode MS" panose="020B0604020202020204" pitchFamily="34" charset="-128"/>
                <a:cs typeface="Arial Unicode MS" panose="020B0604020202020204" pitchFamily="34" charset="-128"/>
              </a:rPr>
              <a:t>With simple word frequency “coffee” will be 1000 and look important.  But TF-IDF penalizes this.</a:t>
            </a:r>
            <a:endParaRPr lang="en-US" sz="1600" kern="1200" dirty="0">
              <a:solidFill>
                <a:prstClr val="white"/>
              </a:solidFill>
              <a:latin typeface="+mj-lt"/>
              <a:ea typeface="Arial Unicode MS" panose="020B0604020202020204" pitchFamily="34" charset="-128"/>
              <a:cs typeface="Arial Unicode MS" panose="020B0604020202020204" pitchFamily="34" charset="-128"/>
            </a:endParaRPr>
          </a:p>
        </p:txBody>
      </p:sp>
      <p:sp>
        <p:nvSpPr>
          <p:cNvPr id="8" name="Rectangle 7"/>
          <p:cNvSpPr/>
          <p:nvPr/>
        </p:nvSpPr>
        <p:spPr>
          <a:xfrm>
            <a:off x="5555764" y="3663138"/>
            <a:ext cx="3086097" cy="72521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Log 1 = 0</a:t>
            </a:r>
          </a:p>
        </p:txBody>
      </p:sp>
      <p:cxnSp>
        <p:nvCxnSpPr>
          <p:cNvPr id="11" name="Straight Connector 10">
            <a:extLst>
              <a:ext uri="{FF2B5EF4-FFF2-40B4-BE49-F238E27FC236}">
                <a16:creationId xmlns:a16="http://schemas.microsoft.com/office/drawing/2014/main" id="{4C00257F-1559-C042-A430-86C2244CE06D}"/>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4098380-42B6-B848-9E2E-14946809B895}"/>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B4CD0BD9-535F-8CC1-EF84-CEF8AB06B7A4}"/>
              </a:ext>
            </a:extLst>
          </p:cNvPr>
          <p:cNvSpPr txBox="1"/>
          <p:nvPr/>
        </p:nvSpPr>
        <p:spPr>
          <a:xfrm>
            <a:off x="80577" y="3750083"/>
            <a:ext cx="5345566" cy="707886"/>
          </a:xfrm>
          <a:prstGeom prst="rect">
            <a:avLst/>
          </a:prstGeom>
          <a:noFill/>
        </p:spPr>
        <p:txBody>
          <a:bodyPr wrap="none" rtlCol="0">
            <a:spAutoFit/>
          </a:bodyPr>
          <a:lstStyle/>
          <a:p>
            <a:r>
              <a:rPr lang="en-US" sz="2000" b="1" i="1" dirty="0"/>
              <a:t>Coffee occurs across all documents in the corpus.</a:t>
            </a:r>
          </a:p>
          <a:p>
            <a:r>
              <a:rPr lang="en-US" sz="2000" b="1" i="1" dirty="0"/>
              <a:t>IDF = 0</a:t>
            </a:r>
          </a:p>
        </p:txBody>
      </p:sp>
      <p:sp>
        <p:nvSpPr>
          <p:cNvPr id="16" name="TextBox 15">
            <a:extLst>
              <a:ext uri="{FF2B5EF4-FFF2-40B4-BE49-F238E27FC236}">
                <a16:creationId xmlns:a16="http://schemas.microsoft.com/office/drawing/2014/main" id="{EEE71AEC-1C7B-D735-C4A0-4BA2C0BC5B48}"/>
              </a:ext>
            </a:extLst>
          </p:cNvPr>
          <p:cNvSpPr txBox="1"/>
          <p:nvPr/>
        </p:nvSpPr>
        <p:spPr>
          <a:xfrm>
            <a:off x="80577" y="4984170"/>
            <a:ext cx="5345566" cy="1015663"/>
          </a:xfrm>
          <a:prstGeom prst="rect">
            <a:avLst/>
          </a:prstGeom>
          <a:noFill/>
        </p:spPr>
        <p:txBody>
          <a:bodyPr wrap="none" rtlCol="0">
            <a:spAutoFit/>
          </a:bodyPr>
          <a:lstStyle/>
          <a:p>
            <a:r>
              <a:rPr lang="en-US" sz="2000" b="1" i="1" dirty="0"/>
              <a:t>Coffee occurs across all documents in the corpus.</a:t>
            </a:r>
          </a:p>
          <a:p>
            <a:r>
              <a:rPr lang="en-US" sz="2000" b="1" i="1" dirty="0"/>
              <a:t>TF*IDF = 0.10*0</a:t>
            </a:r>
          </a:p>
          <a:p>
            <a:r>
              <a:rPr lang="en-US" sz="2000" b="1" i="1" dirty="0"/>
              <a:t>TF*IDF = 0</a:t>
            </a:r>
          </a:p>
        </p:txBody>
      </p:sp>
      <p:sp>
        <p:nvSpPr>
          <p:cNvPr id="17" name="Rectangle 16">
            <a:extLst>
              <a:ext uri="{FF2B5EF4-FFF2-40B4-BE49-F238E27FC236}">
                <a16:creationId xmlns:a16="http://schemas.microsoft.com/office/drawing/2014/main" id="{386A5FD1-370E-72AA-C441-EF8018EC566A}"/>
              </a:ext>
            </a:extLst>
          </p:cNvPr>
          <p:cNvSpPr/>
          <p:nvPr/>
        </p:nvSpPr>
        <p:spPr>
          <a:xfrm>
            <a:off x="5524748" y="2068182"/>
            <a:ext cx="3117113" cy="72521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Coffee accounts for 10% of the unique terms.</a:t>
            </a:r>
          </a:p>
        </p:txBody>
      </p:sp>
      <p:sp>
        <p:nvSpPr>
          <p:cNvPr id="18" name="Rectangle 17">
            <a:extLst>
              <a:ext uri="{FF2B5EF4-FFF2-40B4-BE49-F238E27FC236}">
                <a16:creationId xmlns:a16="http://schemas.microsoft.com/office/drawing/2014/main" id="{39C17897-1285-EBD7-E4EB-2F1C3B88E277}"/>
              </a:ext>
            </a:extLst>
          </p:cNvPr>
          <p:cNvSpPr/>
          <p:nvPr/>
        </p:nvSpPr>
        <p:spPr>
          <a:xfrm>
            <a:off x="5524748" y="5129394"/>
            <a:ext cx="3086097" cy="725214"/>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t>TF IDF has a value of 0, ”coffee” has no novelty or insight.</a:t>
            </a:r>
          </a:p>
        </p:txBody>
      </p:sp>
    </p:spTree>
    <p:extLst>
      <p:ext uri="{BB962C8B-B14F-4D97-AF65-F5344CB8AC3E}">
        <p14:creationId xmlns:p14="http://schemas.microsoft.com/office/powerpoint/2010/main" val="2155373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8" grpId="0" animBg="1"/>
      <p:bldP spid="17" grpId="0" animBg="1"/>
      <p:bldP spid="18"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F3120B-57CB-2379-98BB-0C821690A57F}"/>
              </a:ext>
            </a:extLst>
          </p:cNvPr>
          <p:cNvSpPr>
            <a:spLocks noGrp="1"/>
          </p:cNvSpPr>
          <p:nvPr>
            <p:ph type="dt" sz="half" idx="10"/>
          </p:nvPr>
        </p:nvSpPr>
        <p:spPr/>
        <p:txBody>
          <a:bodyPr/>
          <a:lstStyle/>
          <a:p>
            <a:fld id="{6700A58B-DD98-43D0-B791-721480A02982}" type="datetime1">
              <a:rPr lang="en-US" smtClean="0"/>
              <a:t>6/2/26</a:t>
            </a:fld>
            <a:endParaRPr lang="en-US"/>
          </a:p>
        </p:txBody>
      </p:sp>
      <p:sp>
        <p:nvSpPr>
          <p:cNvPr id="3" name="Title 2">
            <a:extLst>
              <a:ext uri="{FF2B5EF4-FFF2-40B4-BE49-F238E27FC236}">
                <a16:creationId xmlns:a16="http://schemas.microsoft.com/office/drawing/2014/main" id="{70DBDAA4-7BE2-8C9C-1471-2F81F739F139}"/>
              </a:ext>
            </a:extLst>
          </p:cNvPr>
          <p:cNvSpPr>
            <a:spLocks noGrp="1"/>
          </p:cNvSpPr>
          <p:nvPr>
            <p:ph type="title"/>
          </p:nvPr>
        </p:nvSpPr>
        <p:spPr/>
        <p:txBody>
          <a:bodyPr/>
          <a:lstStyle/>
          <a:p>
            <a:r>
              <a:rPr lang="en-US" dirty="0"/>
              <a:t>TF-IDF Bottom Line</a:t>
            </a:r>
          </a:p>
        </p:txBody>
      </p:sp>
      <p:sp>
        <p:nvSpPr>
          <p:cNvPr id="4" name="Footer Placeholder 3">
            <a:extLst>
              <a:ext uri="{FF2B5EF4-FFF2-40B4-BE49-F238E27FC236}">
                <a16:creationId xmlns:a16="http://schemas.microsoft.com/office/drawing/2014/main" id="{A4FA0086-C20E-765A-A4D8-A2F6CB0F8009}"/>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6E8F5C7C-7425-3AA4-63C4-59FF9A48ECF0}"/>
              </a:ext>
            </a:extLst>
          </p:cNvPr>
          <p:cNvSpPr>
            <a:spLocks noGrp="1"/>
          </p:cNvSpPr>
          <p:nvPr>
            <p:ph type="sldNum" sz="quarter" idx="4"/>
          </p:nvPr>
        </p:nvSpPr>
        <p:spPr/>
        <p:txBody>
          <a:bodyPr/>
          <a:lstStyle/>
          <a:p>
            <a:fld id="{37290FF7-652B-4475-AEAB-8B1A5D23AE09}" type="slidenum">
              <a:rPr lang="en-US" smtClean="0"/>
              <a:pPr/>
              <a:t>59</a:t>
            </a:fld>
            <a:endParaRPr lang="en-US" dirty="0"/>
          </a:p>
        </p:txBody>
      </p:sp>
      <p:sp>
        <p:nvSpPr>
          <p:cNvPr id="7" name="TextBox 6">
            <a:extLst>
              <a:ext uri="{FF2B5EF4-FFF2-40B4-BE49-F238E27FC236}">
                <a16:creationId xmlns:a16="http://schemas.microsoft.com/office/drawing/2014/main" id="{7BD1CB4E-D764-B189-1445-733E4C790DA4}"/>
              </a:ext>
            </a:extLst>
          </p:cNvPr>
          <p:cNvSpPr txBox="1"/>
          <p:nvPr/>
        </p:nvSpPr>
        <p:spPr>
          <a:xfrm>
            <a:off x="868099" y="1282705"/>
            <a:ext cx="7014259" cy="2031325"/>
          </a:xfrm>
          <a:prstGeom prst="rect">
            <a:avLst/>
          </a:prstGeom>
          <a:noFill/>
        </p:spPr>
        <p:txBody>
          <a:bodyPr wrap="square">
            <a:spAutoFit/>
          </a:bodyPr>
          <a:lstStyle/>
          <a:p>
            <a:r>
              <a:rPr lang="en-US" dirty="0"/>
              <a:t>If a term appears in </a:t>
            </a:r>
            <a:r>
              <a:rPr lang="en-US" b="1" dirty="0">
                <a:effectLst/>
                <a:latin typeface="Google Sans Text"/>
              </a:rPr>
              <a:t>all</a:t>
            </a:r>
            <a:r>
              <a:rPr lang="en-US" dirty="0"/>
              <a:t> documents within a corpus, its Inverse Document Frequency (IDF) mathematically drops to </a:t>
            </a:r>
            <a:r>
              <a:rPr lang="en-US" dirty="0">
                <a:effectLst/>
                <a:latin typeface="Google Sans Text"/>
              </a:rPr>
              <a:t>0</a:t>
            </a:r>
            <a:r>
              <a:rPr lang="en-US" dirty="0"/>
              <a:t> </a:t>
            </a:r>
          </a:p>
          <a:p>
            <a:r>
              <a:rPr lang="en-US" dirty="0"/>
              <a:t>(since </a:t>
            </a:r>
            <a:r>
              <a:rPr lang="en-US" dirty="0">
                <a:effectLst/>
                <a:latin typeface="Google Sans Text"/>
              </a:rPr>
              <a:t>log(3 documents/3 documents with the term) = log(1) = 0</a:t>
            </a:r>
            <a:r>
              <a:rPr lang="en-US" dirty="0"/>
              <a:t>). </a:t>
            </a:r>
          </a:p>
          <a:p>
            <a:endParaRPr lang="en-US" dirty="0"/>
          </a:p>
          <a:p>
            <a:r>
              <a:rPr lang="en-US" dirty="0"/>
              <a:t>Even with smoothing variations, a word present everywhere has the absolute lowest possible informational specificity, dragging its overall weight down to zero or a uniform baseline.</a:t>
            </a:r>
          </a:p>
        </p:txBody>
      </p:sp>
      <p:sp>
        <p:nvSpPr>
          <p:cNvPr id="6" name="TextBox 5">
            <a:extLst>
              <a:ext uri="{FF2B5EF4-FFF2-40B4-BE49-F238E27FC236}">
                <a16:creationId xmlns:a16="http://schemas.microsoft.com/office/drawing/2014/main" id="{A29D0FA6-BEC1-20F2-6883-88DFC50C412F}"/>
              </a:ext>
            </a:extLst>
          </p:cNvPr>
          <p:cNvSpPr txBox="1"/>
          <p:nvPr/>
        </p:nvSpPr>
        <p:spPr>
          <a:xfrm>
            <a:off x="868099" y="3587996"/>
            <a:ext cx="7014259" cy="2308324"/>
          </a:xfrm>
          <a:prstGeom prst="rect">
            <a:avLst/>
          </a:prstGeom>
          <a:noFill/>
        </p:spPr>
        <p:txBody>
          <a:bodyPr wrap="square">
            <a:spAutoFit/>
          </a:bodyPr>
          <a:lstStyle/>
          <a:p>
            <a:r>
              <a:rPr lang="en-US" dirty="0"/>
              <a:t>Conversely, if a term appears in only </a:t>
            </a:r>
            <a:r>
              <a:rPr lang="en-US" b="1" dirty="0"/>
              <a:t>one document </a:t>
            </a:r>
            <a:r>
              <a:rPr lang="en-US" dirty="0"/>
              <a:t>within a three-document corpus, its Inverse Document Frequency (IDF) mathematically reaches its maximum possible value </a:t>
            </a:r>
          </a:p>
          <a:p>
            <a:r>
              <a:rPr lang="en-US" dirty="0"/>
              <a:t>(since log(3ocuments/1 document with the term) = ~0.477</a:t>
            </a:r>
          </a:p>
          <a:p>
            <a:endParaRPr lang="en-US" dirty="0"/>
          </a:p>
          <a:p>
            <a:r>
              <a:rPr lang="en-US" dirty="0"/>
              <a:t>which is much greater than 0). A word present in only a single document possesses the highest possible informational specificity, driving its overall weight up to serve as a primary differentiator for that specific text.</a:t>
            </a:r>
          </a:p>
        </p:txBody>
      </p:sp>
    </p:spTree>
    <p:extLst>
      <p:ext uri="{BB962C8B-B14F-4D97-AF65-F5344CB8AC3E}">
        <p14:creationId xmlns:p14="http://schemas.microsoft.com/office/powerpoint/2010/main" val="23279417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p:cNvSpPr>
            <a:spLocks noGrp="1"/>
          </p:cNvSpPr>
          <p:nvPr>
            <p:ph type="title"/>
          </p:nvPr>
        </p:nvSpPr>
        <p:spPr/>
        <p:txBody>
          <a:bodyPr/>
          <a:lstStyle/>
          <a:p>
            <a:r>
              <a:rPr lang="en-US"/>
              <a:t>Applying TF-IDF to a DTM/TDM</a:t>
            </a:r>
            <a:endParaRPr lang="en-US" dirty="0"/>
          </a:p>
        </p:txBody>
      </p:sp>
      <p:sp>
        <p:nvSpPr>
          <p:cNvPr id="5" name="Footer Placeholder 4"/>
          <p:cNvSpPr>
            <a:spLocks noGrp="1"/>
          </p:cNvSpPr>
          <p:nvPr>
            <p:ph type="ftr" sz="quarter" idx="3"/>
          </p:nvPr>
        </p:nvSpPr>
        <p:spPr/>
        <p:txBody>
          <a:bodyPr/>
          <a:lstStyle/>
          <a:p>
            <a:r>
              <a:rPr lang="en-US"/>
              <a:t>Kwartler</a:t>
            </a:r>
            <a:endParaRPr lang="en-US" dirty="0"/>
          </a:p>
        </p:txBody>
      </p:sp>
      <p:sp>
        <p:nvSpPr>
          <p:cNvPr id="4" name="Slide Number Placeholder 3"/>
          <p:cNvSpPr>
            <a:spLocks noGrp="1"/>
          </p:cNvSpPr>
          <p:nvPr>
            <p:ph type="sldNum" sz="quarter" idx="4"/>
          </p:nvPr>
        </p:nvSpPr>
        <p:spPr/>
        <p:txBody>
          <a:bodyPr/>
          <a:lstStyle/>
          <a:p>
            <a:fld id="{37290FF7-652B-4475-AEAB-8B1A5D23AE09}" type="slidenum">
              <a:rPr lang="en-US" smtClean="0"/>
              <a:pPr/>
              <a:t>60</a:t>
            </a:fld>
            <a:endParaRPr lang="en-US"/>
          </a:p>
        </p:txBody>
      </p:sp>
      <p:sp>
        <p:nvSpPr>
          <p:cNvPr id="6" name="Rectangle 5">
            <a:extLst>
              <a:ext uri="{FF2B5EF4-FFF2-40B4-BE49-F238E27FC236}">
                <a16:creationId xmlns:a16="http://schemas.microsoft.com/office/drawing/2014/main" id="{C246B7D1-453D-487B-B491-889C15C460F6}"/>
              </a:ext>
            </a:extLst>
          </p:cNvPr>
          <p:cNvSpPr/>
          <p:nvPr/>
        </p:nvSpPr>
        <p:spPr>
          <a:xfrm>
            <a:off x="141891" y="1599398"/>
            <a:ext cx="8860219" cy="3855462"/>
          </a:xfrm>
          <a:prstGeom prst="rect">
            <a:avLst/>
          </a:prstGeom>
          <a:solidFill>
            <a:schemeClr val="bg1"/>
          </a:solidFill>
          <a:ln w="952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88900" tIns="88900" rIns="88900" bIns="88900" rtlCol="0" anchor="t" anchorCtr="0"/>
          <a:lstStyle/>
          <a:p>
            <a:pPr defTabSz="457200"/>
            <a:endParaRPr lang="en-US" sz="1000" dirty="0">
              <a:solidFill>
                <a:schemeClr val="tx2"/>
              </a:solidFill>
            </a:endParaRPr>
          </a:p>
        </p:txBody>
      </p:sp>
      <p:sp>
        <p:nvSpPr>
          <p:cNvPr id="9" name="Rectangle 8">
            <a:extLst>
              <a:ext uri="{FF2B5EF4-FFF2-40B4-BE49-F238E27FC236}">
                <a16:creationId xmlns:a16="http://schemas.microsoft.com/office/drawing/2014/main" id="{6C96FE2F-7E19-48CB-9942-7E78DB569A67}"/>
              </a:ext>
            </a:extLst>
          </p:cNvPr>
          <p:cNvSpPr/>
          <p:nvPr/>
        </p:nvSpPr>
        <p:spPr>
          <a:xfrm>
            <a:off x="254029" y="1703732"/>
            <a:ext cx="8633011" cy="2308324"/>
          </a:xfrm>
          <a:prstGeom prst="rect">
            <a:avLst/>
          </a:prstGeom>
          <a:solidFill>
            <a:schemeClr val="bg1">
              <a:lumMod val="85000"/>
            </a:schemeClr>
          </a:solidFill>
        </p:spPr>
        <p:txBody>
          <a:bodyPr wrap="square">
            <a:spAutoFit/>
          </a:bodyPr>
          <a:lstStyle/>
          <a:p>
            <a:pPr defTabSz="457200"/>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Control </a:t>
            </a:r>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Paramter</a:t>
            </a:r>
            <a:endPar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endParaRPr>
          </a:p>
          <a:p>
            <a:pPr defTabSz="457200"/>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ctrl      &lt;- list(weighting = </a:t>
            </a:r>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weightTfIdf</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a:p>
            <a:pPr defTabSz="457200"/>
            <a:endPar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endParaRPr>
          </a:p>
          <a:p>
            <a:pPr defTabSz="457200"/>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Apply in TDM/DTM construction</a:t>
            </a:r>
          </a:p>
          <a:p>
            <a:pPr defTabSz="457200"/>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drinkTDM</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&lt;- </a:t>
            </a:r>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TermDocumentMatrix</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allDrinks</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control = ctrl)</a:t>
            </a:r>
          </a:p>
          <a:p>
            <a:pPr defTabSz="457200"/>
            <a:endPar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endParaRPr>
          </a:p>
          <a:p>
            <a:pPr defTabSz="457200"/>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Change to a simple matrix</a:t>
            </a:r>
          </a:p>
          <a:p>
            <a:pPr defTabSz="457200"/>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drinkTDMm</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 &lt;- </a:t>
            </a:r>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as.matrix</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r>
              <a:rPr lang="en-US" dirty="0" err="1">
                <a:solidFill>
                  <a:prstClr val="black"/>
                </a:solidFill>
                <a:latin typeface="Consolas" panose="020B0609020204030204" pitchFamily="49" charset="0"/>
                <a:ea typeface="Arial Unicode MS" panose="020B0604020202020204" pitchFamily="34" charset="-128"/>
                <a:cs typeface="Consolas" panose="020B0609020204030204" pitchFamily="49" charset="0"/>
              </a:rPr>
              <a:t>drinkTDM</a:t>
            </a:r>
            <a:r>
              <a:rPr lang="en-US" dirty="0">
                <a:solidFill>
                  <a:prstClr val="black"/>
                </a:solidFill>
                <a:latin typeface="Consolas" panose="020B0609020204030204" pitchFamily="49" charset="0"/>
                <a:ea typeface="Arial Unicode MS" panose="020B0604020202020204" pitchFamily="34" charset="-128"/>
                <a:cs typeface="Consolas" panose="020B0609020204030204" pitchFamily="49" charset="0"/>
              </a:rPr>
              <a:t>)</a:t>
            </a:r>
          </a:p>
        </p:txBody>
      </p:sp>
      <p:sp>
        <p:nvSpPr>
          <p:cNvPr id="10" name="TextBox 9">
            <a:extLst>
              <a:ext uri="{FF2B5EF4-FFF2-40B4-BE49-F238E27FC236}">
                <a16:creationId xmlns:a16="http://schemas.microsoft.com/office/drawing/2014/main" id="{A5A3EE36-0573-4214-8E8B-E9BD628BC999}"/>
              </a:ext>
            </a:extLst>
          </p:cNvPr>
          <p:cNvSpPr txBox="1"/>
          <p:nvPr/>
        </p:nvSpPr>
        <p:spPr>
          <a:xfrm>
            <a:off x="157656" y="1196351"/>
            <a:ext cx="8828688" cy="340806"/>
          </a:xfrm>
          <a:prstGeom prst="rect">
            <a:avLst/>
          </a:prstGeom>
          <a:solidFill>
            <a:schemeClr val="accent6">
              <a:lumMod val="60000"/>
              <a:lumOff val="40000"/>
            </a:schemeClr>
          </a:solidFill>
        </p:spPr>
        <p:txBody>
          <a:bodyPr wrap="square" rtlCol="0">
            <a:spAutoFit/>
          </a:bodyPr>
          <a:lstStyle/>
          <a:p>
            <a:pPr algn="ctr" defTabSz="457200"/>
            <a:r>
              <a:rPr lang="en-US" sz="1600" dirty="0">
                <a:solidFill>
                  <a:prstClr val="white"/>
                </a:solidFill>
                <a:latin typeface="+mj-lt"/>
                <a:ea typeface="Arial Unicode MS" panose="020B0604020202020204" pitchFamily="34" charset="-128"/>
                <a:cs typeface="Arial Unicode MS" panose="020B0604020202020204" pitchFamily="34" charset="-128"/>
              </a:rPr>
              <a:t>You can pass in more than one control parameter like tokenization &amp; weighting.</a:t>
            </a:r>
            <a:endParaRPr lang="en-US" sz="1600" kern="1200" dirty="0">
              <a:solidFill>
                <a:prstClr val="white"/>
              </a:solidFill>
              <a:latin typeface="+mj-lt"/>
              <a:ea typeface="Arial Unicode MS" panose="020B0604020202020204" pitchFamily="34" charset="-128"/>
              <a:cs typeface="Arial Unicode MS" panose="020B0604020202020204" pitchFamily="34" charset="-128"/>
            </a:endParaRPr>
          </a:p>
        </p:txBody>
      </p:sp>
      <p:cxnSp>
        <p:nvCxnSpPr>
          <p:cNvPr id="11" name="Straight Connector 10">
            <a:extLst>
              <a:ext uri="{FF2B5EF4-FFF2-40B4-BE49-F238E27FC236}">
                <a16:creationId xmlns:a16="http://schemas.microsoft.com/office/drawing/2014/main" id="{B9A77CAD-9877-A742-8704-48D5DEFE24A6}"/>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340CB0CD-0CBC-B24B-9F6E-B1E0551AFC35}"/>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26664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p:cNvSpPr>
            <a:spLocks noGrp="1"/>
          </p:cNvSpPr>
          <p:nvPr>
            <p:ph type="title"/>
          </p:nvPr>
        </p:nvSpPr>
        <p:spPr/>
        <p:txBody>
          <a:bodyPr/>
          <a:lstStyle/>
          <a:p>
            <a:r>
              <a:rPr lang="en-US"/>
              <a:t>What tokens are in not in common (disjoint)?</a:t>
            </a:r>
            <a:endParaRPr lang="en-US" dirty="0"/>
          </a:p>
        </p:txBody>
      </p:sp>
      <p:sp>
        <p:nvSpPr>
          <p:cNvPr id="5" name="Footer Placeholder 4"/>
          <p:cNvSpPr>
            <a:spLocks noGrp="1"/>
          </p:cNvSpPr>
          <p:nvPr>
            <p:ph type="ftr" sz="quarter" idx="3"/>
          </p:nvPr>
        </p:nvSpPr>
        <p:spPr/>
        <p:txBody>
          <a:bodyPr/>
          <a:lstStyle/>
          <a:p>
            <a:r>
              <a:rPr lang="en-US"/>
              <a:t>Kwartler</a:t>
            </a:r>
            <a:endParaRPr lang="en-US" dirty="0"/>
          </a:p>
        </p:txBody>
      </p:sp>
      <p:sp>
        <p:nvSpPr>
          <p:cNvPr id="4" name="Slide Number Placeholder 3"/>
          <p:cNvSpPr>
            <a:spLocks noGrp="1"/>
          </p:cNvSpPr>
          <p:nvPr>
            <p:ph type="sldNum" sz="quarter" idx="4"/>
          </p:nvPr>
        </p:nvSpPr>
        <p:spPr/>
        <p:txBody>
          <a:bodyPr/>
          <a:lstStyle/>
          <a:p>
            <a:fld id="{37290FF7-652B-4475-AEAB-8B1A5D23AE09}" type="slidenum">
              <a:rPr lang="en-US" smtClean="0"/>
              <a:pPr/>
              <a:t>61</a:t>
            </a:fld>
            <a:endParaRPr lang="en-US"/>
          </a:p>
        </p:txBody>
      </p:sp>
      <p:sp>
        <p:nvSpPr>
          <p:cNvPr id="15" name="Freeform 14"/>
          <p:cNvSpPr/>
          <p:nvPr/>
        </p:nvSpPr>
        <p:spPr>
          <a:xfrm>
            <a:off x="1637769" y="2467685"/>
            <a:ext cx="1044217" cy="1922633"/>
          </a:xfrm>
          <a:custGeom>
            <a:avLst/>
            <a:gdLst>
              <a:gd name="connsiteX0" fmla="*/ 522109 w 1044217"/>
              <a:gd name="connsiteY0" fmla="*/ 0 h 1922633"/>
              <a:gd name="connsiteX1" fmla="*/ 538328 w 1044217"/>
              <a:gd name="connsiteY1" fmla="*/ 9853 h 1922633"/>
              <a:gd name="connsiteX2" fmla="*/ 1044217 w 1044217"/>
              <a:gd name="connsiteY2" fmla="*/ 961316 h 1922633"/>
              <a:gd name="connsiteX3" fmla="*/ 538328 w 1044217"/>
              <a:gd name="connsiteY3" fmla="*/ 1912779 h 1922633"/>
              <a:gd name="connsiteX4" fmla="*/ 522109 w 1044217"/>
              <a:gd name="connsiteY4" fmla="*/ 1922633 h 1922633"/>
              <a:gd name="connsiteX5" fmla="*/ 505889 w 1044217"/>
              <a:gd name="connsiteY5" fmla="*/ 1912779 h 1922633"/>
              <a:gd name="connsiteX6" fmla="*/ 0 w 1044217"/>
              <a:gd name="connsiteY6" fmla="*/ 961316 h 1922633"/>
              <a:gd name="connsiteX7" fmla="*/ 505889 w 1044217"/>
              <a:gd name="connsiteY7" fmla="*/ 9853 h 1922633"/>
              <a:gd name="connsiteX8" fmla="*/ 522109 w 1044217"/>
              <a:gd name="connsiteY8" fmla="*/ 0 h 192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4217" h="1922633">
                <a:moveTo>
                  <a:pt x="522109" y="0"/>
                </a:moveTo>
                <a:lnTo>
                  <a:pt x="538328" y="9853"/>
                </a:lnTo>
                <a:cubicBezTo>
                  <a:pt x="843545" y="216054"/>
                  <a:pt x="1044217" y="565251"/>
                  <a:pt x="1044217" y="961316"/>
                </a:cubicBezTo>
                <a:cubicBezTo>
                  <a:pt x="1044217" y="1357382"/>
                  <a:pt x="843545" y="1706578"/>
                  <a:pt x="538328" y="1912779"/>
                </a:cubicBezTo>
                <a:lnTo>
                  <a:pt x="522109" y="1922633"/>
                </a:lnTo>
                <a:lnTo>
                  <a:pt x="505889" y="1912779"/>
                </a:lnTo>
                <a:cubicBezTo>
                  <a:pt x="200672" y="1706578"/>
                  <a:pt x="0" y="1357382"/>
                  <a:pt x="0" y="961316"/>
                </a:cubicBezTo>
                <a:cubicBezTo>
                  <a:pt x="0" y="565251"/>
                  <a:pt x="200672" y="216054"/>
                  <a:pt x="505889" y="9853"/>
                </a:cubicBezTo>
                <a:lnTo>
                  <a:pt x="522109" y="0"/>
                </a:lnTo>
                <a:close/>
              </a:path>
            </a:pathLst>
          </a:custGeom>
          <a:no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defTabSz="457200"/>
            <a:endParaRPr lang="en-US" sz="1800" kern="1200" dirty="0">
              <a:solidFill>
                <a:prstClr val="white"/>
              </a:solidFill>
              <a:latin typeface="Arial Unicode MS" panose="020B0604020202020204" pitchFamily="34" charset="-128"/>
            </a:endParaRPr>
          </a:p>
        </p:txBody>
      </p:sp>
      <p:sp>
        <p:nvSpPr>
          <p:cNvPr id="13" name="Freeform 12"/>
          <p:cNvSpPr/>
          <p:nvPr/>
        </p:nvSpPr>
        <p:spPr>
          <a:xfrm>
            <a:off x="387135" y="2281575"/>
            <a:ext cx="1772742" cy="2294850"/>
          </a:xfrm>
          <a:custGeom>
            <a:avLst/>
            <a:gdLst>
              <a:gd name="connsiteX0" fmla="*/ 1147425 w 1772742"/>
              <a:gd name="connsiteY0" fmla="*/ 0 h 2294850"/>
              <a:gd name="connsiteX1" fmla="*/ 1694356 w 1772742"/>
              <a:gd name="connsiteY1" fmla="*/ 138488 h 2294850"/>
              <a:gd name="connsiteX2" fmla="*/ 1772742 w 1772742"/>
              <a:gd name="connsiteY2" fmla="*/ 186109 h 2294850"/>
              <a:gd name="connsiteX3" fmla="*/ 1756522 w 1772742"/>
              <a:gd name="connsiteY3" fmla="*/ 195962 h 2294850"/>
              <a:gd name="connsiteX4" fmla="*/ 1250633 w 1772742"/>
              <a:gd name="connsiteY4" fmla="*/ 1147425 h 2294850"/>
              <a:gd name="connsiteX5" fmla="*/ 1756522 w 1772742"/>
              <a:gd name="connsiteY5" fmla="*/ 2098888 h 2294850"/>
              <a:gd name="connsiteX6" fmla="*/ 1772742 w 1772742"/>
              <a:gd name="connsiteY6" fmla="*/ 2108742 h 2294850"/>
              <a:gd name="connsiteX7" fmla="*/ 1694356 w 1772742"/>
              <a:gd name="connsiteY7" fmla="*/ 2156362 h 2294850"/>
              <a:gd name="connsiteX8" fmla="*/ 1147425 w 1772742"/>
              <a:gd name="connsiteY8" fmla="*/ 2294850 h 2294850"/>
              <a:gd name="connsiteX9" fmla="*/ 0 w 1772742"/>
              <a:gd name="connsiteY9" fmla="*/ 1147425 h 2294850"/>
              <a:gd name="connsiteX10" fmla="*/ 1147425 w 1772742"/>
              <a:gd name="connsiteY10" fmla="*/ 0 h 229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2742" h="2294850">
                <a:moveTo>
                  <a:pt x="1147425" y="0"/>
                </a:moveTo>
                <a:cubicBezTo>
                  <a:pt x="1345458" y="0"/>
                  <a:pt x="1531773" y="50168"/>
                  <a:pt x="1694356" y="138488"/>
                </a:cubicBezTo>
                <a:lnTo>
                  <a:pt x="1772742" y="186109"/>
                </a:lnTo>
                <a:lnTo>
                  <a:pt x="1756522" y="195962"/>
                </a:lnTo>
                <a:cubicBezTo>
                  <a:pt x="1451305" y="402163"/>
                  <a:pt x="1250633" y="751360"/>
                  <a:pt x="1250633" y="1147425"/>
                </a:cubicBezTo>
                <a:cubicBezTo>
                  <a:pt x="1250633" y="1543491"/>
                  <a:pt x="1451305" y="1892687"/>
                  <a:pt x="1756522" y="2098888"/>
                </a:cubicBezTo>
                <a:lnTo>
                  <a:pt x="1772742" y="2108742"/>
                </a:lnTo>
                <a:lnTo>
                  <a:pt x="1694356" y="2156362"/>
                </a:lnTo>
                <a:cubicBezTo>
                  <a:pt x="1531773" y="2244682"/>
                  <a:pt x="1345458" y="2294850"/>
                  <a:pt x="1147425" y="2294850"/>
                </a:cubicBezTo>
                <a:cubicBezTo>
                  <a:pt x="513720" y="2294850"/>
                  <a:pt x="0" y="1781130"/>
                  <a:pt x="0" y="1147425"/>
                </a:cubicBezTo>
                <a:cubicBezTo>
                  <a:pt x="0" y="513720"/>
                  <a:pt x="513720" y="0"/>
                  <a:pt x="1147425" y="0"/>
                </a:cubicBezTo>
                <a:close/>
              </a:path>
            </a:pathLst>
          </a:custGeom>
          <a:solidFill>
            <a:srgbClr val="FFC000"/>
          </a:solid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defTabSz="457200"/>
            <a:endParaRPr lang="en-US" sz="1800" kern="1200" dirty="0">
              <a:solidFill>
                <a:prstClr val="white"/>
              </a:solidFill>
              <a:latin typeface="Arial Unicode MS" panose="020B0604020202020204" pitchFamily="34" charset="-128"/>
            </a:endParaRPr>
          </a:p>
        </p:txBody>
      </p:sp>
      <p:sp>
        <p:nvSpPr>
          <p:cNvPr id="12" name="Freeform 11"/>
          <p:cNvSpPr/>
          <p:nvPr/>
        </p:nvSpPr>
        <p:spPr>
          <a:xfrm>
            <a:off x="2159878" y="2281575"/>
            <a:ext cx="1772741" cy="2294850"/>
          </a:xfrm>
          <a:custGeom>
            <a:avLst/>
            <a:gdLst>
              <a:gd name="connsiteX0" fmla="*/ 625316 w 1772741"/>
              <a:gd name="connsiteY0" fmla="*/ 0 h 2294850"/>
              <a:gd name="connsiteX1" fmla="*/ 1772741 w 1772741"/>
              <a:gd name="connsiteY1" fmla="*/ 1147425 h 2294850"/>
              <a:gd name="connsiteX2" fmla="*/ 625316 w 1772741"/>
              <a:gd name="connsiteY2" fmla="*/ 2294850 h 2294850"/>
              <a:gd name="connsiteX3" fmla="*/ 78385 w 1772741"/>
              <a:gd name="connsiteY3" fmla="*/ 2156362 h 2294850"/>
              <a:gd name="connsiteX4" fmla="*/ 0 w 1772741"/>
              <a:gd name="connsiteY4" fmla="*/ 2108742 h 2294850"/>
              <a:gd name="connsiteX5" fmla="*/ 16219 w 1772741"/>
              <a:gd name="connsiteY5" fmla="*/ 2098888 h 2294850"/>
              <a:gd name="connsiteX6" fmla="*/ 522108 w 1772741"/>
              <a:gd name="connsiteY6" fmla="*/ 1147425 h 2294850"/>
              <a:gd name="connsiteX7" fmla="*/ 16219 w 1772741"/>
              <a:gd name="connsiteY7" fmla="*/ 195962 h 2294850"/>
              <a:gd name="connsiteX8" fmla="*/ 0 w 1772741"/>
              <a:gd name="connsiteY8" fmla="*/ 186109 h 2294850"/>
              <a:gd name="connsiteX9" fmla="*/ 78385 w 1772741"/>
              <a:gd name="connsiteY9" fmla="*/ 138488 h 2294850"/>
              <a:gd name="connsiteX10" fmla="*/ 625316 w 1772741"/>
              <a:gd name="connsiteY10" fmla="*/ 0 h 229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72741" h="2294850">
                <a:moveTo>
                  <a:pt x="625316" y="0"/>
                </a:moveTo>
                <a:cubicBezTo>
                  <a:pt x="1259021" y="0"/>
                  <a:pt x="1772741" y="513720"/>
                  <a:pt x="1772741" y="1147425"/>
                </a:cubicBezTo>
                <a:cubicBezTo>
                  <a:pt x="1772741" y="1781130"/>
                  <a:pt x="1259021" y="2294850"/>
                  <a:pt x="625316" y="2294850"/>
                </a:cubicBezTo>
                <a:cubicBezTo>
                  <a:pt x="427283" y="2294850"/>
                  <a:pt x="240968" y="2244682"/>
                  <a:pt x="78385" y="2156362"/>
                </a:cubicBezTo>
                <a:lnTo>
                  <a:pt x="0" y="2108742"/>
                </a:lnTo>
                <a:lnTo>
                  <a:pt x="16219" y="2098888"/>
                </a:lnTo>
                <a:cubicBezTo>
                  <a:pt x="321436" y="1892687"/>
                  <a:pt x="522108" y="1543491"/>
                  <a:pt x="522108" y="1147425"/>
                </a:cubicBezTo>
                <a:cubicBezTo>
                  <a:pt x="522108" y="751360"/>
                  <a:pt x="321436" y="402163"/>
                  <a:pt x="16219" y="195962"/>
                </a:cubicBezTo>
                <a:lnTo>
                  <a:pt x="0" y="186109"/>
                </a:lnTo>
                <a:lnTo>
                  <a:pt x="78385" y="138488"/>
                </a:lnTo>
                <a:cubicBezTo>
                  <a:pt x="240968" y="50168"/>
                  <a:pt x="427283" y="0"/>
                  <a:pt x="625316" y="0"/>
                </a:cubicBezTo>
                <a:close/>
              </a:path>
            </a:pathLst>
          </a:custGeom>
          <a:solidFill>
            <a:srgbClr val="FFC000"/>
          </a:solid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defTabSz="457200"/>
            <a:endParaRPr lang="en-US" sz="1800" kern="1200" dirty="0">
              <a:solidFill>
                <a:prstClr val="white"/>
              </a:solidFill>
              <a:latin typeface="Arial Unicode MS" panose="020B0604020202020204" pitchFamily="34" charset="-128"/>
            </a:endParaRPr>
          </a:p>
        </p:txBody>
      </p:sp>
      <p:pic>
        <p:nvPicPr>
          <p:cNvPr id="10" name="Picture 2" descr="Image result for document ic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2461" y="2955952"/>
            <a:ext cx="946096" cy="946096"/>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Image result for document ic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21772" y="2955952"/>
            <a:ext cx="946096" cy="94609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a:picLocks noChangeAspect="1"/>
          </p:cNvPicPr>
          <p:nvPr/>
        </p:nvPicPr>
        <p:blipFill>
          <a:blip r:embed="rId3"/>
          <a:stretch>
            <a:fillRect/>
          </a:stretch>
        </p:blipFill>
        <p:spPr>
          <a:xfrm>
            <a:off x="4287672" y="1652423"/>
            <a:ext cx="3935851" cy="3786679"/>
          </a:xfrm>
          <a:prstGeom prst="rect">
            <a:avLst/>
          </a:prstGeom>
        </p:spPr>
      </p:pic>
      <p:cxnSp>
        <p:nvCxnSpPr>
          <p:cNvPr id="14" name="Straight Connector 13">
            <a:extLst>
              <a:ext uri="{FF2B5EF4-FFF2-40B4-BE49-F238E27FC236}">
                <a16:creationId xmlns:a16="http://schemas.microsoft.com/office/drawing/2014/main" id="{43EFECB8-5FC6-5440-9529-8C17703FF409}"/>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F9C5D47-2B58-1441-9064-FBBB1B0E75DE}"/>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69227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p:cNvSpPr>
            <a:spLocks noGrp="1"/>
          </p:cNvSpPr>
          <p:nvPr>
            <p:ph type="title"/>
          </p:nvPr>
        </p:nvSpPr>
        <p:spPr/>
        <p:txBody>
          <a:bodyPr/>
          <a:lstStyle/>
          <a:p>
            <a:r>
              <a:rPr lang="en-US"/>
              <a:t>What about disjoint tokens?</a:t>
            </a:r>
            <a:endParaRPr lang="en-US" dirty="0"/>
          </a:p>
        </p:txBody>
      </p:sp>
      <p:sp>
        <p:nvSpPr>
          <p:cNvPr id="5" name="Footer Placeholder 4"/>
          <p:cNvSpPr>
            <a:spLocks noGrp="1"/>
          </p:cNvSpPr>
          <p:nvPr>
            <p:ph type="ftr" sz="quarter" idx="3"/>
          </p:nvPr>
        </p:nvSpPr>
        <p:spPr/>
        <p:txBody>
          <a:bodyPr/>
          <a:lstStyle/>
          <a:p>
            <a:r>
              <a:rPr lang="en-US"/>
              <a:t>Kwartler</a:t>
            </a:r>
            <a:endParaRPr lang="en-US" dirty="0"/>
          </a:p>
        </p:txBody>
      </p:sp>
      <p:sp>
        <p:nvSpPr>
          <p:cNvPr id="4" name="Slide Number Placeholder 3"/>
          <p:cNvSpPr>
            <a:spLocks noGrp="1"/>
          </p:cNvSpPr>
          <p:nvPr>
            <p:ph type="sldNum" sz="quarter" idx="4"/>
          </p:nvPr>
        </p:nvSpPr>
        <p:spPr/>
        <p:txBody>
          <a:bodyPr/>
          <a:lstStyle/>
          <a:p>
            <a:fld id="{37290FF7-652B-4475-AEAB-8B1A5D23AE09}" type="slidenum">
              <a:rPr lang="en-US" smtClean="0"/>
              <a:pPr/>
              <a:t>62</a:t>
            </a:fld>
            <a:endParaRPr lang="en-US"/>
          </a:p>
        </p:txBody>
      </p:sp>
      <p:sp>
        <p:nvSpPr>
          <p:cNvPr id="6" name="TextBox 5"/>
          <p:cNvSpPr txBox="1"/>
          <p:nvPr/>
        </p:nvSpPr>
        <p:spPr>
          <a:xfrm>
            <a:off x="867104" y="1718442"/>
            <a:ext cx="3948517" cy="584775"/>
          </a:xfrm>
          <a:prstGeom prst="rect">
            <a:avLst/>
          </a:prstGeom>
          <a:noFill/>
        </p:spPr>
        <p:txBody>
          <a:bodyPr wrap="none" rtlCol="0">
            <a:spAutoFit/>
          </a:bodyPr>
          <a:lstStyle/>
          <a:p>
            <a:r>
              <a:rPr lang="en-US" sz="3200" dirty="0" err="1"/>
              <a:t>G_ComparisonCloud.R</a:t>
            </a:r>
            <a:endParaRPr lang="en-US" sz="3200" dirty="0"/>
          </a:p>
        </p:txBody>
      </p:sp>
      <p:cxnSp>
        <p:nvCxnSpPr>
          <p:cNvPr id="7" name="Straight Connector 6">
            <a:extLst>
              <a:ext uri="{FF2B5EF4-FFF2-40B4-BE49-F238E27FC236}">
                <a16:creationId xmlns:a16="http://schemas.microsoft.com/office/drawing/2014/main" id="{A0EC6313-EB8A-734D-8222-4CFF784570D1}"/>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A3221BB-C1F5-EE4C-80EF-72D7B6F82EF6}"/>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365917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p:cNvSpPr>
            <a:spLocks noGrp="1"/>
          </p:cNvSpPr>
          <p:nvPr>
            <p:ph type="title"/>
          </p:nvPr>
        </p:nvSpPr>
        <p:spPr/>
        <p:txBody>
          <a:bodyPr/>
          <a:lstStyle/>
          <a:p>
            <a:r>
              <a:rPr lang="en-US" dirty="0"/>
              <a:t>What about proportional similarities?</a:t>
            </a:r>
          </a:p>
        </p:txBody>
      </p:sp>
      <p:sp>
        <p:nvSpPr>
          <p:cNvPr id="5" name="Footer Placeholder 4"/>
          <p:cNvSpPr>
            <a:spLocks noGrp="1"/>
          </p:cNvSpPr>
          <p:nvPr>
            <p:ph type="ftr" sz="quarter" idx="3"/>
          </p:nvPr>
        </p:nvSpPr>
        <p:spPr/>
        <p:txBody>
          <a:bodyPr/>
          <a:lstStyle/>
          <a:p>
            <a:r>
              <a:rPr lang="en-US"/>
              <a:t>Kwartler</a:t>
            </a:r>
            <a:endParaRPr lang="en-US" dirty="0"/>
          </a:p>
        </p:txBody>
      </p:sp>
      <p:sp>
        <p:nvSpPr>
          <p:cNvPr id="4" name="Slide Number Placeholder 3"/>
          <p:cNvSpPr>
            <a:spLocks noGrp="1"/>
          </p:cNvSpPr>
          <p:nvPr>
            <p:ph type="sldNum" sz="quarter" idx="4"/>
          </p:nvPr>
        </p:nvSpPr>
        <p:spPr/>
        <p:txBody>
          <a:bodyPr/>
          <a:lstStyle/>
          <a:p>
            <a:fld id="{37290FF7-652B-4475-AEAB-8B1A5D23AE09}" type="slidenum">
              <a:rPr lang="en-US" smtClean="0"/>
              <a:pPr/>
              <a:t>63</a:t>
            </a:fld>
            <a:endParaRPr lang="en-US"/>
          </a:p>
        </p:txBody>
      </p:sp>
      <p:pic>
        <p:nvPicPr>
          <p:cNvPr id="14" name="Picture 13"/>
          <p:cNvPicPr>
            <a:picLocks noChangeAspect="1"/>
          </p:cNvPicPr>
          <p:nvPr/>
        </p:nvPicPr>
        <p:blipFill>
          <a:blip r:embed="rId2"/>
          <a:stretch>
            <a:fillRect/>
          </a:stretch>
        </p:blipFill>
        <p:spPr>
          <a:xfrm>
            <a:off x="5080767" y="1852284"/>
            <a:ext cx="3333750" cy="3248025"/>
          </a:xfrm>
          <a:prstGeom prst="rect">
            <a:avLst/>
          </a:prstGeom>
        </p:spPr>
      </p:pic>
      <p:sp>
        <p:nvSpPr>
          <p:cNvPr id="16" name="Oval 15"/>
          <p:cNvSpPr/>
          <p:nvPr/>
        </p:nvSpPr>
        <p:spPr>
          <a:xfrm>
            <a:off x="387135" y="2281575"/>
            <a:ext cx="2294850" cy="2294850"/>
          </a:xfrm>
          <a:prstGeom prst="ellipse">
            <a:avLst/>
          </a:prstGeom>
          <a:no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kern="1200" dirty="0">
              <a:solidFill>
                <a:prstClr val="white"/>
              </a:solidFill>
              <a:latin typeface="Arial Unicode MS" panose="020B0604020202020204" pitchFamily="34" charset="-128"/>
            </a:endParaRPr>
          </a:p>
        </p:txBody>
      </p:sp>
      <p:sp>
        <p:nvSpPr>
          <p:cNvPr id="17" name="Oval 16"/>
          <p:cNvSpPr/>
          <p:nvPr/>
        </p:nvSpPr>
        <p:spPr>
          <a:xfrm>
            <a:off x="1637768" y="2281575"/>
            <a:ext cx="2294850" cy="2294850"/>
          </a:xfrm>
          <a:prstGeom prst="ellipse">
            <a:avLst/>
          </a:prstGeom>
          <a:no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kern="1200" dirty="0">
              <a:solidFill>
                <a:prstClr val="white"/>
              </a:solidFill>
              <a:latin typeface="Arial Unicode MS" panose="020B0604020202020204" pitchFamily="34" charset="-128"/>
            </a:endParaRPr>
          </a:p>
        </p:txBody>
      </p:sp>
      <p:pic>
        <p:nvPicPr>
          <p:cNvPr id="18" name="Picture 2" descr="Image result for document ic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2461" y="2955952"/>
            <a:ext cx="946096" cy="94609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2" descr="Image result for document ic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21772" y="2955952"/>
            <a:ext cx="946096" cy="946096"/>
          </a:xfrm>
          <a:prstGeom prst="rect">
            <a:avLst/>
          </a:prstGeom>
          <a:noFill/>
          <a:extLst>
            <a:ext uri="{909E8E84-426E-40DD-AFC4-6F175D3DCCD1}">
              <a14:hiddenFill xmlns:a14="http://schemas.microsoft.com/office/drawing/2010/main">
                <a:solidFill>
                  <a:srgbClr val="FFFFFF"/>
                </a:solidFill>
              </a14:hiddenFill>
            </a:ext>
          </a:extLst>
        </p:spPr>
      </p:pic>
      <p:sp>
        <p:nvSpPr>
          <p:cNvPr id="20" name="Freeform 19"/>
          <p:cNvSpPr/>
          <p:nvPr/>
        </p:nvSpPr>
        <p:spPr>
          <a:xfrm>
            <a:off x="1648279" y="2478196"/>
            <a:ext cx="1044217" cy="1922633"/>
          </a:xfrm>
          <a:custGeom>
            <a:avLst/>
            <a:gdLst>
              <a:gd name="connsiteX0" fmla="*/ 522109 w 1044217"/>
              <a:gd name="connsiteY0" fmla="*/ 0 h 1922633"/>
              <a:gd name="connsiteX1" fmla="*/ 538328 w 1044217"/>
              <a:gd name="connsiteY1" fmla="*/ 9853 h 1922633"/>
              <a:gd name="connsiteX2" fmla="*/ 1044217 w 1044217"/>
              <a:gd name="connsiteY2" fmla="*/ 961316 h 1922633"/>
              <a:gd name="connsiteX3" fmla="*/ 538328 w 1044217"/>
              <a:gd name="connsiteY3" fmla="*/ 1912779 h 1922633"/>
              <a:gd name="connsiteX4" fmla="*/ 522109 w 1044217"/>
              <a:gd name="connsiteY4" fmla="*/ 1922633 h 1922633"/>
              <a:gd name="connsiteX5" fmla="*/ 505889 w 1044217"/>
              <a:gd name="connsiteY5" fmla="*/ 1912779 h 1922633"/>
              <a:gd name="connsiteX6" fmla="*/ 0 w 1044217"/>
              <a:gd name="connsiteY6" fmla="*/ 961316 h 1922633"/>
              <a:gd name="connsiteX7" fmla="*/ 505889 w 1044217"/>
              <a:gd name="connsiteY7" fmla="*/ 9853 h 192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4217" h="1922633">
                <a:moveTo>
                  <a:pt x="522109" y="0"/>
                </a:moveTo>
                <a:lnTo>
                  <a:pt x="538328" y="9853"/>
                </a:lnTo>
                <a:cubicBezTo>
                  <a:pt x="843545" y="216054"/>
                  <a:pt x="1044217" y="565251"/>
                  <a:pt x="1044217" y="961316"/>
                </a:cubicBezTo>
                <a:cubicBezTo>
                  <a:pt x="1044217" y="1357382"/>
                  <a:pt x="843545" y="1706578"/>
                  <a:pt x="538328" y="1912779"/>
                </a:cubicBezTo>
                <a:lnTo>
                  <a:pt x="522109" y="1922633"/>
                </a:lnTo>
                <a:lnTo>
                  <a:pt x="505889" y="1912779"/>
                </a:lnTo>
                <a:cubicBezTo>
                  <a:pt x="200672" y="1706578"/>
                  <a:pt x="0" y="1357382"/>
                  <a:pt x="0" y="961316"/>
                </a:cubicBezTo>
                <a:cubicBezTo>
                  <a:pt x="0" y="565251"/>
                  <a:pt x="200672" y="216054"/>
                  <a:pt x="505889" y="9853"/>
                </a:cubicBezTo>
                <a:close/>
              </a:path>
            </a:pathLst>
          </a:custGeom>
          <a:solidFill>
            <a:srgbClr val="FFC000"/>
          </a:solid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defTabSz="457200"/>
            <a:endParaRPr lang="en-US" sz="1800" kern="1200" dirty="0">
              <a:solidFill>
                <a:prstClr val="white"/>
              </a:solidFill>
              <a:latin typeface="Arial Unicode MS" panose="020B0604020202020204" pitchFamily="34" charset="-128"/>
            </a:endParaRPr>
          </a:p>
        </p:txBody>
      </p:sp>
      <p:sp>
        <p:nvSpPr>
          <p:cNvPr id="21" name="TextBox 20">
            <a:extLst>
              <a:ext uri="{FF2B5EF4-FFF2-40B4-BE49-F238E27FC236}">
                <a16:creationId xmlns:a16="http://schemas.microsoft.com/office/drawing/2014/main" id="{A5A3EE36-0573-4214-8E8B-E9BD628BC999}"/>
              </a:ext>
            </a:extLst>
          </p:cNvPr>
          <p:cNvSpPr txBox="1"/>
          <p:nvPr/>
        </p:nvSpPr>
        <p:spPr>
          <a:xfrm>
            <a:off x="157656" y="1169847"/>
            <a:ext cx="8828688" cy="340806"/>
          </a:xfrm>
          <a:prstGeom prst="rect">
            <a:avLst/>
          </a:prstGeom>
          <a:solidFill>
            <a:schemeClr val="accent6">
              <a:lumMod val="60000"/>
              <a:lumOff val="40000"/>
            </a:schemeClr>
          </a:solidFill>
        </p:spPr>
        <p:txBody>
          <a:bodyPr wrap="square" rtlCol="0">
            <a:spAutoFit/>
          </a:bodyPr>
          <a:lstStyle/>
          <a:p>
            <a:pPr algn="ctr" defTabSz="457200"/>
            <a:r>
              <a:rPr lang="en-US" sz="1600" dirty="0">
                <a:solidFill>
                  <a:prstClr val="white"/>
                </a:solidFill>
                <a:latin typeface="+mj-lt"/>
                <a:ea typeface="Arial Unicode MS" panose="020B0604020202020204" pitchFamily="34" charset="-128"/>
                <a:cs typeface="Arial Unicode MS" panose="020B0604020202020204" pitchFamily="34" charset="-128"/>
              </a:rPr>
              <a:t>The problem is that if </a:t>
            </a:r>
            <a:r>
              <a:rPr lang="en-US" sz="1600" dirty="0" err="1">
                <a:solidFill>
                  <a:prstClr val="white"/>
                </a:solidFill>
                <a:latin typeface="+mj-lt"/>
                <a:ea typeface="Arial Unicode MS" panose="020B0604020202020204" pitchFamily="34" charset="-128"/>
                <a:cs typeface="Arial Unicode MS" panose="020B0604020202020204" pitchFamily="34" charset="-128"/>
              </a:rPr>
              <a:t>corpusA</a:t>
            </a:r>
            <a:r>
              <a:rPr lang="en-US" sz="1600" dirty="0">
                <a:solidFill>
                  <a:prstClr val="white"/>
                </a:solidFill>
                <a:latin typeface="+mj-lt"/>
                <a:ea typeface="Arial Unicode MS" panose="020B0604020202020204" pitchFamily="34" charset="-128"/>
                <a:cs typeface="Arial Unicode MS" panose="020B0604020202020204" pitchFamily="34" charset="-128"/>
              </a:rPr>
              <a:t> has 1 instance &amp; corpus has 1000 they appear as shared.</a:t>
            </a:r>
            <a:endParaRPr lang="en-US" sz="1600" kern="1200" dirty="0">
              <a:solidFill>
                <a:prstClr val="white"/>
              </a:solidFill>
              <a:latin typeface="+mj-lt"/>
              <a:ea typeface="Arial Unicode MS" panose="020B0604020202020204" pitchFamily="34" charset="-128"/>
              <a:cs typeface="Arial Unicode MS" panose="020B0604020202020204" pitchFamily="34" charset="-128"/>
            </a:endParaRPr>
          </a:p>
        </p:txBody>
      </p:sp>
      <p:cxnSp>
        <p:nvCxnSpPr>
          <p:cNvPr id="13" name="Straight Connector 12">
            <a:extLst>
              <a:ext uri="{FF2B5EF4-FFF2-40B4-BE49-F238E27FC236}">
                <a16:creationId xmlns:a16="http://schemas.microsoft.com/office/drawing/2014/main" id="{C2087EDF-BED7-6F4D-92E0-977D8809AD33}"/>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9332FA5-85C7-404C-9737-654080E807E0}"/>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44317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F1037A-0BEB-FB47-BFD1-78614EDFBC5A}"/>
              </a:ext>
            </a:extLst>
          </p:cNvPr>
          <p:cNvSpPr>
            <a:spLocks noGrp="1"/>
          </p:cNvSpPr>
          <p:nvPr>
            <p:ph type="dt" sz="half" idx="10"/>
          </p:nvPr>
        </p:nvSpPr>
        <p:spPr/>
        <p:txBody>
          <a:bodyPr/>
          <a:lstStyle/>
          <a:p>
            <a:fld id="{6700A58B-DD98-43D0-B791-721480A02982}" type="datetime1">
              <a:rPr lang="en-US" smtClean="0"/>
              <a:t>6/2/26</a:t>
            </a:fld>
            <a:endParaRPr lang="en-US"/>
          </a:p>
        </p:txBody>
      </p:sp>
      <p:sp>
        <p:nvSpPr>
          <p:cNvPr id="3" name="Title 2">
            <a:extLst>
              <a:ext uri="{FF2B5EF4-FFF2-40B4-BE49-F238E27FC236}">
                <a16:creationId xmlns:a16="http://schemas.microsoft.com/office/drawing/2014/main" id="{26BCF145-588B-BA4A-8D78-F7AD004B9798}"/>
              </a:ext>
            </a:extLst>
          </p:cNvPr>
          <p:cNvSpPr>
            <a:spLocks noGrp="1"/>
          </p:cNvSpPr>
          <p:nvPr>
            <p:ph type="title"/>
          </p:nvPr>
        </p:nvSpPr>
        <p:spPr/>
        <p:txBody>
          <a:bodyPr/>
          <a:lstStyle/>
          <a:p>
            <a:r>
              <a:rPr lang="en-US" dirty="0"/>
              <a:t>Let’s make some pyramids</a:t>
            </a:r>
          </a:p>
        </p:txBody>
      </p:sp>
      <p:sp>
        <p:nvSpPr>
          <p:cNvPr id="4" name="Footer Placeholder 3">
            <a:extLst>
              <a:ext uri="{FF2B5EF4-FFF2-40B4-BE49-F238E27FC236}">
                <a16:creationId xmlns:a16="http://schemas.microsoft.com/office/drawing/2014/main" id="{C975DB8A-6BC2-D546-9A79-0C0B4392EF6E}"/>
              </a:ext>
            </a:extLst>
          </p:cNvPr>
          <p:cNvSpPr>
            <a:spLocks noGrp="1"/>
          </p:cNvSpPr>
          <p:nvPr>
            <p:ph type="ftr" sz="quarter" idx="3"/>
          </p:nvPr>
        </p:nvSpPr>
        <p:spPr/>
        <p:txBody>
          <a:bodyPr/>
          <a:lstStyle/>
          <a:p>
            <a:r>
              <a:rPr lang="en-US"/>
              <a:t>Kwartler</a:t>
            </a:r>
            <a:endParaRPr lang="en-US" dirty="0"/>
          </a:p>
        </p:txBody>
      </p:sp>
      <p:sp>
        <p:nvSpPr>
          <p:cNvPr id="5" name="Slide Number Placeholder 4">
            <a:extLst>
              <a:ext uri="{FF2B5EF4-FFF2-40B4-BE49-F238E27FC236}">
                <a16:creationId xmlns:a16="http://schemas.microsoft.com/office/drawing/2014/main" id="{62A030C0-5576-7D4D-9DE3-7E6A87332B53}"/>
              </a:ext>
            </a:extLst>
          </p:cNvPr>
          <p:cNvSpPr>
            <a:spLocks noGrp="1"/>
          </p:cNvSpPr>
          <p:nvPr>
            <p:ph type="sldNum" sz="quarter" idx="4"/>
          </p:nvPr>
        </p:nvSpPr>
        <p:spPr/>
        <p:txBody>
          <a:bodyPr/>
          <a:lstStyle/>
          <a:p>
            <a:fld id="{37290FF7-652B-4475-AEAB-8B1A5D23AE09}" type="slidenum">
              <a:rPr lang="en-US" smtClean="0"/>
              <a:pPr/>
              <a:t>64</a:t>
            </a:fld>
            <a:endParaRPr lang="en-US" dirty="0"/>
          </a:p>
        </p:txBody>
      </p:sp>
      <p:pic>
        <p:nvPicPr>
          <p:cNvPr id="6" name="Picture 5">
            <a:extLst>
              <a:ext uri="{FF2B5EF4-FFF2-40B4-BE49-F238E27FC236}">
                <a16:creationId xmlns:a16="http://schemas.microsoft.com/office/drawing/2014/main" id="{D2F58D69-D46D-034A-91D9-5DBFD1B00627}"/>
              </a:ext>
            </a:extLst>
          </p:cNvPr>
          <p:cNvPicPr>
            <a:picLocks noChangeAspect="1"/>
          </p:cNvPicPr>
          <p:nvPr/>
        </p:nvPicPr>
        <p:blipFill>
          <a:blip r:embed="rId2"/>
          <a:stretch>
            <a:fillRect/>
          </a:stretch>
        </p:blipFill>
        <p:spPr>
          <a:xfrm>
            <a:off x="2921374" y="1331258"/>
            <a:ext cx="3811964" cy="4612341"/>
          </a:xfrm>
          <a:prstGeom prst="rect">
            <a:avLst/>
          </a:prstGeom>
        </p:spPr>
      </p:pic>
      <p:cxnSp>
        <p:nvCxnSpPr>
          <p:cNvPr id="7" name="Straight Connector 6">
            <a:extLst>
              <a:ext uri="{FF2B5EF4-FFF2-40B4-BE49-F238E27FC236}">
                <a16:creationId xmlns:a16="http://schemas.microsoft.com/office/drawing/2014/main" id="{0F24B951-0C0F-0647-95D1-7DFE37A3446A}"/>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47048EE-6D65-C548-9B77-52CAFD322556}"/>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50637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pPr/>
              <a:t>6/2/26</a:t>
            </a:fld>
            <a:endParaRPr lang="en-US"/>
          </a:p>
        </p:txBody>
      </p:sp>
      <p:sp>
        <p:nvSpPr>
          <p:cNvPr id="3" name="Title 2"/>
          <p:cNvSpPr>
            <a:spLocks noGrp="1"/>
          </p:cNvSpPr>
          <p:nvPr>
            <p:ph type="title"/>
          </p:nvPr>
        </p:nvSpPr>
        <p:spPr/>
        <p:txBody>
          <a:bodyPr/>
          <a:lstStyle/>
          <a:p>
            <a:r>
              <a:rPr lang="en-US" dirty="0"/>
              <a:t>Steps for a pyramid plot…collapse</a:t>
            </a:r>
          </a:p>
        </p:txBody>
      </p:sp>
      <p:sp>
        <p:nvSpPr>
          <p:cNvPr id="5" name="Footer Placeholder 4"/>
          <p:cNvSpPr>
            <a:spLocks noGrp="1"/>
          </p:cNvSpPr>
          <p:nvPr>
            <p:ph type="ftr" sz="quarter" idx="3"/>
          </p:nvPr>
        </p:nvSpPr>
        <p:spPr/>
        <p:txBody>
          <a:bodyPr/>
          <a:lstStyle/>
          <a:p>
            <a:r>
              <a:rPr lang="en-US"/>
              <a:t>Kwartler</a:t>
            </a:r>
            <a:endParaRPr lang="en-US" dirty="0"/>
          </a:p>
        </p:txBody>
      </p:sp>
      <p:sp>
        <p:nvSpPr>
          <p:cNvPr id="4" name="Slide Number Placeholder 3"/>
          <p:cNvSpPr>
            <a:spLocks noGrp="1"/>
          </p:cNvSpPr>
          <p:nvPr>
            <p:ph type="sldNum" sz="quarter" idx="4"/>
          </p:nvPr>
        </p:nvSpPr>
        <p:spPr/>
        <p:txBody>
          <a:bodyPr/>
          <a:lstStyle/>
          <a:p>
            <a:fld id="{37290FF7-652B-4475-AEAB-8B1A5D23AE09}" type="slidenum">
              <a:rPr lang="en-US" smtClean="0"/>
              <a:pPr/>
              <a:t>65</a:t>
            </a:fld>
            <a:endParaRPr lang="en-US"/>
          </a:p>
        </p:txBody>
      </p:sp>
      <p:cxnSp>
        <p:nvCxnSpPr>
          <p:cNvPr id="31" name="Straight Connector 30">
            <a:extLst>
              <a:ext uri="{FF2B5EF4-FFF2-40B4-BE49-F238E27FC236}">
                <a16:creationId xmlns:a16="http://schemas.microsoft.com/office/drawing/2014/main" id="{E72FB341-653C-6248-9A9E-A3560918CD17}"/>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48539B6-99A5-C54D-9A8A-091747261F08}"/>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3" name="Picture 2" descr="Image result for document icon">
            <a:extLst>
              <a:ext uri="{FF2B5EF4-FFF2-40B4-BE49-F238E27FC236}">
                <a16:creationId xmlns:a16="http://schemas.microsoft.com/office/drawing/2014/main" id="{FAA4598B-8347-B443-8BE4-C9929BE8FC2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40761" y="1862966"/>
            <a:ext cx="946096" cy="946096"/>
          </a:xfrm>
          <a:prstGeom prst="rect">
            <a:avLst/>
          </a:prstGeom>
          <a:noFill/>
          <a:extLst>
            <a:ext uri="{909E8E84-426E-40DD-AFC4-6F175D3DCCD1}">
              <a14:hiddenFill xmlns:a14="http://schemas.microsoft.com/office/drawing/2010/main">
                <a:solidFill>
                  <a:srgbClr val="FFFFFF"/>
                </a:solidFill>
              </a14:hiddenFill>
            </a:ext>
          </a:extLst>
        </p:spPr>
      </p:pic>
      <p:sp>
        <p:nvSpPr>
          <p:cNvPr id="34" name="TextBox 33">
            <a:extLst>
              <a:ext uri="{FF2B5EF4-FFF2-40B4-BE49-F238E27FC236}">
                <a16:creationId xmlns:a16="http://schemas.microsoft.com/office/drawing/2014/main" id="{C1854C67-4A43-5D4A-9922-AB4F18A2D374}"/>
              </a:ext>
            </a:extLst>
          </p:cNvPr>
          <p:cNvSpPr txBox="1"/>
          <p:nvPr/>
        </p:nvSpPr>
        <p:spPr>
          <a:xfrm>
            <a:off x="6306208" y="961242"/>
            <a:ext cx="2615203" cy="646331"/>
          </a:xfrm>
          <a:prstGeom prst="rect">
            <a:avLst/>
          </a:prstGeom>
          <a:noFill/>
        </p:spPr>
        <p:txBody>
          <a:bodyPr wrap="none" rtlCol="0">
            <a:spAutoFit/>
          </a:bodyPr>
          <a:lstStyle/>
          <a:p>
            <a:pPr algn="ctr"/>
            <a:r>
              <a:rPr lang="en-US" b="1" u="sng" dirty="0"/>
              <a:t>Combined/Collapsed </a:t>
            </a:r>
          </a:p>
          <a:p>
            <a:pPr algn="ctr"/>
            <a:r>
              <a:rPr lang="en-US" b="1" u="sng" dirty="0"/>
              <a:t>into a 2 document corpus</a:t>
            </a:r>
          </a:p>
        </p:txBody>
      </p:sp>
      <p:sp>
        <p:nvSpPr>
          <p:cNvPr id="35" name="TextBox 34">
            <a:extLst>
              <a:ext uri="{FF2B5EF4-FFF2-40B4-BE49-F238E27FC236}">
                <a16:creationId xmlns:a16="http://schemas.microsoft.com/office/drawing/2014/main" id="{97478C4C-9A81-144F-86AF-03EC15323DD2}"/>
              </a:ext>
            </a:extLst>
          </p:cNvPr>
          <p:cNvSpPr txBox="1"/>
          <p:nvPr/>
        </p:nvSpPr>
        <p:spPr>
          <a:xfrm>
            <a:off x="288146" y="1245022"/>
            <a:ext cx="2409121" cy="369332"/>
          </a:xfrm>
          <a:prstGeom prst="rect">
            <a:avLst/>
          </a:prstGeom>
          <a:noFill/>
        </p:spPr>
        <p:txBody>
          <a:bodyPr wrap="none" rtlCol="0">
            <a:spAutoFit/>
          </a:bodyPr>
          <a:lstStyle/>
          <a:p>
            <a:r>
              <a:rPr lang="en-US" b="1" u="sng" dirty="0" err="1"/>
              <a:t>CorpusA</a:t>
            </a:r>
            <a:r>
              <a:rPr lang="en-US" b="1" u="sng" dirty="0"/>
              <a:t> – 1000 Tweets</a:t>
            </a:r>
          </a:p>
        </p:txBody>
      </p:sp>
      <p:grpSp>
        <p:nvGrpSpPr>
          <p:cNvPr id="36" name="Group 35">
            <a:extLst>
              <a:ext uri="{FF2B5EF4-FFF2-40B4-BE49-F238E27FC236}">
                <a16:creationId xmlns:a16="http://schemas.microsoft.com/office/drawing/2014/main" id="{0F6B5C53-9DB3-7748-90D5-60484A9799B6}"/>
              </a:ext>
            </a:extLst>
          </p:cNvPr>
          <p:cNvGrpSpPr/>
          <p:nvPr/>
        </p:nvGrpSpPr>
        <p:grpSpPr>
          <a:xfrm>
            <a:off x="-1" y="1599580"/>
            <a:ext cx="3008243" cy="825575"/>
            <a:chOff x="2393494" y="2948152"/>
            <a:chExt cx="3008243" cy="825575"/>
          </a:xfrm>
        </p:grpSpPr>
        <p:grpSp>
          <p:nvGrpSpPr>
            <p:cNvPr id="37" name="Group 36">
              <a:extLst>
                <a:ext uri="{FF2B5EF4-FFF2-40B4-BE49-F238E27FC236}">
                  <a16:creationId xmlns:a16="http://schemas.microsoft.com/office/drawing/2014/main" id="{36E38639-F2B8-AB46-AECA-300D07A2ACA6}"/>
                </a:ext>
              </a:extLst>
            </p:cNvPr>
            <p:cNvGrpSpPr/>
            <p:nvPr/>
          </p:nvGrpSpPr>
          <p:grpSpPr>
            <a:xfrm>
              <a:off x="2511573" y="3074532"/>
              <a:ext cx="2736003" cy="572814"/>
              <a:chOff x="2538396" y="3039060"/>
              <a:chExt cx="2736003" cy="572814"/>
            </a:xfrm>
          </p:grpSpPr>
          <p:pic>
            <p:nvPicPr>
              <p:cNvPr id="39" name="Picture 2" descr="Image result for document icon">
                <a:extLst>
                  <a:ext uri="{FF2B5EF4-FFF2-40B4-BE49-F238E27FC236}">
                    <a16:creationId xmlns:a16="http://schemas.microsoft.com/office/drawing/2014/main" id="{6257AF65-A7DB-0940-B4E3-B53600111B3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66941" y="3039060"/>
                <a:ext cx="572814" cy="572814"/>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2" descr="Image result for document icon">
                <a:extLst>
                  <a:ext uri="{FF2B5EF4-FFF2-40B4-BE49-F238E27FC236}">
                    <a16:creationId xmlns:a16="http://schemas.microsoft.com/office/drawing/2014/main" id="{82F72F12-4728-6D4E-B28A-DBAF9180634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8396" y="3039060"/>
                <a:ext cx="572814" cy="572814"/>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Image result for document icon">
                <a:extLst>
                  <a:ext uri="{FF2B5EF4-FFF2-40B4-BE49-F238E27FC236}">
                    <a16:creationId xmlns:a16="http://schemas.microsoft.com/office/drawing/2014/main" id="{DC9B2EBE-7C7E-014A-8FCF-FE0499E4266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01585" y="3039060"/>
                <a:ext cx="572814" cy="572814"/>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2" descr="Image result for document icon">
                <a:extLst>
                  <a:ext uri="{FF2B5EF4-FFF2-40B4-BE49-F238E27FC236}">
                    <a16:creationId xmlns:a16="http://schemas.microsoft.com/office/drawing/2014/main" id="{059BCB82-09C6-0F44-89F2-D166B996361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86293" y="3039060"/>
                <a:ext cx="572814" cy="572814"/>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2" descr="Image result for document icon">
                <a:extLst>
                  <a:ext uri="{FF2B5EF4-FFF2-40B4-BE49-F238E27FC236}">
                    <a16:creationId xmlns:a16="http://schemas.microsoft.com/office/drawing/2014/main" id="{777F27E4-6717-6A45-8485-76A25A22EDF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26617" y="3039060"/>
                <a:ext cx="572814" cy="572814"/>
              </a:xfrm>
              <a:prstGeom prst="rect">
                <a:avLst/>
              </a:prstGeom>
              <a:noFill/>
              <a:extLst>
                <a:ext uri="{909E8E84-426E-40DD-AFC4-6F175D3DCCD1}">
                  <a14:hiddenFill xmlns:a14="http://schemas.microsoft.com/office/drawing/2010/main">
                    <a:solidFill>
                      <a:srgbClr val="FFFFFF"/>
                    </a:solidFill>
                  </a14:hiddenFill>
                </a:ext>
              </a:extLst>
            </p:spPr>
          </p:pic>
        </p:grpSp>
        <p:sp>
          <p:nvSpPr>
            <p:cNvPr id="38" name="Rounded Rectangle 37">
              <a:extLst>
                <a:ext uri="{FF2B5EF4-FFF2-40B4-BE49-F238E27FC236}">
                  <a16:creationId xmlns:a16="http://schemas.microsoft.com/office/drawing/2014/main" id="{0003D47B-4624-5A4F-8393-BEC973C5FF30}"/>
                </a:ext>
              </a:extLst>
            </p:cNvPr>
            <p:cNvSpPr/>
            <p:nvPr/>
          </p:nvSpPr>
          <p:spPr>
            <a:xfrm>
              <a:off x="2393494" y="2948152"/>
              <a:ext cx="3008243" cy="825575"/>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4" name="TextBox 43">
            <a:extLst>
              <a:ext uri="{FF2B5EF4-FFF2-40B4-BE49-F238E27FC236}">
                <a16:creationId xmlns:a16="http://schemas.microsoft.com/office/drawing/2014/main" id="{56C88CC2-701D-D045-8BA7-5DD700A1837A}"/>
              </a:ext>
            </a:extLst>
          </p:cNvPr>
          <p:cNvSpPr txBox="1"/>
          <p:nvPr/>
        </p:nvSpPr>
        <p:spPr>
          <a:xfrm>
            <a:off x="292955" y="3187610"/>
            <a:ext cx="2399503" cy="369332"/>
          </a:xfrm>
          <a:prstGeom prst="rect">
            <a:avLst/>
          </a:prstGeom>
          <a:noFill/>
        </p:spPr>
        <p:txBody>
          <a:bodyPr wrap="none" rtlCol="0">
            <a:spAutoFit/>
          </a:bodyPr>
          <a:lstStyle/>
          <a:p>
            <a:r>
              <a:rPr lang="en-US" b="1" u="sng" dirty="0" err="1"/>
              <a:t>CorpusB</a:t>
            </a:r>
            <a:r>
              <a:rPr lang="en-US" b="1" u="sng" dirty="0"/>
              <a:t> – 1000 Tweets</a:t>
            </a:r>
          </a:p>
        </p:txBody>
      </p:sp>
      <p:sp>
        <p:nvSpPr>
          <p:cNvPr id="45" name="Right Arrow 44">
            <a:extLst>
              <a:ext uri="{FF2B5EF4-FFF2-40B4-BE49-F238E27FC236}">
                <a16:creationId xmlns:a16="http://schemas.microsoft.com/office/drawing/2014/main" id="{EDAAC564-908C-B74D-BFF9-C24BC3729652}"/>
              </a:ext>
            </a:extLst>
          </p:cNvPr>
          <p:cNvSpPr/>
          <p:nvPr/>
        </p:nvSpPr>
        <p:spPr>
          <a:xfrm>
            <a:off x="3151392" y="1647844"/>
            <a:ext cx="3058511" cy="693683"/>
          </a:xfrm>
          <a:prstGeom prst="rightArrow">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Clean &amp; Collapse</a:t>
            </a:r>
          </a:p>
        </p:txBody>
      </p:sp>
      <p:sp>
        <p:nvSpPr>
          <p:cNvPr id="46" name="Right Arrow 45">
            <a:extLst>
              <a:ext uri="{FF2B5EF4-FFF2-40B4-BE49-F238E27FC236}">
                <a16:creationId xmlns:a16="http://schemas.microsoft.com/office/drawing/2014/main" id="{69BE1500-E962-B948-B842-7DFBC3D372FA}"/>
              </a:ext>
            </a:extLst>
          </p:cNvPr>
          <p:cNvSpPr/>
          <p:nvPr/>
        </p:nvSpPr>
        <p:spPr>
          <a:xfrm>
            <a:off x="3124888" y="3567127"/>
            <a:ext cx="3058511" cy="693683"/>
          </a:xfrm>
          <a:prstGeom prst="rightArrow">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Clean &amp; Collapse</a:t>
            </a:r>
          </a:p>
        </p:txBody>
      </p:sp>
      <p:pic>
        <p:nvPicPr>
          <p:cNvPr id="48" name="Picture 2" descr="Image result for document icon">
            <a:extLst>
              <a:ext uri="{FF2B5EF4-FFF2-40B4-BE49-F238E27FC236}">
                <a16:creationId xmlns:a16="http://schemas.microsoft.com/office/drawing/2014/main" id="{BC0BBD39-3804-644A-9214-79281731474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140761" y="3466909"/>
            <a:ext cx="946096" cy="946096"/>
          </a:xfrm>
          <a:prstGeom prst="rect">
            <a:avLst/>
          </a:prstGeom>
          <a:noFill/>
          <a:extLst>
            <a:ext uri="{909E8E84-426E-40DD-AFC4-6F175D3DCCD1}">
              <a14:hiddenFill xmlns:a14="http://schemas.microsoft.com/office/drawing/2010/main">
                <a:solidFill>
                  <a:srgbClr val="FFFFFF"/>
                </a:solidFill>
              </a14:hiddenFill>
            </a:ext>
          </a:extLst>
        </p:spPr>
      </p:pic>
      <p:grpSp>
        <p:nvGrpSpPr>
          <p:cNvPr id="49" name="Group 48">
            <a:extLst>
              <a:ext uri="{FF2B5EF4-FFF2-40B4-BE49-F238E27FC236}">
                <a16:creationId xmlns:a16="http://schemas.microsoft.com/office/drawing/2014/main" id="{B63E4FE4-0CBE-394E-8B62-6904597FBAC3}"/>
              </a:ext>
            </a:extLst>
          </p:cNvPr>
          <p:cNvGrpSpPr/>
          <p:nvPr/>
        </p:nvGrpSpPr>
        <p:grpSpPr>
          <a:xfrm>
            <a:off x="0" y="3527766"/>
            <a:ext cx="3008243" cy="825575"/>
            <a:chOff x="2393494" y="2948152"/>
            <a:chExt cx="3008243" cy="825575"/>
          </a:xfrm>
        </p:grpSpPr>
        <p:grpSp>
          <p:nvGrpSpPr>
            <p:cNvPr id="50" name="Group 49">
              <a:extLst>
                <a:ext uri="{FF2B5EF4-FFF2-40B4-BE49-F238E27FC236}">
                  <a16:creationId xmlns:a16="http://schemas.microsoft.com/office/drawing/2014/main" id="{C64D5B50-8290-2442-AF1D-B231EBB0C15C}"/>
                </a:ext>
              </a:extLst>
            </p:cNvPr>
            <p:cNvGrpSpPr/>
            <p:nvPr/>
          </p:nvGrpSpPr>
          <p:grpSpPr>
            <a:xfrm>
              <a:off x="2511573" y="3074532"/>
              <a:ext cx="2736003" cy="572814"/>
              <a:chOff x="2538396" y="3039060"/>
              <a:chExt cx="2736003" cy="572814"/>
            </a:xfrm>
          </p:grpSpPr>
          <p:pic>
            <p:nvPicPr>
              <p:cNvPr id="52" name="Picture 2" descr="Image result for document icon">
                <a:extLst>
                  <a:ext uri="{FF2B5EF4-FFF2-40B4-BE49-F238E27FC236}">
                    <a16:creationId xmlns:a16="http://schemas.microsoft.com/office/drawing/2014/main" id="{9326BF45-EF92-8F4E-BDFE-034184B7617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66941" y="3039060"/>
                <a:ext cx="572814" cy="572814"/>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2" descr="Image result for document icon">
                <a:extLst>
                  <a:ext uri="{FF2B5EF4-FFF2-40B4-BE49-F238E27FC236}">
                    <a16:creationId xmlns:a16="http://schemas.microsoft.com/office/drawing/2014/main" id="{EBE3F40B-36D9-F84E-AE09-F2F64E7B017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8396" y="3039060"/>
                <a:ext cx="572814" cy="572814"/>
              </a:xfrm>
              <a:prstGeom prst="rect">
                <a:avLst/>
              </a:prstGeom>
              <a:noFill/>
              <a:extLst>
                <a:ext uri="{909E8E84-426E-40DD-AFC4-6F175D3DCCD1}">
                  <a14:hiddenFill xmlns:a14="http://schemas.microsoft.com/office/drawing/2010/main">
                    <a:solidFill>
                      <a:srgbClr val="FFFFFF"/>
                    </a:solidFill>
                  </a14:hiddenFill>
                </a:ext>
              </a:extLst>
            </p:spPr>
          </p:pic>
          <p:pic>
            <p:nvPicPr>
              <p:cNvPr id="54" name="Picture 2" descr="Image result for document icon">
                <a:extLst>
                  <a:ext uri="{FF2B5EF4-FFF2-40B4-BE49-F238E27FC236}">
                    <a16:creationId xmlns:a16="http://schemas.microsoft.com/office/drawing/2014/main" id="{9349C949-69F0-EC44-AA4D-B2A86077284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01585" y="3039060"/>
                <a:ext cx="572814" cy="572814"/>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2" descr="Image result for document icon">
                <a:extLst>
                  <a:ext uri="{FF2B5EF4-FFF2-40B4-BE49-F238E27FC236}">
                    <a16:creationId xmlns:a16="http://schemas.microsoft.com/office/drawing/2014/main" id="{E64711B7-EA5F-484A-9F67-7CDDAB3D5AE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86293" y="3039060"/>
                <a:ext cx="572814" cy="572814"/>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2" descr="Image result for document icon">
                <a:extLst>
                  <a:ext uri="{FF2B5EF4-FFF2-40B4-BE49-F238E27FC236}">
                    <a16:creationId xmlns:a16="http://schemas.microsoft.com/office/drawing/2014/main" id="{5C9B18C8-C855-164A-B1E0-7EC62A107C6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26617" y="3039060"/>
                <a:ext cx="572814" cy="572814"/>
              </a:xfrm>
              <a:prstGeom prst="rect">
                <a:avLst/>
              </a:prstGeom>
              <a:noFill/>
              <a:extLst>
                <a:ext uri="{909E8E84-426E-40DD-AFC4-6F175D3DCCD1}">
                  <a14:hiddenFill xmlns:a14="http://schemas.microsoft.com/office/drawing/2010/main">
                    <a:solidFill>
                      <a:srgbClr val="FFFFFF"/>
                    </a:solidFill>
                  </a14:hiddenFill>
                </a:ext>
              </a:extLst>
            </p:spPr>
          </p:pic>
        </p:grpSp>
        <p:sp>
          <p:nvSpPr>
            <p:cNvPr id="51" name="Rounded Rectangle 50">
              <a:extLst>
                <a:ext uri="{FF2B5EF4-FFF2-40B4-BE49-F238E27FC236}">
                  <a16:creationId xmlns:a16="http://schemas.microsoft.com/office/drawing/2014/main" id="{3CB69C6D-5AD9-DD48-BAC9-3409E32ED91D}"/>
                </a:ext>
              </a:extLst>
            </p:cNvPr>
            <p:cNvSpPr/>
            <p:nvPr/>
          </p:nvSpPr>
          <p:spPr>
            <a:xfrm>
              <a:off x="2393494" y="2948152"/>
              <a:ext cx="3008243" cy="825575"/>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0" name="Freeform 59">
            <a:extLst>
              <a:ext uri="{FF2B5EF4-FFF2-40B4-BE49-F238E27FC236}">
                <a16:creationId xmlns:a16="http://schemas.microsoft.com/office/drawing/2014/main" id="{57FAEF91-9CFC-AD4D-BF0B-8FCD6DAAD1E7}"/>
              </a:ext>
            </a:extLst>
          </p:cNvPr>
          <p:cNvSpPr/>
          <p:nvPr/>
        </p:nvSpPr>
        <p:spPr>
          <a:xfrm>
            <a:off x="7137968" y="3064971"/>
            <a:ext cx="951679" cy="284350"/>
          </a:xfrm>
          <a:custGeom>
            <a:avLst/>
            <a:gdLst>
              <a:gd name="connsiteX0" fmla="*/ 475838 w 951679"/>
              <a:gd name="connsiteY0" fmla="*/ 0 h 284350"/>
              <a:gd name="connsiteX1" fmla="*/ 816422 w 951679"/>
              <a:gd name="connsiteY1" fmla="*/ 68761 h 284350"/>
              <a:gd name="connsiteX2" fmla="*/ 951679 w 951679"/>
              <a:gd name="connsiteY2" fmla="*/ 142176 h 284350"/>
              <a:gd name="connsiteX3" fmla="*/ 816424 w 951679"/>
              <a:gd name="connsiteY3" fmla="*/ 215589 h 284350"/>
              <a:gd name="connsiteX4" fmla="*/ 475840 w 951679"/>
              <a:gd name="connsiteY4" fmla="*/ 284350 h 284350"/>
              <a:gd name="connsiteX5" fmla="*/ 135256 w 951679"/>
              <a:gd name="connsiteY5" fmla="*/ 215589 h 284350"/>
              <a:gd name="connsiteX6" fmla="*/ 0 w 951679"/>
              <a:gd name="connsiteY6" fmla="*/ 142175 h 284350"/>
              <a:gd name="connsiteX7" fmla="*/ 135254 w 951679"/>
              <a:gd name="connsiteY7" fmla="*/ 68761 h 284350"/>
              <a:gd name="connsiteX8" fmla="*/ 475838 w 951679"/>
              <a:gd name="connsiteY8" fmla="*/ 0 h 284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1679" h="284350">
                <a:moveTo>
                  <a:pt x="475838" y="0"/>
                </a:moveTo>
                <a:cubicBezTo>
                  <a:pt x="596648" y="0"/>
                  <a:pt x="711740" y="24484"/>
                  <a:pt x="816422" y="68761"/>
                </a:cubicBezTo>
                <a:lnTo>
                  <a:pt x="951679" y="142176"/>
                </a:lnTo>
                <a:lnTo>
                  <a:pt x="816424" y="215589"/>
                </a:lnTo>
                <a:cubicBezTo>
                  <a:pt x="711742" y="259866"/>
                  <a:pt x="596650" y="284350"/>
                  <a:pt x="475840" y="284350"/>
                </a:cubicBezTo>
                <a:cubicBezTo>
                  <a:pt x="355030" y="284350"/>
                  <a:pt x="239938" y="259866"/>
                  <a:pt x="135256" y="215589"/>
                </a:cubicBezTo>
                <a:lnTo>
                  <a:pt x="0" y="142175"/>
                </a:lnTo>
                <a:lnTo>
                  <a:pt x="135254" y="68761"/>
                </a:lnTo>
                <a:cubicBezTo>
                  <a:pt x="239936" y="24484"/>
                  <a:pt x="355028" y="0"/>
                  <a:pt x="475838" y="0"/>
                </a:cubicBezTo>
                <a:close/>
              </a:path>
            </a:pathLst>
          </a:cu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Freeform 58">
            <a:extLst>
              <a:ext uri="{FF2B5EF4-FFF2-40B4-BE49-F238E27FC236}">
                <a16:creationId xmlns:a16="http://schemas.microsoft.com/office/drawing/2014/main" id="{1793ACF0-065E-2B41-8447-275DA6A74717}"/>
              </a:ext>
            </a:extLst>
          </p:cNvPr>
          <p:cNvSpPr/>
          <p:nvPr/>
        </p:nvSpPr>
        <p:spPr>
          <a:xfrm>
            <a:off x="6738821" y="1599349"/>
            <a:ext cx="1749972" cy="1607798"/>
          </a:xfrm>
          <a:custGeom>
            <a:avLst/>
            <a:gdLst>
              <a:gd name="connsiteX0" fmla="*/ 874986 w 1749972"/>
              <a:gd name="connsiteY0" fmla="*/ 0 h 1607798"/>
              <a:gd name="connsiteX1" fmla="*/ 1749972 w 1749972"/>
              <a:gd name="connsiteY1" fmla="*/ 874986 h 1607798"/>
              <a:gd name="connsiteX2" fmla="*/ 1364199 w 1749972"/>
              <a:gd name="connsiteY2" fmla="*/ 1600538 h 1607798"/>
              <a:gd name="connsiteX3" fmla="*/ 1350825 w 1749972"/>
              <a:gd name="connsiteY3" fmla="*/ 1607798 h 1607798"/>
              <a:gd name="connsiteX4" fmla="*/ 1215568 w 1749972"/>
              <a:gd name="connsiteY4" fmla="*/ 1534383 h 1607798"/>
              <a:gd name="connsiteX5" fmla="*/ 874984 w 1749972"/>
              <a:gd name="connsiteY5" fmla="*/ 1465622 h 1607798"/>
              <a:gd name="connsiteX6" fmla="*/ 534400 w 1749972"/>
              <a:gd name="connsiteY6" fmla="*/ 1534383 h 1607798"/>
              <a:gd name="connsiteX7" fmla="*/ 399146 w 1749972"/>
              <a:gd name="connsiteY7" fmla="*/ 1607797 h 1607798"/>
              <a:gd name="connsiteX8" fmla="*/ 385773 w 1749972"/>
              <a:gd name="connsiteY8" fmla="*/ 1600538 h 1607798"/>
              <a:gd name="connsiteX9" fmla="*/ 0 w 1749972"/>
              <a:gd name="connsiteY9" fmla="*/ 874986 h 1607798"/>
              <a:gd name="connsiteX10" fmla="*/ 874986 w 1749972"/>
              <a:gd name="connsiteY10" fmla="*/ 0 h 1607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49972" h="1607798">
                <a:moveTo>
                  <a:pt x="874986" y="0"/>
                </a:moveTo>
                <a:cubicBezTo>
                  <a:pt x="1358227" y="0"/>
                  <a:pt x="1749972" y="391745"/>
                  <a:pt x="1749972" y="874986"/>
                </a:cubicBezTo>
                <a:cubicBezTo>
                  <a:pt x="1749972" y="1177012"/>
                  <a:pt x="1596947" y="1443297"/>
                  <a:pt x="1364199" y="1600538"/>
                </a:cubicBezTo>
                <a:lnTo>
                  <a:pt x="1350825" y="1607798"/>
                </a:lnTo>
                <a:lnTo>
                  <a:pt x="1215568" y="1534383"/>
                </a:lnTo>
                <a:cubicBezTo>
                  <a:pt x="1110886" y="1490106"/>
                  <a:pt x="995794" y="1465622"/>
                  <a:pt x="874984" y="1465622"/>
                </a:cubicBezTo>
                <a:cubicBezTo>
                  <a:pt x="754174" y="1465622"/>
                  <a:pt x="639082" y="1490106"/>
                  <a:pt x="534400" y="1534383"/>
                </a:cubicBezTo>
                <a:lnTo>
                  <a:pt x="399146" y="1607797"/>
                </a:lnTo>
                <a:lnTo>
                  <a:pt x="385773" y="1600538"/>
                </a:lnTo>
                <a:cubicBezTo>
                  <a:pt x="153026" y="1443297"/>
                  <a:pt x="0" y="1177012"/>
                  <a:pt x="0" y="874986"/>
                </a:cubicBezTo>
                <a:cubicBezTo>
                  <a:pt x="0" y="391745"/>
                  <a:pt x="391745" y="0"/>
                  <a:pt x="874986" y="0"/>
                </a:cubicBezTo>
                <a:close/>
              </a:path>
            </a:pathLst>
          </a:cu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8" name="Freeform 57">
            <a:extLst>
              <a:ext uri="{FF2B5EF4-FFF2-40B4-BE49-F238E27FC236}">
                <a16:creationId xmlns:a16="http://schemas.microsoft.com/office/drawing/2014/main" id="{82EDB2A3-D547-DF48-92F6-3A81939DF3F7}"/>
              </a:ext>
            </a:extLst>
          </p:cNvPr>
          <p:cNvSpPr/>
          <p:nvPr/>
        </p:nvSpPr>
        <p:spPr>
          <a:xfrm>
            <a:off x="6738819" y="3220025"/>
            <a:ext cx="1749972" cy="1607797"/>
          </a:xfrm>
          <a:custGeom>
            <a:avLst/>
            <a:gdLst>
              <a:gd name="connsiteX0" fmla="*/ 399148 w 1749972"/>
              <a:gd name="connsiteY0" fmla="*/ 0 h 1607797"/>
              <a:gd name="connsiteX1" fmla="*/ 534404 w 1749972"/>
              <a:gd name="connsiteY1" fmla="*/ 73414 h 1607797"/>
              <a:gd name="connsiteX2" fmla="*/ 874988 w 1749972"/>
              <a:gd name="connsiteY2" fmla="*/ 142175 h 1607797"/>
              <a:gd name="connsiteX3" fmla="*/ 1215572 w 1749972"/>
              <a:gd name="connsiteY3" fmla="*/ 73414 h 1607797"/>
              <a:gd name="connsiteX4" fmla="*/ 1350827 w 1749972"/>
              <a:gd name="connsiteY4" fmla="*/ 1 h 1607797"/>
              <a:gd name="connsiteX5" fmla="*/ 1364199 w 1749972"/>
              <a:gd name="connsiteY5" fmla="*/ 7259 h 1607797"/>
              <a:gd name="connsiteX6" fmla="*/ 1749972 w 1749972"/>
              <a:gd name="connsiteY6" fmla="*/ 732811 h 1607797"/>
              <a:gd name="connsiteX7" fmla="*/ 874986 w 1749972"/>
              <a:gd name="connsiteY7" fmla="*/ 1607797 h 1607797"/>
              <a:gd name="connsiteX8" fmla="*/ 0 w 1749972"/>
              <a:gd name="connsiteY8" fmla="*/ 732811 h 1607797"/>
              <a:gd name="connsiteX9" fmla="*/ 385773 w 1749972"/>
              <a:gd name="connsiteY9" fmla="*/ 7259 h 1607797"/>
              <a:gd name="connsiteX10" fmla="*/ 399148 w 1749972"/>
              <a:gd name="connsiteY10" fmla="*/ 0 h 1607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49972" h="1607797">
                <a:moveTo>
                  <a:pt x="399148" y="0"/>
                </a:moveTo>
                <a:lnTo>
                  <a:pt x="534404" y="73414"/>
                </a:lnTo>
                <a:cubicBezTo>
                  <a:pt x="639086" y="117691"/>
                  <a:pt x="754178" y="142175"/>
                  <a:pt x="874988" y="142175"/>
                </a:cubicBezTo>
                <a:cubicBezTo>
                  <a:pt x="995798" y="142175"/>
                  <a:pt x="1110890" y="117691"/>
                  <a:pt x="1215572" y="73414"/>
                </a:cubicBezTo>
                <a:lnTo>
                  <a:pt x="1350827" y="1"/>
                </a:lnTo>
                <a:lnTo>
                  <a:pt x="1364199" y="7259"/>
                </a:lnTo>
                <a:cubicBezTo>
                  <a:pt x="1596947" y="164501"/>
                  <a:pt x="1749972" y="430786"/>
                  <a:pt x="1749972" y="732811"/>
                </a:cubicBezTo>
                <a:cubicBezTo>
                  <a:pt x="1749972" y="1216052"/>
                  <a:pt x="1358227" y="1607797"/>
                  <a:pt x="874986" y="1607797"/>
                </a:cubicBezTo>
                <a:cubicBezTo>
                  <a:pt x="391745" y="1607797"/>
                  <a:pt x="0" y="1216052"/>
                  <a:pt x="0" y="732811"/>
                </a:cubicBezTo>
                <a:cubicBezTo>
                  <a:pt x="0" y="430786"/>
                  <a:pt x="153026" y="164501"/>
                  <a:pt x="385773" y="7259"/>
                </a:cubicBezTo>
                <a:lnTo>
                  <a:pt x="399148" y="0"/>
                </a:lnTo>
                <a:close/>
              </a:path>
            </a:pathLst>
          </a:cu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14833336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reeform 13"/>
          <p:cNvSpPr/>
          <p:nvPr/>
        </p:nvSpPr>
        <p:spPr>
          <a:xfrm>
            <a:off x="634030" y="3639590"/>
            <a:ext cx="1044217" cy="1922633"/>
          </a:xfrm>
          <a:custGeom>
            <a:avLst/>
            <a:gdLst>
              <a:gd name="connsiteX0" fmla="*/ 522109 w 1044217"/>
              <a:gd name="connsiteY0" fmla="*/ 0 h 1922633"/>
              <a:gd name="connsiteX1" fmla="*/ 538328 w 1044217"/>
              <a:gd name="connsiteY1" fmla="*/ 9853 h 1922633"/>
              <a:gd name="connsiteX2" fmla="*/ 1044217 w 1044217"/>
              <a:gd name="connsiteY2" fmla="*/ 961316 h 1922633"/>
              <a:gd name="connsiteX3" fmla="*/ 538328 w 1044217"/>
              <a:gd name="connsiteY3" fmla="*/ 1912779 h 1922633"/>
              <a:gd name="connsiteX4" fmla="*/ 522109 w 1044217"/>
              <a:gd name="connsiteY4" fmla="*/ 1922633 h 1922633"/>
              <a:gd name="connsiteX5" fmla="*/ 505889 w 1044217"/>
              <a:gd name="connsiteY5" fmla="*/ 1912779 h 1922633"/>
              <a:gd name="connsiteX6" fmla="*/ 0 w 1044217"/>
              <a:gd name="connsiteY6" fmla="*/ 961316 h 1922633"/>
              <a:gd name="connsiteX7" fmla="*/ 505889 w 1044217"/>
              <a:gd name="connsiteY7" fmla="*/ 9853 h 192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4217" h="1922633">
                <a:moveTo>
                  <a:pt x="522109" y="0"/>
                </a:moveTo>
                <a:lnTo>
                  <a:pt x="538328" y="9853"/>
                </a:lnTo>
                <a:cubicBezTo>
                  <a:pt x="843545" y="216054"/>
                  <a:pt x="1044217" y="565251"/>
                  <a:pt x="1044217" y="961316"/>
                </a:cubicBezTo>
                <a:cubicBezTo>
                  <a:pt x="1044217" y="1357382"/>
                  <a:pt x="843545" y="1706578"/>
                  <a:pt x="538328" y="1912779"/>
                </a:cubicBezTo>
                <a:lnTo>
                  <a:pt x="522109" y="1922633"/>
                </a:lnTo>
                <a:lnTo>
                  <a:pt x="505889" y="1912779"/>
                </a:lnTo>
                <a:cubicBezTo>
                  <a:pt x="200672" y="1706578"/>
                  <a:pt x="0" y="1357382"/>
                  <a:pt x="0" y="961316"/>
                </a:cubicBezTo>
                <a:cubicBezTo>
                  <a:pt x="0" y="565251"/>
                  <a:pt x="200672" y="216054"/>
                  <a:pt x="505889" y="9853"/>
                </a:cubicBezTo>
                <a:close/>
              </a:path>
            </a:pathLst>
          </a:custGeom>
          <a:solidFill>
            <a:srgbClr val="FFC000"/>
          </a:solid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defTabSz="457200"/>
            <a:endParaRPr lang="en-US" sz="1800" kern="1200" dirty="0">
              <a:solidFill>
                <a:prstClr val="white"/>
              </a:solidFill>
              <a:latin typeface="Arial Unicode MS" panose="020B0604020202020204" pitchFamily="34" charset="-128"/>
            </a:endParaRPr>
          </a:p>
        </p:txBody>
      </p:sp>
      <p:sp>
        <p:nvSpPr>
          <p:cNvPr id="13" name="Freeform 12"/>
          <p:cNvSpPr/>
          <p:nvPr/>
        </p:nvSpPr>
        <p:spPr>
          <a:xfrm>
            <a:off x="623520" y="1421907"/>
            <a:ext cx="1044217" cy="1922633"/>
          </a:xfrm>
          <a:custGeom>
            <a:avLst/>
            <a:gdLst>
              <a:gd name="connsiteX0" fmla="*/ 522109 w 1044217"/>
              <a:gd name="connsiteY0" fmla="*/ 0 h 1922633"/>
              <a:gd name="connsiteX1" fmla="*/ 538328 w 1044217"/>
              <a:gd name="connsiteY1" fmla="*/ 9853 h 1922633"/>
              <a:gd name="connsiteX2" fmla="*/ 1044217 w 1044217"/>
              <a:gd name="connsiteY2" fmla="*/ 961316 h 1922633"/>
              <a:gd name="connsiteX3" fmla="*/ 538328 w 1044217"/>
              <a:gd name="connsiteY3" fmla="*/ 1912779 h 1922633"/>
              <a:gd name="connsiteX4" fmla="*/ 522109 w 1044217"/>
              <a:gd name="connsiteY4" fmla="*/ 1922633 h 1922633"/>
              <a:gd name="connsiteX5" fmla="*/ 505889 w 1044217"/>
              <a:gd name="connsiteY5" fmla="*/ 1912779 h 1922633"/>
              <a:gd name="connsiteX6" fmla="*/ 0 w 1044217"/>
              <a:gd name="connsiteY6" fmla="*/ 961316 h 1922633"/>
              <a:gd name="connsiteX7" fmla="*/ 505889 w 1044217"/>
              <a:gd name="connsiteY7" fmla="*/ 9853 h 192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4217" h="1922633">
                <a:moveTo>
                  <a:pt x="522109" y="0"/>
                </a:moveTo>
                <a:lnTo>
                  <a:pt x="538328" y="9853"/>
                </a:lnTo>
                <a:cubicBezTo>
                  <a:pt x="843545" y="216054"/>
                  <a:pt x="1044217" y="565251"/>
                  <a:pt x="1044217" y="961316"/>
                </a:cubicBezTo>
                <a:cubicBezTo>
                  <a:pt x="1044217" y="1357382"/>
                  <a:pt x="843545" y="1706578"/>
                  <a:pt x="538328" y="1912779"/>
                </a:cubicBezTo>
                <a:lnTo>
                  <a:pt x="522109" y="1922633"/>
                </a:lnTo>
                <a:lnTo>
                  <a:pt x="505889" y="1912779"/>
                </a:lnTo>
                <a:cubicBezTo>
                  <a:pt x="200672" y="1706578"/>
                  <a:pt x="0" y="1357382"/>
                  <a:pt x="0" y="961316"/>
                </a:cubicBezTo>
                <a:cubicBezTo>
                  <a:pt x="0" y="565251"/>
                  <a:pt x="200672" y="216054"/>
                  <a:pt x="505889" y="9853"/>
                </a:cubicBezTo>
                <a:close/>
              </a:path>
            </a:pathLst>
          </a:custGeom>
          <a:solidFill>
            <a:srgbClr val="FFC000"/>
          </a:solid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defTabSz="457200"/>
            <a:endParaRPr lang="en-US" sz="1800" kern="1200" dirty="0">
              <a:solidFill>
                <a:prstClr val="white"/>
              </a:solidFill>
              <a:latin typeface="Arial Unicode MS" panose="020B0604020202020204" pitchFamily="34" charset="-128"/>
            </a:endParaRPr>
          </a:p>
        </p:txBody>
      </p:sp>
      <p:sp>
        <p:nvSpPr>
          <p:cNvPr id="2" name="Date Placeholder 1"/>
          <p:cNvSpPr>
            <a:spLocks noGrp="1"/>
          </p:cNvSpPr>
          <p:nvPr>
            <p:ph type="dt" sz="half" idx="10"/>
          </p:nvPr>
        </p:nvSpPr>
        <p:spPr/>
        <p:txBody>
          <a:bodyPr/>
          <a:lstStyle/>
          <a:p>
            <a:fld id="{6700A58B-DD98-43D0-B791-721480A02982}" type="datetime1">
              <a:rPr lang="en-US" smtClean="0"/>
              <a:t>6/2/26</a:t>
            </a:fld>
            <a:endParaRPr lang="en-US"/>
          </a:p>
        </p:txBody>
      </p:sp>
      <p:sp>
        <p:nvSpPr>
          <p:cNvPr id="3" name="Title 2"/>
          <p:cNvSpPr>
            <a:spLocks noGrp="1"/>
          </p:cNvSpPr>
          <p:nvPr>
            <p:ph type="title"/>
          </p:nvPr>
        </p:nvSpPr>
        <p:spPr>
          <a:xfrm>
            <a:off x="268013" y="112876"/>
            <a:ext cx="8576441" cy="591477"/>
          </a:xfrm>
        </p:spPr>
        <p:txBody>
          <a:bodyPr/>
          <a:lstStyle/>
          <a:p>
            <a:r>
              <a:rPr lang="en-US" dirty="0"/>
              <a:t>Steps for a pyramid plot…ID common tokens &amp; frequency</a:t>
            </a:r>
          </a:p>
        </p:txBody>
      </p:sp>
      <p:sp>
        <p:nvSpPr>
          <p:cNvPr id="4" name="Footer Placeholder 3"/>
          <p:cNvSpPr>
            <a:spLocks noGrp="1"/>
          </p:cNvSpPr>
          <p:nvPr>
            <p:ph type="ftr" sz="quarter" idx="3"/>
          </p:nvPr>
        </p:nvSpPr>
        <p:spPr/>
        <p:txBody>
          <a:bodyPr/>
          <a:lstStyle/>
          <a:p>
            <a:r>
              <a:rPr lang="en-US"/>
              <a:t>Kwartler</a:t>
            </a:r>
            <a:endParaRPr lang="en-US" dirty="0"/>
          </a:p>
        </p:txBody>
      </p:sp>
      <p:sp>
        <p:nvSpPr>
          <p:cNvPr id="5" name="Slide Number Placeholder 4"/>
          <p:cNvSpPr>
            <a:spLocks noGrp="1"/>
          </p:cNvSpPr>
          <p:nvPr>
            <p:ph type="sldNum" sz="quarter" idx="4"/>
          </p:nvPr>
        </p:nvSpPr>
        <p:spPr/>
        <p:txBody>
          <a:bodyPr/>
          <a:lstStyle/>
          <a:p>
            <a:fld id="{37290FF7-652B-4475-AEAB-8B1A5D23AE09}" type="slidenum">
              <a:rPr lang="en-US" smtClean="0"/>
              <a:pPr/>
              <a:t>66</a:t>
            </a:fld>
            <a:endParaRPr lang="en-US" dirty="0"/>
          </a:p>
        </p:txBody>
      </p:sp>
      <p:pic>
        <p:nvPicPr>
          <p:cNvPr id="7" name="Picture 6"/>
          <p:cNvPicPr>
            <a:picLocks noChangeAspect="1"/>
          </p:cNvPicPr>
          <p:nvPr/>
        </p:nvPicPr>
        <p:blipFill>
          <a:blip r:embed="rId2"/>
          <a:stretch>
            <a:fillRect/>
          </a:stretch>
        </p:blipFill>
        <p:spPr>
          <a:xfrm>
            <a:off x="2192066" y="1826011"/>
            <a:ext cx="4848225" cy="1114425"/>
          </a:xfrm>
          <a:prstGeom prst="rect">
            <a:avLst/>
          </a:prstGeom>
        </p:spPr>
      </p:pic>
      <p:pic>
        <p:nvPicPr>
          <p:cNvPr id="11" name="Picture 2" descr="Image result for document ic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2198" y="1910175"/>
            <a:ext cx="946096" cy="94609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Image result for document ic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18642" y="4127858"/>
            <a:ext cx="946096" cy="94609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p:cNvPicPr>
            <a:picLocks noChangeAspect="1"/>
          </p:cNvPicPr>
          <p:nvPr/>
        </p:nvPicPr>
        <p:blipFill>
          <a:blip r:embed="rId4"/>
          <a:stretch>
            <a:fillRect/>
          </a:stretch>
        </p:blipFill>
        <p:spPr>
          <a:xfrm>
            <a:off x="2182541" y="4038931"/>
            <a:ext cx="4867275" cy="1123950"/>
          </a:xfrm>
          <a:prstGeom prst="rect">
            <a:avLst/>
          </a:prstGeom>
        </p:spPr>
      </p:pic>
      <p:cxnSp>
        <p:nvCxnSpPr>
          <p:cNvPr id="15" name="Straight Connector 14">
            <a:extLst>
              <a:ext uri="{FF2B5EF4-FFF2-40B4-BE49-F238E27FC236}">
                <a16:creationId xmlns:a16="http://schemas.microsoft.com/office/drawing/2014/main" id="{8894D949-FC3A-D44A-8570-9BFEEE41BD51}"/>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6AE33919-589B-7F49-BF5A-90116879E6A7}"/>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62297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6/2/26</a:t>
            </a:fld>
            <a:endParaRPr lang="en-US"/>
          </a:p>
        </p:txBody>
      </p:sp>
      <p:sp>
        <p:nvSpPr>
          <p:cNvPr id="3" name="Title 2"/>
          <p:cNvSpPr>
            <a:spLocks noGrp="1"/>
          </p:cNvSpPr>
          <p:nvPr>
            <p:ph type="title"/>
          </p:nvPr>
        </p:nvSpPr>
        <p:spPr/>
        <p:txBody>
          <a:bodyPr/>
          <a:lstStyle/>
          <a:p>
            <a:r>
              <a:rPr lang="en-US" dirty="0"/>
              <a:t>Build a “pyramid plot” of frequencies</a:t>
            </a:r>
          </a:p>
        </p:txBody>
      </p:sp>
      <p:sp>
        <p:nvSpPr>
          <p:cNvPr id="4" name="Footer Placeholder 3"/>
          <p:cNvSpPr>
            <a:spLocks noGrp="1"/>
          </p:cNvSpPr>
          <p:nvPr>
            <p:ph type="ftr" sz="quarter" idx="3"/>
          </p:nvPr>
        </p:nvSpPr>
        <p:spPr/>
        <p:txBody>
          <a:bodyPr/>
          <a:lstStyle/>
          <a:p>
            <a:r>
              <a:rPr lang="en-US"/>
              <a:t>Kwartler</a:t>
            </a:r>
            <a:endParaRPr lang="en-US" dirty="0"/>
          </a:p>
        </p:txBody>
      </p:sp>
      <p:sp>
        <p:nvSpPr>
          <p:cNvPr id="5" name="Slide Number Placeholder 4"/>
          <p:cNvSpPr>
            <a:spLocks noGrp="1"/>
          </p:cNvSpPr>
          <p:nvPr>
            <p:ph type="sldNum" sz="quarter" idx="4"/>
          </p:nvPr>
        </p:nvSpPr>
        <p:spPr/>
        <p:txBody>
          <a:bodyPr/>
          <a:lstStyle/>
          <a:p>
            <a:fld id="{37290FF7-652B-4475-AEAB-8B1A5D23AE09}" type="slidenum">
              <a:rPr lang="en-US" smtClean="0"/>
              <a:pPr/>
              <a:t>67</a:t>
            </a:fld>
            <a:endParaRPr lang="en-US" dirty="0"/>
          </a:p>
        </p:txBody>
      </p:sp>
      <p:pic>
        <p:nvPicPr>
          <p:cNvPr id="6" name="Picture 5"/>
          <p:cNvPicPr>
            <a:picLocks noChangeAspect="1"/>
          </p:cNvPicPr>
          <p:nvPr/>
        </p:nvPicPr>
        <p:blipFill>
          <a:blip r:embed="rId2"/>
          <a:stretch>
            <a:fillRect/>
          </a:stretch>
        </p:blipFill>
        <p:spPr>
          <a:xfrm rot="5400000">
            <a:off x="2546622" y="3094638"/>
            <a:ext cx="4848225" cy="1114425"/>
          </a:xfrm>
          <a:prstGeom prst="rect">
            <a:avLst/>
          </a:prstGeom>
        </p:spPr>
      </p:pic>
      <p:pic>
        <p:nvPicPr>
          <p:cNvPr id="7" name="Picture 6"/>
          <p:cNvPicPr>
            <a:picLocks noChangeAspect="1"/>
          </p:cNvPicPr>
          <p:nvPr/>
        </p:nvPicPr>
        <p:blipFill>
          <a:blip r:embed="rId3"/>
          <a:stretch>
            <a:fillRect/>
          </a:stretch>
        </p:blipFill>
        <p:spPr>
          <a:xfrm rot="16200000">
            <a:off x="845758" y="3089875"/>
            <a:ext cx="4867275" cy="1123950"/>
          </a:xfrm>
          <a:prstGeom prst="rect">
            <a:avLst/>
          </a:prstGeom>
        </p:spPr>
      </p:pic>
      <p:grpSp>
        <p:nvGrpSpPr>
          <p:cNvPr id="13" name="Group 12"/>
          <p:cNvGrpSpPr/>
          <p:nvPr/>
        </p:nvGrpSpPr>
        <p:grpSpPr>
          <a:xfrm>
            <a:off x="1160832" y="3074277"/>
            <a:ext cx="836871" cy="1144753"/>
            <a:chOff x="514446" y="2588556"/>
            <a:chExt cx="1405539" cy="1922633"/>
          </a:xfrm>
        </p:grpSpPr>
        <p:sp>
          <p:nvSpPr>
            <p:cNvPr id="8" name="Freeform 7"/>
            <p:cNvSpPr/>
            <p:nvPr/>
          </p:nvSpPr>
          <p:spPr>
            <a:xfrm>
              <a:off x="875768" y="2588556"/>
              <a:ext cx="1044217" cy="1922633"/>
            </a:xfrm>
            <a:custGeom>
              <a:avLst/>
              <a:gdLst>
                <a:gd name="connsiteX0" fmla="*/ 522109 w 1044217"/>
                <a:gd name="connsiteY0" fmla="*/ 0 h 1922633"/>
                <a:gd name="connsiteX1" fmla="*/ 538328 w 1044217"/>
                <a:gd name="connsiteY1" fmla="*/ 9853 h 1922633"/>
                <a:gd name="connsiteX2" fmla="*/ 1044217 w 1044217"/>
                <a:gd name="connsiteY2" fmla="*/ 961316 h 1922633"/>
                <a:gd name="connsiteX3" fmla="*/ 538328 w 1044217"/>
                <a:gd name="connsiteY3" fmla="*/ 1912779 h 1922633"/>
                <a:gd name="connsiteX4" fmla="*/ 522109 w 1044217"/>
                <a:gd name="connsiteY4" fmla="*/ 1922633 h 1922633"/>
                <a:gd name="connsiteX5" fmla="*/ 505889 w 1044217"/>
                <a:gd name="connsiteY5" fmla="*/ 1912779 h 1922633"/>
                <a:gd name="connsiteX6" fmla="*/ 0 w 1044217"/>
                <a:gd name="connsiteY6" fmla="*/ 961316 h 1922633"/>
                <a:gd name="connsiteX7" fmla="*/ 505889 w 1044217"/>
                <a:gd name="connsiteY7" fmla="*/ 9853 h 192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4217" h="1922633">
                  <a:moveTo>
                    <a:pt x="522109" y="0"/>
                  </a:moveTo>
                  <a:lnTo>
                    <a:pt x="538328" y="9853"/>
                  </a:lnTo>
                  <a:cubicBezTo>
                    <a:pt x="843545" y="216054"/>
                    <a:pt x="1044217" y="565251"/>
                    <a:pt x="1044217" y="961316"/>
                  </a:cubicBezTo>
                  <a:cubicBezTo>
                    <a:pt x="1044217" y="1357382"/>
                    <a:pt x="843545" y="1706578"/>
                    <a:pt x="538328" y="1912779"/>
                  </a:cubicBezTo>
                  <a:lnTo>
                    <a:pt x="522109" y="1922633"/>
                  </a:lnTo>
                  <a:lnTo>
                    <a:pt x="505889" y="1912779"/>
                  </a:lnTo>
                  <a:cubicBezTo>
                    <a:pt x="200672" y="1706578"/>
                    <a:pt x="0" y="1357382"/>
                    <a:pt x="0" y="961316"/>
                  </a:cubicBezTo>
                  <a:cubicBezTo>
                    <a:pt x="0" y="565251"/>
                    <a:pt x="200672" y="216054"/>
                    <a:pt x="505889" y="9853"/>
                  </a:cubicBezTo>
                  <a:close/>
                </a:path>
              </a:pathLst>
            </a:custGeom>
            <a:solidFill>
              <a:srgbClr val="FFC000"/>
            </a:solid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defTabSz="457200"/>
              <a:endParaRPr lang="en-US" sz="1800" kern="1200" dirty="0">
                <a:solidFill>
                  <a:prstClr val="white"/>
                </a:solidFill>
                <a:latin typeface="Arial Unicode MS" panose="020B0604020202020204" pitchFamily="34" charset="-128"/>
              </a:endParaRPr>
            </a:p>
          </p:txBody>
        </p:sp>
        <p:pic>
          <p:nvPicPr>
            <p:cNvPr id="9" name="Picture 2" descr="Image result for document ic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4446" y="3076824"/>
              <a:ext cx="946096" cy="94609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2" name="Group 11"/>
          <p:cNvGrpSpPr/>
          <p:nvPr/>
        </p:nvGrpSpPr>
        <p:grpSpPr>
          <a:xfrm>
            <a:off x="6451506" y="3090042"/>
            <a:ext cx="911397" cy="1144753"/>
            <a:chOff x="6025837" y="2283756"/>
            <a:chExt cx="1530708" cy="1922633"/>
          </a:xfrm>
        </p:grpSpPr>
        <p:sp>
          <p:nvSpPr>
            <p:cNvPr id="10" name="Freeform 9"/>
            <p:cNvSpPr/>
            <p:nvPr/>
          </p:nvSpPr>
          <p:spPr>
            <a:xfrm>
              <a:off x="6025837" y="2283756"/>
              <a:ext cx="1044217" cy="1922633"/>
            </a:xfrm>
            <a:custGeom>
              <a:avLst/>
              <a:gdLst>
                <a:gd name="connsiteX0" fmla="*/ 522109 w 1044217"/>
                <a:gd name="connsiteY0" fmla="*/ 0 h 1922633"/>
                <a:gd name="connsiteX1" fmla="*/ 538328 w 1044217"/>
                <a:gd name="connsiteY1" fmla="*/ 9853 h 1922633"/>
                <a:gd name="connsiteX2" fmla="*/ 1044217 w 1044217"/>
                <a:gd name="connsiteY2" fmla="*/ 961316 h 1922633"/>
                <a:gd name="connsiteX3" fmla="*/ 538328 w 1044217"/>
                <a:gd name="connsiteY3" fmla="*/ 1912779 h 1922633"/>
                <a:gd name="connsiteX4" fmla="*/ 522109 w 1044217"/>
                <a:gd name="connsiteY4" fmla="*/ 1922633 h 1922633"/>
                <a:gd name="connsiteX5" fmla="*/ 505889 w 1044217"/>
                <a:gd name="connsiteY5" fmla="*/ 1912779 h 1922633"/>
                <a:gd name="connsiteX6" fmla="*/ 0 w 1044217"/>
                <a:gd name="connsiteY6" fmla="*/ 961316 h 1922633"/>
                <a:gd name="connsiteX7" fmla="*/ 505889 w 1044217"/>
                <a:gd name="connsiteY7" fmla="*/ 9853 h 1922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4217" h="1922633">
                  <a:moveTo>
                    <a:pt x="522109" y="0"/>
                  </a:moveTo>
                  <a:lnTo>
                    <a:pt x="538328" y="9853"/>
                  </a:lnTo>
                  <a:cubicBezTo>
                    <a:pt x="843545" y="216054"/>
                    <a:pt x="1044217" y="565251"/>
                    <a:pt x="1044217" y="961316"/>
                  </a:cubicBezTo>
                  <a:cubicBezTo>
                    <a:pt x="1044217" y="1357382"/>
                    <a:pt x="843545" y="1706578"/>
                    <a:pt x="538328" y="1912779"/>
                  </a:cubicBezTo>
                  <a:lnTo>
                    <a:pt x="522109" y="1922633"/>
                  </a:lnTo>
                  <a:lnTo>
                    <a:pt x="505889" y="1912779"/>
                  </a:lnTo>
                  <a:cubicBezTo>
                    <a:pt x="200672" y="1706578"/>
                    <a:pt x="0" y="1357382"/>
                    <a:pt x="0" y="961316"/>
                  </a:cubicBezTo>
                  <a:cubicBezTo>
                    <a:pt x="0" y="565251"/>
                    <a:pt x="200672" y="216054"/>
                    <a:pt x="505889" y="9853"/>
                  </a:cubicBezTo>
                  <a:close/>
                </a:path>
              </a:pathLst>
            </a:custGeom>
            <a:solidFill>
              <a:srgbClr val="FFC000"/>
            </a:solidFill>
            <a:ln>
              <a:solidFill>
                <a:srgbClr val="FFC000"/>
              </a:solidFill>
            </a:ln>
            <a:effectLst/>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defTabSz="457200"/>
              <a:endParaRPr lang="en-US" sz="1800" kern="1200" dirty="0">
                <a:solidFill>
                  <a:prstClr val="white"/>
                </a:solidFill>
                <a:latin typeface="Arial Unicode MS" panose="020B0604020202020204" pitchFamily="34" charset="-128"/>
              </a:endParaRPr>
            </a:p>
          </p:txBody>
        </p:sp>
        <p:pic>
          <p:nvPicPr>
            <p:cNvPr id="11" name="Picture 2" descr="Image result for document ic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10449" y="2772024"/>
              <a:ext cx="946096" cy="946096"/>
            </a:xfrm>
            <a:prstGeom prst="rect">
              <a:avLst/>
            </a:prstGeom>
            <a:noFill/>
            <a:extLst>
              <a:ext uri="{909E8E84-426E-40DD-AFC4-6F175D3DCCD1}">
                <a14:hiddenFill xmlns:a14="http://schemas.microsoft.com/office/drawing/2010/main">
                  <a:solidFill>
                    <a:srgbClr val="FFFFFF"/>
                  </a:solidFill>
                </a14:hiddenFill>
              </a:ext>
            </a:extLst>
          </p:spPr>
        </p:pic>
      </p:grpSp>
      <p:sp>
        <p:nvSpPr>
          <p:cNvPr id="14" name="Right Brace 13"/>
          <p:cNvSpPr/>
          <p:nvPr/>
        </p:nvSpPr>
        <p:spPr>
          <a:xfrm>
            <a:off x="5627118" y="1507740"/>
            <a:ext cx="693682" cy="428822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Left Brace 15"/>
          <p:cNvSpPr/>
          <p:nvPr/>
        </p:nvSpPr>
        <p:spPr>
          <a:xfrm>
            <a:off x="2176816" y="1436795"/>
            <a:ext cx="441434" cy="443011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p:cNvSpPr txBox="1"/>
          <p:nvPr/>
        </p:nvSpPr>
        <p:spPr>
          <a:xfrm>
            <a:off x="3758321" y="1182414"/>
            <a:ext cx="772071" cy="369332"/>
          </a:xfrm>
          <a:prstGeom prst="rect">
            <a:avLst/>
          </a:prstGeom>
          <a:noFill/>
        </p:spPr>
        <p:txBody>
          <a:bodyPr wrap="none" rtlCol="0">
            <a:spAutoFit/>
          </a:bodyPr>
          <a:lstStyle/>
          <a:p>
            <a:r>
              <a:rPr lang="en-US" dirty="0" err="1"/>
              <a:t>termA</a:t>
            </a:r>
            <a:endParaRPr lang="en-US" dirty="0"/>
          </a:p>
        </p:txBody>
      </p:sp>
      <p:sp>
        <p:nvSpPr>
          <p:cNvPr id="18" name="TextBox 17"/>
          <p:cNvSpPr txBox="1"/>
          <p:nvPr/>
        </p:nvSpPr>
        <p:spPr>
          <a:xfrm>
            <a:off x="3762329" y="3021724"/>
            <a:ext cx="764055" cy="369332"/>
          </a:xfrm>
          <a:prstGeom prst="rect">
            <a:avLst/>
          </a:prstGeom>
          <a:noFill/>
        </p:spPr>
        <p:txBody>
          <a:bodyPr wrap="none" rtlCol="0">
            <a:spAutoFit/>
          </a:bodyPr>
          <a:lstStyle/>
          <a:p>
            <a:r>
              <a:rPr lang="en-US" dirty="0" err="1"/>
              <a:t>termB</a:t>
            </a:r>
            <a:endParaRPr lang="en-US" dirty="0"/>
          </a:p>
        </p:txBody>
      </p:sp>
      <p:sp>
        <p:nvSpPr>
          <p:cNvPr id="19" name="TextBox 18"/>
          <p:cNvSpPr txBox="1"/>
          <p:nvPr/>
        </p:nvSpPr>
        <p:spPr>
          <a:xfrm>
            <a:off x="3972674" y="4372304"/>
            <a:ext cx="343364" cy="369332"/>
          </a:xfrm>
          <a:prstGeom prst="rect">
            <a:avLst/>
          </a:prstGeom>
          <a:noFill/>
        </p:spPr>
        <p:txBody>
          <a:bodyPr wrap="none" rtlCol="0">
            <a:spAutoFit/>
          </a:bodyPr>
          <a:lstStyle/>
          <a:p>
            <a:r>
              <a:rPr lang="en-US" dirty="0"/>
              <a:t>…</a:t>
            </a:r>
          </a:p>
        </p:txBody>
      </p:sp>
      <p:sp>
        <p:nvSpPr>
          <p:cNvPr id="20" name="TextBox 19"/>
          <p:cNvSpPr txBox="1"/>
          <p:nvPr/>
        </p:nvSpPr>
        <p:spPr>
          <a:xfrm>
            <a:off x="3741682" y="5628290"/>
            <a:ext cx="805349" cy="369332"/>
          </a:xfrm>
          <a:prstGeom prst="rect">
            <a:avLst/>
          </a:prstGeom>
          <a:noFill/>
        </p:spPr>
        <p:txBody>
          <a:bodyPr wrap="none" rtlCol="0">
            <a:spAutoFit/>
          </a:bodyPr>
          <a:lstStyle/>
          <a:p>
            <a:r>
              <a:rPr lang="en-US" dirty="0" err="1"/>
              <a:t>TermN</a:t>
            </a:r>
            <a:endParaRPr lang="en-US" dirty="0"/>
          </a:p>
        </p:txBody>
      </p:sp>
      <p:cxnSp>
        <p:nvCxnSpPr>
          <p:cNvPr id="21" name="Straight Connector 20">
            <a:extLst>
              <a:ext uri="{FF2B5EF4-FFF2-40B4-BE49-F238E27FC236}">
                <a16:creationId xmlns:a16="http://schemas.microsoft.com/office/drawing/2014/main" id="{4325D68D-3EB6-054E-A914-8361E0E80B3D}"/>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B8DAE81-DE22-D140-9510-B58DD49C03A3}"/>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738709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0A58B-DD98-43D0-B791-721480A02982}" type="datetime1">
              <a:rPr lang="en-US" smtClean="0"/>
              <a:t>6/2/26</a:t>
            </a:fld>
            <a:endParaRPr lang="en-US"/>
          </a:p>
        </p:txBody>
      </p:sp>
      <p:sp>
        <p:nvSpPr>
          <p:cNvPr id="3" name="Title 2"/>
          <p:cNvSpPr>
            <a:spLocks noGrp="1"/>
          </p:cNvSpPr>
          <p:nvPr>
            <p:ph type="title"/>
          </p:nvPr>
        </p:nvSpPr>
        <p:spPr/>
        <p:txBody>
          <a:bodyPr/>
          <a:lstStyle/>
          <a:p>
            <a:r>
              <a:rPr lang="en-US" dirty="0"/>
              <a:t>Open ﻿</a:t>
            </a:r>
            <a:r>
              <a:rPr lang="en-US" dirty="0" err="1"/>
              <a:t>H_Pyramid_plots.R</a:t>
            </a:r>
            <a:endParaRPr lang="en-US" dirty="0"/>
          </a:p>
        </p:txBody>
      </p:sp>
      <p:sp>
        <p:nvSpPr>
          <p:cNvPr id="4" name="Footer Placeholder 3"/>
          <p:cNvSpPr>
            <a:spLocks noGrp="1"/>
          </p:cNvSpPr>
          <p:nvPr>
            <p:ph type="ftr" sz="quarter" idx="3"/>
          </p:nvPr>
        </p:nvSpPr>
        <p:spPr/>
        <p:txBody>
          <a:bodyPr/>
          <a:lstStyle/>
          <a:p>
            <a:r>
              <a:rPr lang="en-US"/>
              <a:t>Kwartler</a:t>
            </a:r>
            <a:endParaRPr lang="en-US" dirty="0"/>
          </a:p>
        </p:txBody>
      </p:sp>
      <p:sp>
        <p:nvSpPr>
          <p:cNvPr id="5" name="Slide Number Placeholder 4"/>
          <p:cNvSpPr>
            <a:spLocks noGrp="1"/>
          </p:cNvSpPr>
          <p:nvPr>
            <p:ph type="sldNum" sz="quarter" idx="4"/>
          </p:nvPr>
        </p:nvSpPr>
        <p:spPr/>
        <p:txBody>
          <a:bodyPr/>
          <a:lstStyle/>
          <a:p>
            <a:fld id="{37290FF7-652B-4475-AEAB-8B1A5D23AE09}" type="slidenum">
              <a:rPr lang="en-US" smtClean="0"/>
              <a:pPr/>
              <a:t>68</a:t>
            </a:fld>
            <a:endParaRPr lang="en-US" dirty="0"/>
          </a:p>
        </p:txBody>
      </p:sp>
      <p:cxnSp>
        <p:nvCxnSpPr>
          <p:cNvPr id="6" name="Straight Connector 5">
            <a:extLst>
              <a:ext uri="{FF2B5EF4-FFF2-40B4-BE49-F238E27FC236}">
                <a16:creationId xmlns:a16="http://schemas.microsoft.com/office/drawing/2014/main" id="{506F8ED3-38D3-D643-BE61-590D463E5548}"/>
              </a:ext>
            </a:extLst>
          </p:cNvPr>
          <p:cNvCxnSpPr/>
          <p:nvPr/>
        </p:nvCxnSpPr>
        <p:spPr>
          <a:xfrm>
            <a:off x="6798363" y="6549885"/>
            <a:ext cx="0" cy="18288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B6670D6-BD4E-AB40-B1D0-315FC19592C7}"/>
              </a:ext>
            </a:extLst>
          </p:cNvPr>
          <p:cNvCxnSpPr/>
          <p:nvPr/>
        </p:nvCxnSpPr>
        <p:spPr>
          <a:xfrm>
            <a:off x="7076661" y="4664763"/>
            <a:ext cx="18288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1026" name="Picture 2" descr="The best pyramid memes :) Memedroid">
            <a:extLst>
              <a:ext uri="{FF2B5EF4-FFF2-40B4-BE49-F238E27FC236}">
                <a16:creationId xmlns:a16="http://schemas.microsoft.com/office/drawing/2014/main" id="{64888603-6C14-8947-86AD-71164DFFCD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501" y="1332963"/>
            <a:ext cx="3461372" cy="41920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2747960"/>
      </p:ext>
    </p:extLst>
  </p:cSld>
  <p:clrMapOvr>
    <a:masterClrMapping/>
  </p:clrMapOvr>
</p:sld>
</file>

<file path=ppt/theme/theme1.xml><?xml version="1.0" encoding="utf-8"?>
<a:theme xmlns:a="http://schemas.openxmlformats.org/drawingml/2006/main" name="1_Office Theme">
  <a:themeElements>
    <a:clrScheme name="Harvard">
      <a:dk1>
        <a:sysClr val="windowText" lastClr="000000"/>
      </a:dk1>
      <a:lt1>
        <a:sysClr val="window" lastClr="FFFFFF"/>
      </a:lt1>
      <a:dk2>
        <a:srgbClr val="44546A"/>
      </a:dk2>
      <a:lt2>
        <a:srgbClr val="E7E6E6"/>
      </a:lt2>
      <a:accent1>
        <a:srgbClr val="A51C30"/>
      </a:accent1>
      <a:accent2>
        <a:srgbClr val="8C8179"/>
      </a:accent2>
      <a:accent3>
        <a:srgbClr val="293352"/>
      </a:accent3>
      <a:accent4>
        <a:srgbClr val="8996A0"/>
      </a:accent4>
      <a:accent5>
        <a:srgbClr val="BAC5C6"/>
      </a:accent5>
      <a:accent6>
        <a:srgbClr val="4E84C4"/>
      </a:accent6>
      <a:hlink>
        <a:srgbClr val="52854C"/>
      </a:hlink>
      <a:folHlink>
        <a:srgbClr val="E87D1E"/>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blank</Template>
  <TotalTime>9500</TotalTime>
  <Words>3357</Words>
  <Application>Microsoft Macintosh PowerPoint</Application>
  <PresentationFormat>On-screen Show (4:3)</PresentationFormat>
  <Paragraphs>717</Paragraphs>
  <Slides>68</Slides>
  <Notes>1</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68</vt:i4>
      </vt:variant>
    </vt:vector>
  </HeadingPairs>
  <TitlesOfParts>
    <vt:vector size="75" baseType="lpstr">
      <vt:lpstr>Arial Unicode MS</vt:lpstr>
      <vt:lpstr>Arial</vt:lpstr>
      <vt:lpstr>Calibri</vt:lpstr>
      <vt:lpstr>Cambria Math</vt:lpstr>
      <vt:lpstr>Consolas</vt:lpstr>
      <vt:lpstr>Google Sans Text</vt:lpstr>
      <vt:lpstr>1_Office Theme</vt:lpstr>
      <vt:lpstr>Text Mining &amp; NLP Common TM Visuals</vt:lpstr>
      <vt:lpstr>PowerPoint Presentation</vt:lpstr>
      <vt:lpstr>Open A_text_organization_REVIEW.R</vt:lpstr>
      <vt:lpstr>Basic Bar Charts</vt:lpstr>
      <vt:lpstr>Side by Side Charts</vt:lpstr>
      <vt:lpstr>Stacked Bar Charts</vt:lpstr>
      <vt:lpstr>Proportional Stacked Bar Charts</vt:lpstr>
      <vt:lpstr>Overall, what frequency distribution should we expect?</vt:lpstr>
      <vt:lpstr>Top 100 terms</vt:lpstr>
      <vt:lpstr>Zipf’s Law is observed in human behavior</vt:lpstr>
      <vt:lpstr>Zipf’s Law is observed in business</vt:lpstr>
      <vt:lpstr>Zipf’s Law: The frequency of a word is inversely related to its rank in a word frequency matrix. </vt:lpstr>
      <vt:lpstr>PowerPoint Presentation</vt:lpstr>
      <vt:lpstr>PowerPoint Presentation</vt:lpstr>
      <vt:lpstr>PowerPoint Presentation</vt:lpstr>
      <vt:lpstr>Back to B_Frequency_Associations.R </vt:lpstr>
      <vt:lpstr>Association is NOT frequency.</vt:lpstr>
      <vt:lpstr>PowerPoint Presentation</vt:lpstr>
      <vt:lpstr>PowerPoint Presentation</vt:lpstr>
      <vt:lpstr>PowerPoint Presentation</vt:lpstr>
      <vt:lpstr>PowerPoint Presentation</vt:lpstr>
      <vt:lpstr>Distance Matrix</vt:lpstr>
      <vt:lpstr>Distance Matrix</vt:lpstr>
      <vt:lpstr>Distance Matrix</vt:lpstr>
      <vt:lpstr>Distance Matrix</vt:lpstr>
      <vt:lpstr>Words as association networks</vt:lpstr>
      <vt:lpstr>Networks…for people</vt:lpstr>
      <vt:lpstr>Networks…for words</vt:lpstr>
      <vt:lpstr>Word Networks…Social Network Analysis</vt:lpstr>
      <vt:lpstr>Word cloud of Term Associations</vt:lpstr>
      <vt:lpstr>Open C_Dendrograms_WordNetworks.R</vt:lpstr>
      <vt:lpstr>What is a word cloud?</vt:lpstr>
      <vt:lpstr>Unigram Tokenization</vt:lpstr>
      <vt:lpstr>Changing Tokenization Schema</vt:lpstr>
      <vt:lpstr>Tokenization is the process of chopping up a string into predefined units called tokens.</vt:lpstr>
      <vt:lpstr>Tokenization is the process of chopping up a string into predefined units called tokens.</vt:lpstr>
      <vt:lpstr>To make a wordcloud start with a WFM</vt:lpstr>
      <vt:lpstr>Then sort it decreasing = TRUE</vt:lpstr>
      <vt:lpstr>Setting a pre-made color palette for your WC</vt:lpstr>
      <vt:lpstr>Setting a pre-made color palette for your WC</vt:lpstr>
      <vt:lpstr>Let’s practice!</vt:lpstr>
      <vt:lpstr>D_SimpleWordCloud.R</vt:lpstr>
      <vt:lpstr>D_SimpleWordCloud.R</vt:lpstr>
      <vt:lpstr>Another WC package</vt:lpstr>
      <vt:lpstr>WCs are boring with a single corpus.</vt:lpstr>
      <vt:lpstr>With 2+ Corpora, WCs are more insightful</vt:lpstr>
      <vt:lpstr>Dealing with many text files is tricky [LOOP]</vt:lpstr>
      <vt:lpstr>Dealing with many text files is tricky. [LIST]</vt:lpstr>
      <vt:lpstr>Manipulating multiple corpora</vt:lpstr>
      <vt:lpstr>The new WC will examine inner and disjoins</vt:lpstr>
      <vt:lpstr>Lets make some improved word clouds</vt:lpstr>
      <vt:lpstr>What tokens are in common?</vt:lpstr>
      <vt:lpstr>Introducing TF-IDF Term Frequency Inverse Document Frequency</vt:lpstr>
      <vt:lpstr>The TF of TF-IDF</vt:lpstr>
      <vt:lpstr>Inverse Document Frequency</vt:lpstr>
      <vt:lpstr>Term Frequency [not quite frequency from before]</vt:lpstr>
      <vt:lpstr>Inverse Document Frequency of TF-IDF</vt:lpstr>
      <vt:lpstr>TF-IDF Simple Example</vt:lpstr>
      <vt:lpstr>TF-IDF Bottom Line</vt:lpstr>
      <vt:lpstr>Applying TF-IDF to a DTM/TDM</vt:lpstr>
      <vt:lpstr>What tokens are in not in common (disjoint)?</vt:lpstr>
      <vt:lpstr>What about disjoint tokens?</vt:lpstr>
      <vt:lpstr>What about proportional similarities?</vt:lpstr>
      <vt:lpstr>Let’s make some pyramids</vt:lpstr>
      <vt:lpstr>Steps for a pyramid plot…collapse</vt:lpstr>
      <vt:lpstr>Steps for a pyramid plot…ID common tokens &amp; frequency</vt:lpstr>
      <vt:lpstr>Build a “pyramid plot” of frequencies</vt:lpstr>
      <vt:lpstr>Open ﻿H_Pyramid_plots.R</vt:lpstr>
    </vt:vector>
  </TitlesOfParts>
  <Company>Liberty Mutual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Kwartler, Edward</dc:creator>
  <cp:lastModifiedBy>Ted Kwartler</cp:lastModifiedBy>
  <cp:revision>357</cp:revision>
  <dcterms:created xsi:type="dcterms:W3CDTF">2018-05-23T17:24:59Z</dcterms:created>
  <dcterms:modified xsi:type="dcterms:W3CDTF">2026-06-03T12:07:51Z</dcterms:modified>
</cp:coreProperties>
</file>