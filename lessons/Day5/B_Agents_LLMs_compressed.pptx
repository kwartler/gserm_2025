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327" r:id="rId2"/>
    <p:sldId id="300" r:id="rId3"/>
    <p:sldId id="301" r:id="rId4"/>
    <p:sldId id="256" r:id="rId5"/>
    <p:sldId id="257" r:id="rId6"/>
    <p:sldId id="258" r:id="rId7"/>
    <p:sldId id="259" r:id="rId8"/>
    <p:sldId id="330" r:id="rId9"/>
    <p:sldId id="328" r:id="rId10"/>
    <p:sldId id="329" r:id="rId11"/>
    <p:sldId id="333" r:id="rId12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0FF"/>
    <a:srgbClr val="FAF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DFF"/>
          </a:solidFill>
        </a:fill>
      </a:tcStyle>
    </a:wholeTbl>
    <a:band2H>
      <a:tcTxStyle/>
      <a:tcStyle>
        <a:tcBdr/>
        <a:fill>
          <a:solidFill>
            <a:srgbClr val="E6E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5CBDF"/>
          </a:solidFill>
        </a:fill>
      </a:tcStyle>
    </a:wholeTbl>
    <a:band2H>
      <a:tcTxStyle/>
      <a:tcStyle>
        <a:tcBdr/>
        <a:fill>
          <a:solidFill>
            <a:srgbClr val="EBE7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E3FB"/>
          </a:solidFill>
        </a:fill>
      </a:tcStyle>
    </a:wholeTbl>
    <a:band2H>
      <a:tcTxStyle/>
      <a:tcStyle>
        <a:tcBdr/>
        <a:fill>
          <a:solidFill>
            <a:srgbClr val="E7F2FD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36"/>
    <p:restoredTop sz="94694"/>
  </p:normalViewPr>
  <p:slideViewPr>
    <p:cSldViewPr snapToGrid="0">
      <p:cViewPr varScale="1">
        <p:scale>
          <a:sx n="156" d="100"/>
          <a:sy n="156" d="100"/>
        </p:scale>
        <p:origin x="56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Shape 586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87" name="Shape 58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hart 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Title Text"/>
          <p:cNvSpPr txBox="1">
            <a:spLocks noGrp="1"/>
          </p:cNvSpPr>
          <p:nvPr>
            <p:ph type="title"/>
          </p:nvPr>
        </p:nvSpPr>
        <p:spPr>
          <a:xfrm>
            <a:off x="225824" y="137160"/>
            <a:ext cx="7689601" cy="59400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t>Title Text</a:t>
            </a:r>
          </a:p>
        </p:txBody>
      </p:sp>
      <p:sp>
        <p:nvSpPr>
          <p:cNvPr id="39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245136" y="4767262"/>
            <a:ext cx="308064" cy="307744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7947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192430" y="3209544"/>
            <a:ext cx="8169901" cy="1203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75" tIns="34275" rIns="34275" bIns="34275" anchor="b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75" tIns="34275" rIns="34275" bIns="34275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19600" y="4767262"/>
            <a:ext cx="2133600" cy="309851"/>
          </a:xfrm>
          <a:prstGeom prst="rect">
            <a:avLst/>
          </a:prstGeom>
          <a:ln w="12700">
            <a:miter lim="400000"/>
          </a:ln>
        </p:spPr>
        <p:txBody>
          <a:bodyPr wrap="none" lIns="91424" tIns="91424" rIns="91424" bIns="91424">
            <a:spAutoFit/>
          </a:bodyPr>
          <a:lstStyle>
            <a:lvl1pPr algn="r">
              <a:defRPr sz="800">
                <a:solidFill>
                  <a:srgbClr val="A5A5A5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0" baseline="0">
          <a:solidFill>
            <a:srgbClr val="FFFFFF"/>
          </a:solidFill>
          <a:uFillTx/>
          <a:latin typeface="Roboto"/>
          <a:ea typeface="Roboto"/>
          <a:cs typeface="Roboto"/>
          <a:sym typeface="Roboto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0" baseline="0">
          <a:solidFill>
            <a:srgbClr val="FFFFFF"/>
          </a:solidFill>
          <a:uFillTx/>
          <a:latin typeface="Roboto"/>
          <a:ea typeface="Roboto"/>
          <a:cs typeface="Roboto"/>
          <a:sym typeface="Roboto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0" baseline="0">
          <a:solidFill>
            <a:srgbClr val="FFFFFF"/>
          </a:solidFill>
          <a:uFillTx/>
          <a:latin typeface="Roboto"/>
          <a:ea typeface="Roboto"/>
          <a:cs typeface="Roboto"/>
          <a:sym typeface="Roboto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0" baseline="0">
          <a:solidFill>
            <a:srgbClr val="FFFFFF"/>
          </a:solidFill>
          <a:uFillTx/>
          <a:latin typeface="Roboto"/>
          <a:ea typeface="Roboto"/>
          <a:cs typeface="Roboto"/>
          <a:sym typeface="Roboto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0" baseline="0">
          <a:solidFill>
            <a:srgbClr val="FFFFFF"/>
          </a:solidFill>
          <a:uFillTx/>
          <a:latin typeface="Roboto"/>
          <a:ea typeface="Roboto"/>
          <a:cs typeface="Roboto"/>
          <a:sym typeface="Roboto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0" baseline="0">
          <a:solidFill>
            <a:srgbClr val="FFFFFF"/>
          </a:solidFill>
          <a:uFillTx/>
          <a:latin typeface="Roboto"/>
          <a:ea typeface="Roboto"/>
          <a:cs typeface="Roboto"/>
          <a:sym typeface="Roboto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0" baseline="0">
          <a:solidFill>
            <a:srgbClr val="FFFFFF"/>
          </a:solidFill>
          <a:uFillTx/>
          <a:latin typeface="Roboto"/>
          <a:ea typeface="Roboto"/>
          <a:cs typeface="Roboto"/>
          <a:sym typeface="Roboto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0" baseline="0">
          <a:solidFill>
            <a:srgbClr val="FFFFFF"/>
          </a:solidFill>
          <a:uFillTx/>
          <a:latin typeface="Roboto"/>
          <a:ea typeface="Roboto"/>
          <a:cs typeface="Roboto"/>
          <a:sym typeface="Roboto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0" baseline="0">
          <a:solidFill>
            <a:srgbClr val="FFFFFF"/>
          </a:solidFill>
          <a:uFillTx/>
          <a:latin typeface="Roboto"/>
          <a:ea typeface="Roboto"/>
          <a:cs typeface="Roboto"/>
          <a:sym typeface="Roboto"/>
        </a:defRPr>
      </a:lvl9pPr>
    </p:titleStyle>
    <p:bodyStyle>
      <a:lvl1pPr marL="457200" marR="0" indent="-3429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>
          <a:srgbClr val="FFFFFF"/>
        </a:buClr>
        <a:buSzPts val="1800"/>
        <a:buFont typeface="Helvetica"/>
        <a:buChar char="•"/>
        <a:tabLst/>
        <a:defRPr sz="1800" b="1" i="0" u="none" strike="noStrike" cap="none" spc="0" baseline="0">
          <a:solidFill>
            <a:srgbClr val="FFFFFF"/>
          </a:solidFill>
          <a:uFillTx/>
          <a:latin typeface="Roboto"/>
          <a:ea typeface="Roboto"/>
          <a:cs typeface="Roboto"/>
          <a:sym typeface="Roboto"/>
        </a:defRPr>
      </a:lvl1pPr>
      <a:lvl2pPr marL="979169" marR="0" indent="-388619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>
          <a:srgbClr val="FFFFFF"/>
        </a:buClr>
        <a:buSzPts val="1800"/>
        <a:buFont typeface="Helvetica"/>
        <a:buChar char="•"/>
        <a:tabLst/>
        <a:defRPr sz="1800" b="1" i="0" u="none" strike="noStrike" cap="none" spc="0" baseline="0">
          <a:solidFill>
            <a:srgbClr val="FFFFFF"/>
          </a:solidFill>
          <a:uFillTx/>
          <a:latin typeface="Roboto"/>
          <a:ea typeface="Roboto"/>
          <a:cs typeface="Roboto"/>
          <a:sym typeface="Roboto"/>
        </a:defRPr>
      </a:lvl2pPr>
      <a:lvl3pPr marL="1524000" marR="0" indent="-4572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>
          <a:srgbClr val="FFFFFF"/>
        </a:buClr>
        <a:buSzPts val="1800"/>
        <a:buFont typeface="Helvetica"/>
        <a:buChar char="•"/>
        <a:tabLst/>
        <a:defRPr sz="1800" b="1" i="0" u="none" strike="noStrike" cap="none" spc="0" baseline="0">
          <a:solidFill>
            <a:srgbClr val="FFFFFF"/>
          </a:solidFill>
          <a:uFillTx/>
          <a:latin typeface="Roboto"/>
          <a:ea typeface="Roboto"/>
          <a:cs typeface="Roboto"/>
          <a:sym typeface="Roboto"/>
        </a:defRPr>
      </a:lvl3pPr>
      <a:lvl4pPr marL="1981200" marR="0" indent="-4572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>
          <a:srgbClr val="FFFFFF"/>
        </a:buClr>
        <a:buSzPts val="1800"/>
        <a:buFont typeface="Helvetica"/>
        <a:buChar char="•"/>
        <a:tabLst/>
        <a:defRPr sz="1800" b="1" i="0" u="none" strike="noStrike" cap="none" spc="0" baseline="0">
          <a:solidFill>
            <a:srgbClr val="FFFFFF"/>
          </a:solidFill>
          <a:uFillTx/>
          <a:latin typeface="Roboto"/>
          <a:ea typeface="Roboto"/>
          <a:cs typeface="Roboto"/>
          <a:sym typeface="Roboto"/>
        </a:defRPr>
      </a:lvl4pPr>
      <a:lvl5pPr marL="2438400" marR="0" indent="-4572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>
          <a:srgbClr val="FFFFFF"/>
        </a:buClr>
        <a:buSzPts val="1800"/>
        <a:buFont typeface="Helvetica"/>
        <a:buChar char="•"/>
        <a:tabLst/>
        <a:defRPr sz="1800" b="1" i="0" u="none" strike="noStrike" cap="none" spc="0" baseline="0">
          <a:solidFill>
            <a:srgbClr val="FFFFFF"/>
          </a:solidFill>
          <a:uFillTx/>
          <a:latin typeface="Roboto"/>
          <a:ea typeface="Roboto"/>
          <a:cs typeface="Roboto"/>
          <a:sym typeface="Roboto"/>
        </a:defRPr>
      </a:lvl5pPr>
      <a:lvl6pPr marL="2895600" marR="0" indent="-4572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>
          <a:srgbClr val="FFFFFF"/>
        </a:buClr>
        <a:buSzPts val="1800"/>
        <a:buFont typeface="Helvetica"/>
        <a:buChar char="•"/>
        <a:tabLst/>
        <a:defRPr sz="1800" b="1" i="0" u="none" strike="noStrike" cap="none" spc="0" baseline="0">
          <a:solidFill>
            <a:srgbClr val="FFFFFF"/>
          </a:solidFill>
          <a:uFillTx/>
          <a:latin typeface="Roboto"/>
          <a:ea typeface="Roboto"/>
          <a:cs typeface="Roboto"/>
          <a:sym typeface="Roboto"/>
        </a:defRPr>
      </a:lvl6pPr>
      <a:lvl7pPr marL="3352800" marR="0" indent="-4572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>
          <a:srgbClr val="FFFFFF"/>
        </a:buClr>
        <a:buSzPts val="1800"/>
        <a:buFont typeface="Helvetica"/>
        <a:buChar char="•"/>
        <a:tabLst/>
        <a:defRPr sz="1800" b="1" i="0" u="none" strike="noStrike" cap="none" spc="0" baseline="0">
          <a:solidFill>
            <a:srgbClr val="FFFFFF"/>
          </a:solidFill>
          <a:uFillTx/>
          <a:latin typeface="Roboto"/>
          <a:ea typeface="Roboto"/>
          <a:cs typeface="Roboto"/>
          <a:sym typeface="Roboto"/>
        </a:defRPr>
      </a:lvl7pPr>
      <a:lvl8pPr marL="3810000" marR="0" indent="-4572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>
          <a:srgbClr val="FFFFFF"/>
        </a:buClr>
        <a:buSzPts val="1800"/>
        <a:buFont typeface="Helvetica"/>
        <a:buChar char="•"/>
        <a:tabLst/>
        <a:defRPr sz="1800" b="1" i="0" u="none" strike="noStrike" cap="none" spc="0" baseline="0">
          <a:solidFill>
            <a:srgbClr val="FFFFFF"/>
          </a:solidFill>
          <a:uFillTx/>
          <a:latin typeface="Roboto"/>
          <a:ea typeface="Roboto"/>
          <a:cs typeface="Roboto"/>
          <a:sym typeface="Roboto"/>
        </a:defRPr>
      </a:lvl8pPr>
      <a:lvl9pPr marL="4267200" marR="0" indent="-4572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>
          <a:srgbClr val="FFFFFF"/>
        </a:buClr>
        <a:buSzPts val="1800"/>
        <a:buFont typeface="Helvetica"/>
        <a:buChar char="•"/>
        <a:tabLst/>
        <a:defRPr sz="1800" b="1" i="0" u="none" strike="noStrike" cap="none" spc="0" baseline="0">
          <a:solidFill>
            <a:srgbClr val="FFFFFF"/>
          </a:solidFill>
          <a:uFillTx/>
          <a:latin typeface="Roboto"/>
          <a:ea typeface="Roboto"/>
          <a:cs typeface="Roboto"/>
          <a:sym typeface="Roboto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Roboto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Roboto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Roboto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Roboto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Roboto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Roboto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Roboto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Roboto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Roboto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eg"/><Relationship Id="rId3" Type="http://schemas.openxmlformats.org/officeDocument/2006/relationships/image" Target="../media/image8.jpeg"/><Relationship Id="rId7" Type="http://schemas.openxmlformats.org/officeDocument/2006/relationships/image" Target="../media/image12.jpeg"/><Relationship Id="rId2" Type="http://schemas.openxmlformats.org/officeDocument/2006/relationships/hyperlink" Target="https://www.youtube.com/watch?v=QV6kaNFyoyQ&amp;t=74s&amp;ab_channel=IndyDevDan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10" Type="http://schemas.openxmlformats.org/officeDocument/2006/relationships/hyperlink" Target="https://www.youtube.com/watch?v=QV6kaNFyoyQ&amp;t=74s" TargetMode="External"/><Relationship Id="rId4" Type="http://schemas.openxmlformats.org/officeDocument/2006/relationships/image" Target="../media/image9.jpeg"/><Relationship Id="rId9" Type="http://schemas.openxmlformats.org/officeDocument/2006/relationships/image" Target="../media/image14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www.youtube.com/watch?v=sal78ACtGTc&amp;ab_channel=SequoiaCapital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watch?v=sal78ACtGTc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A4FD4-7780-F7BA-0B47-8E00850E4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86" y="1749149"/>
            <a:ext cx="4808764" cy="2050241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The future is “agentic”!</a:t>
            </a:r>
            <a:br>
              <a:rPr lang="en-US" sz="3600" dirty="0"/>
            </a:br>
            <a:r>
              <a:rPr lang="en-US" sz="2000" dirty="0"/>
              <a:t>Multiple LLMs will interact to solve subset tasks leading to a goal.  </a:t>
            </a:r>
            <a:br>
              <a:rPr lang="en-US" sz="2000" dirty="0"/>
            </a:br>
            <a:br>
              <a:rPr lang="en-US" sz="2000" dirty="0"/>
            </a:br>
            <a:r>
              <a:rPr lang="en-US" sz="1600" dirty="0">
                <a:solidFill>
                  <a:schemeClr val="accent4"/>
                </a:solidFill>
              </a:rPr>
              <a:t>Because it’s an emergent field, some define functionality that is a “prompt chain” while others have “LLM orchestration over LLMs” </a:t>
            </a:r>
            <a:endParaRPr lang="en-US" sz="2000" dirty="0">
              <a:solidFill>
                <a:schemeClr val="accent4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ACC2B7-5769-EB12-7AC2-49EF99E3AB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2679" y="0"/>
            <a:ext cx="404132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399497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F02E7-F1DD-8E1B-BFE6-19DE6F267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824" y="137160"/>
            <a:ext cx="4550283" cy="594000"/>
          </a:xfrm>
        </p:spPr>
        <p:txBody>
          <a:bodyPr>
            <a:normAutofit fontScale="90000"/>
          </a:bodyPr>
          <a:lstStyle/>
          <a:p>
            <a:r>
              <a:rPr lang="en-US" dirty="0"/>
              <a:t>There is a lot of promise &amp; hype about LLMs talking to one another.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112902-1201-2D33-CB4D-5E30853A870E}"/>
              </a:ext>
            </a:extLst>
          </p:cNvPr>
          <p:cNvSpPr/>
          <p:nvPr/>
        </p:nvSpPr>
        <p:spPr>
          <a:xfrm>
            <a:off x="225824" y="4351596"/>
            <a:ext cx="4207383" cy="523218"/>
          </a:xfrm>
          <a:prstGeom prst="rect">
            <a:avLst/>
          </a:prstGeom>
          <a:solidFill>
            <a:schemeClr val="accent1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spc="0" normalizeH="0" baseline="0" dirty="0">
                <a:ln>
                  <a:noFill/>
                </a:ln>
                <a:solidFill>
                  <a:srgbClr val="FAFAFF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rPr>
              <a:t>The next 24months may hav</a:t>
            </a:r>
            <a:r>
              <a:rPr lang="en-US" dirty="0">
                <a:solidFill>
                  <a:srgbClr val="FAFAFF"/>
                </a:solidFill>
              </a:rPr>
              <a:t>e “agentic” workflows, not bigger models.</a:t>
            </a:r>
            <a:endParaRPr kumimoji="0" lang="en-US" sz="1400" b="0" i="0" u="none" strike="noStrike" cap="none" spc="0" normalizeH="0" baseline="0" dirty="0">
              <a:ln>
                <a:noFill/>
              </a:ln>
              <a:solidFill>
                <a:srgbClr val="FAFAFF"/>
              </a:solidFill>
              <a:effectLst/>
              <a:uFillTx/>
              <a:latin typeface="+mj-lt"/>
              <a:ea typeface="+mj-ea"/>
              <a:cs typeface="+mj-cs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0D300E-3ED0-8D18-F851-D5670B9390DD}"/>
              </a:ext>
            </a:extLst>
          </p:cNvPr>
          <p:cNvSpPr txBox="1"/>
          <p:nvPr/>
        </p:nvSpPr>
        <p:spPr>
          <a:xfrm>
            <a:off x="225824" y="1508593"/>
            <a:ext cx="4346176" cy="181588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dirty="0">
                <a:solidFill>
                  <a:srgbClr val="FAFAFF"/>
                </a:solidFill>
              </a:rPr>
              <a:t>Agentic workflows may take us beyond the simple question-and-answer exchanges that have defined our initial forays into AI. </a:t>
            </a:r>
          </a:p>
          <a:p>
            <a:endParaRPr lang="en-US" dirty="0">
              <a:solidFill>
                <a:srgbClr val="FAFAFF"/>
              </a:solidFill>
            </a:endParaRPr>
          </a:p>
          <a:p>
            <a:r>
              <a:rPr lang="en-US" dirty="0">
                <a:solidFill>
                  <a:srgbClr val="FAFAFF"/>
                </a:solidFill>
              </a:rPr>
              <a:t>Instead, agentic workflows involve a looping process where AI systems continually refine their outputs, learn from interactions, and contribute more effectively over time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8893128-3F30-6891-DA4C-A916651817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2679" y="0"/>
            <a:ext cx="404132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616501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82745-DCEC-3A4D-517E-F37E2C4AC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solving agent workflows are emerging.</a:t>
            </a:r>
          </a:p>
        </p:txBody>
      </p:sp>
      <p:pic>
        <p:nvPicPr>
          <p:cNvPr id="4100" name="Picture 4" descr="Multi AI Agent Workflow—The End Is Nigh For Devs | by Reflections &amp; Ideas -  Desmond Loh | Medium">
            <a:extLst>
              <a:ext uri="{FF2B5EF4-FFF2-40B4-BE49-F238E27FC236}">
                <a16:creationId xmlns:a16="http://schemas.microsoft.com/office/drawing/2014/main" id="{6452A54C-4C69-0CAB-1631-A8553D18F3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81665" y="1066718"/>
            <a:ext cx="5980669" cy="30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6412405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2.png"/>
          <p:cNvPicPr>
            <a:picLocks noChangeAspect="1"/>
          </p:cNvPicPr>
          <p:nvPr/>
        </p:nvPicPr>
        <p:blipFill>
          <a:blip r:embed="rId2"/>
          <a:srcRect t="6239" b="6239"/>
          <a:stretch>
            <a:fillRect/>
          </a:stretch>
        </p:blipFill>
        <p:spPr>
          <a:xfrm>
            <a:off x="4526281" y="0"/>
            <a:ext cx="4617491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77190" y="1097280"/>
            <a:ext cx="3840480" cy="2269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Aft>
                <a:spcPts val="1050"/>
              </a:spcAft>
            </a:pPr>
            <a:r>
              <a:rPr sz="2850" dirty="0">
                <a:solidFill>
                  <a:srgbClr val="0099FF"/>
                </a:solidFill>
                <a:latin typeface="Arial Black"/>
              </a:rPr>
              <a:t>A prompt chain is a software team</a:t>
            </a:r>
          </a:p>
          <a:p>
            <a:pPr>
              <a:spcAft>
                <a:spcPts val="300"/>
              </a:spcAft>
            </a:pPr>
            <a:r>
              <a:rPr sz="1425" dirty="0">
                <a:solidFill>
                  <a:srgbClr val="FFFFFF"/>
                </a:solidFill>
                <a:latin typeface="Arial"/>
              </a:rPr>
              <a:t>Four specialist agents pass work down the line:</a:t>
            </a:r>
          </a:p>
          <a:p>
            <a:pPr>
              <a:spcAft>
                <a:spcPts val="1200"/>
              </a:spcAft>
            </a:pPr>
            <a:r>
              <a:rPr sz="1425" b="1" dirty="0">
                <a:solidFill>
                  <a:srgbClr val="FFFFFF"/>
                </a:solidFill>
                <a:latin typeface="Arial"/>
              </a:rPr>
              <a:t>Product Owner  →  QC  →  Tech Writer  →  Programmer</a:t>
            </a:r>
          </a:p>
          <a:p>
            <a:pPr>
              <a:lnSpc>
                <a:spcPct val="105000"/>
              </a:lnSpc>
              <a:spcAft>
                <a:spcPts val="450"/>
              </a:spcAft>
            </a:pPr>
            <a:r>
              <a:rPr lang="en-US" sz="1425" b="1" dirty="0">
                <a:solidFill>
                  <a:srgbClr val="FFC000"/>
                </a:solidFill>
                <a:latin typeface="Arial"/>
              </a:rPr>
              <a:t>In modern workflows, the </a:t>
            </a:r>
            <a:r>
              <a:rPr sz="1425" b="1" dirty="0">
                <a:solidFill>
                  <a:srgbClr val="FFC000"/>
                </a:solidFill>
                <a:latin typeface="Arial"/>
              </a:rPr>
              <a:t>order of the work has flipped.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77190" y="480061"/>
            <a:ext cx="3840480" cy="7894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Aft>
                <a:spcPts val="450"/>
              </a:spcAft>
            </a:pPr>
            <a:r>
              <a:rPr sz="2700" dirty="0">
                <a:solidFill>
                  <a:srgbClr val="FFFFFF"/>
                </a:solidFill>
                <a:latin typeface="Arial Black"/>
              </a:rPr>
              <a:t>The old way: code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1714500"/>
            <a:ext cx="3840480" cy="10882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dirty="0">
                <a:solidFill>
                  <a:srgbClr val="FFFFFF"/>
                </a:solidFill>
                <a:latin typeface="Arial"/>
              </a:rPr>
              <a:t>•  A developer starts typing from a vague request</a:t>
            </a:r>
            <a:r>
              <a:rPr lang="en-US" sz="1350" dirty="0">
                <a:solidFill>
                  <a:srgbClr val="FFFFFF"/>
                </a:solidFill>
                <a:latin typeface="Arial"/>
              </a:rPr>
              <a:t>  “user story”</a:t>
            </a:r>
            <a:r>
              <a:rPr sz="1350" dirty="0">
                <a:solidFill>
                  <a:srgbClr val="FFFFFF"/>
                </a:solidFill>
                <a:latin typeface="Arial"/>
              </a:rPr>
              <a:t>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dirty="0">
                <a:solidFill>
                  <a:srgbClr val="FFFFFF"/>
                </a:solidFill>
                <a:latin typeface="Arial"/>
              </a:rPr>
              <a:t>•  Spec and tests come later</a:t>
            </a:r>
            <a:r>
              <a:rPr lang="en-US" sz="1350" dirty="0">
                <a:solidFill>
                  <a:srgbClr val="FFFFFF"/>
                </a:solidFill>
                <a:latin typeface="Arial"/>
              </a:rPr>
              <a:t>, </a:t>
            </a:r>
            <a:r>
              <a:rPr sz="1350" dirty="0">
                <a:solidFill>
                  <a:srgbClr val="FFFFFF"/>
                </a:solidFill>
                <a:latin typeface="Arial"/>
              </a:rPr>
              <a:t>if they come at all.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dirty="0">
                <a:solidFill>
                  <a:srgbClr val="FFFFFF"/>
                </a:solidFill>
                <a:latin typeface="Arial"/>
              </a:rPr>
              <a:t>•  “Done” means “it ran on my machine.”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377190" y="4114800"/>
            <a:ext cx="3840480" cy="651510"/>
          </a:xfrm>
          <a:prstGeom prst="rect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2870" tIns="54864" rIns="102870" bIns="54864" rtlCol="0" anchor="ctr"/>
          <a:lstStyle/>
          <a:p>
            <a:pPr algn="ctr"/>
            <a:r>
              <a:rPr sz="1275" b="1">
                <a:solidFill>
                  <a:srgbClr val="FFFFFF"/>
                </a:solidFill>
                <a:latin typeface="Arial"/>
              </a:rPr>
              <a:t>Vague prompt in → inconsistent, often broken artifact out.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4D1777-362A-4718-C3D8-DEDFF929F2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111"/>
          <a:stretch>
            <a:fillRect/>
          </a:stretch>
        </p:blipFill>
        <p:spPr>
          <a:xfrm flipH="1">
            <a:off x="4572000" y="12860"/>
            <a:ext cx="4572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77190" y="480060"/>
            <a:ext cx="3840480" cy="7455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5000"/>
              </a:lnSpc>
              <a:spcAft>
                <a:spcPts val="450"/>
              </a:spcAft>
            </a:pPr>
            <a:r>
              <a:rPr sz="2550">
                <a:solidFill>
                  <a:srgbClr val="0099FF"/>
                </a:solidFill>
                <a:latin typeface="Arial Black"/>
              </a:rPr>
              <a:t>The new way: spec-first, test-first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1543051"/>
            <a:ext cx="3840480" cy="17197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900"/>
              </a:spcAft>
            </a:pPr>
            <a:r>
              <a:rPr sz="1275" b="1" dirty="0">
                <a:solidFill>
                  <a:srgbClr val="0099FF"/>
                </a:solidFill>
                <a:latin typeface="Arial Black"/>
              </a:rPr>
              <a:t>1   </a:t>
            </a:r>
            <a:r>
              <a:rPr sz="1275" dirty="0">
                <a:solidFill>
                  <a:srgbClr val="FFFFFF"/>
                </a:solidFill>
                <a:latin typeface="Arial"/>
              </a:rPr>
              <a:t>Product Owner writes the functional spec</a:t>
            </a:r>
            <a:r>
              <a:rPr lang="en-US" sz="1275" dirty="0">
                <a:solidFill>
                  <a:srgbClr val="FFFFFF"/>
                </a:solidFill>
                <a:latin typeface="Arial"/>
              </a:rPr>
              <a:t> because the prompt and described output is the code basis.</a:t>
            </a:r>
            <a:endParaRPr sz="1275" dirty="0">
              <a:solidFill>
                <a:srgbClr val="FFFFFF"/>
              </a:solidFill>
              <a:latin typeface="Arial"/>
            </a:endParaRPr>
          </a:p>
          <a:p>
            <a:pPr>
              <a:spcAft>
                <a:spcPts val="900"/>
              </a:spcAft>
            </a:pPr>
            <a:r>
              <a:rPr sz="1275" b="1" dirty="0">
                <a:solidFill>
                  <a:srgbClr val="0099FF"/>
                </a:solidFill>
                <a:latin typeface="Arial Black"/>
              </a:rPr>
              <a:t>2   </a:t>
            </a:r>
            <a:r>
              <a:rPr sz="1275" dirty="0">
                <a:solidFill>
                  <a:srgbClr val="FFFFFF"/>
                </a:solidFill>
                <a:latin typeface="Arial"/>
              </a:rPr>
              <a:t>QC writes the regression checklist</a:t>
            </a:r>
            <a:r>
              <a:rPr lang="en-US" sz="1275" dirty="0">
                <a:solidFill>
                  <a:srgbClr val="FFFFFF"/>
                </a:solidFill>
                <a:latin typeface="Arial"/>
              </a:rPr>
              <a:t>, </a:t>
            </a:r>
            <a:r>
              <a:rPr sz="1275" dirty="0">
                <a:solidFill>
                  <a:srgbClr val="FFFFFF"/>
                </a:solidFill>
                <a:latin typeface="Arial"/>
              </a:rPr>
              <a:t>before any code</a:t>
            </a:r>
            <a:r>
              <a:rPr lang="en-US" sz="1275" dirty="0">
                <a:solidFill>
                  <a:srgbClr val="FFFFFF"/>
                </a:solidFill>
                <a:latin typeface="Arial"/>
              </a:rPr>
              <a:t> is written</a:t>
            </a:r>
            <a:endParaRPr sz="1275" dirty="0">
              <a:solidFill>
                <a:srgbClr val="FFFFFF"/>
              </a:solidFill>
              <a:latin typeface="Arial"/>
            </a:endParaRPr>
          </a:p>
          <a:p>
            <a:pPr>
              <a:spcAft>
                <a:spcPts val="900"/>
              </a:spcAft>
            </a:pPr>
            <a:r>
              <a:rPr sz="1275" b="1" dirty="0">
                <a:solidFill>
                  <a:srgbClr val="0099FF"/>
                </a:solidFill>
                <a:latin typeface="Arial Black"/>
              </a:rPr>
              <a:t>3   </a:t>
            </a:r>
            <a:r>
              <a:rPr sz="1275" dirty="0">
                <a:solidFill>
                  <a:srgbClr val="FFFFFF"/>
                </a:solidFill>
                <a:latin typeface="Arial"/>
              </a:rPr>
              <a:t>Tech Writer documents the intended behavior</a:t>
            </a:r>
          </a:p>
          <a:p>
            <a:pPr>
              <a:spcAft>
                <a:spcPts val="900"/>
              </a:spcAft>
            </a:pPr>
            <a:r>
              <a:rPr sz="1275" b="1" dirty="0">
                <a:solidFill>
                  <a:srgbClr val="0099FF"/>
                </a:solidFill>
                <a:latin typeface="Arial Black"/>
              </a:rPr>
              <a:t>4   </a:t>
            </a:r>
            <a:r>
              <a:rPr sz="1275" dirty="0">
                <a:solidFill>
                  <a:srgbClr val="FFFFFF"/>
                </a:solidFill>
                <a:latin typeface="Arial"/>
              </a:rPr>
              <a:t>Programmer builds last, to pass the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4149090"/>
            <a:ext cx="3840480" cy="2030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450"/>
              </a:spcAft>
            </a:pPr>
            <a:r>
              <a:rPr sz="1350" b="1">
                <a:solidFill>
                  <a:srgbClr val="FFC000"/>
                </a:solidFill>
                <a:latin typeface="Arial"/>
              </a:rPr>
              <a:t>Success is defined before a line of code exists.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9ACFBA-C31B-5F59-446C-5809FA08CC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0064"/>
          <a:stretch>
            <a:fillRect/>
          </a:stretch>
        </p:blipFill>
        <p:spPr>
          <a:xfrm>
            <a:off x="5032469" y="0"/>
            <a:ext cx="411153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77190" y="480060"/>
            <a:ext cx="3840480" cy="1007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7000"/>
              </a:lnSpc>
              <a:spcAft>
                <a:spcPts val="450"/>
              </a:spcAft>
            </a:pPr>
            <a:r>
              <a:rPr sz="2250">
                <a:solidFill>
                  <a:srgbClr val="0099FF"/>
                </a:solidFill>
                <a:latin typeface="Arial Black"/>
              </a:rPr>
              <a:t>Why flip the order? Now you can test the prompts.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1851661"/>
            <a:ext cx="3840480" cy="11909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dirty="0">
                <a:solidFill>
                  <a:srgbClr val="FFFFFF"/>
                </a:solidFill>
                <a:latin typeface="Arial"/>
              </a:rPr>
              <a:t>•  Same model</a:t>
            </a:r>
            <a:r>
              <a:rPr lang="en-US" sz="1350" dirty="0">
                <a:solidFill>
                  <a:srgbClr val="FFFFFF"/>
                </a:solidFill>
                <a:latin typeface="Arial"/>
              </a:rPr>
              <a:t>, same</a:t>
            </a:r>
            <a:r>
              <a:rPr sz="1350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1350" dirty="0">
                <a:solidFill>
                  <a:srgbClr val="FFFFFF"/>
                </a:solidFill>
                <a:latin typeface="Arial"/>
              </a:rPr>
              <a:t>LLM agent </a:t>
            </a:r>
            <a:r>
              <a:rPr sz="1350" dirty="0">
                <a:solidFill>
                  <a:srgbClr val="FFFFFF"/>
                </a:solidFill>
                <a:latin typeface="Arial"/>
              </a:rPr>
              <a:t>chain</a:t>
            </a:r>
            <a:r>
              <a:rPr lang="en-US" sz="1350" dirty="0">
                <a:solidFill>
                  <a:srgbClr val="FFFFFF"/>
                </a:solidFill>
                <a:latin typeface="Arial"/>
              </a:rPr>
              <a:t>, but </a:t>
            </a:r>
            <a:r>
              <a:rPr sz="1350" dirty="0">
                <a:solidFill>
                  <a:srgbClr val="FFFFFF"/>
                </a:solidFill>
                <a:latin typeface="Arial"/>
              </a:rPr>
              <a:t>swap the system-prompt</a:t>
            </a:r>
            <a:r>
              <a:rPr lang="en-US" sz="1350" dirty="0">
                <a:solidFill>
                  <a:srgbClr val="FFFFFF"/>
                </a:solidFill>
                <a:latin typeface="Arial"/>
              </a:rPr>
              <a:t>s</a:t>
            </a:r>
            <a:r>
              <a:rPr sz="1350" dirty="0">
                <a:solidFill>
                  <a:srgbClr val="FFFFFF"/>
                </a:solidFill>
                <a:latin typeface="Arial"/>
              </a:rPr>
              <a:t> and measure</a:t>
            </a:r>
            <a:r>
              <a:rPr lang="en-US" sz="1350" dirty="0">
                <a:solidFill>
                  <a:srgbClr val="FFFFFF"/>
                </a:solidFill>
                <a:latin typeface="Arial"/>
              </a:rPr>
              <a:t> if the spec/tests are met</a:t>
            </a:r>
            <a:r>
              <a:rPr sz="1350" dirty="0">
                <a:solidFill>
                  <a:srgbClr val="FFFFFF"/>
                </a:solidFill>
                <a:latin typeface="Arial"/>
              </a:rPr>
              <a:t>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dirty="0">
                <a:solidFill>
                  <a:srgbClr val="FFFFFF"/>
                </a:solidFill>
                <a:latin typeface="Arial"/>
              </a:rPr>
              <a:t>•  The QC checklist is a fixed regression suite across prompt versions.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77190" y="4149090"/>
            <a:ext cx="3840480" cy="617220"/>
          </a:xfrm>
          <a:prstGeom prst="rect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2870" tIns="54864" rIns="102870" bIns="54864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Prompts are code. Code needs tests.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B5718E-6881-9FF6-F621-F5DF75C9E4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350"/>
          <a:stretch>
            <a:fillRect/>
          </a:stretch>
        </p:blipFill>
        <p:spPr>
          <a:xfrm>
            <a:off x="4327072" y="0"/>
            <a:ext cx="4816928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EFD37-E273-A5B5-9809-025F7B7AE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824" y="137160"/>
            <a:ext cx="8770130" cy="594000"/>
          </a:xfrm>
        </p:spPr>
        <p:txBody>
          <a:bodyPr>
            <a:noAutofit/>
          </a:bodyPr>
          <a:lstStyle/>
          <a:p>
            <a:r>
              <a:rPr lang="en-US" sz="2000" dirty="0"/>
              <a:t>Chaining Workflows–E script </a:t>
            </a:r>
            <a:r>
              <a:rPr lang="en-US" dirty="0"/>
              <a:t>or more complex on YouTube</a:t>
            </a:r>
            <a:r>
              <a:rPr lang="en-US" sz="2000" dirty="0"/>
              <a:t> </a:t>
            </a:r>
            <a:r>
              <a:rPr lang="en-US" sz="2000" dirty="0">
                <a:hlinkClick r:id="rId2"/>
              </a:rPr>
              <a:t>video</a:t>
            </a: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F43E44-3FB2-4DA0-F8D5-F9310D78E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3201" y="653284"/>
            <a:ext cx="5042753" cy="8170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1F9F835-906E-04C0-3381-85969F99D0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24" y="786973"/>
            <a:ext cx="2779330" cy="39401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87644F-C451-5559-BC80-8D80C65B67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5330" y="3218761"/>
            <a:ext cx="3306536" cy="10603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2910510-8E67-D063-1575-366FD1F863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9126" y="2466079"/>
            <a:ext cx="4016828" cy="6791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6C3967-C60C-F5C3-4286-1E8F67275F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6372" y="3329540"/>
            <a:ext cx="2089582" cy="9495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F03A46B-6184-A4C7-7958-895718EC9DF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60668" y="4431687"/>
            <a:ext cx="4735286" cy="6468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8B35CA8-C6AC-229C-8804-BD216AB942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95354" y="1562468"/>
            <a:ext cx="4800600" cy="77610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55D022-FF07-9247-F80C-047195B86A7B}"/>
              </a:ext>
            </a:extLst>
          </p:cNvPr>
          <p:cNvSpPr txBox="1"/>
          <p:nvPr/>
        </p:nvSpPr>
        <p:spPr>
          <a:xfrm>
            <a:off x="155121" y="4787896"/>
            <a:ext cx="5184321" cy="2616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1100" dirty="0">
                <a:hlinkClick r:id="rId10"/>
              </a:rPr>
              <a:t>https://www.youtube.com/watch?v=QV6kaNFyoyQ&amp;t=74s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109680208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45B0E-A0D3-330F-F434-C1DC9FBA0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824" y="1427117"/>
            <a:ext cx="3456269" cy="594000"/>
          </a:xfrm>
        </p:spPr>
        <p:txBody>
          <a:bodyPr>
            <a:normAutofit fontScale="90000"/>
          </a:bodyPr>
          <a:lstStyle/>
          <a:p>
            <a:r>
              <a:rPr lang="en-US" dirty="0"/>
              <a:t>Open </a:t>
            </a:r>
            <a:r>
              <a:rPr lang="en-US" dirty="0" err="1"/>
              <a:t>E_promptChainExample.R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6AC787-1DD1-316B-7613-C8E59A1FE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0" y="0"/>
            <a:ext cx="51435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498055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0F232-06F6-6582-38D5-590E6E497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824" y="137160"/>
            <a:ext cx="8918176" cy="594000"/>
          </a:xfrm>
        </p:spPr>
        <p:txBody>
          <a:bodyPr>
            <a:noAutofit/>
          </a:bodyPr>
          <a:lstStyle/>
          <a:p>
            <a:r>
              <a:rPr lang="en-US" sz="1800" dirty="0"/>
              <a:t>Primer on Agentic Systems – simplistic F script and primer on YouTube  </a:t>
            </a:r>
            <a:r>
              <a:rPr lang="en-US" sz="1800" dirty="0">
                <a:hlinkClick r:id="rId2"/>
              </a:rPr>
              <a:t>video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FA3AA4-43F2-07D5-210A-05208322D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170" y="731160"/>
            <a:ext cx="6645729" cy="37398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073157-65BD-DD30-D69F-9BB6930A079E}"/>
              </a:ext>
            </a:extLst>
          </p:cNvPr>
          <p:cNvSpPr txBox="1"/>
          <p:nvPr/>
        </p:nvSpPr>
        <p:spPr>
          <a:xfrm>
            <a:off x="0" y="4751616"/>
            <a:ext cx="4572000" cy="3077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https://www.youtube.com/watch?v=sal78ACtGTc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592210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5CA45-4AC3-07CF-72E3-F4A4A03E8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4A05D-6EDB-29FA-FDC8-BA9AFD2D2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824" y="1427117"/>
            <a:ext cx="3456269" cy="594000"/>
          </a:xfrm>
        </p:spPr>
        <p:txBody>
          <a:bodyPr>
            <a:noAutofit/>
          </a:bodyPr>
          <a:lstStyle/>
          <a:p>
            <a:r>
              <a:rPr lang="en-US" sz="1800" dirty="0"/>
              <a:t>Open </a:t>
            </a:r>
            <a:r>
              <a:rPr lang="en-US" sz="1800" dirty="0" err="1"/>
              <a:t>F_agenticExample_w_agency.R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5BC1A9-5FF8-46AE-E3F1-9EBEDAD8E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9293" y="0"/>
            <a:ext cx="51435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411813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DataRobot – Presentation Master Dark">
  <a:themeElements>
    <a:clrScheme name="DataRobot – Presentation Master Dark">
      <a:dk1>
        <a:srgbClr val="000000"/>
      </a:dk1>
      <a:lt1>
        <a:srgbClr val="0A0A0C"/>
      </a:lt1>
      <a:dk2>
        <a:srgbClr val="A7A7A7"/>
      </a:dk2>
      <a:lt2>
        <a:srgbClr val="535353"/>
      </a:lt2>
      <a:accent1>
        <a:srgbClr val="0099FF"/>
      </a:accent1>
      <a:accent2>
        <a:srgbClr val="FF2E3C"/>
      </a:accent2>
      <a:accent3>
        <a:srgbClr val="762CA0"/>
      </a:accent3>
      <a:accent4>
        <a:srgbClr val="FFC000"/>
      </a:accent4>
      <a:accent5>
        <a:srgbClr val="92CA18"/>
      </a:accent5>
      <a:accent6>
        <a:srgbClr val="27AFF4"/>
      </a:accent6>
      <a:hlink>
        <a:srgbClr val="0000FF"/>
      </a:hlink>
      <a:folHlink>
        <a:srgbClr val="FF00FF"/>
      </a:folHlink>
    </a:clrScheme>
    <a:fontScheme name="DataRobot – Presentation Master Dark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DataRobot – Presentation Master Dar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DataRobot – Presentation Master Dark">
  <a:themeElements>
    <a:clrScheme name="DataRobot – Presentation Master Dark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99FF"/>
      </a:accent1>
      <a:accent2>
        <a:srgbClr val="FF2E3C"/>
      </a:accent2>
      <a:accent3>
        <a:srgbClr val="762CA0"/>
      </a:accent3>
      <a:accent4>
        <a:srgbClr val="FFC000"/>
      </a:accent4>
      <a:accent5>
        <a:srgbClr val="92CA18"/>
      </a:accent5>
      <a:accent6>
        <a:srgbClr val="27AFF4"/>
      </a:accent6>
      <a:hlink>
        <a:srgbClr val="0000FF"/>
      </a:hlink>
      <a:folHlink>
        <a:srgbClr val="FF00FF"/>
      </a:folHlink>
    </a:clrScheme>
    <a:fontScheme name="DataRobot – Presentation Master Dark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DataRobot – Presentation Master Dar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6981</TotalTime>
  <Words>411</Words>
  <Application>Microsoft Macintosh PowerPoint</Application>
  <PresentationFormat>On-screen Show (16:9)</PresentationFormat>
  <Paragraphs>32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Arial Black</vt:lpstr>
      <vt:lpstr>Helvetica</vt:lpstr>
      <vt:lpstr>Roboto</vt:lpstr>
      <vt:lpstr>DataRobot – Presentation Master Dark</vt:lpstr>
      <vt:lpstr>The future is “agentic”! Multiple LLMs will interact to solve subset tasks leading to a goal.    Because it’s an emergent field, some define functionality that is a “prompt chain” while others have “LLM orchestration over LLMs” </vt:lpstr>
      <vt:lpstr>There is a lot of promise &amp; hype about LLMs talking to one another.</vt:lpstr>
      <vt:lpstr>Problem solving agent workflows are emerging.</vt:lpstr>
      <vt:lpstr>PowerPoint Presentation</vt:lpstr>
      <vt:lpstr>PowerPoint Presentation</vt:lpstr>
      <vt:lpstr>PowerPoint Presentation</vt:lpstr>
      <vt:lpstr>PowerPoint Presentation</vt:lpstr>
      <vt:lpstr>Chaining Workflows–E script or more complex on YouTube video</vt:lpstr>
      <vt:lpstr>Open E_promptChainExample.R</vt:lpstr>
      <vt:lpstr>Primer on Agentic Systems – simplistic F script and primer on YouTube  video</vt:lpstr>
      <vt:lpstr>Open F_agenticExample_w_agency.R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Ted Kwartler</cp:lastModifiedBy>
  <cp:revision>48</cp:revision>
  <dcterms:modified xsi:type="dcterms:W3CDTF">2026-06-11T21:12:54Z</dcterms:modified>
</cp:coreProperties>
</file>