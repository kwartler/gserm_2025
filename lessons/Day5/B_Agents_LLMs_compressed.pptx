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327" r:id="rId2"/>
    <p:sldId id="300" r:id="rId3"/>
    <p:sldId id="301" r:id="rId4"/>
    <p:sldId id="328" r:id="rId5"/>
    <p:sldId id="329" r:id="rId6"/>
    <p:sldId id="330" r:id="rId7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40FF"/>
    <a:srgbClr val="FAF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DFF"/>
          </a:solidFill>
        </a:fill>
      </a:tcStyle>
    </a:wholeTbl>
    <a:band2H>
      <a:tcTxStyle/>
      <a:tcStyle>
        <a:tcBdr/>
        <a:fill>
          <a:solidFill>
            <a:srgbClr val="E6E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CBDF"/>
          </a:solidFill>
        </a:fill>
      </a:tcStyle>
    </a:wholeTbl>
    <a:band2H>
      <a:tcTxStyle/>
      <a:tcStyle>
        <a:tcBdr/>
        <a:fill>
          <a:solidFill>
            <a:srgbClr val="EBE7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E3FB"/>
          </a:solidFill>
        </a:fill>
      </a:tcStyle>
    </a:wholeTbl>
    <a:band2H>
      <a:tcTxStyle/>
      <a:tcStyle>
        <a:tcBdr/>
        <a:fill>
          <a:solidFill>
            <a:srgbClr val="E7F2FD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36"/>
    <p:restoredTop sz="94694"/>
  </p:normalViewPr>
  <p:slideViewPr>
    <p:cSldViewPr snapToGrid="0">
      <p:cViewPr varScale="1">
        <p:scale>
          <a:sx n="156" d="100"/>
          <a:sy n="156" d="100"/>
        </p:scale>
        <p:origin x="56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Shape 58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87" name="Shape 58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Arial"/>
      </a:defRPr>
    </a:lvl1pPr>
    <a:lvl2pPr indent="228600" latinLnBrk="0">
      <a:defRPr sz="1400">
        <a:latin typeface="+mj-lt"/>
        <a:ea typeface="+mj-ea"/>
        <a:cs typeface="+mj-cs"/>
        <a:sym typeface="Arial"/>
      </a:defRPr>
    </a:lvl2pPr>
    <a:lvl3pPr indent="457200" latinLnBrk="0">
      <a:defRPr sz="1400">
        <a:latin typeface="+mj-lt"/>
        <a:ea typeface="+mj-ea"/>
        <a:cs typeface="+mj-cs"/>
        <a:sym typeface="Arial"/>
      </a:defRPr>
    </a:lvl3pPr>
    <a:lvl4pPr indent="685800" latinLnBrk="0">
      <a:defRPr sz="1400">
        <a:latin typeface="+mj-lt"/>
        <a:ea typeface="+mj-ea"/>
        <a:cs typeface="+mj-cs"/>
        <a:sym typeface="Arial"/>
      </a:defRPr>
    </a:lvl4pPr>
    <a:lvl5pPr indent="914400" latinLnBrk="0">
      <a:defRPr sz="1400">
        <a:latin typeface="+mj-lt"/>
        <a:ea typeface="+mj-ea"/>
        <a:cs typeface="+mj-cs"/>
        <a:sym typeface="Arial"/>
      </a:defRPr>
    </a:lvl5pPr>
    <a:lvl6pPr indent="1143000" latinLnBrk="0">
      <a:defRPr sz="1400">
        <a:latin typeface="+mj-lt"/>
        <a:ea typeface="+mj-ea"/>
        <a:cs typeface="+mj-cs"/>
        <a:sym typeface="Arial"/>
      </a:defRPr>
    </a:lvl6pPr>
    <a:lvl7pPr indent="1371600" latinLnBrk="0">
      <a:defRPr sz="1400">
        <a:latin typeface="+mj-lt"/>
        <a:ea typeface="+mj-ea"/>
        <a:cs typeface="+mj-cs"/>
        <a:sym typeface="Arial"/>
      </a:defRPr>
    </a:lvl7pPr>
    <a:lvl8pPr indent="1600200" latinLnBrk="0">
      <a:defRPr sz="1400">
        <a:latin typeface="+mj-lt"/>
        <a:ea typeface="+mj-ea"/>
        <a:cs typeface="+mj-cs"/>
        <a:sym typeface="Arial"/>
      </a:defRPr>
    </a:lvl8pPr>
    <a:lvl9pPr indent="1828800" latinLnBrk="0">
      <a:defRPr sz="14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hart 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Title Text"/>
          <p:cNvSpPr txBox="1">
            <a:spLocks noGrp="1"/>
          </p:cNvSpPr>
          <p:nvPr>
            <p:ph type="title"/>
          </p:nvPr>
        </p:nvSpPr>
        <p:spPr>
          <a:xfrm>
            <a:off x="225824" y="137160"/>
            <a:ext cx="7689601" cy="594000"/>
          </a:xfrm>
          <a:prstGeom prst="rect">
            <a:avLst/>
          </a:prstGeom>
        </p:spPr>
        <p:txBody>
          <a:bodyPr anchor="ctr"/>
          <a:lstStyle>
            <a:lvl1pPr>
              <a:defRPr sz="2400"/>
            </a:lvl1pPr>
          </a:lstStyle>
          <a:p>
            <a:r>
              <a:t>Title Text</a:t>
            </a:r>
          </a:p>
        </p:txBody>
      </p:sp>
      <p:sp>
        <p:nvSpPr>
          <p:cNvPr id="39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92430" y="3209544"/>
            <a:ext cx="8169901" cy="120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4275" tIns="34275" rIns="34275" bIns="34275" anchor="b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4275" tIns="34275" rIns="34275" bIns="34275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19600" y="4767262"/>
            <a:ext cx="2133600" cy="309851"/>
          </a:xfrm>
          <a:prstGeom prst="rect">
            <a:avLst/>
          </a:prstGeom>
          <a:ln w="12700">
            <a:miter lim="400000"/>
          </a:ln>
        </p:spPr>
        <p:txBody>
          <a:bodyPr wrap="none" lIns="91424" tIns="91424" rIns="91424" bIns="91424">
            <a:spAutoFit/>
          </a:bodyPr>
          <a:lstStyle>
            <a:lvl1pPr algn="r">
              <a:defRPr sz="800">
                <a:solidFill>
                  <a:srgbClr val="A5A5A5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0" baseline="0">
          <a:solidFill>
            <a:srgbClr val="FFFFFF"/>
          </a:solidFill>
          <a:uFillTx/>
          <a:latin typeface="Roboto"/>
          <a:ea typeface="Roboto"/>
          <a:cs typeface="Roboto"/>
          <a:sym typeface="Roboto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0" baseline="0">
          <a:solidFill>
            <a:srgbClr val="FFFFFF"/>
          </a:solidFill>
          <a:uFillTx/>
          <a:latin typeface="Roboto"/>
          <a:ea typeface="Roboto"/>
          <a:cs typeface="Roboto"/>
          <a:sym typeface="Roboto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0" baseline="0">
          <a:solidFill>
            <a:srgbClr val="FFFFFF"/>
          </a:solidFill>
          <a:uFillTx/>
          <a:latin typeface="Roboto"/>
          <a:ea typeface="Roboto"/>
          <a:cs typeface="Roboto"/>
          <a:sym typeface="Roboto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0" baseline="0">
          <a:solidFill>
            <a:srgbClr val="FFFFFF"/>
          </a:solidFill>
          <a:uFillTx/>
          <a:latin typeface="Roboto"/>
          <a:ea typeface="Roboto"/>
          <a:cs typeface="Roboto"/>
          <a:sym typeface="Roboto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0" baseline="0">
          <a:solidFill>
            <a:srgbClr val="FFFFFF"/>
          </a:solidFill>
          <a:uFillTx/>
          <a:latin typeface="Roboto"/>
          <a:ea typeface="Roboto"/>
          <a:cs typeface="Roboto"/>
          <a:sym typeface="Roboto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0" baseline="0">
          <a:solidFill>
            <a:srgbClr val="FFFFFF"/>
          </a:solidFill>
          <a:uFillTx/>
          <a:latin typeface="Roboto"/>
          <a:ea typeface="Roboto"/>
          <a:cs typeface="Roboto"/>
          <a:sym typeface="Roboto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0" baseline="0">
          <a:solidFill>
            <a:srgbClr val="FFFFFF"/>
          </a:solidFill>
          <a:uFillTx/>
          <a:latin typeface="Roboto"/>
          <a:ea typeface="Roboto"/>
          <a:cs typeface="Roboto"/>
          <a:sym typeface="Roboto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0" baseline="0">
          <a:solidFill>
            <a:srgbClr val="FFFFFF"/>
          </a:solidFill>
          <a:uFillTx/>
          <a:latin typeface="Roboto"/>
          <a:ea typeface="Roboto"/>
          <a:cs typeface="Roboto"/>
          <a:sym typeface="Roboto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0" baseline="0">
          <a:solidFill>
            <a:srgbClr val="FFFFFF"/>
          </a:solidFill>
          <a:uFillTx/>
          <a:latin typeface="Roboto"/>
          <a:ea typeface="Roboto"/>
          <a:cs typeface="Roboto"/>
          <a:sym typeface="Roboto"/>
        </a:defRPr>
      </a:lvl9pPr>
    </p:titleStyle>
    <p:bodyStyle>
      <a:lvl1pPr marL="457200" marR="0" indent="-342900" algn="l" defTabSz="914400" rtl="0" latinLnBrk="0">
        <a:lnSpc>
          <a:spcPct val="90000"/>
        </a:lnSpc>
        <a:spcBef>
          <a:spcPts val="800"/>
        </a:spcBef>
        <a:spcAft>
          <a:spcPts val="0"/>
        </a:spcAft>
        <a:buClr>
          <a:srgbClr val="FFFFFF"/>
        </a:buClr>
        <a:buSzPts val="1800"/>
        <a:buFont typeface="Helvetica"/>
        <a:buChar char="•"/>
        <a:tabLst/>
        <a:defRPr sz="1800" b="1" i="0" u="none" strike="noStrike" cap="none" spc="0" baseline="0">
          <a:solidFill>
            <a:srgbClr val="FFFFFF"/>
          </a:solidFill>
          <a:uFillTx/>
          <a:latin typeface="Roboto"/>
          <a:ea typeface="Roboto"/>
          <a:cs typeface="Roboto"/>
          <a:sym typeface="Roboto"/>
        </a:defRPr>
      </a:lvl1pPr>
      <a:lvl2pPr marL="979169" marR="0" indent="-388619" algn="l" defTabSz="914400" rtl="0" latinLnBrk="0">
        <a:lnSpc>
          <a:spcPct val="90000"/>
        </a:lnSpc>
        <a:spcBef>
          <a:spcPts val="800"/>
        </a:spcBef>
        <a:spcAft>
          <a:spcPts val="0"/>
        </a:spcAft>
        <a:buClr>
          <a:srgbClr val="FFFFFF"/>
        </a:buClr>
        <a:buSzPts val="1800"/>
        <a:buFont typeface="Helvetica"/>
        <a:buChar char="•"/>
        <a:tabLst/>
        <a:defRPr sz="1800" b="1" i="0" u="none" strike="noStrike" cap="none" spc="0" baseline="0">
          <a:solidFill>
            <a:srgbClr val="FFFFFF"/>
          </a:solidFill>
          <a:uFillTx/>
          <a:latin typeface="Roboto"/>
          <a:ea typeface="Roboto"/>
          <a:cs typeface="Roboto"/>
          <a:sym typeface="Roboto"/>
        </a:defRPr>
      </a:lvl2pPr>
      <a:lvl3pPr marL="1524000" marR="0" indent="-457200" algn="l" defTabSz="914400" rtl="0" latinLnBrk="0">
        <a:lnSpc>
          <a:spcPct val="90000"/>
        </a:lnSpc>
        <a:spcBef>
          <a:spcPts val="800"/>
        </a:spcBef>
        <a:spcAft>
          <a:spcPts val="0"/>
        </a:spcAft>
        <a:buClr>
          <a:srgbClr val="FFFFFF"/>
        </a:buClr>
        <a:buSzPts val="1800"/>
        <a:buFont typeface="Helvetica"/>
        <a:buChar char="•"/>
        <a:tabLst/>
        <a:defRPr sz="1800" b="1" i="0" u="none" strike="noStrike" cap="none" spc="0" baseline="0">
          <a:solidFill>
            <a:srgbClr val="FFFFFF"/>
          </a:solidFill>
          <a:uFillTx/>
          <a:latin typeface="Roboto"/>
          <a:ea typeface="Roboto"/>
          <a:cs typeface="Roboto"/>
          <a:sym typeface="Roboto"/>
        </a:defRPr>
      </a:lvl3pPr>
      <a:lvl4pPr marL="1981200" marR="0" indent="-457200" algn="l" defTabSz="914400" rtl="0" latinLnBrk="0">
        <a:lnSpc>
          <a:spcPct val="90000"/>
        </a:lnSpc>
        <a:spcBef>
          <a:spcPts val="800"/>
        </a:spcBef>
        <a:spcAft>
          <a:spcPts val="0"/>
        </a:spcAft>
        <a:buClr>
          <a:srgbClr val="FFFFFF"/>
        </a:buClr>
        <a:buSzPts val="1800"/>
        <a:buFont typeface="Helvetica"/>
        <a:buChar char="•"/>
        <a:tabLst/>
        <a:defRPr sz="1800" b="1" i="0" u="none" strike="noStrike" cap="none" spc="0" baseline="0">
          <a:solidFill>
            <a:srgbClr val="FFFFFF"/>
          </a:solidFill>
          <a:uFillTx/>
          <a:latin typeface="Roboto"/>
          <a:ea typeface="Roboto"/>
          <a:cs typeface="Roboto"/>
          <a:sym typeface="Roboto"/>
        </a:defRPr>
      </a:lvl4pPr>
      <a:lvl5pPr marL="2438400" marR="0" indent="-457200" algn="l" defTabSz="914400" rtl="0" latinLnBrk="0">
        <a:lnSpc>
          <a:spcPct val="90000"/>
        </a:lnSpc>
        <a:spcBef>
          <a:spcPts val="800"/>
        </a:spcBef>
        <a:spcAft>
          <a:spcPts val="0"/>
        </a:spcAft>
        <a:buClr>
          <a:srgbClr val="FFFFFF"/>
        </a:buClr>
        <a:buSzPts val="1800"/>
        <a:buFont typeface="Helvetica"/>
        <a:buChar char="•"/>
        <a:tabLst/>
        <a:defRPr sz="1800" b="1" i="0" u="none" strike="noStrike" cap="none" spc="0" baseline="0">
          <a:solidFill>
            <a:srgbClr val="FFFFFF"/>
          </a:solidFill>
          <a:uFillTx/>
          <a:latin typeface="Roboto"/>
          <a:ea typeface="Roboto"/>
          <a:cs typeface="Roboto"/>
          <a:sym typeface="Roboto"/>
        </a:defRPr>
      </a:lvl5pPr>
      <a:lvl6pPr marL="2895600" marR="0" indent="-457200" algn="l" defTabSz="914400" rtl="0" latinLnBrk="0">
        <a:lnSpc>
          <a:spcPct val="90000"/>
        </a:lnSpc>
        <a:spcBef>
          <a:spcPts val="800"/>
        </a:spcBef>
        <a:spcAft>
          <a:spcPts val="0"/>
        </a:spcAft>
        <a:buClr>
          <a:srgbClr val="FFFFFF"/>
        </a:buClr>
        <a:buSzPts val="1800"/>
        <a:buFont typeface="Helvetica"/>
        <a:buChar char="•"/>
        <a:tabLst/>
        <a:defRPr sz="1800" b="1" i="0" u="none" strike="noStrike" cap="none" spc="0" baseline="0">
          <a:solidFill>
            <a:srgbClr val="FFFFFF"/>
          </a:solidFill>
          <a:uFillTx/>
          <a:latin typeface="Roboto"/>
          <a:ea typeface="Roboto"/>
          <a:cs typeface="Roboto"/>
          <a:sym typeface="Roboto"/>
        </a:defRPr>
      </a:lvl6pPr>
      <a:lvl7pPr marL="3352800" marR="0" indent="-457200" algn="l" defTabSz="914400" rtl="0" latinLnBrk="0">
        <a:lnSpc>
          <a:spcPct val="90000"/>
        </a:lnSpc>
        <a:spcBef>
          <a:spcPts val="800"/>
        </a:spcBef>
        <a:spcAft>
          <a:spcPts val="0"/>
        </a:spcAft>
        <a:buClr>
          <a:srgbClr val="FFFFFF"/>
        </a:buClr>
        <a:buSzPts val="1800"/>
        <a:buFont typeface="Helvetica"/>
        <a:buChar char="•"/>
        <a:tabLst/>
        <a:defRPr sz="1800" b="1" i="0" u="none" strike="noStrike" cap="none" spc="0" baseline="0">
          <a:solidFill>
            <a:srgbClr val="FFFFFF"/>
          </a:solidFill>
          <a:uFillTx/>
          <a:latin typeface="Roboto"/>
          <a:ea typeface="Roboto"/>
          <a:cs typeface="Roboto"/>
          <a:sym typeface="Roboto"/>
        </a:defRPr>
      </a:lvl7pPr>
      <a:lvl8pPr marL="3810000" marR="0" indent="-457200" algn="l" defTabSz="914400" rtl="0" latinLnBrk="0">
        <a:lnSpc>
          <a:spcPct val="90000"/>
        </a:lnSpc>
        <a:spcBef>
          <a:spcPts val="800"/>
        </a:spcBef>
        <a:spcAft>
          <a:spcPts val="0"/>
        </a:spcAft>
        <a:buClr>
          <a:srgbClr val="FFFFFF"/>
        </a:buClr>
        <a:buSzPts val="1800"/>
        <a:buFont typeface="Helvetica"/>
        <a:buChar char="•"/>
        <a:tabLst/>
        <a:defRPr sz="1800" b="1" i="0" u="none" strike="noStrike" cap="none" spc="0" baseline="0">
          <a:solidFill>
            <a:srgbClr val="FFFFFF"/>
          </a:solidFill>
          <a:uFillTx/>
          <a:latin typeface="Roboto"/>
          <a:ea typeface="Roboto"/>
          <a:cs typeface="Roboto"/>
          <a:sym typeface="Roboto"/>
        </a:defRPr>
      </a:lvl8pPr>
      <a:lvl9pPr marL="4267200" marR="0" indent="-457200" algn="l" defTabSz="914400" rtl="0" latinLnBrk="0">
        <a:lnSpc>
          <a:spcPct val="90000"/>
        </a:lnSpc>
        <a:spcBef>
          <a:spcPts val="800"/>
        </a:spcBef>
        <a:spcAft>
          <a:spcPts val="0"/>
        </a:spcAft>
        <a:buClr>
          <a:srgbClr val="FFFFFF"/>
        </a:buClr>
        <a:buSzPts val="1800"/>
        <a:buFont typeface="Helvetica"/>
        <a:buChar char="•"/>
        <a:tabLst/>
        <a:defRPr sz="1800" b="1" i="0" u="none" strike="noStrike" cap="none" spc="0" baseline="0">
          <a:solidFill>
            <a:srgbClr val="FFFFFF"/>
          </a:solidFill>
          <a:uFillTx/>
          <a:latin typeface="Roboto"/>
          <a:ea typeface="Roboto"/>
          <a:cs typeface="Roboto"/>
          <a:sym typeface="Roboto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sal78ACtGTc&amp;ab_channel=SequoiaCapital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ttps://www.youtube.com/watch?v=sal78ACtGTc&amp;ab_channel=SequoiaCapital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hyperlink" Target="https://www.youtube.com/watch?v=QV6kaNFyoyQ&amp;t=74s&amp;ab_channel=IndyDevDan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A4FD4-7780-F7BA-0B47-8E00850E4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86" y="1749149"/>
            <a:ext cx="4808764" cy="2050241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The future is “agentic”!</a:t>
            </a:r>
            <a:br>
              <a:rPr lang="en-US" sz="3600" dirty="0"/>
            </a:br>
            <a:r>
              <a:rPr lang="en-US" sz="2000" dirty="0"/>
              <a:t>Multiple LLMs will interact to solve subset tasks leading to a goal.  </a:t>
            </a:r>
            <a:br>
              <a:rPr lang="en-US" sz="2000" dirty="0"/>
            </a:br>
            <a:br>
              <a:rPr lang="en-US" sz="2000" dirty="0"/>
            </a:br>
            <a:r>
              <a:rPr lang="en-US" sz="1600" dirty="0">
                <a:solidFill>
                  <a:schemeClr val="accent4"/>
                </a:solidFill>
              </a:rPr>
              <a:t>Because it’s an emergent field, some define functionality that is a “prompt chain” while others have “LLM orchestration over LLMs” </a:t>
            </a:r>
            <a:endParaRPr lang="en-US" sz="2000" dirty="0">
              <a:solidFill>
                <a:schemeClr val="accent4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ACC2B7-5769-EB12-7AC2-49EF99E3AB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2679" y="0"/>
            <a:ext cx="404132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399497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F02E7-F1DD-8E1B-BFE6-19DE6F267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824" y="137160"/>
            <a:ext cx="4550283" cy="594000"/>
          </a:xfrm>
        </p:spPr>
        <p:txBody>
          <a:bodyPr>
            <a:normAutofit fontScale="90000"/>
          </a:bodyPr>
          <a:lstStyle/>
          <a:p>
            <a:r>
              <a:rPr lang="en-US" dirty="0"/>
              <a:t>There is a lot of promise &amp; hype about LLMs talking to one another.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112902-1201-2D33-CB4D-5E30853A870E}"/>
              </a:ext>
            </a:extLst>
          </p:cNvPr>
          <p:cNvSpPr/>
          <p:nvPr/>
        </p:nvSpPr>
        <p:spPr>
          <a:xfrm>
            <a:off x="225824" y="4351596"/>
            <a:ext cx="4207383" cy="523218"/>
          </a:xfrm>
          <a:prstGeom prst="rect">
            <a:avLst/>
          </a:prstGeom>
          <a:solidFill>
            <a:schemeClr val="accent1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FAFAFF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The next 24months may hav</a:t>
            </a:r>
            <a:r>
              <a:rPr lang="en-US" dirty="0">
                <a:solidFill>
                  <a:srgbClr val="FAFAFF"/>
                </a:solidFill>
              </a:rPr>
              <a:t>e “agentic” workflows, not bigger models.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rgbClr val="FAFAFF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0D300E-3ED0-8D18-F851-D5670B9390DD}"/>
              </a:ext>
            </a:extLst>
          </p:cNvPr>
          <p:cNvSpPr txBox="1"/>
          <p:nvPr/>
        </p:nvSpPr>
        <p:spPr>
          <a:xfrm>
            <a:off x="225824" y="1508593"/>
            <a:ext cx="4346176" cy="181588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FAFAFF"/>
                </a:solidFill>
              </a:rPr>
              <a:t>Agentic workflows may take us beyond the simple question-and-answer exchanges that have defined our initial forays into AI. </a:t>
            </a:r>
          </a:p>
          <a:p>
            <a:endParaRPr lang="en-US" dirty="0">
              <a:solidFill>
                <a:srgbClr val="FAFAFF"/>
              </a:solidFill>
            </a:endParaRPr>
          </a:p>
          <a:p>
            <a:r>
              <a:rPr lang="en-US" dirty="0">
                <a:solidFill>
                  <a:srgbClr val="FAFAFF"/>
                </a:solidFill>
              </a:rPr>
              <a:t>Instead, agentic workflows involve a cyclical process where AI systems continually refine their outputs, learn from interactions, and contribute more effectively over time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893128-3F30-6891-DA4C-A916651817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2679" y="0"/>
            <a:ext cx="404132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616501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82745-DCEC-3A4D-517E-F37E2C4AC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solving agent workflows are emerging.</a:t>
            </a:r>
          </a:p>
        </p:txBody>
      </p:sp>
      <p:pic>
        <p:nvPicPr>
          <p:cNvPr id="4100" name="Picture 4" descr="Multi AI Agent Workflow—The End Is Nigh For Devs | by Reflections &amp; Ideas -  Desmond Loh | Medium">
            <a:extLst>
              <a:ext uri="{FF2B5EF4-FFF2-40B4-BE49-F238E27FC236}">
                <a16:creationId xmlns:a16="http://schemas.microsoft.com/office/drawing/2014/main" id="{6452A54C-4C69-0CAB-1631-A8553D18F3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81665" y="1066718"/>
            <a:ext cx="5980669" cy="30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E70D64-1CB8-EF7A-032C-D03AFC5DA964}"/>
              </a:ext>
            </a:extLst>
          </p:cNvPr>
          <p:cNvSpPr txBox="1"/>
          <p:nvPr/>
        </p:nvSpPr>
        <p:spPr>
          <a:xfrm>
            <a:off x="164757" y="4744730"/>
            <a:ext cx="6487297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https://www.youtube.com/watch?v=sal78ACtGTc&amp;ab_channel=SequoiaCapital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41240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45B0E-A0D3-330F-F434-C1DC9FBA0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824" y="1427117"/>
            <a:ext cx="3456269" cy="594000"/>
          </a:xfrm>
        </p:spPr>
        <p:txBody>
          <a:bodyPr>
            <a:normAutofit fontScale="90000"/>
          </a:bodyPr>
          <a:lstStyle/>
          <a:p>
            <a:r>
              <a:rPr lang="en-US" dirty="0"/>
              <a:t>Open </a:t>
            </a:r>
            <a:r>
              <a:rPr lang="en-US" dirty="0" err="1"/>
              <a:t>E_promptChainExample.R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A0C11C-8FD9-05D3-6C3A-8C50150EAA9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0500" y="0"/>
            <a:ext cx="51435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498055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0F232-06F6-6582-38D5-590E6E497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824" y="137160"/>
            <a:ext cx="8918176" cy="594000"/>
          </a:xfrm>
        </p:spPr>
        <p:txBody>
          <a:bodyPr>
            <a:noAutofit/>
          </a:bodyPr>
          <a:lstStyle/>
          <a:p>
            <a:r>
              <a:rPr lang="en-US" sz="2000" dirty="0"/>
              <a:t>Primer on Agentic Systems – see bad quality in repo or YouTube  </a:t>
            </a:r>
            <a:r>
              <a:rPr lang="en-US" sz="2000" dirty="0">
                <a:hlinkClick r:id="rId2"/>
              </a:rPr>
              <a:t>video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6CB962-D11C-E0C9-0C23-8A17BB6CB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31160"/>
            <a:ext cx="7620000" cy="420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592210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EFD37-E273-A5B5-9809-025F7B7AE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824" y="137160"/>
            <a:ext cx="8770130" cy="594000"/>
          </a:xfrm>
        </p:spPr>
        <p:txBody>
          <a:bodyPr>
            <a:normAutofit fontScale="90000"/>
          </a:bodyPr>
          <a:lstStyle/>
          <a:p>
            <a:r>
              <a:rPr lang="en-US" dirty="0"/>
              <a:t>Chaining Workflows–</a:t>
            </a:r>
            <a:r>
              <a:rPr lang="en-US" sz="2800" dirty="0"/>
              <a:t> see bad quality in repo or YouTube</a:t>
            </a:r>
            <a:r>
              <a:rPr lang="en-US" sz="2700" dirty="0"/>
              <a:t> </a:t>
            </a:r>
            <a:r>
              <a:rPr lang="en-US" sz="2700" dirty="0">
                <a:hlinkClick r:id="rId2"/>
              </a:rPr>
              <a:t>video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EA77B9-4556-CBB7-6A15-95B34226AB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882" y="990055"/>
            <a:ext cx="6961414" cy="3767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68020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DataRobot – Presentation Master Dark">
  <a:themeElements>
    <a:clrScheme name="DataRobot – Presentation Master Dark">
      <a:dk1>
        <a:srgbClr val="000000"/>
      </a:dk1>
      <a:lt1>
        <a:srgbClr val="0A0A0C"/>
      </a:lt1>
      <a:dk2>
        <a:srgbClr val="A7A7A7"/>
      </a:dk2>
      <a:lt2>
        <a:srgbClr val="535353"/>
      </a:lt2>
      <a:accent1>
        <a:srgbClr val="0099FF"/>
      </a:accent1>
      <a:accent2>
        <a:srgbClr val="FF2E3C"/>
      </a:accent2>
      <a:accent3>
        <a:srgbClr val="762CA0"/>
      </a:accent3>
      <a:accent4>
        <a:srgbClr val="FFC000"/>
      </a:accent4>
      <a:accent5>
        <a:srgbClr val="92CA18"/>
      </a:accent5>
      <a:accent6>
        <a:srgbClr val="27AFF4"/>
      </a:accent6>
      <a:hlink>
        <a:srgbClr val="0000FF"/>
      </a:hlink>
      <a:folHlink>
        <a:srgbClr val="FF00FF"/>
      </a:folHlink>
    </a:clrScheme>
    <a:fontScheme name="DataRobot – Presentation Master Dark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DataRobot – Presentation Master Dar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DataRobot – Presentation Master Dark">
  <a:themeElements>
    <a:clrScheme name="DataRobot – Presentation Master Dark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99FF"/>
      </a:accent1>
      <a:accent2>
        <a:srgbClr val="FF2E3C"/>
      </a:accent2>
      <a:accent3>
        <a:srgbClr val="762CA0"/>
      </a:accent3>
      <a:accent4>
        <a:srgbClr val="FFC000"/>
      </a:accent4>
      <a:accent5>
        <a:srgbClr val="92CA18"/>
      </a:accent5>
      <a:accent6>
        <a:srgbClr val="27AFF4"/>
      </a:accent6>
      <a:hlink>
        <a:srgbClr val="0000FF"/>
      </a:hlink>
      <a:folHlink>
        <a:srgbClr val="FF00FF"/>
      </a:folHlink>
    </a:clrScheme>
    <a:fontScheme name="DataRobot – Presentation Master Dark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DataRobot – Presentation Master Dar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6867</TotalTime>
  <Words>177</Words>
  <Application>Microsoft Macintosh PowerPoint</Application>
  <PresentationFormat>On-screen Show (16:9)</PresentationFormat>
  <Paragraphs>11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Helvetica</vt:lpstr>
      <vt:lpstr>Roboto</vt:lpstr>
      <vt:lpstr>DataRobot – Presentation Master Dark</vt:lpstr>
      <vt:lpstr>The future is “agentic”! Multiple LLMs will interact to solve subset tasks leading to a goal.    Because it’s an emergent field, some define functionality that is a “prompt chain” while others have “LLM orchestration over LLMs” </vt:lpstr>
      <vt:lpstr>There is a lot of promise &amp; hype about LLMs talking to one another.</vt:lpstr>
      <vt:lpstr>Problem solving agent workflows are emerging.</vt:lpstr>
      <vt:lpstr>Open E_promptChainExample.R</vt:lpstr>
      <vt:lpstr>Primer on Agentic Systems – see bad quality in repo or YouTube  video</vt:lpstr>
      <vt:lpstr>Chaining Workflows– see bad quality in repo or YouTube video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Ted Kwartler</cp:lastModifiedBy>
  <cp:revision>40</cp:revision>
  <dcterms:modified xsi:type="dcterms:W3CDTF">2025-06-27T06:55:51Z</dcterms:modified>
</cp:coreProperties>
</file>