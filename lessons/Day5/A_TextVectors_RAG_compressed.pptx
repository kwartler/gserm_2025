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906" r:id="rId2"/>
    <p:sldId id="545" r:id="rId3"/>
    <p:sldId id="905" r:id="rId4"/>
    <p:sldId id="907" r:id="rId5"/>
    <p:sldId id="908" r:id="rId6"/>
    <p:sldId id="909" r:id="rId7"/>
    <p:sldId id="916" r:id="rId8"/>
    <p:sldId id="912" r:id="rId9"/>
    <p:sldId id="914" r:id="rId10"/>
    <p:sldId id="918" r:id="rId11"/>
    <p:sldId id="915" r:id="rId12"/>
    <p:sldId id="911" r:id="rId13"/>
    <p:sldId id="917" r:id="rId14"/>
    <p:sldId id="924" r:id="rId15"/>
    <p:sldId id="926" r:id="rId16"/>
    <p:sldId id="925" r:id="rId17"/>
    <p:sldId id="920" r:id="rId18"/>
    <p:sldId id="922" r:id="rId19"/>
    <p:sldId id="923" r:id="rId20"/>
    <p:sldId id="927" r:id="rId21"/>
    <p:sldId id="904" r:id="rId22"/>
    <p:sldId id="929" r:id="rId23"/>
    <p:sldId id="935" r:id="rId24"/>
    <p:sldId id="936" r:id="rId25"/>
    <p:sldId id="928" r:id="rId26"/>
    <p:sldId id="931" r:id="rId27"/>
    <p:sldId id="930" r:id="rId28"/>
    <p:sldId id="932" r:id="rId29"/>
    <p:sldId id="934" r:id="rId30"/>
    <p:sldId id="933" r:id="rId31"/>
    <p:sldId id="937" r:id="rId32"/>
    <p:sldId id="938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d Kwartler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91" autoAdjust="0"/>
    <p:restoredTop sz="91695" autoAdjust="0"/>
  </p:normalViewPr>
  <p:slideViewPr>
    <p:cSldViewPr snapToGrid="0">
      <p:cViewPr>
        <p:scale>
          <a:sx n="127" d="100"/>
          <a:sy n="127" d="100"/>
        </p:scale>
        <p:origin x="1144" y="4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0A60C-850A-4EA4-9C14-A8FE98B94505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9AA13-E3FC-4BB6-B68D-5F0F5803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0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AA13-E3FC-4BB6-B68D-5F0F5803D71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45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79B-EE95-E143-A6D4-BAED012EC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55710-39BB-8DE9-B323-8163C1999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BB035-241E-9482-B2F2-303F568F3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82D68-876C-83F1-6919-4382F1E18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AA13-E3FC-4BB6-B68D-5F0F5803D7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3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3B002-14DE-69CD-1579-F217E59F1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4AE61-631F-07D6-AEA4-6FDCD6C17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BEA9C-94F2-9B27-1670-5902C5C3A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98ACD-3DCA-EE0C-67D1-A189629EC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AA13-E3FC-4BB6-B68D-5F0F5803D71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95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8D1A5-9FA1-769A-EBBA-DAEECB6BE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9BCAB-CD23-1A57-0DF3-38AB5E4BC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C66D3-C3E1-ED62-767C-AEF3AA0A4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E6A94-2CB5-324E-2517-09C2A1B40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AA13-E3FC-4BB6-B68D-5F0F5803D71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34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B90E-0779-4C36-915C-6F05FCD89456}" type="datetime1">
              <a:rPr lang="en-US" smtClean="0"/>
              <a:t>6/26/25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88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218193"/>
      </p:ext>
    </p:extLst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2" Type="http://schemas.openxmlformats.org/officeDocument/2006/relationships/theme" Target="../theme/theme1.xml" /><ns0:Relationship Id="rId1" Type="http://schemas.openxmlformats.org/officeDocument/2006/relationships/slideLayout" Target="../slideLayouts/slideLayout1.xml" /><ns0:Relationship Id="rId6" Type="http://schemas.openxmlformats.org/officeDocument/2006/relationships/slideLayout" Target="../slideLayouts/slideLayout6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powerpoint/2010/main" xmlns:ns3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628650" y="1108176"/>
            <ns1:ext cx="7886700" cy="5120640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en-US"/>
              <ns1:t>Click to edit Master text styles</ns1:t>
            </ns1:r>
          </ns1:p>
          <ns1:p>
            <ns1:pPr lvl="1"/>
            <ns1:r>
              <ns1:rPr lang="en-US"/>
              <ns1:t>Second level</ns1:t>
            </ns1:r>
          </ns1:p>
          <ns1:p>
            <ns1:pPr lvl="2"/>
            <ns1:r>
              <ns1:rPr lang="en-US"/>
              <ns1:t>Third level</ns1:t>
            </ns1:r>
          </ns1:p>
          <ns1:p>
            <ns1:pPr lvl="3"/>
            <ns1:r>
              <ns1:rPr lang="en-US"/>
              <ns1:t>Fourth level</ns1:t>
            </ns1:r>
          </ns1:p>
          <ns1:p>
            <ns1:pPr lvl="4"/>
            <ns1:r>
              <ns1:rPr lang="en-US"/>
              <ns1:t>Fifth level</ns1:t>
            </ns1: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2"/>
          </ns0:nvPr>
        </ns0:nvSpPr>
        <ns0:spPr>
          <ns1:xfrm>
            <ns1:off x="628650" y="6356351"/>
            <ns1:ext cx="20574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9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08437B94-E2BF-44DC-ADC5-B05FC9934E9D}" type="datetime1">
              <ns1:rPr lang="en-US" smtClean="0"/>
              <ns1:t>6/26/25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3"/>
          </ns0:nvPr>
        </ns0:nvSpPr>
        <ns0:spPr>
          <ns1:xfrm>
            <ns1:off x="3028950" y="6356351"/>
            <ns1:ext cx="30861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9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r>
              <ns1:rPr lang="en-US" dirty="0"/>
              <ns1:t>Kwartler</ns1:t>
            </ns1:r>
          </ns1:p>
        </ns0:txBody>
      </ns0:sp>
      <ns0:sp>
        <ns0:nvSpPr>
          <ns0:cNvPr id="8" name="Slide Number Placeholder 5"/>
          <ns0:cNvSpPr>
            <ns1:spLocks noGrp="1"/>
          </ns0:cNvSpPr>
          <ns0:nvPr>
            <ns0:ph type="sldNum" sz="quarter" idx="4"/>
          </ns0:nvPr>
        </ns0:nvSpPr>
        <ns0:spPr>
          <ns1:xfrm>
            <ns1:off x="7245743" y="6356351"/>
            <ns1:ext cx="857250" cy="365125"/>
          </ns1:xfrm>
          <ns1:prstGeom prst="rect">
            <ns1:avLst/>
          </ns1:prstGeom>
        </ns0:spPr>
        <ns0:txBody>
          <ns1:bodyPr/>
          <ns1:lstStyle>
            <ns1:lvl1pPr>
              <ns1:lnSpc>
                <ns1:spcPct val="200000"/>
              </ns1:lnSpc>
              <ns1:defRPr lang="en-US" sz="900" kern="1200" smtClean="0">
                <ns1:solidFill>
                  <ns1:schemeClr val="tx1">
                    <ns1:tint val="75000"/>
                  </ns1:schemeClr>
                </ns1:solidFill>
                <ns1:latin typeface="+mn-lt"/>
                <ns1:ea typeface="+mn-ea"/>
                <ns1:cs typeface="+mn-cs"/>
              </ns1:defRPr>
            </ns1:lvl1pPr>
          </ns1:lstStyle>
          <ns1:p>
            <ns1:fld id="{37290FF7-652B-4475-AEAB-8B1A5D23AE09}" type="slidenum">
              <ns1:rPr lang="en-US" smtClean="0"/>
              <ns1:pPr/>
              <ns1:t>‹#›</ns1:t>
            </ns1:fld>
            <ns1:endParaRPr lang="en-US" dirty="0"/>
          </ns1:p>
        </ns0:txBody>
      </ns0:sp>
    </ns0:spTree>
    <ns0:extLst>
      <ns0:ext uri="{BB962C8B-B14F-4D97-AF65-F5344CB8AC3E}">
        <ns2:creationId val="3290209602"/>
      </ns0:ext>
    </ns0:extLst>
  </ns0:cSld>
  <ns0:clrMap bg1="lt1" tx1="dk1" bg2="lt2" tx2="dk2" accent1="accent1" accent2="accent2" accent3="accent3" accent4="accent4" accent5="accent5" accent6="accent6" hlink="hlink" folHlink="folHlink"/>
  <ns0:sldLayoutIdLst>
    <ns0:sldLayoutId id="2147483661" ns3:id="rId1"/>
    <ns0:sldLayoutId id="2147483666" ns3:id="rId6"/>
  </ns0:sldLayoutIdLst>
  <ns0:hf hdr="0"/>
  <ns0:txStyles>
    <ns0:titleStyle>
      <ns1:lvl1pPr algn="l" defTabSz="685800" rtl="0" eaLnBrk="1" latinLnBrk="0" hangingPunct="1">
        <ns1:lnSpc>
          <ns1:spcPct val="90000"/>
        </ns1:lnSpc>
        <ns1:spcBef>
          <ns1:spcPct val="0"/>
        </ns1:spcBef>
        <ns1:buNone/>
        <ns1:defRPr sz="33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171450" indent="-171450" algn="l" defTabSz="685800" rtl="0" eaLnBrk="1" latinLnBrk="0" hangingPunct="1">
        <ns1:lnSpc>
          <ns1:spcPct val="90000"/>
        </ns1:lnSpc>
        <ns1:spcBef>
          <ns1:spcPts val="750"/>
        </ns1:spcBef>
        <ns1:buFont typeface="Arial" panose="020B0604020202020204" pitchFamily="34" charset="0"/>
        <ns1:buChar char="•"/>
        <ns1:defRPr sz="21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514350" indent="-171450" algn="l" defTabSz="685800" rtl="0" eaLnBrk="1" latinLnBrk="0" hangingPunct="1">
        <ns1:lnSpc>
          <ns1:spcPct val="90000"/>
        </ns1:lnSpc>
        <ns1:spcBef>
          <ns1:spcPts val="375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857250" indent="-171450" algn="l" defTabSz="685800" rtl="0" eaLnBrk="1" latinLnBrk="0" hangingPunct="1">
        <ns1:lnSpc>
          <ns1:spcPct val="90000"/>
        </ns1:lnSpc>
        <ns1:spcBef>
          <ns1:spcPts val="375"/>
        </ns1:spcBef>
        <ns1:buFont typeface="Arial" panose="020B0604020202020204" pitchFamily="34" charset="0"/>
        <ns1:buChar char="•"/>
        <ns1:defRPr sz="15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200150" indent="-171450" algn="l" defTabSz="685800" rtl="0" eaLnBrk="1" latinLnBrk="0" hangingPunct="1">
        <ns1:lnSpc>
          <ns1:spcPct val="90000"/>
        </ns1:lnSpc>
        <ns1:spcBef>
          <ns1:spcPts val="375"/>
        </ns1:spcBef>
        <ns1:buFont typeface="Arial" panose="020B0604020202020204" pitchFamily="34" charset="0"/>
        <ns1:buChar char="•"/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543050" indent="-171450" algn="l" defTabSz="685800" rtl="0" eaLnBrk="1" latinLnBrk="0" hangingPunct="1">
        <ns1:lnSpc>
          <ns1:spcPct val="90000"/>
        </ns1:lnSpc>
        <ns1:spcBef>
          <ns1:spcPts val="375"/>
        </ns1:spcBef>
        <ns1:buFont typeface="Arial" panose="020B0604020202020204" pitchFamily="34" charset="0"/>
        <ns1:buChar char="•"/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1885950" indent="-171450" algn="l" defTabSz="685800" rtl="0" eaLnBrk="1" latinLnBrk="0" hangingPunct="1">
        <ns1:lnSpc>
          <ns1:spcPct val="90000"/>
        </ns1:lnSpc>
        <ns1:spcBef>
          <ns1:spcPts val="375"/>
        </ns1:spcBef>
        <ns1:buFont typeface="Arial" panose="020B0604020202020204" pitchFamily="34" charset="0"/>
        <ns1:buChar char="•"/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228850" indent="-171450" algn="l" defTabSz="685800" rtl="0" eaLnBrk="1" latinLnBrk="0" hangingPunct="1">
        <ns1:lnSpc>
          <ns1:spcPct val="90000"/>
        </ns1:lnSpc>
        <ns1:spcBef>
          <ns1:spcPts val="375"/>
        </ns1:spcBef>
        <ns1:buFont typeface="Arial" panose="020B0604020202020204" pitchFamily="34" charset="0"/>
        <ns1:buChar char="•"/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2571750" indent="-171450" algn="l" defTabSz="685800" rtl="0" eaLnBrk="1" latinLnBrk="0" hangingPunct="1">
        <ns1:lnSpc>
          <ns1:spcPct val="90000"/>
        </ns1:lnSpc>
        <ns1:spcBef>
          <ns1:spcPts val="375"/>
        </ns1:spcBef>
        <ns1:buFont typeface="Arial" panose="020B0604020202020204" pitchFamily="34" charset="0"/>
        <ns1:buChar char="•"/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2914650" indent="-171450" algn="l" defTabSz="685800" rtl="0" eaLnBrk="1" latinLnBrk="0" hangingPunct="1">
        <ns1:lnSpc>
          <ns1:spcPct val="90000"/>
        </ns1:lnSpc>
        <ns1:spcBef>
          <ns1:spcPts val="375"/>
        </ns1:spcBef>
        <ns1:buFont typeface="Arial" panose="020B0604020202020204" pitchFamily="34" charset="0"/>
        <ns1:buChar char="•"/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en-US"/>
      </ns1:defPPr>
      <ns1:lvl1pPr marL="0" algn="l" defTabSz="685800" rtl="0" eaLnBrk="1" latinLnBrk="0" hangingPunct="1"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342900" algn="l" defTabSz="685800" rtl="0" eaLnBrk="1" latinLnBrk="0" hangingPunct="1"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685800" algn="l" defTabSz="685800" rtl="0" eaLnBrk="1" latinLnBrk="0" hangingPunct="1"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028700" algn="l" defTabSz="685800" rtl="0" eaLnBrk="1" latinLnBrk="0" hangingPunct="1"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371600" algn="l" defTabSz="685800" rtl="0" eaLnBrk="1" latinLnBrk="0" hangingPunct="1"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1714500" algn="l" defTabSz="685800" rtl="0" eaLnBrk="1" latinLnBrk="0" hangingPunct="1"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057400" algn="l" defTabSz="685800" rtl="0" eaLnBrk="1" latinLnBrk="0" hangingPunct="1"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2400300" algn="l" defTabSz="685800" rtl="0" eaLnBrk="1" latinLnBrk="0" hangingPunct="1"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2743200" algn="l" defTabSz="685800" rtl="0" eaLnBrk="1" latinLnBrk="0" hangingPunct="1">
        <ns1:defRPr sz="135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microsoft.com/office/2007/relationships/hdphoto" Target="../media/hdphoto3.wdp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FFD26-6001-8867-A4A4-948EEFBF9C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Text Vectors &amp; RAG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492D58-8983-673D-ABF2-347800E1FB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A2CA0-2535-15EC-940D-D25BDE4AB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B90E-0779-4C36-915C-6F05FCD89456}" type="datetime1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164BD-B2DA-C304-D3AA-4AF1A2E70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346EC-E66D-841F-5E02-50AA0A38D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18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0985" y="365126"/>
            <a:ext cx="8686800" cy="591477"/>
          </a:xfrm>
        </p:spPr>
        <p:txBody>
          <a:bodyPr/>
          <a:lstStyle/>
          <a:p>
            <a:r>
              <a:rPr lang="en-US" sz="2800" dirty="0"/>
              <a:t>Remember this? Vector Embeddings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70985" y="1173079"/>
            <a:ext cx="8686800" cy="4571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800" kern="1200" dirty="0">
                <a:solidFill>
                  <a:prstClr val="white"/>
                </a:solidFill>
                <a:latin typeface="+mj-lt"/>
                <a:cs typeface="Arial Unicode MS" panose="020B0604020202020204" pitchFamily="34" charset="-128"/>
              </a:rPr>
              <a:t>“</a:t>
            </a:r>
            <a:r>
              <a:rPr lang="en-US" sz="1800" kern="1200" dirty="0" err="1">
                <a:solidFill>
                  <a:prstClr val="white"/>
                </a:solidFill>
                <a:latin typeface="+mj-lt"/>
                <a:cs typeface="Arial Unicode MS" panose="020B0604020202020204" pitchFamily="34" charset="-128"/>
              </a:rPr>
              <a:t>Lebron</a:t>
            </a:r>
            <a:r>
              <a:rPr lang="en-US" sz="1800" kern="1200" dirty="0">
                <a:solidFill>
                  <a:prstClr val="white"/>
                </a:solidFill>
                <a:latin typeface="+mj-lt"/>
                <a:cs typeface="Arial Unicode MS" panose="020B0604020202020204" pitchFamily="34" charset="-128"/>
              </a:rPr>
              <a:t> James hit a tough shot.”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038" y="1727072"/>
            <a:ext cx="8657747" cy="64353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Vectors exist for the terms – vector for Lebron James, has commonalities with basketball, celebrity, &amp; male in many dimensions simultaneously.</a:t>
            </a:r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400668B5-1689-45BD-A3E9-6F4F8F383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  <p:pic>
        <p:nvPicPr>
          <p:cNvPr id="1026" name="Picture 2" descr="Understanding Multi-Dimensionality in Vector Space Modeling | Pythonic  Excursions">
            <a:extLst>
              <a:ext uri="{FF2B5EF4-FFF2-40B4-BE49-F238E27FC236}">
                <a16:creationId xmlns:a16="http://schemas.microsoft.com/office/drawing/2014/main" id="{A7B31B90-01B1-B17D-FC3D-C8BEF0B0C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218" y="2443755"/>
            <a:ext cx="5395403" cy="361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43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D0F1AC-4BAC-E33E-1E43-F074F4DB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15F2CC-14CB-287B-0721-4A04A2BA1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far we’ve primarily used DTMs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A986A2-D40C-EA5E-8625-9D69FD712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C85C8-D952-5446-CABE-8A7AC83FA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DC797B-8F2A-A55C-C2B4-5E34666EE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049322"/>
              </p:ext>
            </p:extLst>
          </p:nvPr>
        </p:nvGraphicFramePr>
        <p:xfrm>
          <a:off x="365760" y="1630150"/>
          <a:ext cx="8341444" cy="22250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666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86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25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latin typeface="Arial Unicode MS" panose="020B0604020202020204" pitchFamily="34" charset="-128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Term2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Term3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Term_n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rial Unicode MS" panose="020B0604020202020204" pitchFamily="34" charset="-128"/>
                        </a:rPr>
                        <a:t>Document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rial Unicode MS" panose="020B0604020202020204" pitchFamily="34" charset="-128"/>
                        </a:rPr>
                        <a:t>Document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rial Unicode MS" panose="020B0604020202020204" pitchFamily="34" charset="-128"/>
                        </a:rPr>
                        <a:t>Document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rial Unicode MS" panose="020B0604020202020204" pitchFamily="34" charset="-128"/>
                        </a:rPr>
                        <a:t>…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chemeClr val="bg1"/>
                          </a:solidFill>
                          <a:latin typeface="Arial Unicode MS" panose="020B0604020202020204" pitchFamily="34" charset="-128"/>
                        </a:rPr>
                        <a:t>Document_n</a:t>
                      </a:r>
                      <a:endParaRPr lang="en-US" sz="1000" dirty="0">
                        <a:solidFill>
                          <a:schemeClr val="bg1"/>
                        </a:solidFill>
                        <a:latin typeface="Arial Unicode MS" panose="020B0604020202020204" pitchFamily="34" charset="-128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F893320-CE33-668C-89A3-494FA41BCADD}"/>
              </a:ext>
            </a:extLst>
          </p:cNvPr>
          <p:cNvSpPr/>
          <p:nvPr/>
        </p:nvSpPr>
        <p:spPr>
          <a:xfrm>
            <a:off x="365760" y="1249919"/>
            <a:ext cx="8341444" cy="36576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Document Term Matrix</a:t>
            </a:r>
          </a:p>
        </p:txBody>
      </p:sp>
    </p:spTree>
    <p:extLst>
      <p:ext uri="{BB962C8B-B14F-4D97-AF65-F5344CB8AC3E}">
        <p14:creationId xmlns:p14="http://schemas.microsoft.com/office/powerpoint/2010/main" val="299736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64F559-AA2E-A701-8759-FCD43A09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78B31E-E61E-C399-4019-0DD7FB580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63" y="136524"/>
            <a:ext cx="8756073" cy="591477"/>
          </a:xfrm>
        </p:spPr>
        <p:txBody>
          <a:bodyPr/>
          <a:lstStyle/>
          <a:p>
            <a:r>
              <a:rPr lang="en-US" dirty="0"/>
              <a:t>If you think about it a document’s context is held as a numeric vector.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F9A3C-AF9E-9B90-92A2-508902581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26CF0-316A-5614-6771-7265860B0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9F52DB-BB34-5869-C7D2-87619C9BA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832295"/>
            <a:ext cx="7772400" cy="7365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06B13E-C31E-FA37-1396-A77A4D47B711}"/>
              </a:ext>
            </a:extLst>
          </p:cNvPr>
          <p:cNvSpPr txBox="1"/>
          <p:nvPr/>
        </p:nvSpPr>
        <p:spPr>
          <a:xfrm>
            <a:off x="845126" y="3105834"/>
            <a:ext cx="7453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represent the specific document in the context of our corpus as</a:t>
            </a:r>
          </a:p>
          <a:p>
            <a:r>
              <a:rPr lang="en-US" dirty="0"/>
              <a:t>Document: c(1,1,1,0,0)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1F745B-7D14-2706-0893-E7DC49C7EB28}"/>
              </a:ext>
            </a:extLst>
          </p:cNvPr>
          <p:cNvSpPr/>
          <p:nvPr/>
        </p:nvSpPr>
        <p:spPr>
          <a:xfrm>
            <a:off x="193964" y="4571999"/>
            <a:ext cx="8756072" cy="979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unsupervised learning you’re examining clusters of documents, so its examining the context of documents in a vector space to identify similarity &amp; distances depending on the method.</a:t>
            </a:r>
          </a:p>
        </p:txBody>
      </p:sp>
    </p:spTree>
    <p:extLst>
      <p:ext uri="{BB962C8B-B14F-4D97-AF65-F5344CB8AC3E}">
        <p14:creationId xmlns:p14="http://schemas.microsoft.com/office/powerpoint/2010/main" val="3401058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D865CC-6090-1E20-F2FB-CEC842FC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5DBDFB-AA3F-0B7A-E73B-7DCCBEF8D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591477"/>
          </a:xfrm>
        </p:spPr>
        <p:txBody>
          <a:bodyPr/>
          <a:lstStyle/>
          <a:p>
            <a:r>
              <a:rPr lang="en-US" dirty="0"/>
              <a:t>But to understand language in context we need to orient the data differently.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388E8-D53F-3263-F912-AF6E7AA8D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4AA890-0FB1-D8A3-4364-DD87EDE27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5AE8958-5E03-0B4F-1212-00A3195C4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994703"/>
              </p:ext>
            </p:extLst>
          </p:nvPr>
        </p:nvGraphicFramePr>
        <p:xfrm>
          <a:off x="1524000" y="1896480"/>
          <a:ext cx="6096000" cy="2151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77942337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8835103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271252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5020581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233620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DocumentN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522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Term1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424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Term2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469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Term3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3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822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Term_N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2771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E49FDBF-E50E-327A-BB4F-9D7A862BEAF5}"/>
              </a:ext>
            </a:extLst>
          </p:cNvPr>
          <p:cNvSpPr txBox="1"/>
          <p:nvPr/>
        </p:nvSpPr>
        <p:spPr>
          <a:xfrm>
            <a:off x="845127" y="4232609"/>
            <a:ext cx="7453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a </a:t>
            </a:r>
            <a:r>
              <a:rPr lang="en-US" dirty="0" err="1"/>
              <a:t>TermDocumentMatrix</a:t>
            </a:r>
            <a:r>
              <a:rPr lang="en-US" dirty="0"/>
              <a:t> we represent the specific term in the context of our corpus as</a:t>
            </a:r>
          </a:p>
          <a:p>
            <a:r>
              <a:rPr lang="en-US" dirty="0"/>
              <a:t>Term: c(1,0,1,0)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AEFC18-F3E6-1BB1-3847-48FCBB4BACB7}"/>
              </a:ext>
            </a:extLst>
          </p:cNvPr>
          <p:cNvSpPr/>
          <p:nvPr/>
        </p:nvSpPr>
        <p:spPr>
          <a:xfrm>
            <a:off x="341745" y="5216339"/>
            <a:ext cx="8139545" cy="979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Oriented this way we can understand the context of a word in relation to documents the corpus.  The words are associated with the documents in this manner.</a:t>
            </a:r>
          </a:p>
        </p:txBody>
      </p:sp>
    </p:spTree>
    <p:extLst>
      <p:ext uri="{BB962C8B-B14F-4D97-AF65-F5344CB8AC3E}">
        <p14:creationId xmlns:p14="http://schemas.microsoft.com/office/powerpoint/2010/main" val="2567456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76F29E-73AD-B4FE-FD39-84E568698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EC18D8-F32A-CA3D-D572-D71177056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72" y="136524"/>
            <a:ext cx="8802255" cy="591477"/>
          </a:xfrm>
        </p:spPr>
        <p:txBody>
          <a:bodyPr/>
          <a:lstStyle/>
          <a:p>
            <a:r>
              <a:rPr lang="en-US" dirty="0"/>
              <a:t>To understand the co-occurrence of words we create a TCM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BCBDC-A19C-5D14-C6AB-691F10A9E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D7955-FCC1-7B24-46EF-9DD77F939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29B899-E862-F972-4304-0CC44DFC7323}"/>
              </a:ext>
            </a:extLst>
          </p:cNvPr>
          <p:cNvSpPr/>
          <p:nvPr/>
        </p:nvSpPr>
        <p:spPr>
          <a:xfrm>
            <a:off x="845127" y="5216339"/>
            <a:ext cx="7636163" cy="979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Now the entire corpus word to word relationships can be measured but we don’t know the documents any longer.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348B17-5419-ADAC-4959-55DFFC4C3860}"/>
              </a:ext>
            </a:extLst>
          </p:cNvPr>
          <p:cNvSpPr txBox="1"/>
          <p:nvPr/>
        </p:nvSpPr>
        <p:spPr>
          <a:xfrm>
            <a:off x="845126" y="3848417"/>
            <a:ext cx="7453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a Term Co-Occurrence Matrix we represent the specific term in the context of the other words </a:t>
            </a:r>
            <a:r>
              <a:rPr lang="en-US" dirty="0">
                <a:highlight>
                  <a:srgbClr val="FFFF00"/>
                </a:highlight>
              </a:rPr>
              <a:t>[EXPLANATION FORTHCOMING]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0BC2A1-595D-4A03-37CE-581BD5189D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8" t="84307" r="68182" b="3329"/>
          <a:stretch>
            <a:fillRect/>
          </a:stretch>
        </p:blipFill>
        <p:spPr>
          <a:xfrm>
            <a:off x="997526" y="1413164"/>
            <a:ext cx="7232073" cy="179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4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CDD96-1673-ABC1-7147-A2087C1C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17E917-64D3-CB9F-99DE-DDC89B3EE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bosComments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[26374]</a:t>
            </a:r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648BD-EE5A-0E19-7E52-AFE13FDA3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DA2FE-7115-597A-DA68-5ADBE05BC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425757-B2B7-A077-068F-2C223B6D4FF8}"/>
              </a:ext>
            </a:extLst>
          </p:cNvPr>
          <p:cNvSpPr txBox="1"/>
          <p:nvPr/>
        </p:nvSpPr>
        <p:spPr>
          <a:xfrm>
            <a:off x="5174900" y="1671318"/>
            <a:ext cx="371048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nikolas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proctor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susan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proctor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october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pm leave review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dorothy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seth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fennell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davis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mom log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airbnb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account copy paste moment thankful stay dot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seth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fantastic unfamiliar found hosts warmly welcoming encouraging </a:t>
            </a:r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abundantly </a:t>
            </a:r>
            <a:r>
              <a:rPr lang="en-US" sz="14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knowledgable</a:t>
            </a:r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city treasures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famous hidden year daughter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georgia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delight added warmth house room bathroom perfectly clean pleasantly amended spacious good coffee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french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pressed awaited morning house nicely located scant half block franklin park walk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userfriendly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public rail system making entirety city easily accessible dot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seth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doorstep gracious respectful hosts mom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2CB5F-C8BD-04C3-1897-74C8F71DCD82}"/>
              </a:ext>
            </a:extLst>
          </p:cNvPr>
          <p:cNvSpPr txBox="1"/>
          <p:nvPr/>
        </p:nvSpPr>
        <p:spPr>
          <a:xfrm>
            <a:off x="124114" y="1271208"/>
            <a:ext cx="429716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FROM: Nikolas Proctor  , </a:t>
            </a:r>
          </a:p>
          <a:p>
            <a:r>
              <a:rPr lang="en-US" sz="1200" dirty="0"/>
              <a:t>TO: Susan Proctor </a:t>
            </a:r>
          </a:p>
          <a:p>
            <a:r>
              <a:rPr lang="en-US" sz="1200" dirty="0"/>
              <a:t>October 7, 2014 2:27 pm</a:t>
            </a:r>
          </a:p>
          <a:p>
            <a:r>
              <a:rPr lang="en-US" sz="1200" dirty="0"/>
              <a:t>Re; Please leave a review for Dorothy &amp; Seth Fennell + Davis</a:t>
            </a:r>
          </a:p>
          <a:p>
            <a:endParaRPr lang="en-US" sz="1200" dirty="0"/>
          </a:p>
          <a:p>
            <a:r>
              <a:rPr lang="en-US" sz="1200" dirty="0"/>
              <a:t>Hi Mom, </a:t>
            </a:r>
          </a:p>
          <a:p>
            <a:endParaRPr lang="en-US" sz="1200" dirty="0"/>
          </a:p>
          <a:p>
            <a:r>
              <a:rPr lang="en-US" sz="1200" dirty="0"/>
              <a:t>I can't log into your </a:t>
            </a:r>
            <a:r>
              <a:rPr lang="en-US" sz="1200" dirty="0" err="1"/>
              <a:t>airbnb</a:t>
            </a:r>
            <a:r>
              <a:rPr lang="en-US" sz="1200" dirty="0"/>
              <a:t> account, but if you could please copy and paste the following when you have a moment, I'd be thankful: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""Our stay with Dot and Seth was fantastic.  We were about as unfamiliar with Boston we could have been, but found our hosts to be warmly welcoming, encouraging, and </a:t>
            </a:r>
            <a:r>
              <a:rPr lang="en-US" sz="1200" dirty="0">
                <a:highlight>
                  <a:srgbClr val="FFFF00"/>
                </a:highlight>
              </a:rPr>
              <a:t>abundantly</a:t>
            </a:r>
            <a:r>
              <a:rPr lang="en-US" sz="1200" dirty="0"/>
              <a:t> </a:t>
            </a:r>
            <a:r>
              <a:rPr lang="en-US" sz="1200" dirty="0" err="1"/>
              <a:t>knowledgable</a:t>
            </a:r>
            <a:r>
              <a:rPr lang="en-US" sz="1200" dirty="0"/>
              <a:t> of the city's </a:t>
            </a:r>
            <a:r>
              <a:rPr lang="en-US" sz="1200" dirty="0">
                <a:highlight>
                  <a:srgbClr val="FFFF00"/>
                </a:highlight>
              </a:rPr>
              <a:t>treasures</a:t>
            </a:r>
            <a:r>
              <a:rPr lang="en-US" sz="1200" dirty="0"/>
              <a:t>, both famous and hidden.  Their 1.5 year old daughter Georgia was a delight and added to the warmth of the house.  Our room and it's bathroom were perfectly clean, pleasantly amended, and spacious.   Good coffee, </a:t>
            </a:r>
            <a:r>
              <a:rPr lang="en-US" sz="1200" dirty="0" err="1"/>
              <a:t>french</a:t>
            </a:r>
            <a:r>
              <a:rPr lang="en-US" sz="1200" dirty="0"/>
              <a:t> pressed, awaited us each morning.  The house is also nicely located, a scant half block from Franklin Park and a very brief walk from the T, Boston's user-friendly public rail system, making the entirety of the city easily accessible from Dot and Seth's doorstep.  Many thanks to our gracious and respectful hosts!""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Thanks, Mom!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5E6B14-5993-5543-5123-DCDE9E60198B}"/>
              </a:ext>
            </a:extLst>
          </p:cNvPr>
          <p:cNvSpPr txBox="1"/>
          <p:nvPr/>
        </p:nvSpPr>
        <p:spPr>
          <a:xfrm>
            <a:off x="5174900" y="1276324"/>
            <a:ext cx="36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Cleaned </a:t>
            </a:r>
            <a:r>
              <a:rPr lang="en-US" sz="1400" dirty="0"/>
              <a:t>– 3 words apart (including treasures)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BA2F6-198A-7996-5C8A-0A2CD7D1F73F}"/>
              </a:ext>
            </a:extLst>
          </p:cNvPr>
          <p:cNvSpPr txBox="1"/>
          <p:nvPr/>
        </p:nvSpPr>
        <p:spPr>
          <a:xfrm>
            <a:off x="155603" y="963433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2894808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C8CE1-FD2C-58D5-45CF-7AD41F9B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766875-3B5E-D231-0B9A-6CB68D22D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0ADB2E-9B2C-6CB3-7E4C-A238D7E93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72" y="136524"/>
            <a:ext cx="8802255" cy="591477"/>
          </a:xfrm>
        </p:spPr>
        <p:txBody>
          <a:bodyPr/>
          <a:lstStyle/>
          <a:p>
            <a:r>
              <a:rPr lang="en-US" dirty="0"/>
              <a:t>The values are the word co-occurrence and strength of context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9A9D8-B842-D51C-FF3F-AE11D441B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4484B-8A2A-5DC7-1B64-30BCAC230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872232-6897-CC4E-BB3B-FB3171EF0443}"/>
              </a:ext>
            </a:extLst>
          </p:cNvPr>
          <p:cNvSpPr/>
          <p:nvPr/>
        </p:nvSpPr>
        <p:spPr>
          <a:xfrm>
            <a:off x="479136" y="4874830"/>
            <a:ext cx="8185726" cy="1140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“abundantly” and “treasures” appeared one time within 5 word windows.  Abundantly and treasures were 3 words apart in the window.</a:t>
            </a:r>
          </a:p>
          <a:p>
            <a:pPr algn="ctr"/>
            <a:r>
              <a:rPr lang="en-US" dirty="0"/>
              <a:t>1/3 is a measure of their co-occurrence and the proximity in the window as a measure of context “strength”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B40AFE-B937-038C-B6FC-F2EC8132F2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8" t="84307" r="68182" b="3329"/>
          <a:stretch>
            <a:fillRect/>
          </a:stretch>
        </p:blipFill>
        <p:spPr>
          <a:xfrm>
            <a:off x="997526" y="1413164"/>
            <a:ext cx="7232073" cy="179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33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2D60D-8AF2-346B-9DF6-77ED1712E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86AD36-CD52-2D02-70CB-22619EA0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4306"/>
            <a:ext cx="7886700" cy="591477"/>
          </a:xfrm>
        </p:spPr>
        <p:txBody>
          <a:bodyPr/>
          <a:lstStyle/>
          <a:p>
            <a:r>
              <a:rPr lang="en-US" sz="2000" dirty="0"/>
              <a:t>For one context window it is 1/distance for the window but we don’t know the exact frequency of pairs just total co-occurrence &amp; strength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E5DE0-C0E8-7EFB-02A2-1FF532FF6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04D1B-DE9F-755E-0C63-2C0767681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D67A1B-F0E3-F6E7-08A5-C625CFF5410F}"/>
              </a:ext>
            </a:extLst>
          </p:cNvPr>
          <p:cNvSpPr txBox="1"/>
          <p:nvPr/>
        </p:nvSpPr>
        <p:spPr>
          <a:xfrm>
            <a:off x="2184301" y="1285769"/>
            <a:ext cx="3271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Observed Co- </a:t>
            </a:r>
            <a:r>
              <a:rPr lang="en-US" sz="2400" dirty="0" err="1"/>
              <a:t>Occurence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8C661-C861-08BA-7D1B-0D937258C6AE}"/>
              </a:ext>
            </a:extLst>
          </p:cNvPr>
          <p:cNvSpPr txBox="1"/>
          <p:nvPr/>
        </p:nvSpPr>
        <p:spPr>
          <a:xfrm>
            <a:off x="258617" y="3122941"/>
            <a:ext cx="84050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highlight>
                  <a:srgbClr val="C0C0C0"/>
                </a:highlight>
              </a:rPr>
              <a:t>"hidden famous” </a:t>
            </a:r>
            <a:r>
              <a:rPr lang="en-US" sz="1400" dirty="0"/>
              <a:t>Appears once in the corpus =</a:t>
            </a:r>
            <a:r>
              <a:rPr lang="en-US" sz="1400" dirty="0">
                <a:highlight>
                  <a:srgbClr val="FFFF00"/>
                </a:highlight>
              </a:rPr>
              <a:t> 1</a:t>
            </a:r>
            <a:r>
              <a:rPr lang="en-US" sz="1400" dirty="0"/>
              <a:t>; Weight is 1/distance so </a:t>
            </a:r>
            <a:r>
              <a:rPr lang="en-US" sz="1400" dirty="0">
                <a:highlight>
                  <a:srgbClr val="FFFF00"/>
                </a:highlight>
              </a:rPr>
              <a:t>1/1</a:t>
            </a:r>
          </a:p>
          <a:p>
            <a:r>
              <a:rPr lang="en-US" sz="1400" b="1" dirty="0">
                <a:highlight>
                  <a:srgbClr val="C0C0C0"/>
                </a:highlight>
              </a:rPr>
              <a:t>"hidden </a:t>
            </a:r>
            <a:r>
              <a:rPr lang="en-US" sz="1400" dirty="0">
                <a:highlight>
                  <a:srgbClr val="C0C0C0"/>
                </a:highlight>
              </a:rPr>
              <a:t>Harvard</a:t>
            </a:r>
            <a:r>
              <a:rPr lang="en-US" sz="1400" b="1" dirty="0">
                <a:highlight>
                  <a:srgbClr val="C0C0C0"/>
                </a:highlight>
              </a:rPr>
              <a:t> famous”</a:t>
            </a:r>
            <a:r>
              <a:rPr lang="en-US" sz="1400" b="1" dirty="0"/>
              <a:t> </a:t>
            </a:r>
            <a:r>
              <a:rPr lang="en-US" sz="1400" dirty="0"/>
              <a:t>Appears once in the corpus = </a:t>
            </a:r>
            <a:r>
              <a:rPr lang="en-US" sz="1400" dirty="0">
                <a:highlight>
                  <a:srgbClr val="FFFF00"/>
                </a:highlight>
              </a:rPr>
              <a:t>1</a:t>
            </a:r>
            <a:r>
              <a:rPr lang="en-US" sz="1400" dirty="0"/>
              <a:t>; Weight is 1/distance so </a:t>
            </a:r>
            <a:r>
              <a:rPr lang="en-US" sz="1400" dirty="0">
                <a:highlight>
                  <a:srgbClr val="FFFF00"/>
                </a:highlight>
              </a:rPr>
              <a:t>1/2 </a:t>
            </a:r>
          </a:p>
          <a:p>
            <a:r>
              <a:rPr lang="en-US" sz="1400" b="1" dirty="0">
                <a:highlight>
                  <a:srgbClr val="C0C0C0"/>
                </a:highlight>
              </a:rPr>
              <a:t>"hidden </a:t>
            </a:r>
            <a:r>
              <a:rPr lang="en-US" sz="1400" dirty="0">
                <a:highlight>
                  <a:srgbClr val="C0C0C0"/>
                </a:highlight>
              </a:rPr>
              <a:t>Harvard Harvard </a:t>
            </a:r>
            <a:r>
              <a:rPr lang="en-US" sz="1400" b="1" dirty="0">
                <a:highlight>
                  <a:srgbClr val="C0C0C0"/>
                </a:highlight>
              </a:rPr>
              <a:t>famous” </a:t>
            </a:r>
            <a:r>
              <a:rPr lang="en-US" sz="1400" dirty="0"/>
              <a:t>Appears once in the corpus = </a:t>
            </a:r>
            <a:r>
              <a:rPr lang="en-US" sz="1400" dirty="0">
                <a:highlight>
                  <a:srgbClr val="FFFF00"/>
                </a:highlight>
              </a:rPr>
              <a:t>1</a:t>
            </a:r>
            <a:r>
              <a:rPr lang="en-US" sz="1400" dirty="0"/>
              <a:t>; Weight is 1/distance so </a:t>
            </a:r>
            <a:r>
              <a:rPr lang="en-US" sz="1400" dirty="0">
                <a:highlight>
                  <a:srgbClr val="FFFF00"/>
                </a:highlight>
              </a:rPr>
              <a:t>1/3</a:t>
            </a:r>
            <a:r>
              <a:rPr lang="en-US" sz="1400" dirty="0"/>
              <a:t> </a:t>
            </a:r>
          </a:p>
          <a:p>
            <a:r>
              <a:rPr lang="en-US" sz="1400" b="1" dirty="0">
                <a:highlight>
                  <a:srgbClr val="C0C0C0"/>
                </a:highlight>
              </a:rPr>
              <a:t>"hidden </a:t>
            </a:r>
            <a:r>
              <a:rPr lang="en-US" sz="1400" dirty="0">
                <a:highlight>
                  <a:srgbClr val="C0C0C0"/>
                </a:highlight>
              </a:rPr>
              <a:t>Harvard Harvard Harvard </a:t>
            </a:r>
            <a:r>
              <a:rPr lang="en-US" sz="1400" b="1" dirty="0">
                <a:highlight>
                  <a:srgbClr val="C0C0C0"/>
                </a:highlight>
              </a:rPr>
              <a:t>famous” </a:t>
            </a:r>
            <a:r>
              <a:rPr lang="en-US" sz="1400" dirty="0"/>
              <a:t>Appears once in the corpus = </a:t>
            </a:r>
            <a:r>
              <a:rPr lang="en-US" sz="1400" dirty="0">
                <a:highlight>
                  <a:srgbClr val="FFFF00"/>
                </a:highlight>
              </a:rPr>
              <a:t>1</a:t>
            </a:r>
            <a:r>
              <a:rPr lang="en-US" sz="1400" dirty="0"/>
              <a:t>; Weight is 1/distance so </a:t>
            </a:r>
            <a:r>
              <a:rPr lang="en-US" sz="1400" dirty="0">
                <a:highlight>
                  <a:srgbClr val="FFFF00"/>
                </a:highlight>
              </a:rPr>
              <a:t>1/4</a:t>
            </a:r>
            <a:r>
              <a:rPr lang="en-US" sz="1400" dirty="0"/>
              <a:t> </a:t>
            </a:r>
            <a:endParaRPr lang="en-US" sz="1400" b="1" dirty="0"/>
          </a:p>
          <a:p>
            <a:r>
              <a:rPr lang="en-US" sz="1400" b="1" dirty="0">
                <a:highlight>
                  <a:srgbClr val="C0C0C0"/>
                </a:highlight>
              </a:rPr>
              <a:t>"hidden </a:t>
            </a:r>
            <a:r>
              <a:rPr lang="en-US" sz="1400" dirty="0">
                <a:highlight>
                  <a:srgbClr val="C0C0C0"/>
                </a:highlight>
              </a:rPr>
              <a:t>Harvard Harvard Harvard Harvard</a:t>
            </a:r>
            <a:r>
              <a:rPr lang="en-US" sz="1400" b="1" dirty="0">
                <a:highlight>
                  <a:srgbClr val="C0C0C0"/>
                </a:highlight>
              </a:rPr>
              <a:t> famous” </a:t>
            </a:r>
            <a:r>
              <a:rPr lang="en-US" sz="1400" dirty="0"/>
              <a:t>Appears once in the corpus = </a:t>
            </a:r>
            <a:r>
              <a:rPr lang="en-US" sz="1400" dirty="0">
                <a:highlight>
                  <a:srgbClr val="FFFF00"/>
                </a:highlight>
              </a:rPr>
              <a:t>1</a:t>
            </a:r>
            <a:r>
              <a:rPr lang="en-US" sz="1400" dirty="0"/>
              <a:t>; Weight is 1/distance so </a:t>
            </a:r>
            <a:r>
              <a:rPr lang="en-US" sz="1400" dirty="0">
                <a:highlight>
                  <a:srgbClr val="FFFF00"/>
                </a:highlight>
              </a:rPr>
              <a:t>1/5</a:t>
            </a:r>
            <a:endParaRPr lang="en-US" sz="1400" dirty="0"/>
          </a:p>
        </p:txBody>
      </p:sp>
      <p:sp>
        <p:nvSpPr>
          <p:cNvPr id="8" name="Division 7">
            <a:extLst>
              <a:ext uri="{FF2B5EF4-FFF2-40B4-BE49-F238E27FC236}">
                <a16:creationId xmlns:a16="http://schemas.microsoft.com/office/drawing/2014/main" id="{D7B9F87F-E6A2-07AC-0C36-CD90F6CCD51C}"/>
              </a:ext>
            </a:extLst>
          </p:cNvPr>
          <p:cNvSpPr/>
          <p:nvPr/>
        </p:nvSpPr>
        <p:spPr>
          <a:xfrm>
            <a:off x="3546763" y="1604013"/>
            <a:ext cx="914400" cy="914400"/>
          </a:xfrm>
          <a:prstGeom prst="mathDivid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06F412-BC08-2956-0BA2-231B23A8F51B}"/>
              </a:ext>
            </a:extLst>
          </p:cNvPr>
          <p:cNvSpPr txBox="1"/>
          <p:nvPr/>
        </p:nvSpPr>
        <p:spPr>
          <a:xfrm>
            <a:off x="1795160" y="24388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 (1/distance of the word pair in the window)</a:t>
            </a: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BB8F9DA7-9781-8205-7F01-7B34711FD40F}"/>
              </a:ext>
            </a:extLst>
          </p:cNvPr>
          <p:cNvSpPr/>
          <p:nvPr/>
        </p:nvSpPr>
        <p:spPr>
          <a:xfrm rot="5400000">
            <a:off x="699781" y="4974331"/>
            <a:ext cx="1490578" cy="70018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66B713-0DCA-A441-8B79-3248AB35B48A}"/>
              </a:ext>
            </a:extLst>
          </p:cNvPr>
          <p:cNvSpPr txBox="1"/>
          <p:nvPr/>
        </p:nvSpPr>
        <p:spPr>
          <a:xfrm>
            <a:off x="1995394" y="5139755"/>
            <a:ext cx="989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2.2833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3FDD6-9672-0D3E-9B33-2C1F8A709180}"/>
              </a:ext>
            </a:extLst>
          </p:cNvPr>
          <p:cNvSpPr txBox="1"/>
          <p:nvPr/>
        </p:nvSpPr>
        <p:spPr>
          <a:xfrm>
            <a:off x="400050" y="450271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1/1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A8B592-ABDE-83BA-D62D-A0B90D038873}"/>
              </a:ext>
            </a:extLst>
          </p:cNvPr>
          <p:cNvSpPr txBox="1"/>
          <p:nvPr/>
        </p:nvSpPr>
        <p:spPr>
          <a:xfrm>
            <a:off x="400050" y="487205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1/2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A3B366-3CC7-693F-FB20-6129A0E293F2}"/>
              </a:ext>
            </a:extLst>
          </p:cNvPr>
          <p:cNvSpPr txBox="1"/>
          <p:nvPr/>
        </p:nvSpPr>
        <p:spPr>
          <a:xfrm>
            <a:off x="400050" y="5241383"/>
            <a:ext cx="1890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1/3</a:t>
            </a:r>
            <a:endParaRPr 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33EC8D-8398-6AA4-FB0F-67D6565A5EC5}"/>
              </a:ext>
            </a:extLst>
          </p:cNvPr>
          <p:cNvSpPr txBox="1"/>
          <p:nvPr/>
        </p:nvSpPr>
        <p:spPr>
          <a:xfrm>
            <a:off x="400050" y="56107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1/4</a:t>
            </a:r>
            <a:r>
              <a:rPr lang="en-US" sz="1800" dirty="0"/>
              <a:t> 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04BF69-7B58-92AD-E817-96756D67E077}"/>
              </a:ext>
            </a:extLst>
          </p:cNvPr>
          <p:cNvSpPr txBox="1"/>
          <p:nvPr/>
        </p:nvSpPr>
        <p:spPr>
          <a:xfrm>
            <a:off x="400050" y="598701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1/5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253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C654D-06F9-28E1-7EB8-BDCE5672C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68D07-21FD-1AEF-541B-38E275061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6318B6-30F9-E398-7E58-9A36C718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4306"/>
            <a:ext cx="7886700" cy="591477"/>
          </a:xfrm>
        </p:spPr>
        <p:txBody>
          <a:bodyPr/>
          <a:lstStyle/>
          <a:p>
            <a:r>
              <a:rPr lang="en-US" sz="2000" dirty="0"/>
              <a:t>You simply add up the observed occurrences at the various strengths for the metric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1CCDB9-02AD-C5E3-DC3D-FECBC77C6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9BD26-FF4B-BA68-A66F-33BF38F27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1F84D9-8815-AD2D-395E-8B123EDFA3B5}"/>
              </a:ext>
            </a:extLst>
          </p:cNvPr>
          <p:cNvSpPr txBox="1"/>
          <p:nvPr/>
        </p:nvSpPr>
        <p:spPr>
          <a:xfrm>
            <a:off x="2130601" y="1285769"/>
            <a:ext cx="3378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Observed Co- Occurrence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A15F6E-0F44-7432-4581-0658E6E75F9D}"/>
              </a:ext>
            </a:extLst>
          </p:cNvPr>
          <p:cNvSpPr txBox="1"/>
          <p:nvPr/>
        </p:nvSpPr>
        <p:spPr>
          <a:xfrm>
            <a:off x="258617" y="3122941"/>
            <a:ext cx="84050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highlight>
                  <a:srgbClr val="C0C0C0"/>
                </a:highlight>
              </a:rPr>
              <a:t>"hidden famous” </a:t>
            </a:r>
            <a:r>
              <a:rPr lang="en-US" sz="1400" dirty="0"/>
              <a:t>Appears once in the </a:t>
            </a:r>
            <a:r>
              <a:rPr lang="en-US" sz="1400" dirty="0">
                <a:highlight>
                  <a:srgbClr val="FFFF00"/>
                </a:highlight>
              </a:rPr>
              <a:t>corpus = 2</a:t>
            </a:r>
            <a:r>
              <a:rPr lang="en-US" sz="1400" dirty="0"/>
              <a:t>; Weight is 1/distance so </a:t>
            </a:r>
            <a:r>
              <a:rPr lang="en-US" sz="1400" dirty="0">
                <a:highlight>
                  <a:srgbClr val="FFFF00"/>
                </a:highlight>
              </a:rPr>
              <a:t>1/1 + 1/1 = 2</a:t>
            </a:r>
          </a:p>
          <a:p>
            <a:r>
              <a:rPr lang="en-US" sz="1400" b="1" dirty="0">
                <a:highlight>
                  <a:srgbClr val="C0C0C0"/>
                </a:highlight>
              </a:rPr>
              <a:t>"hidden </a:t>
            </a:r>
            <a:r>
              <a:rPr lang="en-US" sz="1400" dirty="0">
                <a:highlight>
                  <a:srgbClr val="C0C0C0"/>
                </a:highlight>
              </a:rPr>
              <a:t>Harvard</a:t>
            </a:r>
            <a:r>
              <a:rPr lang="en-US" sz="1400" b="1" dirty="0">
                <a:highlight>
                  <a:srgbClr val="C0C0C0"/>
                </a:highlight>
              </a:rPr>
              <a:t> famous”</a:t>
            </a:r>
            <a:r>
              <a:rPr lang="en-US" sz="1400" b="1" dirty="0"/>
              <a:t> </a:t>
            </a:r>
            <a:r>
              <a:rPr lang="en-US" sz="1400" dirty="0"/>
              <a:t>Appears once in the </a:t>
            </a:r>
            <a:r>
              <a:rPr lang="en-US" sz="1400" dirty="0">
                <a:highlight>
                  <a:srgbClr val="FFFF00"/>
                </a:highlight>
              </a:rPr>
              <a:t>corpus = 3</a:t>
            </a:r>
            <a:r>
              <a:rPr lang="en-US" sz="1400" dirty="0"/>
              <a:t>; Weight is 1/distance so </a:t>
            </a:r>
            <a:r>
              <a:rPr lang="en-US" sz="1400" dirty="0">
                <a:highlight>
                  <a:srgbClr val="FFFF00"/>
                </a:highlight>
              </a:rPr>
              <a:t>1/2 + 1/2 + 1/2  = 1.5</a:t>
            </a:r>
          </a:p>
          <a:p>
            <a:r>
              <a:rPr lang="en-US" sz="1400" b="1" dirty="0">
                <a:highlight>
                  <a:srgbClr val="C0C0C0"/>
                </a:highlight>
              </a:rPr>
              <a:t>"hidden </a:t>
            </a:r>
            <a:r>
              <a:rPr lang="en-US" sz="1400" dirty="0">
                <a:highlight>
                  <a:srgbClr val="C0C0C0"/>
                </a:highlight>
              </a:rPr>
              <a:t>Harvard Harvard </a:t>
            </a:r>
            <a:r>
              <a:rPr lang="en-US" sz="1400" b="1" dirty="0">
                <a:highlight>
                  <a:srgbClr val="C0C0C0"/>
                </a:highlight>
              </a:rPr>
              <a:t>famous” </a:t>
            </a:r>
            <a:r>
              <a:rPr lang="en-US" sz="1400" dirty="0"/>
              <a:t>Appears once in the corpus = 1; Weight is 1/distance so </a:t>
            </a:r>
            <a:r>
              <a:rPr lang="en-US" sz="1400" dirty="0">
                <a:highlight>
                  <a:srgbClr val="FFFF00"/>
                </a:highlight>
              </a:rPr>
              <a:t>1/3</a:t>
            </a:r>
            <a:r>
              <a:rPr lang="en-US" sz="1400" dirty="0"/>
              <a:t> </a:t>
            </a:r>
          </a:p>
          <a:p>
            <a:r>
              <a:rPr lang="en-US" sz="1400" b="1" dirty="0">
                <a:highlight>
                  <a:srgbClr val="C0C0C0"/>
                </a:highlight>
              </a:rPr>
              <a:t>"hidden </a:t>
            </a:r>
            <a:r>
              <a:rPr lang="en-US" sz="1400" dirty="0">
                <a:highlight>
                  <a:srgbClr val="C0C0C0"/>
                </a:highlight>
              </a:rPr>
              <a:t>Harvard Harvard Harvard </a:t>
            </a:r>
            <a:r>
              <a:rPr lang="en-US" sz="1400" b="1" dirty="0">
                <a:highlight>
                  <a:srgbClr val="C0C0C0"/>
                </a:highlight>
              </a:rPr>
              <a:t>famous” </a:t>
            </a:r>
            <a:r>
              <a:rPr lang="en-US" sz="1400" dirty="0"/>
              <a:t>Appears once in the </a:t>
            </a:r>
            <a:r>
              <a:rPr lang="en-US" sz="1400" dirty="0">
                <a:highlight>
                  <a:srgbClr val="FFFF00"/>
                </a:highlight>
              </a:rPr>
              <a:t>corpus = 2</a:t>
            </a:r>
            <a:r>
              <a:rPr lang="en-US" sz="1400" dirty="0"/>
              <a:t>; Weight is 1/distance so </a:t>
            </a:r>
            <a:r>
              <a:rPr lang="en-US" sz="1400" dirty="0">
                <a:highlight>
                  <a:srgbClr val="FFFF00"/>
                </a:highlight>
              </a:rPr>
              <a:t>1/4+1/4</a:t>
            </a:r>
            <a:r>
              <a:rPr lang="en-US" sz="1400" dirty="0"/>
              <a:t> </a:t>
            </a:r>
            <a:endParaRPr lang="en-US" sz="1400" b="1" dirty="0"/>
          </a:p>
          <a:p>
            <a:r>
              <a:rPr lang="en-US" sz="1400" b="1" dirty="0">
                <a:highlight>
                  <a:srgbClr val="C0C0C0"/>
                </a:highlight>
              </a:rPr>
              <a:t>"hidden </a:t>
            </a:r>
            <a:r>
              <a:rPr lang="en-US" sz="1400" dirty="0">
                <a:highlight>
                  <a:srgbClr val="C0C0C0"/>
                </a:highlight>
              </a:rPr>
              <a:t>Harvard Harvard Harvard Harvard</a:t>
            </a:r>
            <a:r>
              <a:rPr lang="en-US" sz="1400" b="1" dirty="0">
                <a:highlight>
                  <a:srgbClr val="C0C0C0"/>
                </a:highlight>
              </a:rPr>
              <a:t> famous” </a:t>
            </a:r>
            <a:r>
              <a:rPr lang="en-US" sz="1400" dirty="0"/>
              <a:t>Appears once in the corpus = 1; Weight is 1/distance so </a:t>
            </a:r>
            <a:r>
              <a:rPr lang="en-US" sz="1400" dirty="0">
                <a:highlight>
                  <a:srgbClr val="FFFF00"/>
                </a:highlight>
              </a:rPr>
              <a:t>1/5</a:t>
            </a:r>
            <a:endParaRPr lang="en-US" sz="1400" dirty="0"/>
          </a:p>
        </p:txBody>
      </p:sp>
      <p:sp>
        <p:nvSpPr>
          <p:cNvPr id="8" name="Division 7">
            <a:extLst>
              <a:ext uri="{FF2B5EF4-FFF2-40B4-BE49-F238E27FC236}">
                <a16:creationId xmlns:a16="http://schemas.microsoft.com/office/drawing/2014/main" id="{963E4CDF-6E0C-FF53-CC6A-2A7F5F827657}"/>
              </a:ext>
            </a:extLst>
          </p:cNvPr>
          <p:cNvSpPr/>
          <p:nvPr/>
        </p:nvSpPr>
        <p:spPr>
          <a:xfrm>
            <a:off x="3546763" y="1604013"/>
            <a:ext cx="914400" cy="914400"/>
          </a:xfrm>
          <a:prstGeom prst="mathDivid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60E007-F975-E538-9754-B3644AD8920E}"/>
              </a:ext>
            </a:extLst>
          </p:cNvPr>
          <p:cNvSpPr txBox="1"/>
          <p:nvPr/>
        </p:nvSpPr>
        <p:spPr>
          <a:xfrm>
            <a:off x="1795160" y="24388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 (1/distance of the word pair in the window)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F27F9B-0B9B-9C24-69D6-DD17A387093A}"/>
              </a:ext>
            </a:extLst>
          </p:cNvPr>
          <p:cNvSpPr txBox="1"/>
          <p:nvPr/>
        </p:nvSpPr>
        <p:spPr>
          <a:xfrm>
            <a:off x="400050" y="450271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1/1 + 1/1 =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B0A383-190F-3827-7A8B-DC61762DB444}"/>
              </a:ext>
            </a:extLst>
          </p:cNvPr>
          <p:cNvSpPr txBox="1"/>
          <p:nvPr/>
        </p:nvSpPr>
        <p:spPr>
          <a:xfrm>
            <a:off x="400050" y="487205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1/2 + 1/2 + 1/2  = 1.5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BEDEE9-8C5D-40DD-E428-1E40D7F6E187}"/>
              </a:ext>
            </a:extLst>
          </p:cNvPr>
          <p:cNvSpPr txBox="1"/>
          <p:nvPr/>
        </p:nvSpPr>
        <p:spPr>
          <a:xfrm>
            <a:off x="400050" y="524138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1/3 = .33</a:t>
            </a:r>
            <a:r>
              <a:rPr lang="en-US" sz="1800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4C73DA-19B2-743C-FB95-34BEA5E4C3A1}"/>
              </a:ext>
            </a:extLst>
          </p:cNvPr>
          <p:cNvSpPr txBox="1"/>
          <p:nvPr/>
        </p:nvSpPr>
        <p:spPr>
          <a:xfrm>
            <a:off x="400050" y="56107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1/4+1/4 = .5</a:t>
            </a:r>
            <a:r>
              <a:rPr lang="en-US" sz="1800" dirty="0"/>
              <a:t> 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7F0D7C-6E34-53CB-C9D3-E16E43FA2757}"/>
              </a:ext>
            </a:extLst>
          </p:cNvPr>
          <p:cNvSpPr txBox="1"/>
          <p:nvPr/>
        </p:nvSpPr>
        <p:spPr>
          <a:xfrm>
            <a:off x="400050" y="598701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1/5 = .2</a:t>
            </a:r>
            <a:endParaRPr lang="en-US" dirty="0"/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5A077D4F-37F2-7964-EAEE-F14E912B0D45}"/>
              </a:ext>
            </a:extLst>
          </p:cNvPr>
          <p:cNvSpPr/>
          <p:nvPr/>
        </p:nvSpPr>
        <p:spPr>
          <a:xfrm rot="5400000">
            <a:off x="2290851" y="4974331"/>
            <a:ext cx="1490578" cy="70018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06901C-B2F3-D693-6C95-30750EED0FB7}"/>
              </a:ext>
            </a:extLst>
          </p:cNvPr>
          <p:cNvSpPr txBox="1"/>
          <p:nvPr/>
        </p:nvSpPr>
        <p:spPr>
          <a:xfrm>
            <a:off x="3471772" y="5098063"/>
            <a:ext cx="989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4.533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6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3BA34-C54C-9BFB-54DA-25C4F1A41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B74376-D1AA-9DA1-8611-DD9F92F3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74050-DC57-73B7-9420-072E44F76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3001A-4D74-EBFB-5765-288ACDE0B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20037B-37C2-D2D2-3C9C-B3DE53ADFE57}"/>
              </a:ext>
            </a:extLst>
          </p:cNvPr>
          <p:cNvSpPr txBox="1"/>
          <p:nvPr/>
        </p:nvSpPr>
        <p:spPr>
          <a:xfrm>
            <a:off x="3193999" y="1380146"/>
            <a:ext cx="580967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FROM: Nikolas Proctor  , </a:t>
            </a:r>
          </a:p>
          <a:p>
            <a:r>
              <a:rPr lang="en-US" sz="1200" dirty="0"/>
              <a:t>TO: Susan Proctor </a:t>
            </a:r>
          </a:p>
          <a:p>
            <a:r>
              <a:rPr lang="en-US" sz="1200" dirty="0"/>
              <a:t>October 7, 2014 2:27 pm</a:t>
            </a:r>
          </a:p>
          <a:p>
            <a:r>
              <a:rPr lang="en-US" sz="1200" dirty="0"/>
              <a:t>Re; Please leave a review for Dorothy &amp; Seth Fennell + Davis</a:t>
            </a:r>
          </a:p>
          <a:p>
            <a:endParaRPr lang="en-US" sz="1200" dirty="0"/>
          </a:p>
          <a:p>
            <a:r>
              <a:rPr lang="en-US" sz="1200" dirty="0"/>
              <a:t>Hi Mom, </a:t>
            </a:r>
          </a:p>
          <a:p>
            <a:endParaRPr lang="en-US" sz="1200" dirty="0"/>
          </a:p>
          <a:p>
            <a:r>
              <a:rPr lang="en-US" sz="1200" dirty="0"/>
              <a:t>I can't log into your </a:t>
            </a:r>
            <a:r>
              <a:rPr lang="en-US" sz="1200" dirty="0" err="1"/>
              <a:t>airbnb</a:t>
            </a:r>
            <a:r>
              <a:rPr lang="en-US" sz="1200" dirty="0"/>
              <a:t> account, but if you could please copy and paste the following when you have a moment, I'd be thankful: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""Our stay with Dot and Seth was fantastic.  We were about as unfamiliar with Boston we could have been, but found our hosts to be warmly welcoming, encouraging, and </a:t>
            </a:r>
            <a:r>
              <a:rPr lang="en-US" sz="1200" dirty="0">
                <a:highlight>
                  <a:srgbClr val="FFFF00"/>
                </a:highlight>
              </a:rPr>
              <a:t>abundantly</a:t>
            </a:r>
            <a:r>
              <a:rPr lang="en-US" sz="1200" dirty="0"/>
              <a:t> </a:t>
            </a:r>
            <a:r>
              <a:rPr lang="en-US" sz="1200" dirty="0" err="1"/>
              <a:t>knowledgable</a:t>
            </a:r>
            <a:r>
              <a:rPr lang="en-US" sz="1200" dirty="0"/>
              <a:t> </a:t>
            </a:r>
            <a:r>
              <a:rPr lang="en-US" sz="1200" strike="sngStrike" dirty="0"/>
              <a:t>of the </a:t>
            </a:r>
            <a:r>
              <a:rPr lang="en-US" sz="1200" dirty="0"/>
              <a:t>city's </a:t>
            </a:r>
            <a:r>
              <a:rPr lang="en-US" sz="1200" dirty="0">
                <a:highlight>
                  <a:srgbClr val="FFFF00"/>
                </a:highlight>
              </a:rPr>
              <a:t>treasures</a:t>
            </a:r>
            <a:r>
              <a:rPr lang="en-US" sz="1200" dirty="0"/>
              <a:t>, both </a:t>
            </a:r>
            <a:r>
              <a:rPr lang="en-US" sz="1200" dirty="0">
                <a:highlight>
                  <a:srgbClr val="FF0000"/>
                </a:highlight>
              </a:rPr>
              <a:t>famous</a:t>
            </a:r>
            <a:r>
              <a:rPr lang="en-US" sz="1200" dirty="0"/>
              <a:t> and </a:t>
            </a:r>
            <a:r>
              <a:rPr lang="en-US" sz="1200" dirty="0">
                <a:highlight>
                  <a:srgbClr val="FF0000"/>
                </a:highlight>
              </a:rPr>
              <a:t>hidden</a:t>
            </a:r>
            <a:r>
              <a:rPr lang="en-US" sz="1200" dirty="0"/>
              <a:t>.  Their 1.5 year old daughter Georgia was a delight and added to the warmth of the house.  Our room and it's bathroom were perfectly clean, pleasantly amended, and spacious.   Good coffee, </a:t>
            </a:r>
            <a:r>
              <a:rPr lang="en-US" sz="1200" dirty="0" err="1"/>
              <a:t>french</a:t>
            </a:r>
            <a:r>
              <a:rPr lang="en-US" sz="1200" dirty="0"/>
              <a:t> pressed, awaited us each morning.  The house is also nicely located, a scant half block from Franklin Park and a very brief walk from the T, Boston's user-friendly public rail system, making the entirety of the city easily accessible from Dot and Seth's doorstep.  Many thanks to our gracious and respectful hosts!""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Thanks, Mom!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33EC1E-830E-C1E0-2484-467EA4E905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3" t="65117" r="83630" b="30464"/>
          <a:stretch>
            <a:fillRect/>
          </a:stretch>
        </p:blipFill>
        <p:spPr>
          <a:xfrm>
            <a:off x="126997" y="1917732"/>
            <a:ext cx="2675944" cy="46525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D8E393-02AD-B884-C221-1F2562436D42}"/>
              </a:ext>
            </a:extLst>
          </p:cNvPr>
          <p:cNvSpPr txBox="1"/>
          <p:nvPr/>
        </p:nvSpPr>
        <p:spPr>
          <a:xfrm>
            <a:off x="126997" y="3192280"/>
            <a:ext cx="28652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highlight>
                  <a:srgbClr val="C0C0C0"/>
                </a:highlight>
              </a:rPr>
              <a:t>"hidden famous” </a:t>
            </a:r>
            <a:r>
              <a:rPr lang="en-US" sz="1400" dirty="0"/>
              <a:t>Appears once in the corpus = 1; Weight is 1/distance so </a:t>
            </a:r>
            <a:r>
              <a:rPr lang="en-US" sz="1400" dirty="0">
                <a:highlight>
                  <a:srgbClr val="FFFF00"/>
                </a:highlight>
              </a:rPr>
              <a:t>1/1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7674F5-39C4-BF90-E57E-1BBF0A78CF7D}"/>
              </a:ext>
            </a:extLst>
          </p:cNvPr>
          <p:cNvSpPr txBox="1"/>
          <p:nvPr/>
        </p:nvSpPr>
        <p:spPr>
          <a:xfrm>
            <a:off x="126997" y="3953404"/>
            <a:ext cx="27572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highlight>
                  <a:srgbClr val="C0C0C0"/>
                </a:highlight>
              </a:rPr>
              <a:t>"hidden </a:t>
            </a:r>
            <a:r>
              <a:rPr lang="en-US" sz="1400" dirty="0">
                <a:highlight>
                  <a:srgbClr val="C0C0C0"/>
                </a:highlight>
              </a:rPr>
              <a:t>Harvard Harvard Harvard </a:t>
            </a:r>
            <a:r>
              <a:rPr lang="en-US" sz="1400" b="1" dirty="0">
                <a:highlight>
                  <a:srgbClr val="C0C0C0"/>
                </a:highlight>
              </a:rPr>
              <a:t>famous” </a:t>
            </a:r>
            <a:r>
              <a:rPr lang="en-US" sz="1400" dirty="0"/>
              <a:t>Appears once in the corpus = 1; Weight is 1/distance so </a:t>
            </a:r>
            <a:r>
              <a:rPr lang="en-US" sz="1400" dirty="0">
                <a:highlight>
                  <a:srgbClr val="FFFF00"/>
                </a:highlight>
              </a:rPr>
              <a:t>1/4</a:t>
            </a:r>
            <a:r>
              <a:rPr lang="en-US" sz="1400" dirty="0"/>
              <a:t> </a:t>
            </a:r>
            <a:endParaRPr lang="en-US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C83716-2455-DD98-FF3C-2B8F8F0E7B10}"/>
              </a:ext>
            </a:extLst>
          </p:cNvPr>
          <p:cNvSpPr txBox="1"/>
          <p:nvPr/>
        </p:nvSpPr>
        <p:spPr>
          <a:xfrm>
            <a:off x="126997" y="4929971"/>
            <a:ext cx="275728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highlight>
                  <a:srgbClr val="C0C0C0"/>
                </a:highlight>
              </a:rPr>
              <a:t>"hidden </a:t>
            </a:r>
            <a:r>
              <a:rPr lang="en-US" sz="1400" dirty="0">
                <a:highlight>
                  <a:srgbClr val="C0C0C0"/>
                </a:highlight>
              </a:rPr>
              <a:t>Harvard</a:t>
            </a:r>
            <a:r>
              <a:rPr lang="en-US" sz="1400" b="1" dirty="0">
                <a:highlight>
                  <a:srgbClr val="C0C0C0"/>
                </a:highlight>
              </a:rPr>
              <a:t> famous”</a:t>
            </a:r>
            <a:r>
              <a:rPr lang="en-US" sz="1400" b="1" dirty="0"/>
              <a:t> </a:t>
            </a:r>
            <a:r>
              <a:rPr lang="en-US" sz="1400" dirty="0"/>
              <a:t>Appears once in the corpus = 1; Weight is 1/distance so </a:t>
            </a:r>
            <a:r>
              <a:rPr lang="en-US" sz="1400" dirty="0">
                <a:highlight>
                  <a:srgbClr val="FFFF00"/>
                </a:highlight>
              </a:rPr>
              <a:t>1/2 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77BAD794-85A1-16AE-6444-321504A8D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hidden famous value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7125A4-0234-FE44-5311-BFEC52E1F45C}"/>
              </a:ext>
            </a:extLst>
          </p:cNvPr>
          <p:cNvSpPr txBox="1"/>
          <p:nvPr/>
        </p:nvSpPr>
        <p:spPr>
          <a:xfrm>
            <a:off x="3193999" y="10939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bosReviews$comments</a:t>
            </a:r>
            <a:r>
              <a:rPr lang="en-US" dirty="0"/>
              <a:t>[26374]</a:t>
            </a:r>
          </a:p>
        </p:txBody>
      </p:sp>
    </p:spTree>
    <p:extLst>
      <p:ext uri="{BB962C8B-B14F-4D97-AF65-F5344CB8AC3E}">
        <p14:creationId xmlns:p14="http://schemas.microsoft.com/office/powerpoint/2010/main" val="2479330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E5B3E-F4FD-7BB6-F7CA-2F4BEE47D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62E70B-61C9-645D-E1F8-AFE811DDF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DE8CC7-0B61-B5D3-3A8F-F748F6E0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72" y="136524"/>
            <a:ext cx="8802255" cy="127664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skipgram</a:t>
            </a:r>
            <a:r>
              <a:rPr lang="en-US" dirty="0"/>
              <a:t> window is symmetrical and slides across the documents.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A0860-41D7-AA96-23EB-A2DBDAB18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CEA2E-4BFB-1CAA-0272-64DC17FBC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F82341A-31E9-AE65-AB2C-894520671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279082"/>
              </p:ext>
            </p:extLst>
          </p:nvPr>
        </p:nvGraphicFramePr>
        <p:xfrm>
          <a:off x="3519920" y="1553037"/>
          <a:ext cx="5190260" cy="46634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297565">
                  <a:extLst>
                    <a:ext uri="{9D8B030D-6E8A-4147-A177-3AD203B41FA5}">
                      <a16:colId xmlns:a16="http://schemas.microsoft.com/office/drawing/2014/main" val="124159439"/>
                    </a:ext>
                  </a:extLst>
                </a:gridCol>
                <a:gridCol w="1297565">
                  <a:extLst>
                    <a:ext uri="{9D8B030D-6E8A-4147-A177-3AD203B41FA5}">
                      <a16:colId xmlns:a16="http://schemas.microsoft.com/office/drawing/2014/main" val="1539165361"/>
                    </a:ext>
                  </a:extLst>
                </a:gridCol>
                <a:gridCol w="1297565">
                  <a:extLst>
                    <a:ext uri="{9D8B030D-6E8A-4147-A177-3AD203B41FA5}">
                      <a16:colId xmlns:a16="http://schemas.microsoft.com/office/drawing/2014/main" val="2860194571"/>
                    </a:ext>
                  </a:extLst>
                </a:gridCol>
                <a:gridCol w="1297565">
                  <a:extLst>
                    <a:ext uri="{9D8B030D-6E8A-4147-A177-3AD203B41FA5}">
                      <a16:colId xmlns:a16="http://schemas.microsoft.com/office/drawing/2014/main" val="2965685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Center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Context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Weight (1/d)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618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welcoming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encouraging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559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welcoming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abundantly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84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welcoming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knowledgable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275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welcoming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525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welcoming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treasures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889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encouraging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welcoming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3701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encouraging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abundantly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370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encouraging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knowledgable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619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encouraging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35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encouraging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treasures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053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456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famous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839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famous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treasures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972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famous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hidden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360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hidden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treasures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213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hidden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famous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15063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05E2A80-42D3-7AB2-85C0-BD5B7C88E92A}"/>
              </a:ext>
            </a:extLst>
          </p:cNvPr>
          <p:cNvSpPr txBox="1"/>
          <p:nvPr/>
        </p:nvSpPr>
        <p:spPr>
          <a:xfrm>
            <a:off x="170871" y="1553037"/>
            <a:ext cx="32558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welcoming encouraging</a:t>
            </a:r>
            <a:r>
              <a:rPr lang="en-US" sz="1800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abundantly</a:t>
            </a:r>
            <a:r>
              <a:rPr lang="en-US" sz="1800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knowledgable</a:t>
            </a:r>
            <a:r>
              <a:rPr lang="en-US" sz="1800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city</a:t>
            </a:r>
            <a:r>
              <a:rPr lang="en-US" sz="1800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treasures</a:t>
            </a:r>
            <a:r>
              <a:rPr lang="en-US" sz="1800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famous hidden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C0BE40-C370-0801-B21B-E236067DC0D3}"/>
              </a:ext>
            </a:extLst>
          </p:cNvPr>
          <p:cNvSpPr txBox="1"/>
          <p:nvPr/>
        </p:nvSpPr>
        <p:spPr>
          <a:xfrm>
            <a:off x="170871" y="2904306"/>
            <a:ext cx="32558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Welcoming</a:t>
            </a:r>
            <a:r>
              <a:rPr lang="en-US" sz="1800" i="1" baseline="300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  <a:r>
              <a:rPr lang="en-US" sz="18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encouraging abundantly</a:t>
            </a:r>
            <a:r>
              <a:rPr lang="en-US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knowledgable</a:t>
            </a:r>
            <a:r>
              <a:rPr lang="en-US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city</a:t>
            </a:r>
            <a:r>
              <a:rPr lang="en-US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treasures</a:t>
            </a:r>
            <a:r>
              <a:rPr lang="en-US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i="1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famous</a:t>
            </a:r>
            <a:r>
              <a:rPr lang="en-US" sz="1800" i="1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hidden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041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83432-87A2-F76B-4844-57631407C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03632C-4EE8-4300-BB14-F7EDAAC9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365126"/>
            <a:ext cx="8671728" cy="591477"/>
          </a:xfrm>
        </p:spPr>
        <p:txBody>
          <a:bodyPr/>
          <a:lstStyle/>
          <a:p>
            <a:r>
              <a:rPr lang="en-US" sz="2800" dirty="0"/>
              <a:t>In the end the window is 10 words plus the center word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108AC1-518E-F0BA-CD0F-D6FDB802A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A33D4-1A68-F947-6B7B-8CD6A7905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5187A1-AB53-2B4D-D774-6A2DD0C03CED}"/>
              </a:ext>
            </a:extLst>
          </p:cNvPr>
          <p:cNvSpPr txBox="1"/>
          <p:nvPr/>
        </p:nvSpPr>
        <p:spPr>
          <a:xfrm>
            <a:off x="482321" y="2831348"/>
            <a:ext cx="78477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seth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fantastic</a:t>
            </a:r>
            <a:r>
              <a:rPr lang="en-US" sz="1800" baseline="300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-5</a:t>
            </a:r>
            <a:r>
              <a:rPr lang="en-US" sz="18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unfamiliar</a:t>
            </a:r>
            <a:r>
              <a:rPr lang="en-US" sz="1800" baseline="300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-4</a:t>
            </a:r>
            <a:r>
              <a:rPr lang="en-US" sz="18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found</a:t>
            </a:r>
            <a:r>
              <a:rPr lang="en-US" sz="1800" baseline="300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-3</a:t>
            </a:r>
            <a:r>
              <a:rPr lang="en-US" sz="18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hosts</a:t>
            </a:r>
            <a:r>
              <a:rPr lang="en-US" sz="1800" baseline="300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-2</a:t>
            </a:r>
            <a:r>
              <a:rPr lang="en-US" sz="18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warmly</a:t>
            </a:r>
            <a:r>
              <a:rPr lang="en-US" sz="1800" baseline="300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  <a:r>
              <a:rPr lang="en-US" sz="180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b="1" u="sng" dirty="0">
                <a:latin typeface="Consolas" panose="020B0609020204030204" pitchFamily="49" charset="0"/>
                <a:cs typeface="Consolas" panose="020B0609020204030204" pitchFamily="49" charset="0"/>
              </a:rPr>
              <a:t>welcoming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encouraging</a:t>
            </a:r>
            <a:r>
              <a:rPr lang="en-US" sz="1800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abundantly</a:t>
            </a:r>
            <a:r>
              <a:rPr lang="en-US" sz="1800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knowledgable</a:t>
            </a:r>
            <a:r>
              <a:rPr lang="en-US" sz="1800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city</a:t>
            </a:r>
            <a:r>
              <a:rPr lang="en-US" sz="1800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treasures</a:t>
            </a:r>
            <a:r>
              <a:rPr lang="en-US" sz="1800" baseline="30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famous hidden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B03838-704F-FFD3-7C6A-703374420496}"/>
              </a:ext>
            </a:extLst>
          </p:cNvPr>
          <p:cNvSpPr txBox="1"/>
          <p:nvPr/>
        </p:nvSpPr>
        <p:spPr>
          <a:xfrm>
            <a:off x="7214198" y="1647754"/>
            <a:ext cx="859531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Center Word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6A46B1-83F8-0354-E146-FD79B7BEAAA2}"/>
              </a:ext>
            </a:extLst>
          </p:cNvPr>
          <p:cNvCxnSpPr>
            <a:stCxn id="10" idx="2"/>
          </p:cNvCxnSpPr>
          <p:nvPr/>
        </p:nvCxnSpPr>
        <p:spPr>
          <a:xfrm flipH="1">
            <a:off x="7643963" y="1893975"/>
            <a:ext cx="1" cy="937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79370C-8A21-8C1C-E839-077B47B5EB58}"/>
              </a:ext>
            </a:extLst>
          </p:cNvPr>
          <p:cNvSpPr txBox="1"/>
          <p:nvPr/>
        </p:nvSpPr>
        <p:spPr>
          <a:xfrm>
            <a:off x="3579677" y="1876209"/>
            <a:ext cx="966931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Context Words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D111C41B-5D5D-8363-2B6D-34FFC7B530AD}"/>
              </a:ext>
            </a:extLst>
          </p:cNvPr>
          <p:cNvSpPr/>
          <p:nvPr/>
        </p:nvSpPr>
        <p:spPr>
          <a:xfrm rot="16200000">
            <a:off x="3806829" y="-275093"/>
            <a:ext cx="585805" cy="5627075"/>
          </a:xfrm>
          <a:prstGeom prst="rightBrace">
            <a:avLst>
              <a:gd name="adj1" fmla="val 8333"/>
              <a:gd name="adj2" fmla="val 4982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01EF4319-5788-6043-DB43-2736E3AD67AD}"/>
              </a:ext>
            </a:extLst>
          </p:cNvPr>
          <p:cNvSpPr/>
          <p:nvPr/>
        </p:nvSpPr>
        <p:spPr>
          <a:xfrm rot="5400000">
            <a:off x="3592377" y="465274"/>
            <a:ext cx="568176" cy="6495631"/>
          </a:xfrm>
          <a:prstGeom prst="rightBrace">
            <a:avLst>
              <a:gd name="adj1" fmla="val 8333"/>
              <a:gd name="adj2" fmla="val 4982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AA706D-1481-567D-AA7A-E9609A4FFE4E}"/>
              </a:ext>
            </a:extLst>
          </p:cNvPr>
          <p:cNvSpPr txBox="1"/>
          <p:nvPr/>
        </p:nvSpPr>
        <p:spPr>
          <a:xfrm>
            <a:off x="3386828" y="4090771"/>
            <a:ext cx="966931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Context Words</a:t>
            </a:r>
          </a:p>
        </p:txBody>
      </p:sp>
    </p:spTree>
    <p:extLst>
      <p:ext uri="{BB962C8B-B14F-4D97-AF65-F5344CB8AC3E}">
        <p14:creationId xmlns:p14="http://schemas.microsoft.com/office/powerpoint/2010/main" val="2805933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CE745-6A02-2370-F91C-62CF96952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8B5896-0A6B-862F-E551-4CBE4593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894925-C755-C854-2704-BAB835D0C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72" y="136524"/>
            <a:ext cx="8802255" cy="591477"/>
          </a:xfrm>
        </p:spPr>
        <p:txBody>
          <a:bodyPr/>
          <a:lstStyle/>
          <a:p>
            <a:r>
              <a:rPr lang="en-US" dirty="0"/>
              <a:t>Now we have the TCM constructed, it’s sparse and large.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FC16B-901C-1178-EFF6-7C1509899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A1717-5CF8-6528-F7AF-1C942CE75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280403-33AD-8835-DFF1-78389CC5C867}"/>
              </a:ext>
            </a:extLst>
          </p:cNvPr>
          <p:cNvSpPr/>
          <p:nvPr/>
        </p:nvSpPr>
        <p:spPr>
          <a:xfrm>
            <a:off x="845127" y="5216339"/>
            <a:ext cx="7636163" cy="979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build a Global Vector [</a:t>
            </a:r>
            <a:r>
              <a:rPr lang="en-US" dirty="0" err="1"/>
              <a:t>GLoVe</a:t>
            </a:r>
            <a:r>
              <a:rPr lang="en-US" dirty="0"/>
              <a:t>] Model Representation.</a:t>
            </a:r>
          </a:p>
          <a:p>
            <a:pPr algn="ctr"/>
            <a:r>
              <a:rPr lang="en-US" dirty="0"/>
              <a:t>This tries to make vectors from the log of every non—zero value in the TCM </a:t>
            </a:r>
          </a:p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EDABA3-50CE-5343-7146-491459022E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8" t="84307" r="68182" b="3329"/>
          <a:stretch>
            <a:fillRect/>
          </a:stretch>
        </p:blipFill>
        <p:spPr>
          <a:xfrm>
            <a:off x="997526" y="1413164"/>
            <a:ext cx="7232073" cy="179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368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D4BBF-BB27-FF97-0BAA-1285C108D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A2FB8C-9A5A-F38A-CC89-B0EB95D0E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36B189-A4A1-96D5-EB0F-21632D27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Vectors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0BE65-5AFC-B836-FC78-4FF5D41BE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E7F3E-71EE-9E2A-65C8-D19D1EFA9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B305C-A75E-F0E3-41E7-1F3C66BF3B3E}"/>
              </a:ext>
            </a:extLst>
          </p:cNvPr>
          <p:cNvSpPr txBox="1"/>
          <p:nvPr/>
        </p:nvSpPr>
        <p:spPr>
          <a:xfrm>
            <a:off x="628647" y="3109070"/>
            <a:ext cx="80330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3. The model iteratively changes the assigned numbers so that they will will </a:t>
            </a:r>
            <a:r>
              <a:rPr lang="en-US" sz="2400" b="1" dirty="0"/>
              <a:t>multiply together and more closely match</a:t>
            </a:r>
            <a:r>
              <a:rPr lang="en-US" sz="2400" dirty="0"/>
              <a:t> the log of the TCM values.</a:t>
            </a:r>
          </a:p>
          <a:p>
            <a:endParaRPr lang="en-US" sz="2400" dirty="0"/>
          </a:p>
          <a:p>
            <a:r>
              <a:rPr lang="en-US" sz="2400" dirty="0"/>
              <a:t>4. While we chose 50, there are many more than 50 non-zero word pairs so the model tries to generalize</a:t>
            </a:r>
            <a:r>
              <a:rPr lang="en-US" dirty="0"/>
              <a:t>.  It also keeps track of 2 additional values for each work.  These 2 “biases” help adjust the final 50 vectors for when a specific word is used.  There are 2, one for when the word is center and one for when it’s context.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47F54-07E6-AF11-D109-4E2B74656FF7}"/>
              </a:ext>
            </a:extLst>
          </p:cNvPr>
          <p:cNvSpPr txBox="1"/>
          <p:nvPr/>
        </p:nvSpPr>
        <p:spPr>
          <a:xfrm>
            <a:off x="628648" y="1332526"/>
            <a:ext cx="8033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1. We define how many numbers we want i.e. 50 numbers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62966E-2DFD-CA3E-E125-C944C450B1A2}"/>
              </a:ext>
            </a:extLst>
          </p:cNvPr>
          <p:cNvSpPr txBox="1"/>
          <p:nvPr/>
        </p:nvSpPr>
        <p:spPr>
          <a:xfrm>
            <a:off x="628648" y="2170114"/>
            <a:ext cx="80330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2. </a:t>
            </a:r>
            <a:r>
              <a:rPr lang="en-US" sz="2400" dirty="0" err="1"/>
              <a:t>GLoVe</a:t>
            </a:r>
            <a:r>
              <a:rPr lang="en-US" sz="2400" dirty="0"/>
              <a:t> assigns random numbers to all 50 then measures how well those numbers match the log of the TCM values.</a:t>
            </a:r>
          </a:p>
        </p:txBody>
      </p:sp>
    </p:spTree>
    <p:extLst>
      <p:ext uri="{BB962C8B-B14F-4D97-AF65-F5344CB8AC3E}">
        <p14:creationId xmlns:p14="http://schemas.microsoft.com/office/powerpoint/2010/main" val="373914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EECD9-02C7-9941-3BBF-0D8F7C6CE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80C313-6B98-574D-DD93-AC7BBDDD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103719-DCFC-8C4F-45A5-F0A32A55B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6DEB3-2FCC-A9AD-4248-B6F2A9590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C4867-C635-9B29-A242-3B09A33E67B3}"/>
              </a:ext>
            </a:extLst>
          </p:cNvPr>
          <p:cNvSpPr txBox="1"/>
          <p:nvPr/>
        </p:nvSpPr>
        <p:spPr>
          <a:xfrm>
            <a:off x="742950" y="1573111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Example:</a:t>
            </a:r>
          </a:p>
          <a:p>
            <a:r>
              <a:rPr lang="en-US" sz="2000" dirty="0"/>
              <a:t>(cat vector) • (meow vector) ≈ log(20)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EACCFE-497A-0DC4-32AB-C53B79BE8B4D}"/>
              </a:ext>
            </a:extLst>
          </p:cNvPr>
          <p:cNvSpPr txBox="1"/>
          <p:nvPr/>
        </p:nvSpPr>
        <p:spPr>
          <a:xfrm>
            <a:off x="777492" y="2169635"/>
            <a:ext cx="743980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And this multiplication is actually the “dot product” you saw before:</a:t>
            </a:r>
            <a:br>
              <a:rPr lang="en-US" sz="2000" dirty="0"/>
            </a:br>
            <a:r>
              <a:rPr lang="en-US" sz="2000" dirty="0"/>
              <a:t>Cat vector​      =[</a:t>
            </a:r>
            <a:r>
              <a:rPr lang="en-US" sz="2000" dirty="0">
                <a:highlight>
                  <a:srgbClr val="FFFF00"/>
                </a:highlight>
              </a:rPr>
              <a:t>0.2</a:t>
            </a:r>
            <a:r>
              <a:rPr lang="en-US" sz="2000" dirty="0"/>
              <a:t>,−0.5,0.8,...,0.1](50 numbers)</a:t>
            </a:r>
          </a:p>
          <a:p>
            <a:r>
              <a:rPr lang="en-US" sz="2000" dirty="0"/>
              <a:t>Meow vector=[</a:t>
            </a:r>
            <a:r>
              <a:rPr lang="en-US" sz="2000" dirty="0">
                <a:highlight>
                  <a:srgbClr val="FFFF00"/>
                </a:highlight>
              </a:rPr>
              <a:t>0.7</a:t>
            </a:r>
            <a:r>
              <a:rPr lang="en-US" sz="2000" dirty="0"/>
              <a:t>,0.3,−0.2,...,0.5](50 numbers)</a:t>
            </a:r>
          </a:p>
          <a:p>
            <a:r>
              <a:rPr lang="en-US" sz="2000" dirty="0"/>
              <a:t>Dot Product  = (</a:t>
            </a:r>
            <a:r>
              <a:rPr lang="en-US" sz="2000" dirty="0">
                <a:highlight>
                  <a:srgbClr val="FFFF00"/>
                </a:highlight>
              </a:rPr>
              <a:t>0.2×0.7</a:t>
            </a:r>
            <a:r>
              <a:rPr lang="en-US" sz="2000" dirty="0"/>
              <a:t>)+(−0.5×0.3)+(0.8×−0.2)+⋯+(0.1×0.5)</a:t>
            </a:r>
          </a:p>
          <a:p>
            <a:endParaRPr lang="en-US" sz="2000" dirty="0"/>
          </a:p>
          <a:p>
            <a:r>
              <a:rPr lang="en-US" sz="2000" dirty="0"/>
              <a:t>Then is adds two biases it learned to improve accuracy that are word specific Biases are specific word adjustments added to the 50 values to increase accuracy.</a:t>
            </a:r>
          </a:p>
          <a:p>
            <a:endParaRPr lang="en-US" sz="2000" dirty="0"/>
          </a:p>
          <a:p>
            <a:r>
              <a:rPr lang="en-US" sz="2000" dirty="0"/>
              <a:t>(Cat vector​ ⋅Meow vector) + </a:t>
            </a:r>
            <a:r>
              <a:rPr lang="en-US" sz="2000" dirty="0" err="1"/>
              <a:t>biasCat</a:t>
            </a:r>
            <a:r>
              <a:rPr lang="en-US" sz="2000" dirty="0"/>
              <a:t> ​+ </a:t>
            </a:r>
            <a:r>
              <a:rPr lang="en-US" sz="2000" dirty="0" err="1"/>
              <a:t>biasMeow</a:t>
            </a:r>
            <a:r>
              <a:rPr lang="en-US" sz="2000" dirty="0"/>
              <a:t>​ ≈ log(20)</a:t>
            </a:r>
          </a:p>
          <a:p>
            <a:r>
              <a:rPr lang="en-US" sz="2000" dirty="0"/>
              <a:t>So the model’s goal is </a:t>
            </a:r>
            <a:r>
              <a:rPr lang="en-US" sz="2000" b="1" dirty="0"/>
              <a:t>dot product + </a:t>
            </a:r>
            <a:r>
              <a:rPr lang="en-US" sz="2000" b="1" dirty="0" err="1"/>
              <a:t>biases≈log</a:t>
            </a:r>
            <a:r>
              <a:rPr lang="en-US" sz="2000" b="1" dirty="0"/>
              <a:t>(20)≈2.9957</a:t>
            </a:r>
          </a:p>
        </p:txBody>
      </p:sp>
    </p:spTree>
    <p:extLst>
      <p:ext uri="{BB962C8B-B14F-4D97-AF65-F5344CB8AC3E}">
        <p14:creationId xmlns:p14="http://schemas.microsoft.com/office/powerpoint/2010/main" val="2437734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EA4B7-F8F9-EBFD-DBEA-542F1141A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2EF6CF-31BF-348F-C474-CE281D1C7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BF79B2-2EA1-B894-F9E2-CE565ECA7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D9102-61FA-BBE1-2B02-E1293E20F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17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09678F-2B25-99CB-B98A-4D2C4FD41040}"/>
              </a:ext>
            </a:extLst>
          </p:cNvPr>
          <p:cNvCxnSpPr>
            <a:cxnSpLocks/>
          </p:cNvCxnSpPr>
          <p:nvPr/>
        </p:nvCxnSpPr>
        <p:spPr>
          <a:xfrm flipV="1">
            <a:off x="1577594" y="1245996"/>
            <a:ext cx="0" cy="507441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B0F7CB-47A0-8DD9-D0F3-4B15B585F575}"/>
              </a:ext>
            </a:extLst>
          </p:cNvPr>
          <p:cNvCxnSpPr>
            <a:cxnSpLocks/>
          </p:cNvCxnSpPr>
          <p:nvPr/>
        </p:nvCxnSpPr>
        <p:spPr>
          <a:xfrm>
            <a:off x="1577594" y="6322086"/>
            <a:ext cx="5617029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8F75D44-58D0-09C4-F509-16D05641CA93}"/>
              </a:ext>
            </a:extLst>
          </p:cNvPr>
          <p:cNvCxnSpPr/>
          <p:nvPr/>
        </p:nvCxnSpPr>
        <p:spPr>
          <a:xfrm flipV="1">
            <a:off x="1577594" y="3054697"/>
            <a:ext cx="1818752" cy="326571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Download Free King Icons in PNG &amp; SVG">
            <a:extLst>
              <a:ext uri="{FF2B5EF4-FFF2-40B4-BE49-F238E27FC236}">
                <a16:creationId xmlns:a16="http://schemas.microsoft.com/office/drawing/2014/main" id="{D8946056-6ABA-BA52-F59D-873AB5455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146" y="2185598"/>
            <a:ext cx="807553" cy="80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BB5C2B-DF37-E165-9C1D-88A5FDEAD0F4}"/>
              </a:ext>
            </a:extLst>
          </p:cNvPr>
          <p:cNvCxnSpPr>
            <a:cxnSpLocks/>
          </p:cNvCxnSpPr>
          <p:nvPr/>
        </p:nvCxnSpPr>
        <p:spPr>
          <a:xfrm flipV="1">
            <a:off x="1577591" y="4012305"/>
            <a:ext cx="2914024" cy="229102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4A09769B-35E1-914C-78F1-41C4C5A9B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108" y="3646413"/>
            <a:ext cx="807552" cy="80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A370B5-D981-C4B6-8485-A14F276E4E6D}"/>
              </a:ext>
            </a:extLst>
          </p:cNvPr>
          <p:cNvSpPr txBox="1"/>
          <p:nvPr/>
        </p:nvSpPr>
        <p:spPr>
          <a:xfrm>
            <a:off x="4572000" y="1169733"/>
            <a:ext cx="4310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have a “man” vector and we add a “king” vector we have a new amount.  We know this represents the concept of “royalty” but it’s a numeric vector.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79A939-87E2-05DC-9106-E32F841046AE}"/>
              </a:ext>
            </a:extLst>
          </p:cNvPr>
          <p:cNvCxnSpPr/>
          <p:nvPr/>
        </p:nvCxnSpPr>
        <p:spPr>
          <a:xfrm>
            <a:off x="3396346" y="3125037"/>
            <a:ext cx="989762" cy="80386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BE1FCE9-4D1F-BE10-5F69-99A26CB5F8C8}"/>
              </a:ext>
            </a:extLst>
          </p:cNvPr>
          <p:cNvSpPr txBox="1"/>
          <p:nvPr/>
        </p:nvSpPr>
        <p:spPr>
          <a:xfrm>
            <a:off x="3396346" y="3589117"/>
            <a:ext cx="728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“Royalty”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6A3CF-2ABC-8903-773A-D45B7B0D1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7" y="365126"/>
            <a:ext cx="8762160" cy="591477"/>
          </a:xfrm>
        </p:spPr>
        <p:txBody>
          <a:bodyPr/>
          <a:lstStyle/>
          <a:p>
            <a:r>
              <a:rPr lang="en-US" sz="2800" dirty="0"/>
              <a:t>Word Embeddings help computers understand language.</a:t>
            </a:r>
          </a:p>
        </p:txBody>
      </p:sp>
    </p:spTree>
    <p:extLst>
      <p:ext uri="{BB962C8B-B14F-4D97-AF65-F5344CB8AC3E}">
        <p14:creationId xmlns:p14="http://schemas.microsoft.com/office/powerpoint/2010/main" val="1502522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61ABA-026F-0D86-0297-85C936F14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188770-1EA8-836B-74AA-117899BD6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756EB-877D-B347-FEEA-A165DA688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542BA-84A6-112B-C54D-2D2944854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18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FFA9D8C-53B9-FA96-DD9C-5B5F749C5CA5}"/>
              </a:ext>
            </a:extLst>
          </p:cNvPr>
          <p:cNvCxnSpPr>
            <a:cxnSpLocks/>
          </p:cNvCxnSpPr>
          <p:nvPr/>
        </p:nvCxnSpPr>
        <p:spPr>
          <a:xfrm flipV="1">
            <a:off x="1577594" y="1245996"/>
            <a:ext cx="0" cy="507441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92275F-6F73-5611-E77D-C2F7B563F849}"/>
              </a:ext>
            </a:extLst>
          </p:cNvPr>
          <p:cNvCxnSpPr>
            <a:cxnSpLocks/>
          </p:cNvCxnSpPr>
          <p:nvPr/>
        </p:nvCxnSpPr>
        <p:spPr>
          <a:xfrm>
            <a:off x="1577594" y="6322086"/>
            <a:ext cx="5617029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DA18C7-7ED9-A8AC-4096-CEB85E1293A0}"/>
              </a:ext>
            </a:extLst>
          </p:cNvPr>
          <p:cNvCxnSpPr/>
          <p:nvPr/>
        </p:nvCxnSpPr>
        <p:spPr>
          <a:xfrm flipV="1">
            <a:off x="1577594" y="3054697"/>
            <a:ext cx="1818752" cy="326571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Download Free King Icons in PNG &amp; SVG">
            <a:extLst>
              <a:ext uri="{FF2B5EF4-FFF2-40B4-BE49-F238E27FC236}">
                <a16:creationId xmlns:a16="http://schemas.microsoft.com/office/drawing/2014/main" id="{6DC6845E-7E6C-FE40-B86D-5F9DFBBB1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146" y="2185598"/>
            <a:ext cx="807553" cy="80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25AEDC-3FB5-DE64-CE7C-6C2FA6361DC7}"/>
              </a:ext>
            </a:extLst>
          </p:cNvPr>
          <p:cNvCxnSpPr>
            <a:cxnSpLocks/>
          </p:cNvCxnSpPr>
          <p:nvPr/>
        </p:nvCxnSpPr>
        <p:spPr>
          <a:xfrm flipV="1">
            <a:off x="1577591" y="4012305"/>
            <a:ext cx="2914024" cy="229102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13A362-8AFA-783B-73A2-600C3C6336D8}"/>
              </a:ext>
            </a:extLst>
          </p:cNvPr>
          <p:cNvCxnSpPr>
            <a:cxnSpLocks/>
          </p:cNvCxnSpPr>
          <p:nvPr/>
        </p:nvCxnSpPr>
        <p:spPr>
          <a:xfrm flipV="1">
            <a:off x="1577592" y="4109776"/>
            <a:ext cx="4371032" cy="219355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E29C7C9C-A978-E48D-B450-67E62370D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86108" y="3646413"/>
            <a:ext cx="807552" cy="80755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0CA924-9247-8E7F-F2C0-41A67B7F46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393" y="3249202"/>
            <a:ext cx="717824" cy="80755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F0031A-816B-5E1E-C3D5-3A592071EB37}"/>
              </a:ext>
            </a:extLst>
          </p:cNvPr>
          <p:cNvCxnSpPr/>
          <p:nvPr/>
        </p:nvCxnSpPr>
        <p:spPr>
          <a:xfrm>
            <a:off x="3396346" y="3125037"/>
            <a:ext cx="989762" cy="80386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B311D43-B77F-230B-77A4-214A06EF7C36}"/>
              </a:ext>
            </a:extLst>
          </p:cNvPr>
          <p:cNvSpPr txBox="1"/>
          <p:nvPr/>
        </p:nvSpPr>
        <p:spPr>
          <a:xfrm>
            <a:off x="3396346" y="3589117"/>
            <a:ext cx="728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“Royalty”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AA3D3A-17C2-65A6-ED7E-715D26B45F40}"/>
              </a:ext>
            </a:extLst>
          </p:cNvPr>
          <p:cNvCxnSpPr/>
          <p:nvPr/>
        </p:nvCxnSpPr>
        <p:spPr>
          <a:xfrm>
            <a:off x="4631020" y="2703310"/>
            <a:ext cx="989762" cy="80386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6EA3928-BBD1-4F8B-B82A-11539D0E8A7F}"/>
              </a:ext>
            </a:extLst>
          </p:cNvPr>
          <p:cNvSpPr txBox="1"/>
          <p:nvPr/>
        </p:nvSpPr>
        <p:spPr>
          <a:xfrm>
            <a:off x="4631020" y="3167390"/>
            <a:ext cx="728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“Royalty”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D983A8-A71A-9B57-32E9-D539157279D8}"/>
              </a:ext>
            </a:extLst>
          </p:cNvPr>
          <p:cNvSpPr txBox="1"/>
          <p:nvPr/>
        </p:nvSpPr>
        <p:spPr>
          <a:xfrm>
            <a:off x="5948624" y="1169733"/>
            <a:ext cx="29341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start with the “woman” vector” then add the newly created vector of “</a:t>
            </a:r>
            <a:r>
              <a:rPr lang="en-US" dirty="0" err="1"/>
              <a:t>man+king</a:t>
            </a:r>
            <a:r>
              <a:rPr lang="en-US" dirty="0"/>
              <a:t>” which we know is “royalty” what should we get?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D88F0A-A44A-15E3-8841-A0D4EDBCA651}"/>
              </a:ext>
            </a:extLst>
          </p:cNvPr>
          <p:cNvSpPr txBox="1"/>
          <p:nvPr/>
        </p:nvSpPr>
        <p:spPr>
          <a:xfrm>
            <a:off x="4386108" y="2381352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59479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F19EC-29B3-0234-A2D5-7C52BA6E0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F8C52-8FDF-90CD-AA8A-0739AA36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0D5E5-B7E5-47DE-D95A-12265AA68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8F44E-BFFF-CFD3-1508-2DE90B1FF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19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CA417D-53D5-1CB9-B5B1-6E3F18053C19}"/>
              </a:ext>
            </a:extLst>
          </p:cNvPr>
          <p:cNvCxnSpPr>
            <a:cxnSpLocks/>
          </p:cNvCxnSpPr>
          <p:nvPr/>
        </p:nvCxnSpPr>
        <p:spPr>
          <a:xfrm flipV="1">
            <a:off x="1577594" y="1245996"/>
            <a:ext cx="0" cy="507441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A51706-4F62-DF34-AB72-55F5C2CA3DC4}"/>
              </a:ext>
            </a:extLst>
          </p:cNvPr>
          <p:cNvCxnSpPr>
            <a:cxnSpLocks/>
          </p:cNvCxnSpPr>
          <p:nvPr/>
        </p:nvCxnSpPr>
        <p:spPr>
          <a:xfrm>
            <a:off x="1577594" y="6322086"/>
            <a:ext cx="5617029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A614E4-1287-154C-BC7D-2E4B83D02FAE}"/>
              </a:ext>
            </a:extLst>
          </p:cNvPr>
          <p:cNvCxnSpPr/>
          <p:nvPr/>
        </p:nvCxnSpPr>
        <p:spPr>
          <a:xfrm flipV="1">
            <a:off x="1577594" y="3054697"/>
            <a:ext cx="1818752" cy="326571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Download Free King Icons in PNG &amp; SVG">
            <a:extLst>
              <a:ext uri="{FF2B5EF4-FFF2-40B4-BE49-F238E27FC236}">
                <a16:creationId xmlns:a16="http://schemas.microsoft.com/office/drawing/2014/main" id="{33E94B42-4F5E-54EF-295D-865546BE5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146" y="2185598"/>
            <a:ext cx="807553" cy="80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4D9869-100A-E29C-6F21-44FC9AF1E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928" y="1691953"/>
            <a:ext cx="807552" cy="80755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A0673B-8A35-1385-7967-C8DD1ECF4A30}"/>
              </a:ext>
            </a:extLst>
          </p:cNvPr>
          <p:cNvCxnSpPr>
            <a:cxnSpLocks/>
          </p:cNvCxnSpPr>
          <p:nvPr/>
        </p:nvCxnSpPr>
        <p:spPr>
          <a:xfrm flipV="1">
            <a:off x="1577593" y="2638598"/>
            <a:ext cx="3024557" cy="368181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2D64CB-67D0-E87B-323D-F76C6DCAFC2A}"/>
              </a:ext>
            </a:extLst>
          </p:cNvPr>
          <p:cNvCxnSpPr>
            <a:cxnSpLocks/>
          </p:cNvCxnSpPr>
          <p:nvPr/>
        </p:nvCxnSpPr>
        <p:spPr>
          <a:xfrm flipV="1">
            <a:off x="1577591" y="4012305"/>
            <a:ext cx="2914024" cy="229102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F8DAF93-B874-8E1F-07F2-27A1CC6CE44E}"/>
              </a:ext>
            </a:extLst>
          </p:cNvPr>
          <p:cNvCxnSpPr>
            <a:cxnSpLocks/>
          </p:cNvCxnSpPr>
          <p:nvPr/>
        </p:nvCxnSpPr>
        <p:spPr>
          <a:xfrm flipV="1">
            <a:off x="1577592" y="4109776"/>
            <a:ext cx="4371032" cy="219355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E0B6F054-900B-1631-EF43-4CB46959D1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86108" y="3646413"/>
            <a:ext cx="807552" cy="80755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5A59087-01D6-C94B-34F0-4594C07057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393" y="3249202"/>
            <a:ext cx="717824" cy="80755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4FD681F-F31E-A2C4-3BCB-698BBFDF6C08}"/>
              </a:ext>
            </a:extLst>
          </p:cNvPr>
          <p:cNvCxnSpPr/>
          <p:nvPr/>
        </p:nvCxnSpPr>
        <p:spPr>
          <a:xfrm>
            <a:off x="3396346" y="3125037"/>
            <a:ext cx="989762" cy="80386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6BF697-F19E-7B9C-3672-159C66F1ECB7}"/>
              </a:ext>
            </a:extLst>
          </p:cNvPr>
          <p:cNvSpPr txBox="1"/>
          <p:nvPr/>
        </p:nvSpPr>
        <p:spPr>
          <a:xfrm>
            <a:off x="3396346" y="3589117"/>
            <a:ext cx="728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“Royalty”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6C4303-CC9C-BEEF-F9CE-8DB30FF4BF9A}"/>
              </a:ext>
            </a:extLst>
          </p:cNvPr>
          <p:cNvCxnSpPr/>
          <p:nvPr/>
        </p:nvCxnSpPr>
        <p:spPr>
          <a:xfrm>
            <a:off x="4631020" y="2703310"/>
            <a:ext cx="989762" cy="80386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D6D52EC-08F7-2804-D512-F7CCECDEADF3}"/>
              </a:ext>
            </a:extLst>
          </p:cNvPr>
          <p:cNvSpPr txBox="1"/>
          <p:nvPr/>
        </p:nvSpPr>
        <p:spPr>
          <a:xfrm>
            <a:off x="4631020" y="3167390"/>
            <a:ext cx="728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“Royalty”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C78D81-6E07-228F-AB2D-B4B1784B58F0}"/>
              </a:ext>
            </a:extLst>
          </p:cNvPr>
          <p:cNvSpPr txBox="1"/>
          <p:nvPr/>
        </p:nvSpPr>
        <p:spPr>
          <a:xfrm>
            <a:off x="5948624" y="1169733"/>
            <a:ext cx="29341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Somewhere nearby in our TCM vectors should be the “Queen” vector because co-occurrence of man/king contexts is similar to woman/queen contexts even if the pair frequencies differ by group.</a:t>
            </a:r>
          </a:p>
        </p:txBody>
      </p:sp>
    </p:spTree>
    <p:extLst>
      <p:ext uri="{BB962C8B-B14F-4D97-AF65-F5344CB8AC3E}">
        <p14:creationId xmlns:p14="http://schemas.microsoft.com/office/powerpoint/2010/main" val="3124408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2AF127-F08F-5E2C-79D0-88CF258A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20D043-ECF1-193E-8BD3-5AC18F7A0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B_text2vec.R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E5B65F-B20A-757B-A9ED-B84C3CAF2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47F71-9B4C-D29D-3915-1FA76F1A5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176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381DE9-B210-41B3-1B90-75C575907E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127749"/>
            <a:ext cx="2057400" cy="365125"/>
          </a:xfrm>
        </p:spPr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671DB9-B391-F58C-5A95-F9B98A6F8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Interacting &amp; Improving with LLMs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CBEE7-41A4-D40A-E0AC-20877D117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084EF-380E-4BCF-106E-75ADF065F5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58CA7-1961-A9BD-80AC-EAE8C0CBD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31" y="2245029"/>
            <a:ext cx="2359119" cy="3002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77447D-EA58-F75B-23A0-C5C9F9559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172" y="2241823"/>
            <a:ext cx="2359119" cy="30025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AC3959-84EF-9030-1A64-38A35C20D3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413" y="2241823"/>
            <a:ext cx="2359118" cy="300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58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D0A0E-C6D1-A4C7-106A-8DCA45F31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C5CACA-259E-7DAA-C3FE-C8326A14F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127749"/>
            <a:ext cx="2057400" cy="365125"/>
          </a:xfrm>
        </p:spPr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8AB0F0-EA9D-A385-D5EF-160AECD3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Interacting with LLMs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6835E-8A71-138D-98EB-D0EC3B32C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49E70-6508-E982-FEB3-4DDD1F058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953801-5205-A3A7-3122-0D7D7D3AA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31" y="2245029"/>
            <a:ext cx="2359119" cy="30025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D95BCC-B1B8-09E2-6E0F-D95D6619CC49}"/>
              </a:ext>
            </a:extLst>
          </p:cNvPr>
          <p:cNvSpPr txBox="1"/>
          <p:nvPr/>
        </p:nvSpPr>
        <p:spPr>
          <a:xfrm>
            <a:off x="3145134" y="2690336"/>
            <a:ext cx="53702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LLM is like a new college graduate, it has experiences &amp; knowledge</a:t>
            </a:r>
          </a:p>
          <a:p>
            <a:r>
              <a:rPr lang="en-US" dirty="0"/>
              <a:t>(and is often too eager).  It does not have specific non-public knowledge or information of events that happened after it’s “knowledge cutoff”</a:t>
            </a:r>
          </a:p>
          <a:p>
            <a:endParaRPr lang="en-US" dirty="0"/>
          </a:p>
          <a:p>
            <a:r>
              <a:rPr lang="en-US" i="1" dirty="0"/>
              <a:t>The data it was trained on was robust but a point in time.  The LLM is general purpose, non specific and not contemporary.</a:t>
            </a:r>
          </a:p>
        </p:txBody>
      </p:sp>
    </p:spTree>
    <p:extLst>
      <p:ext uri="{BB962C8B-B14F-4D97-AF65-F5344CB8AC3E}">
        <p14:creationId xmlns:p14="http://schemas.microsoft.com/office/powerpoint/2010/main" val="3948542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9EBC4-F7BC-B8F8-5361-350B1C684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181C6B-0D3A-CBA5-1352-D6A841D0F6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127749"/>
            <a:ext cx="2057400" cy="365125"/>
          </a:xfrm>
        </p:spPr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5007AC-7F8F-A498-1C60-F91CD133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Generation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3DEDD-5EDB-7952-AD27-4AFBCBF8B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C8E61-8A28-F806-C470-306B95551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86879C-E653-58A3-4D3F-FBAC15F03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31" y="2245029"/>
            <a:ext cx="2359119" cy="3002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C0FF08-0BAE-9589-7D42-F0E34105F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31" y="2241821"/>
            <a:ext cx="2359119" cy="30025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600B8C-38EE-A500-81F0-93C2C5618B9E}"/>
              </a:ext>
            </a:extLst>
          </p:cNvPr>
          <p:cNvSpPr txBox="1"/>
          <p:nvPr/>
        </p:nvSpPr>
        <p:spPr>
          <a:xfrm>
            <a:off x="3145134" y="2690336"/>
            <a:ext cx="53702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RAG is like handing the LLM a bit of relevant information along with the user prompt.  </a:t>
            </a:r>
            <a:r>
              <a:rPr lang="en-US" i="1" dirty="0"/>
              <a:t>After building the workflow, the information retrieval and documents may need to be updated periodically but less difficult than fine-tuning (next slide).</a:t>
            </a:r>
          </a:p>
        </p:txBody>
      </p:sp>
    </p:spTree>
    <p:extLst>
      <p:ext uri="{BB962C8B-B14F-4D97-AF65-F5344CB8AC3E}">
        <p14:creationId xmlns:p14="http://schemas.microsoft.com/office/powerpoint/2010/main" val="71070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37F13-75C3-8B5B-F3AB-8B21C2D0D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5FB44A-3FFE-7016-508A-B7DF9194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127749"/>
            <a:ext cx="2057400" cy="365125"/>
          </a:xfrm>
        </p:spPr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18CCA3-83AB-8A86-F090-927DE25CB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 a LLM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4EE38-E4C0-47B2-8E49-A48CF0F2F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A8899-90E0-DF58-14B3-9B63C6BA6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6B2D72-4158-D674-A75A-8B616A7B3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31" y="2245029"/>
            <a:ext cx="2359119" cy="3002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884505-2F7E-BDF8-D765-571D46290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31" y="2241821"/>
            <a:ext cx="2359119" cy="30025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38781C-7D74-CFD2-BC76-CF168CF2D79B}"/>
              </a:ext>
            </a:extLst>
          </p:cNvPr>
          <p:cNvSpPr txBox="1"/>
          <p:nvPr/>
        </p:nvSpPr>
        <p:spPr>
          <a:xfrm>
            <a:off x="3145134" y="2690336"/>
            <a:ext cx="53702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Fine-tuning is using specific, curated data to add context, and information to the last layers of a LLM.  In doing so you can add contemporary information (update the knowledge cutoff), add specific and even non public information.  </a:t>
            </a:r>
            <a:r>
              <a:rPr lang="en-US" i="1" dirty="0"/>
              <a:t>Fine-tuning is time consuming, requires great skill and is seldom done.  After fine-tuning the information may become stale again requiring rework.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874B6F-1CF8-4B94-DD9A-C18D4CF6BC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32" y="2238612"/>
            <a:ext cx="2359118" cy="300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425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33163F-EC0B-A4AD-D4DD-AB8D3391B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A1F570-97BF-FEC1-BAAF-0FFAB037E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F3914-EC9B-189D-C851-58D56760C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7B36A-38E0-E5C0-D25B-E49FABAD1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B5AE6F-C663-05F9-E558-D28FAC5CE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7" y="1386549"/>
            <a:ext cx="7965533" cy="43912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18AC4B8-A497-67EB-C6BA-40345FBA9686}"/>
              </a:ext>
            </a:extLst>
          </p:cNvPr>
          <p:cNvSpPr/>
          <p:nvPr/>
        </p:nvSpPr>
        <p:spPr>
          <a:xfrm>
            <a:off x="2773345" y="4260501"/>
            <a:ext cx="1798655" cy="49236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60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C0C8D9-ACEA-CF93-5002-7BCE35107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016E52-85FA-8FA7-3764-5B83A12D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DD7F8-AF00-FA84-6444-F9D4366B3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C3BE8-3187-462E-F22C-47382652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4E34DA-A855-376C-5BC0-F6A216E77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87" y="0"/>
            <a:ext cx="72496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61B964B-2AA8-D812-A594-233291C751D0}"/>
              </a:ext>
            </a:extLst>
          </p:cNvPr>
          <p:cNvSpPr/>
          <p:nvPr/>
        </p:nvSpPr>
        <p:spPr>
          <a:xfrm>
            <a:off x="3938954" y="2411604"/>
            <a:ext cx="1798655" cy="49236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6A0B9C-37D2-EAD7-A6AC-5A7DEC6B9E4A}"/>
              </a:ext>
            </a:extLst>
          </p:cNvPr>
          <p:cNvSpPr/>
          <p:nvPr/>
        </p:nvSpPr>
        <p:spPr>
          <a:xfrm>
            <a:off x="1230295" y="5174902"/>
            <a:ext cx="2176096" cy="21101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2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982D9-07FE-E26F-797D-D59F41C98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B2BC4D-0529-9FAC-CB74-6CED3BB12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135FA-DD9E-24A7-2E95-E4CCDE859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6FFD3-AC9D-0F5B-C525-EED3B1AB2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5F70CF-6E8E-1EB1-24EE-324FF1AEF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92009"/>
            <a:ext cx="7772400" cy="227398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55697C-02BF-3D7F-F777-F8AF73245CB4}"/>
              </a:ext>
            </a:extLst>
          </p:cNvPr>
          <p:cNvSpPr/>
          <p:nvPr/>
        </p:nvSpPr>
        <p:spPr>
          <a:xfrm>
            <a:off x="4652386" y="3717890"/>
            <a:ext cx="3862963" cy="34164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B3B4FA-6A85-C27B-04BB-ACC038AF627C}"/>
              </a:ext>
            </a:extLst>
          </p:cNvPr>
          <p:cNvSpPr/>
          <p:nvPr/>
        </p:nvSpPr>
        <p:spPr>
          <a:xfrm>
            <a:off x="754569" y="3970774"/>
            <a:ext cx="1365634" cy="34164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93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CBBBD6-BC60-327C-1753-12FB84040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C7FE54-767D-7175-5255-BAF33DF7A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224449"/>
            <a:ext cx="7886700" cy="591477"/>
          </a:xfrm>
        </p:spPr>
        <p:txBody>
          <a:bodyPr/>
          <a:lstStyle/>
          <a:p>
            <a:r>
              <a:rPr lang="en-US" sz="2400" dirty="0"/>
              <a:t>Although the knowledge of the model is static, the response has been “augmented” with contemporary information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C271F-C02D-D435-CBF2-2A8B23EED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822C5-4A19-B0BE-6442-2491A376A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404C68-BEBC-371E-86B2-7871BF9CC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098960"/>
            <a:ext cx="7772400" cy="40700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771BC4-0A56-4632-527A-08333F048E87}"/>
              </a:ext>
            </a:extLst>
          </p:cNvPr>
          <p:cNvSpPr/>
          <p:nvPr/>
        </p:nvSpPr>
        <p:spPr>
          <a:xfrm>
            <a:off x="514350" y="5617029"/>
            <a:ext cx="7886700" cy="502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are going to make a vastly simplified version of this augmented workflow.</a:t>
            </a:r>
          </a:p>
        </p:txBody>
      </p:sp>
    </p:spTree>
    <p:extLst>
      <p:ext uri="{BB962C8B-B14F-4D97-AF65-F5344CB8AC3E}">
        <p14:creationId xmlns:p14="http://schemas.microsoft.com/office/powerpoint/2010/main" val="2275084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67E3F-D700-C40B-FAB5-7B3DBE3C5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7365B7-C1D3-9AA4-905E-B6235B2E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Generation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1FB5D-AE86-3D0A-9778-A8D3EF0A8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E8D14E-30BE-5CE2-24B2-5C4AA86991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518EC948-32E0-1E82-8BF6-B42A8ABDE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9139"/>
            <a:ext cx="9144000" cy="264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43024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2E6408-6DE3-5EFA-DD6C-3A3A180B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6/26/25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A30653-E178-6320-D22E-C326C3E3F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RAG work?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EE24F-DC42-C0F2-BC7C-CE19BC983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A7129D-183D-BFE4-B98E-05E61D4D5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4FA475-2BB7-444F-96D3-CF1D03CB8AF8}"/>
              </a:ext>
            </a:extLst>
          </p:cNvPr>
          <p:cNvSpPr txBox="1"/>
          <p:nvPr/>
        </p:nvSpPr>
        <p:spPr>
          <a:xfrm>
            <a:off x="371789" y="1305341"/>
            <a:ext cx="8420519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How RAG Works: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 Input: User submits a question or prompt.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Document Retrieval: Relevant documents are fetched from a vector database or external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Contextual Response Generation: Retrieved documents are used to generate a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Output: Response is returned to the user, grounded in retrieved knowledge.</a:t>
            </a:r>
          </a:p>
          <a:p>
            <a:endParaRPr lang="en-US" dirty="0"/>
          </a:p>
          <a:p>
            <a:r>
              <a:rPr lang="en-US" sz="2000" b="1" dirty="0">
                <a:solidFill>
                  <a:schemeClr val="accent1"/>
                </a:solidFill>
              </a:rPr>
              <a:t>Benefits of RAG:</a:t>
            </a:r>
          </a:p>
          <a:p>
            <a:r>
              <a:rPr lang="en-US" b="1" dirty="0"/>
              <a:t>Improved Accuracy</a:t>
            </a:r>
            <a:r>
              <a:rPr lang="en-US" dirty="0"/>
              <a:t>: By referencing external knowledge bases, RAG reduces errors and hallucinations.</a:t>
            </a:r>
          </a:p>
          <a:p>
            <a:r>
              <a:rPr lang="en-US" b="1" dirty="0"/>
              <a:t>Up-to-Date Information</a:t>
            </a:r>
            <a:r>
              <a:rPr lang="en-US" dirty="0"/>
              <a:t>: RAG allows LLMs to access current information, overcoming knowledge cut-offs</a:t>
            </a:r>
          </a:p>
          <a:p>
            <a:r>
              <a:rPr lang="en-US" b="1" dirty="0"/>
              <a:t>Flexibility and Scalability</a:t>
            </a:r>
            <a:r>
              <a:rPr lang="en-US" dirty="0"/>
              <a:t>: RAG can be customized for specific domains and industries, adding non-public information to your LLM responses </a:t>
            </a:r>
          </a:p>
        </p:txBody>
      </p:sp>
    </p:spTree>
    <p:extLst>
      <p:ext uri="{BB962C8B-B14F-4D97-AF65-F5344CB8AC3E}">
        <p14:creationId xmlns:p14="http://schemas.microsoft.com/office/powerpoint/2010/main" val="91603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6D12E-4E8F-1D1F-C36E-7BDABE684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6/27/25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6C9A3B-1727-247C-128E-7691F087C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28456-9965-26A0-A842-B28F9883C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41A92-2043-F811-6572-8DBC01D0F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CFB329-8AD4-DAD9-F9DC-CC292D981E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7" r="20394" b="46949"/>
          <a:stretch>
            <a:fillRect/>
          </a:stretch>
        </p:blipFill>
        <p:spPr>
          <a:xfrm>
            <a:off x="1360984" y="956603"/>
            <a:ext cx="6422031" cy="509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4080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9BAFB-0811-F19D-6FAD-6BA687F2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6/27/25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4FF8C1-1192-F1E7-FCC1-8DA2D869E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79" y="365126"/>
            <a:ext cx="3868617" cy="591477"/>
          </a:xfrm>
        </p:spPr>
        <p:txBody>
          <a:bodyPr/>
          <a:lstStyle/>
          <a:p>
            <a:r>
              <a:rPr lang="en-US" dirty="0"/>
              <a:t>Open the files that put our RAG workflow together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73DB1-0A28-0865-F8CB-9DD878610C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8003B-A5C8-4E73-EC53-0C3071E2D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EE36F-7704-BA5C-55FD-7598BC9ADD3A}"/>
              </a:ext>
            </a:extLst>
          </p:cNvPr>
          <p:cNvSpPr txBox="1"/>
          <p:nvPr/>
        </p:nvSpPr>
        <p:spPr>
          <a:xfrm>
            <a:off x="333793" y="3333311"/>
            <a:ext cx="2934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C_basicVectors.R</a:t>
            </a:r>
            <a:endParaRPr lang="en-US" dirty="0"/>
          </a:p>
          <a:p>
            <a:r>
              <a:rPr lang="en-US" dirty="0" err="1"/>
              <a:t>D_basicRAG.R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397D71-B48E-0BF4-5EDE-140D61BF8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2"/>
          <a:stretch>
            <a:fillRect/>
          </a:stretch>
        </p:blipFill>
        <p:spPr>
          <a:xfrm>
            <a:off x="3506874" y="0"/>
            <a:ext cx="56371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266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arv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1C30"/>
      </a:accent1>
      <a:accent2>
        <a:srgbClr val="8C8179"/>
      </a:accent2>
      <a:accent3>
        <a:srgbClr val="293352"/>
      </a:accent3>
      <a:accent4>
        <a:srgbClr val="8996A0"/>
      </a:accent4>
      <a:accent5>
        <a:srgbClr val="BAC5C6"/>
      </a:accent5>
      <a:accent6>
        <a:srgbClr val="4E84C4"/>
      </a:accent6>
      <a:hlink>
        <a:srgbClr val="52854C"/>
      </a:hlink>
      <a:folHlink>
        <a:srgbClr val="E87D1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1458</TotalTime>
  <Words>2303</Words>
  <Application>Microsoft Macintosh PowerPoint</Application>
  <PresentationFormat>On-screen Show (4:3)</PresentationFormat>
  <Paragraphs>382</Paragraphs>
  <Slides>32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 Unicode MS</vt:lpstr>
      <vt:lpstr>Arial</vt:lpstr>
      <vt:lpstr>Calibri</vt:lpstr>
      <vt:lpstr>Consolas</vt:lpstr>
      <vt:lpstr>1_Office Theme</vt:lpstr>
      <vt:lpstr>Text Vectors &amp; RAG</vt:lpstr>
      <vt:lpstr>Remember this? Vector Embeddings</vt:lpstr>
      <vt:lpstr>So far we’ve primarily used DTMs</vt:lpstr>
      <vt:lpstr>If you think about it a document’s context is held as a numeric vector.</vt:lpstr>
      <vt:lpstr>But to understand language in context we need to orient the data differently.</vt:lpstr>
      <vt:lpstr>To understand the co-occurrence of words we create a TCM</vt:lpstr>
      <vt:lpstr>bosComments[26374] </vt:lpstr>
      <vt:lpstr>The values are the word co-occurrence and strength of context</vt:lpstr>
      <vt:lpstr>For one context window it is 1/distance for the window but we don’t know the exact frequency of pairs just total co-occurrence &amp; strength</vt:lpstr>
      <vt:lpstr>You simply add up the observed occurrences at the various strengths for the metric </vt:lpstr>
      <vt:lpstr>Example for hidden famous value</vt:lpstr>
      <vt:lpstr>The skipgram window is symmetrical and slides across the documents.</vt:lpstr>
      <vt:lpstr>In the end the window is 10 words plus the center word</vt:lpstr>
      <vt:lpstr>Now we have the TCM constructed, it’s sparse and large.</vt:lpstr>
      <vt:lpstr>Global Vectors</vt:lpstr>
      <vt:lpstr>PowerPoint Presentation</vt:lpstr>
      <vt:lpstr>Word Embeddings help computers understand language.</vt:lpstr>
      <vt:lpstr>PowerPoint Presentation</vt:lpstr>
      <vt:lpstr>PowerPoint Presentation</vt:lpstr>
      <vt:lpstr>Open B_text2vec.R</vt:lpstr>
      <vt:lpstr>Interacting &amp; Improving with LLMs</vt:lpstr>
      <vt:lpstr>Interacting with LLMs</vt:lpstr>
      <vt:lpstr>Retrieval Augmented Generation</vt:lpstr>
      <vt:lpstr>Fine-tuning a LLM</vt:lpstr>
      <vt:lpstr>PowerPoint Presentation</vt:lpstr>
      <vt:lpstr>PowerPoint Presentation</vt:lpstr>
      <vt:lpstr>PowerPoint Presentation</vt:lpstr>
      <vt:lpstr>Although the knowledge of the model is static, the response has been “augmented” with contemporary information </vt:lpstr>
      <vt:lpstr>Retrieval Augmented Generation</vt:lpstr>
      <vt:lpstr>How does RAG work?</vt:lpstr>
      <vt:lpstr>PowerPoint Presentation</vt:lpstr>
      <vt:lpstr>Open the files that put our RAG workflow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4!</dc:title>
  <dc:creator>Kwartler, Edward</dc:creator>
  <cp:lastModifiedBy>Ted Kwartler</cp:lastModifiedBy>
  <cp:revision>27</cp:revision>
  <dcterms:created xsi:type="dcterms:W3CDTF">2021-01-10T22:10:44Z</dcterms:created>
  <dcterms:modified xsi:type="dcterms:W3CDTF">2025-06-26T22:40:21Z</dcterms:modified>
</cp:coreProperties>
</file>