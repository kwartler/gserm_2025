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593" r:id="rId2"/>
    <p:sldId id="644" r:id="rId3"/>
    <p:sldId id="645" r:id="rId4"/>
    <p:sldId id="660" r:id="rId5"/>
    <p:sldId id="647" r:id="rId6"/>
    <p:sldId id="648" r:id="rId7"/>
    <p:sldId id="649" r:id="rId8"/>
    <p:sldId id="650" r:id="rId9"/>
    <p:sldId id="654" r:id="rId10"/>
    <p:sldId id="655" r:id="rId11"/>
    <p:sldId id="656" r:id="rId12"/>
    <p:sldId id="657" r:id="rId13"/>
    <p:sldId id="658" r:id="rId14"/>
    <p:sldId id="659" r:id="rId15"/>
    <p:sldId id="661" r:id="rId16"/>
    <p:sldId id="669" r:id="rId17"/>
    <p:sldId id="670" r:id="rId18"/>
    <p:sldId id="680" r:id="rId19"/>
    <p:sldId id="679" r:id="rId20"/>
    <p:sldId id="671" r:id="rId21"/>
    <p:sldId id="672" r:id="rId22"/>
    <p:sldId id="673" r:id="rId23"/>
    <p:sldId id="674" r:id="rId24"/>
    <p:sldId id="675" r:id="rId25"/>
    <p:sldId id="676" r:id="rId26"/>
    <p:sldId id="677" r:id="rId27"/>
    <p:sldId id="67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d Kwartler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1497" autoAdjust="0"/>
  </p:normalViewPr>
  <p:slideViewPr>
    <p:cSldViewPr snapToGrid="0">
      <p:cViewPr varScale="1">
        <p:scale>
          <a:sx n="112" d="100"/>
          <a:sy n="112" d="100"/>
        </p:scale>
        <p:origin x="212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0A60C-850A-4EA4-9C14-A8FE98B94505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9AA13-E3FC-4BB6-B68D-5F0F5803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VShkZgXznc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explanation</a:t>
            </a:r>
          </a:p>
          <a:p>
            <a:r>
              <a:rPr lang="en-US" dirty="0">
                <a:hlinkClick r:id="rId3"/>
              </a:rPr>
              <a:t>www.youtube.com/watch?v=PVShkZgXznc</a:t>
            </a:r>
            <a:endParaRPr lang="en-US" dirty="0"/>
          </a:p>
          <a:p>
            <a:r>
              <a:rPr lang="en-US" dirty="0"/>
              <a:t>12:15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E9AA13-E3FC-4BB6-B68D-5F0F5803D7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4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17C4187-BA73-2A84-C8EA-77A7D111D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8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6/7/26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574A59-E71D-DB01-B519-3544E1F97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8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6/7/26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626F83A-38E1-6906-E361-7A86F51CC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4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47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47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6/7/26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BB60E3F-6FDD-123B-59CD-3F54A09C0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32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3712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3712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DBE791F-8C8A-5F0A-E1F4-7B26987A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EEC97F-B795-F3BF-A6AA-1639D167B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1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6/7/26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28F0D7-84F3-2CAB-B81C-993D2CAED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3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46142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460142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6/7/26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563321-5C09-D0B2-7125-05037F529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23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451572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6"/>
            <a:ext cx="2949178" cy="44777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6/7/26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40D5FD2-F130-807E-3E40-ACF3C9DF3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2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46173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84D74-5E88-3F16-13A7-38A8CDFF8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2"/>
            <a:ext cx="1971675" cy="448759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47488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6/7/26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8D4E58-D68A-BC41-7FAD-4B01D2D95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2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2110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universaldependencies.org/introduction.html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ufal.mff.cuni.cz/udpipe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rpubs.com/lmullen/nlp-chapter" TargetMode="Externa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Syntactic Parsing &amp; Lemmatization</a:t>
            </a: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6/7/26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84987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191230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this?!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0985" y="1173079"/>
            <a:ext cx="8686800" cy="4571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800" kern="1200" dirty="0">
                <a:solidFill>
                  <a:prstClr val="white"/>
                </a:solidFill>
                <a:latin typeface="+mj-lt"/>
                <a:cs typeface="Arial Unicode MS" panose="020B0604020202020204" pitchFamily="34" charset="-128"/>
              </a:rPr>
              <a:t>“</a:t>
            </a:r>
            <a:r>
              <a:rPr lang="en-US" sz="1800" kern="1200" dirty="0" err="1">
                <a:solidFill>
                  <a:prstClr val="white"/>
                </a:solidFill>
                <a:latin typeface="+mj-lt"/>
                <a:cs typeface="Arial Unicode MS" panose="020B0604020202020204" pitchFamily="34" charset="-128"/>
              </a:rPr>
              <a:t>Lebron</a:t>
            </a:r>
            <a:r>
              <a:rPr lang="en-US" sz="1800" kern="1200" dirty="0">
                <a:solidFill>
                  <a:prstClr val="white"/>
                </a:solidFill>
                <a:latin typeface="+mj-lt"/>
                <a:cs typeface="Arial Unicode MS" panose="020B0604020202020204" pitchFamily="34" charset="-128"/>
              </a:rPr>
              <a:t> James hit a tough shot.”</a:t>
            </a:r>
          </a:p>
        </p:txBody>
      </p:sp>
      <p:pic>
        <p:nvPicPr>
          <p:cNvPr id="7" name="Picture 6" descr="Macintosh HD:Users:ted:Desktop:manning pub:chap3 Initial Text Mining Methods:syntactic parsing:chap3 syntatic parsing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7" t="7278" r="10673" b="13386"/>
          <a:stretch/>
        </p:blipFill>
        <p:spPr bwMode="auto">
          <a:xfrm>
            <a:off x="459291" y="2377439"/>
            <a:ext cx="4029717" cy="3063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/>
          <p:cNvGrpSpPr/>
          <p:nvPr/>
        </p:nvGrpSpPr>
        <p:grpSpPr>
          <a:xfrm>
            <a:off x="5400674" y="2245672"/>
            <a:ext cx="2671949" cy="3203120"/>
            <a:chOff x="5400674" y="2417128"/>
            <a:chExt cx="2671949" cy="3203120"/>
          </a:xfrm>
        </p:grpSpPr>
        <p:pic>
          <p:nvPicPr>
            <p:cNvPr id="8" name="Picture 2" descr="Image result for bag clipart transpare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0674" y="2417128"/>
              <a:ext cx="2671949" cy="320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 rot="20129474">
              <a:off x="5911705" y="3593334"/>
              <a:ext cx="830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800" kern="1200" dirty="0" err="1">
                  <a:solidFill>
                    <a:srgbClr val="F09511"/>
                  </a:solidFill>
                  <a:latin typeface="+mj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Lebron</a:t>
              </a:r>
              <a:endParaRPr lang="en-US" sz="1800" kern="1200" dirty="0">
                <a:solidFill>
                  <a:srgbClr val="F09511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 rot="4404405">
              <a:off x="6874733" y="3807108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800" kern="1200" dirty="0">
                  <a:solidFill>
                    <a:srgbClr val="F09511"/>
                  </a:solidFill>
                  <a:latin typeface="+mj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James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63996" y="4440420"/>
              <a:ext cx="727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800" kern="1200" dirty="0">
                  <a:solidFill>
                    <a:srgbClr val="F09511"/>
                  </a:solidFill>
                  <a:latin typeface="+mj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tough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20938315">
              <a:off x="6431521" y="4120545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800" kern="1200" dirty="0">
                  <a:solidFill>
                    <a:srgbClr val="F09511"/>
                  </a:solidFill>
                  <a:latin typeface="+mj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hit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63027" y="3762674"/>
              <a:ext cx="38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sz="1800" kern="1200" dirty="0">
                  <a:solidFill>
                    <a:srgbClr val="F09511"/>
                  </a:solidFill>
                  <a:latin typeface="+mj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 rot="1236002">
              <a:off x="6011147" y="4721185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800" kern="1200" dirty="0">
                  <a:solidFill>
                    <a:srgbClr val="F09511"/>
                  </a:solidFill>
                  <a:latin typeface="+mj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shot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00038" y="1800225"/>
            <a:ext cx="4243387" cy="285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Syntactic Parsing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52963" y="1795463"/>
            <a:ext cx="4243387" cy="285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Bag of Words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4586288" y="2271713"/>
            <a:ext cx="0" cy="34004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68261" y="5803084"/>
            <a:ext cx="5175741" cy="282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*There are other approaches usually based on DNN, that I refer to “abstractive”</a:t>
            </a:r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400668B5-1689-45BD-A3E9-6F4F8F38394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Kwartler CSCI -96</a:t>
            </a:r>
          </a:p>
        </p:txBody>
      </p:sp>
    </p:spTree>
    <p:extLst>
      <p:ext uri="{BB962C8B-B14F-4D97-AF65-F5344CB8AC3E}">
        <p14:creationId xmlns:p14="http://schemas.microsoft.com/office/powerpoint/2010/main" val="3853746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130A-DDAC-431A-99E7-E6F18A49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Within Syntactic Parsing, 2 example methods.</a:t>
            </a:r>
          </a:p>
        </p:txBody>
      </p:sp>
      <p:pic>
        <p:nvPicPr>
          <p:cNvPr id="3" name="Picture 2" descr="Macintosh HD:Users:ted:Desktop:manning pub:chap3 Initial Text Mining Methods:syntactic parsing:chap3 syntatic parsing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7" t="7278" r="10673" b="13386"/>
          <a:stretch/>
        </p:blipFill>
        <p:spPr bwMode="auto">
          <a:xfrm>
            <a:off x="459291" y="2377439"/>
            <a:ext cx="4029717" cy="306324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300038" y="1800225"/>
            <a:ext cx="4243387" cy="285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Syntactic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4869" y="2380593"/>
            <a:ext cx="2727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Universal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StanfordOpenNLP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75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 phrase is made up of child or constituent words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AC72E-C79D-4CD4-97BC-31A9D9E9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Free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B9087-EA30-4D22-B780-6F586CA1CE02}"/>
              </a:ext>
            </a:extLst>
          </p:cNvPr>
          <p:cNvSpPr txBox="1"/>
          <p:nvPr/>
        </p:nvSpPr>
        <p:spPr>
          <a:xfrm>
            <a:off x="3276600" y="2209800"/>
            <a:ext cx="150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university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601305" y="1931276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 Phrase</a:t>
            </a:r>
          </a:p>
        </p:txBody>
      </p:sp>
    </p:spTree>
    <p:extLst>
      <p:ext uri="{BB962C8B-B14F-4D97-AF65-F5344CB8AC3E}">
        <p14:creationId xmlns:p14="http://schemas.microsoft.com/office/powerpoint/2010/main" val="176609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72E-C79D-4CD4-97BC-31A9D9E9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Free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B9087-EA30-4D22-B780-6F586CA1CE02}"/>
              </a:ext>
            </a:extLst>
          </p:cNvPr>
          <p:cNvSpPr txBox="1"/>
          <p:nvPr/>
        </p:nvSpPr>
        <p:spPr>
          <a:xfrm>
            <a:off x="3276600" y="2209800"/>
            <a:ext cx="150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university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50053A-985D-4630-B0A6-E9D07ABF3571}"/>
              </a:ext>
            </a:extLst>
          </p:cNvPr>
          <p:cNvCxnSpPr>
            <a:stCxn id="4" idx="2"/>
            <a:endCxn id="16" idx="0"/>
          </p:cNvCxnSpPr>
          <p:nvPr/>
        </p:nvCxnSpPr>
        <p:spPr>
          <a:xfrm flipH="1">
            <a:off x="2087358" y="2579132"/>
            <a:ext cx="1939704" cy="421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A54E53-0E80-4C3D-B5B6-2C759760C22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3694342" y="2579132"/>
            <a:ext cx="332720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29FEDD-1022-48AC-9D9C-DBD160E993D4}"/>
              </a:ext>
            </a:extLst>
          </p:cNvPr>
          <p:cNvSpPr txBox="1"/>
          <p:nvPr/>
        </p:nvSpPr>
        <p:spPr>
          <a:xfrm>
            <a:off x="2045223" y="313003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459342" y="2971800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29FEDD-1022-48AC-9D9C-DBD160E993D4}"/>
              </a:ext>
            </a:extLst>
          </p:cNvPr>
          <p:cNvSpPr txBox="1"/>
          <p:nvPr/>
        </p:nvSpPr>
        <p:spPr>
          <a:xfrm>
            <a:off x="2045223" y="313003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F7C60-88C1-4DB4-8EDA-F9441004D8FA}"/>
              </a:ext>
            </a:extLst>
          </p:cNvPr>
          <p:cNvSpPr txBox="1"/>
          <p:nvPr/>
        </p:nvSpPr>
        <p:spPr>
          <a:xfrm>
            <a:off x="3145057" y="3156466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FF0D66-8239-445A-9A85-BA7F1CAE7E2E}"/>
              </a:ext>
            </a:extLst>
          </p:cNvPr>
          <p:cNvSpPr txBox="1"/>
          <p:nvPr/>
        </p:nvSpPr>
        <p:spPr>
          <a:xfrm>
            <a:off x="1513322" y="3001089"/>
            <a:ext cx="1148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Article constituent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 phrase is made up of child or constituent words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601305" y="1931276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 Phrase</a:t>
            </a:r>
          </a:p>
        </p:txBody>
      </p:sp>
    </p:spTree>
    <p:extLst>
      <p:ext uri="{BB962C8B-B14F-4D97-AF65-F5344CB8AC3E}">
        <p14:creationId xmlns:p14="http://schemas.microsoft.com/office/powerpoint/2010/main" val="234553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72E-C79D-4CD4-97BC-31A9D9E9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Free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B9087-EA30-4D22-B780-6F586CA1CE02}"/>
              </a:ext>
            </a:extLst>
          </p:cNvPr>
          <p:cNvSpPr txBox="1"/>
          <p:nvPr/>
        </p:nvSpPr>
        <p:spPr>
          <a:xfrm>
            <a:off x="3276600" y="2209800"/>
            <a:ext cx="305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university has great 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459342" y="2971800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50053A-985D-4630-B0A6-E9D07ABF3571}"/>
              </a:ext>
            </a:extLst>
          </p:cNvPr>
          <p:cNvCxnSpPr>
            <a:stCxn id="4" idx="2"/>
          </p:cNvCxnSpPr>
          <p:nvPr/>
        </p:nvCxnSpPr>
        <p:spPr>
          <a:xfrm flipH="1">
            <a:off x="2438406" y="2579132"/>
            <a:ext cx="2363388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A54E53-0E80-4C3D-B5B6-2C759760C223}"/>
              </a:ext>
            </a:extLst>
          </p:cNvPr>
          <p:cNvCxnSpPr>
            <a:stCxn id="4" idx="2"/>
          </p:cNvCxnSpPr>
          <p:nvPr/>
        </p:nvCxnSpPr>
        <p:spPr>
          <a:xfrm>
            <a:off x="4801794" y="2579132"/>
            <a:ext cx="75006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29FEDD-1022-48AC-9D9C-DBD160E993D4}"/>
              </a:ext>
            </a:extLst>
          </p:cNvPr>
          <p:cNvSpPr txBox="1"/>
          <p:nvPr/>
        </p:nvSpPr>
        <p:spPr>
          <a:xfrm>
            <a:off x="2045223" y="313003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F7C60-88C1-4DB4-8EDA-F9441004D8FA}"/>
              </a:ext>
            </a:extLst>
          </p:cNvPr>
          <p:cNvSpPr txBox="1"/>
          <p:nvPr/>
        </p:nvSpPr>
        <p:spPr>
          <a:xfrm>
            <a:off x="3145057" y="3156466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F0D66-8239-445A-9A85-BA7F1CAE7E2E}"/>
              </a:ext>
            </a:extLst>
          </p:cNvPr>
          <p:cNvSpPr txBox="1"/>
          <p:nvPr/>
        </p:nvSpPr>
        <p:spPr>
          <a:xfrm>
            <a:off x="1513322" y="3001089"/>
            <a:ext cx="1148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Article constituent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C216D-5FCB-432E-9D6A-72F4304878C9}"/>
              </a:ext>
            </a:extLst>
          </p:cNvPr>
          <p:cNvSpPr txBox="1"/>
          <p:nvPr/>
        </p:nvSpPr>
        <p:spPr>
          <a:xfrm>
            <a:off x="4655757" y="3124200"/>
            <a:ext cx="168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great coffee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50ABA-E9A1-43B7-A877-C9A0CE8D0550}"/>
              </a:ext>
            </a:extLst>
          </p:cNvPr>
          <p:cNvSpPr txBox="1"/>
          <p:nvPr/>
        </p:nvSpPr>
        <p:spPr>
          <a:xfrm>
            <a:off x="4557912" y="2991348"/>
            <a:ext cx="14125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Determiner constituent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76B7A1-1469-416D-99DA-7E09FF57998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3694342" y="2579132"/>
            <a:ext cx="1107452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 phrase is made up of child or constituent words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601305" y="1931276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 Phrase</a:t>
            </a:r>
          </a:p>
        </p:txBody>
      </p:sp>
    </p:spTree>
    <p:extLst>
      <p:ext uri="{BB962C8B-B14F-4D97-AF65-F5344CB8AC3E}">
        <p14:creationId xmlns:p14="http://schemas.microsoft.com/office/powerpoint/2010/main" val="73597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72E-C79D-4CD4-97BC-31A9D9E9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Free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B9087-EA30-4D22-B780-6F586CA1CE02}"/>
              </a:ext>
            </a:extLst>
          </p:cNvPr>
          <p:cNvSpPr txBox="1"/>
          <p:nvPr/>
        </p:nvSpPr>
        <p:spPr>
          <a:xfrm>
            <a:off x="3276600" y="2209800"/>
            <a:ext cx="305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university has great 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459342" y="2971800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50053A-985D-4630-B0A6-E9D07ABF3571}"/>
              </a:ext>
            </a:extLst>
          </p:cNvPr>
          <p:cNvCxnSpPr>
            <a:stCxn id="4" idx="2"/>
          </p:cNvCxnSpPr>
          <p:nvPr/>
        </p:nvCxnSpPr>
        <p:spPr>
          <a:xfrm flipH="1">
            <a:off x="2438406" y="2579132"/>
            <a:ext cx="2363388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A54E53-0E80-4C3D-B5B6-2C759760C223}"/>
              </a:ext>
            </a:extLst>
          </p:cNvPr>
          <p:cNvCxnSpPr>
            <a:stCxn id="4" idx="2"/>
          </p:cNvCxnSpPr>
          <p:nvPr/>
        </p:nvCxnSpPr>
        <p:spPr>
          <a:xfrm>
            <a:off x="4801794" y="2579132"/>
            <a:ext cx="75006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29FEDD-1022-48AC-9D9C-DBD160E993D4}"/>
              </a:ext>
            </a:extLst>
          </p:cNvPr>
          <p:cNvSpPr txBox="1"/>
          <p:nvPr/>
        </p:nvSpPr>
        <p:spPr>
          <a:xfrm>
            <a:off x="2045223" y="313003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F7C60-88C1-4DB4-8EDA-F9441004D8FA}"/>
              </a:ext>
            </a:extLst>
          </p:cNvPr>
          <p:cNvSpPr txBox="1"/>
          <p:nvPr/>
        </p:nvSpPr>
        <p:spPr>
          <a:xfrm>
            <a:off x="3145057" y="3156466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F0D66-8239-445A-9A85-BA7F1CAE7E2E}"/>
              </a:ext>
            </a:extLst>
          </p:cNvPr>
          <p:cNvSpPr txBox="1"/>
          <p:nvPr/>
        </p:nvSpPr>
        <p:spPr>
          <a:xfrm>
            <a:off x="1513322" y="3001089"/>
            <a:ext cx="1148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Article constituent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C216D-5FCB-432E-9D6A-72F4304878C9}"/>
              </a:ext>
            </a:extLst>
          </p:cNvPr>
          <p:cNvSpPr txBox="1"/>
          <p:nvPr/>
        </p:nvSpPr>
        <p:spPr>
          <a:xfrm>
            <a:off x="4655757" y="3124200"/>
            <a:ext cx="168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great coffee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50ABA-E9A1-43B7-A877-C9A0CE8D0550}"/>
              </a:ext>
            </a:extLst>
          </p:cNvPr>
          <p:cNvSpPr txBox="1"/>
          <p:nvPr/>
        </p:nvSpPr>
        <p:spPr>
          <a:xfrm>
            <a:off x="4557912" y="2991348"/>
            <a:ext cx="14125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Determiner constituent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76B7A1-1469-416D-99DA-7E09FF57998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3694342" y="2579132"/>
            <a:ext cx="1107452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43BBEA-0480-4A3E-9268-E3B90D1DADEB}"/>
              </a:ext>
            </a:extLst>
          </p:cNvPr>
          <p:cNvSpPr txBox="1"/>
          <p:nvPr/>
        </p:nvSpPr>
        <p:spPr>
          <a:xfrm>
            <a:off x="3923306" y="4246602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87132-B6CA-4226-877F-0BF350552696}"/>
              </a:ext>
            </a:extLst>
          </p:cNvPr>
          <p:cNvSpPr txBox="1"/>
          <p:nvPr/>
        </p:nvSpPr>
        <p:spPr>
          <a:xfrm>
            <a:off x="5029200" y="4246602"/>
            <a:ext cx="67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B6EE0-953A-476A-9138-366D67607D49}"/>
              </a:ext>
            </a:extLst>
          </p:cNvPr>
          <p:cNvSpPr txBox="1"/>
          <p:nvPr/>
        </p:nvSpPr>
        <p:spPr>
          <a:xfrm>
            <a:off x="6096000" y="4246602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D63F79-B537-416C-BB6C-8C5CCF44E35C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5496372" y="3493532"/>
            <a:ext cx="1493302" cy="50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4D8DC6-E7E3-40ED-A4D4-7984795D213B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flipH="1">
            <a:off x="5405588" y="3493532"/>
            <a:ext cx="90784" cy="53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E83694-2714-4B7A-B0AC-8A4F9FCB5AD5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4001680" y="3493532"/>
            <a:ext cx="1494692" cy="54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3E18EC-F907-4A4E-81E2-813501680909}"/>
              </a:ext>
            </a:extLst>
          </p:cNvPr>
          <p:cNvSpPr txBox="1"/>
          <p:nvPr/>
        </p:nvSpPr>
        <p:spPr>
          <a:xfrm>
            <a:off x="3434056" y="4038666"/>
            <a:ext cx="11352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article constituent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36BFDA-4F63-4EB1-802F-2444D699623C}"/>
              </a:ext>
            </a:extLst>
          </p:cNvPr>
          <p:cNvSpPr txBox="1"/>
          <p:nvPr/>
        </p:nvSpPr>
        <p:spPr>
          <a:xfrm>
            <a:off x="4765028" y="4026852"/>
            <a:ext cx="12811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adjective constituent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ECF0B-19E4-4709-A964-BA2D802A32D0}"/>
              </a:ext>
            </a:extLst>
          </p:cNvPr>
          <p:cNvSpPr txBox="1"/>
          <p:nvPr/>
        </p:nvSpPr>
        <p:spPr>
          <a:xfrm>
            <a:off x="6221675" y="3999508"/>
            <a:ext cx="15359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Another noun constituent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7DCC4-7B25-4CF9-A572-8FAB029D4CCD}"/>
              </a:ext>
            </a:extLst>
          </p:cNvPr>
          <p:cNvSpPr txBox="1"/>
          <p:nvPr/>
        </p:nvSpPr>
        <p:spPr>
          <a:xfrm>
            <a:off x="596618" y="5943600"/>
            <a:ext cx="7659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constituents are optional </a:t>
            </a:r>
            <a:r>
              <a:rPr lang="en-US" dirty="0" err="1"/>
              <a:t>ie</a:t>
            </a:r>
            <a:r>
              <a:rPr lang="en-US" dirty="0"/>
              <a:t> noun constituent starts the process over again…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 phrase is made up of child or constituent words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601305" y="1931276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 Phrase</a:t>
            </a:r>
          </a:p>
        </p:txBody>
      </p:sp>
    </p:spTree>
    <p:extLst>
      <p:ext uri="{BB962C8B-B14F-4D97-AF65-F5344CB8AC3E}">
        <p14:creationId xmlns:p14="http://schemas.microsoft.com/office/powerpoint/2010/main" val="2899822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72E-C79D-4CD4-97BC-31A9D9E9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Free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B9087-EA30-4D22-B780-6F586CA1CE02}"/>
              </a:ext>
            </a:extLst>
          </p:cNvPr>
          <p:cNvSpPr txBox="1"/>
          <p:nvPr/>
        </p:nvSpPr>
        <p:spPr>
          <a:xfrm>
            <a:off x="2277269" y="2209800"/>
            <a:ext cx="458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university has great hot coffee with cream.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3459342" y="2971800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50053A-985D-4630-B0A6-E9D07ABF3571}"/>
              </a:ext>
            </a:extLst>
          </p:cNvPr>
          <p:cNvCxnSpPr>
            <a:stCxn id="4" idx="2"/>
          </p:cNvCxnSpPr>
          <p:nvPr/>
        </p:nvCxnSpPr>
        <p:spPr>
          <a:xfrm flipH="1">
            <a:off x="2438409" y="2579132"/>
            <a:ext cx="2133591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A54E53-0E80-4C3D-B5B6-2C759760C223}"/>
              </a:ext>
            </a:extLst>
          </p:cNvPr>
          <p:cNvCxnSpPr>
            <a:stCxn id="4" idx="2"/>
          </p:cNvCxnSpPr>
          <p:nvPr/>
        </p:nvCxnSpPr>
        <p:spPr>
          <a:xfrm>
            <a:off x="4572000" y="2579132"/>
            <a:ext cx="304803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29FEDD-1022-48AC-9D9C-DBD160E993D4}"/>
              </a:ext>
            </a:extLst>
          </p:cNvPr>
          <p:cNvSpPr txBox="1"/>
          <p:nvPr/>
        </p:nvSpPr>
        <p:spPr>
          <a:xfrm>
            <a:off x="2045223" y="313003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F7C60-88C1-4DB4-8EDA-F9441004D8FA}"/>
              </a:ext>
            </a:extLst>
          </p:cNvPr>
          <p:cNvSpPr txBox="1"/>
          <p:nvPr/>
        </p:nvSpPr>
        <p:spPr>
          <a:xfrm>
            <a:off x="3145057" y="3156466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F0D66-8239-445A-9A85-BA7F1CAE7E2E}"/>
              </a:ext>
            </a:extLst>
          </p:cNvPr>
          <p:cNvSpPr txBox="1"/>
          <p:nvPr/>
        </p:nvSpPr>
        <p:spPr>
          <a:xfrm>
            <a:off x="1513322" y="3001089"/>
            <a:ext cx="1148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Article constituent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C216D-5FCB-432E-9D6A-72F4304878C9}"/>
              </a:ext>
            </a:extLst>
          </p:cNvPr>
          <p:cNvSpPr txBox="1"/>
          <p:nvPr/>
        </p:nvSpPr>
        <p:spPr>
          <a:xfrm>
            <a:off x="4655757" y="3124200"/>
            <a:ext cx="168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great coffee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50ABA-E9A1-43B7-A877-C9A0CE8D0550}"/>
              </a:ext>
            </a:extLst>
          </p:cNvPr>
          <p:cNvSpPr txBox="1"/>
          <p:nvPr/>
        </p:nvSpPr>
        <p:spPr>
          <a:xfrm>
            <a:off x="4557912" y="2991348"/>
            <a:ext cx="14125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Determiner constituent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76B7A1-1469-416D-99DA-7E09FF57998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3694342" y="2579132"/>
            <a:ext cx="877658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43BBEA-0480-4A3E-9268-E3B90D1DADEB}"/>
              </a:ext>
            </a:extLst>
          </p:cNvPr>
          <p:cNvSpPr txBox="1"/>
          <p:nvPr/>
        </p:nvSpPr>
        <p:spPr>
          <a:xfrm>
            <a:off x="3923306" y="4246602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87132-B6CA-4226-877F-0BF350552696}"/>
              </a:ext>
            </a:extLst>
          </p:cNvPr>
          <p:cNvSpPr txBox="1"/>
          <p:nvPr/>
        </p:nvSpPr>
        <p:spPr>
          <a:xfrm>
            <a:off x="5029200" y="4246602"/>
            <a:ext cx="67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B6EE0-953A-476A-9138-366D67607D49}"/>
              </a:ext>
            </a:extLst>
          </p:cNvPr>
          <p:cNvSpPr txBox="1"/>
          <p:nvPr/>
        </p:nvSpPr>
        <p:spPr>
          <a:xfrm>
            <a:off x="7239000" y="4284887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D63F79-B537-416C-BB6C-8C5CCF44E35C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5496372" y="3493532"/>
            <a:ext cx="2636302" cy="544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4D8DC6-E7E3-40ED-A4D4-7984795D213B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flipH="1">
            <a:off x="5405588" y="3493532"/>
            <a:ext cx="90784" cy="53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E83694-2714-4B7A-B0AC-8A4F9FCB5AD5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4001680" y="3493532"/>
            <a:ext cx="1494692" cy="54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3E18EC-F907-4A4E-81E2-813501680909}"/>
              </a:ext>
            </a:extLst>
          </p:cNvPr>
          <p:cNvSpPr txBox="1"/>
          <p:nvPr/>
        </p:nvSpPr>
        <p:spPr>
          <a:xfrm>
            <a:off x="3434056" y="4038666"/>
            <a:ext cx="11352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article constituent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36BFDA-4F63-4EB1-802F-2444D699623C}"/>
              </a:ext>
            </a:extLst>
          </p:cNvPr>
          <p:cNvSpPr txBox="1"/>
          <p:nvPr/>
        </p:nvSpPr>
        <p:spPr>
          <a:xfrm>
            <a:off x="4765028" y="4026852"/>
            <a:ext cx="12811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adjective constituent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ECF0B-19E4-4709-A964-BA2D802A32D0}"/>
              </a:ext>
            </a:extLst>
          </p:cNvPr>
          <p:cNvSpPr txBox="1"/>
          <p:nvPr/>
        </p:nvSpPr>
        <p:spPr>
          <a:xfrm>
            <a:off x="7364675" y="4037793"/>
            <a:ext cx="15359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Another noun constituent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7DCC4-7B25-4CF9-A572-8FAB029D4CCD}"/>
              </a:ext>
            </a:extLst>
          </p:cNvPr>
          <p:cNvSpPr txBox="1"/>
          <p:nvPr/>
        </p:nvSpPr>
        <p:spPr>
          <a:xfrm>
            <a:off x="596618" y="5943600"/>
            <a:ext cx="7659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constituents are optional </a:t>
            </a:r>
            <a:r>
              <a:rPr lang="en-US" dirty="0" err="1"/>
              <a:t>ie</a:t>
            </a:r>
            <a:r>
              <a:rPr lang="en-US" dirty="0"/>
              <a:t> noun constituent starts the process over again…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49FB03-2246-44E7-AE43-748F710ED3CA}"/>
              </a:ext>
            </a:extLst>
          </p:cNvPr>
          <p:cNvSpPr txBox="1"/>
          <p:nvPr/>
        </p:nvSpPr>
        <p:spPr>
          <a:xfrm>
            <a:off x="5377673" y="5562454"/>
            <a:ext cx="12666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adj noun constituent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CFB595-A406-498D-A14E-D8AFCD89566A}"/>
              </a:ext>
            </a:extLst>
          </p:cNvPr>
          <p:cNvSpPr txBox="1"/>
          <p:nvPr/>
        </p:nvSpPr>
        <p:spPr>
          <a:xfrm>
            <a:off x="5656745" y="524169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D52926A-DB97-42BE-8B67-1A57ECA03CD0}"/>
              </a:ext>
            </a:extLst>
          </p:cNvPr>
          <p:cNvCxnSpPr>
            <a:cxnSpLocks/>
            <a:stCxn id="17" idx="2"/>
            <a:endCxn id="30" idx="0"/>
          </p:cNvCxnSpPr>
          <p:nvPr/>
        </p:nvCxnSpPr>
        <p:spPr>
          <a:xfrm flipH="1">
            <a:off x="5909379" y="4654219"/>
            <a:ext cx="1712739" cy="587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237DE49-CF44-49A9-B14E-82F8B779E5BF}"/>
              </a:ext>
            </a:extLst>
          </p:cNvPr>
          <p:cNvSpPr txBox="1"/>
          <p:nvPr/>
        </p:nvSpPr>
        <p:spPr>
          <a:xfrm>
            <a:off x="7487832" y="5573395"/>
            <a:ext cx="15359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Another noun constituent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BE4C30-FE5A-4400-A54B-FA0B3153E1DB}"/>
              </a:ext>
            </a:extLst>
          </p:cNvPr>
          <p:cNvSpPr txBox="1"/>
          <p:nvPr/>
        </p:nvSpPr>
        <p:spPr>
          <a:xfrm>
            <a:off x="7766904" y="5252634"/>
            <a:ext cx="123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cream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6355941-69BF-4840-BA60-A74A3D9A470A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>
            <a:off x="7622118" y="4654219"/>
            <a:ext cx="764604" cy="598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 phrase is made up of child or constituent words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F158D-78E4-4AE9-B6F3-23C672AE9B08}"/>
              </a:ext>
            </a:extLst>
          </p:cNvPr>
          <p:cNvSpPr txBox="1"/>
          <p:nvPr/>
        </p:nvSpPr>
        <p:spPr>
          <a:xfrm>
            <a:off x="2576545" y="1931276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Noun Phrase</a:t>
            </a:r>
          </a:p>
        </p:txBody>
      </p:sp>
    </p:spTree>
    <p:extLst>
      <p:ext uri="{BB962C8B-B14F-4D97-AF65-F5344CB8AC3E}">
        <p14:creationId xmlns:p14="http://schemas.microsoft.com/office/powerpoint/2010/main" val="266221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863-34AC-422C-AD4A-935E507E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478D7-B389-4280-86BB-5AC6C576D273}"/>
              </a:ext>
            </a:extLst>
          </p:cNvPr>
          <p:cNvSpPr txBox="1"/>
          <p:nvPr/>
        </p:nvSpPr>
        <p:spPr>
          <a:xfrm>
            <a:off x="760733" y="3078696"/>
            <a:ext cx="63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66BA9-E4BA-4E03-B3A1-2F8F1953074A}"/>
              </a:ext>
            </a:extLst>
          </p:cNvPr>
          <p:cNvSpPr txBox="1"/>
          <p:nvPr/>
        </p:nvSpPr>
        <p:spPr>
          <a:xfrm>
            <a:off x="914400" y="4114800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Grab</a:t>
            </a:r>
            <a:r>
              <a:rPr lang="en-US" dirty="0"/>
              <a:t> what?  </a:t>
            </a:r>
            <a:r>
              <a:rPr lang="en-US" b="1" dirty="0"/>
              <a:t>Coffee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15E4F-8290-46EA-9B08-45E60919B753}"/>
              </a:ext>
            </a:extLst>
          </p:cNvPr>
          <p:cNvSpPr txBox="1"/>
          <p:nvPr/>
        </p:nvSpPr>
        <p:spPr>
          <a:xfrm>
            <a:off x="2503058" y="3078696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15DDC-AB09-4C7E-BBE5-CDEDA72C46DE}"/>
              </a:ext>
            </a:extLst>
          </p:cNvPr>
          <p:cNvSpPr txBox="1"/>
          <p:nvPr/>
        </p:nvSpPr>
        <p:spPr>
          <a:xfrm>
            <a:off x="170165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80C3E-5E93-4297-9888-6C8D121E083B}"/>
              </a:ext>
            </a:extLst>
          </p:cNvPr>
          <p:cNvSpPr txBox="1"/>
          <p:nvPr/>
        </p:nvSpPr>
        <p:spPr>
          <a:xfrm>
            <a:off x="525292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AC2B5-B5A1-4FAD-BB19-951A84928AE3}"/>
              </a:ext>
            </a:extLst>
          </p:cNvPr>
          <p:cNvSpPr txBox="1"/>
          <p:nvPr/>
        </p:nvSpPr>
        <p:spPr>
          <a:xfrm>
            <a:off x="4522061" y="307869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F0D49-8E99-4100-9AEA-9DE7A1B9BAEF}"/>
              </a:ext>
            </a:extLst>
          </p:cNvPr>
          <p:cNvSpPr txBox="1"/>
          <p:nvPr/>
        </p:nvSpPr>
        <p:spPr>
          <a:xfrm>
            <a:off x="3453281" y="3078696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163B0-C59F-458E-A89B-3144A6D57834}"/>
              </a:ext>
            </a:extLst>
          </p:cNvPr>
          <p:cNvSpPr txBox="1"/>
          <p:nvPr/>
        </p:nvSpPr>
        <p:spPr>
          <a:xfrm>
            <a:off x="6024904" y="3078696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1C5EE-D343-4907-83AC-F0A9AB2C536E}"/>
              </a:ext>
            </a:extLst>
          </p:cNvPr>
          <p:cNvSpPr txBox="1"/>
          <p:nvPr/>
        </p:nvSpPr>
        <p:spPr>
          <a:xfrm>
            <a:off x="8284579" y="309957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DFFDE-3CA4-470E-A607-A8A6D1E242D4}"/>
              </a:ext>
            </a:extLst>
          </p:cNvPr>
          <p:cNvSpPr txBox="1"/>
          <p:nvPr/>
        </p:nvSpPr>
        <p:spPr>
          <a:xfrm>
            <a:off x="7679499" y="312145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39BFE-53FC-49BD-AA5F-611936FDAC49}"/>
              </a:ext>
            </a:extLst>
          </p:cNvPr>
          <p:cNvSpPr txBox="1"/>
          <p:nvPr/>
        </p:nvSpPr>
        <p:spPr>
          <a:xfrm>
            <a:off x="7068007" y="310770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 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CA92AD9-01E5-456F-B6E2-019374648DAD}"/>
              </a:ext>
            </a:extLst>
          </p:cNvPr>
          <p:cNvCxnSpPr>
            <a:cxnSpLocks/>
            <a:stCxn id="4" idx="0"/>
            <a:endCxn id="10" idx="0"/>
          </p:cNvCxnSpPr>
          <p:nvPr/>
        </p:nvCxnSpPr>
        <p:spPr>
          <a:xfrm rot="5400000" flipH="1" flipV="1">
            <a:off x="2458161" y="1700458"/>
            <a:ext cx="12700" cy="2756476"/>
          </a:xfrm>
          <a:prstGeom prst="bentConnector3">
            <a:avLst>
              <a:gd name="adj1" fmla="val 4406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word is it dependent upon (modifier)?</a:t>
            </a:r>
          </a:p>
        </p:txBody>
      </p:sp>
    </p:spTree>
    <p:extLst>
      <p:ext uri="{BB962C8B-B14F-4D97-AF65-F5344CB8AC3E}">
        <p14:creationId xmlns:p14="http://schemas.microsoft.com/office/powerpoint/2010/main" val="297279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863-34AC-422C-AD4A-935E507E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478D7-B389-4280-86BB-5AC6C576D273}"/>
              </a:ext>
            </a:extLst>
          </p:cNvPr>
          <p:cNvSpPr txBox="1"/>
          <p:nvPr/>
        </p:nvSpPr>
        <p:spPr>
          <a:xfrm>
            <a:off x="760733" y="3078696"/>
            <a:ext cx="63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66BA9-E4BA-4E03-B3A1-2F8F1953074A}"/>
              </a:ext>
            </a:extLst>
          </p:cNvPr>
          <p:cNvSpPr txBox="1"/>
          <p:nvPr/>
        </p:nvSpPr>
        <p:spPr>
          <a:xfrm>
            <a:off x="914400" y="4114800"/>
            <a:ext cx="4048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Grab</a:t>
            </a:r>
            <a:r>
              <a:rPr lang="en-US" dirty="0"/>
              <a:t> what?  </a:t>
            </a:r>
            <a:r>
              <a:rPr lang="en-US" b="1" dirty="0"/>
              <a:t>Coffee</a:t>
            </a:r>
          </a:p>
          <a:p>
            <a:r>
              <a:rPr lang="en-US" dirty="0"/>
              <a:t>What about the coffee? It’s </a:t>
            </a:r>
            <a:r>
              <a:rPr lang="en-US" b="1" dirty="0"/>
              <a:t>the large </a:t>
            </a:r>
            <a:r>
              <a:rPr lang="en-US" dirty="0"/>
              <a:t>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15E4F-8290-46EA-9B08-45E60919B753}"/>
              </a:ext>
            </a:extLst>
          </p:cNvPr>
          <p:cNvSpPr txBox="1"/>
          <p:nvPr/>
        </p:nvSpPr>
        <p:spPr>
          <a:xfrm>
            <a:off x="2503058" y="3078696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15DDC-AB09-4C7E-BBE5-CDEDA72C46DE}"/>
              </a:ext>
            </a:extLst>
          </p:cNvPr>
          <p:cNvSpPr txBox="1"/>
          <p:nvPr/>
        </p:nvSpPr>
        <p:spPr>
          <a:xfrm>
            <a:off x="170165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80C3E-5E93-4297-9888-6C8D121E083B}"/>
              </a:ext>
            </a:extLst>
          </p:cNvPr>
          <p:cNvSpPr txBox="1"/>
          <p:nvPr/>
        </p:nvSpPr>
        <p:spPr>
          <a:xfrm>
            <a:off x="525292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AC2B5-B5A1-4FAD-BB19-951A84928AE3}"/>
              </a:ext>
            </a:extLst>
          </p:cNvPr>
          <p:cNvSpPr txBox="1"/>
          <p:nvPr/>
        </p:nvSpPr>
        <p:spPr>
          <a:xfrm>
            <a:off x="4522061" y="307869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F0D49-8E99-4100-9AEA-9DE7A1B9BAEF}"/>
              </a:ext>
            </a:extLst>
          </p:cNvPr>
          <p:cNvSpPr txBox="1"/>
          <p:nvPr/>
        </p:nvSpPr>
        <p:spPr>
          <a:xfrm>
            <a:off x="3453281" y="3078696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163B0-C59F-458E-A89B-3144A6D57834}"/>
              </a:ext>
            </a:extLst>
          </p:cNvPr>
          <p:cNvSpPr txBox="1"/>
          <p:nvPr/>
        </p:nvSpPr>
        <p:spPr>
          <a:xfrm>
            <a:off x="6024904" y="3078696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1C5EE-D343-4907-83AC-F0A9AB2C536E}"/>
              </a:ext>
            </a:extLst>
          </p:cNvPr>
          <p:cNvSpPr txBox="1"/>
          <p:nvPr/>
        </p:nvSpPr>
        <p:spPr>
          <a:xfrm>
            <a:off x="8284579" y="309957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DFFDE-3CA4-470E-A607-A8A6D1E242D4}"/>
              </a:ext>
            </a:extLst>
          </p:cNvPr>
          <p:cNvSpPr txBox="1"/>
          <p:nvPr/>
        </p:nvSpPr>
        <p:spPr>
          <a:xfrm>
            <a:off x="7679499" y="312145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39BFE-53FC-49BD-AA5F-611936FDAC49}"/>
              </a:ext>
            </a:extLst>
          </p:cNvPr>
          <p:cNvSpPr txBox="1"/>
          <p:nvPr/>
        </p:nvSpPr>
        <p:spPr>
          <a:xfrm>
            <a:off x="7068007" y="310770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 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CA92AD9-01E5-456F-B6E2-019374648DAD}"/>
              </a:ext>
            </a:extLst>
          </p:cNvPr>
          <p:cNvCxnSpPr>
            <a:cxnSpLocks/>
            <a:stCxn id="4" idx="0"/>
            <a:endCxn id="10" idx="0"/>
          </p:cNvCxnSpPr>
          <p:nvPr/>
        </p:nvCxnSpPr>
        <p:spPr>
          <a:xfrm rot="5400000" flipH="1" flipV="1">
            <a:off x="2458161" y="1700458"/>
            <a:ext cx="12700" cy="2756476"/>
          </a:xfrm>
          <a:prstGeom prst="bentConnector3">
            <a:avLst>
              <a:gd name="adj1" fmla="val 4406898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141DF2F9-DDD5-445C-ABB2-30CAA47BE158}"/>
              </a:ext>
            </a:extLst>
          </p:cNvPr>
          <p:cNvCxnSpPr>
            <a:cxnSpLocks/>
            <a:stCxn id="10" idx="2"/>
            <a:endCxn id="6" idx="2"/>
          </p:cNvCxnSpPr>
          <p:nvPr/>
        </p:nvCxnSpPr>
        <p:spPr>
          <a:xfrm rot="5400000">
            <a:off x="3331648" y="2943277"/>
            <a:ext cx="12700" cy="1009502"/>
          </a:xfrm>
          <a:prstGeom prst="bentConnector3">
            <a:avLst>
              <a:gd name="adj1" fmla="val 31655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42DB429-ACFF-441B-B9B4-06E6CB4892C3}"/>
              </a:ext>
            </a:extLst>
          </p:cNvPr>
          <p:cNvCxnSpPr>
            <a:cxnSpLocks/>
            <a:stCxn id="10" idx="2"/>
            <a:endCxn id="7" idx="2"/>
          </p:cNvCxnSpPr>
          <p:nvPr/>
        </p:nvCxnSpPr>
        <p:spPr>
          <a:xfrm rot="5400000">
            <a:off x="2893743" y="2505372"/>
            <a:ext cx="12700" cy="1885313"/>
          </a:xfrm>
          <a:prstGeom prst="bentConnector3">
            <a:avLst>
              <a:gd name="adj1" fmla="val 16758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word is it dependent upon (modifier)?</a:t>
            </a:r>
          </a:p>
        </p:txBody>
      </p:sp>
    </p:spTree>
    <p:extLst>
      <p:ext uri="{BB962C8B-B14F-4D97-AF65-F5344CB8AC3E}">
        <p14:creationId xmlns:p14="http://schemas.microsoft.com/office/powerpoint/2010/main" val="1275205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863-34AC-422C-AD4A-935E507E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478D7-B389-4280-86BB-5AC6C576D273}"/>
              </a:ext>
            </a:extLst>
          </p:cNvPr>
          <p:cNvSpPr txBox="1"/>
          <p:nvPr/>
        </p:nvSpPr>
        <p:spPr>
          <a:xfrm>
            <a:off x="760733" y="3078696"/>
            <a:ext cx="63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66BA9-E4BA-4E03-B3A1-2F8F1953074A}"/>
              </a:ext>
            </a:extLst>
          </p:cNvPr>
          <p:cNvSpPr txBox="1"/>
          <p:nvPr/>
        </p:nvSpPr>
        <p:spPr>
          <a:xfrm>
            <a:off x="945931" y="4130565"/>
            <a:ext cx="40486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Grab</a:t>
            </a:r>
            <a:r>
              <a:rPr lang="en-US" dirty="0"/>
              <a:t> what?  </a:t>
            </a:r>
            <a:r>
              <a:rPr lang="en-US" b="1" dirty="0"/>
              <a:t>Coffee</a:t>
            </a:r>
          </a:p>
          <a:p>
            <a:r>
              <a:rPr lang="en-US" dirty="0"/>
              <a:t>What about the coffee? It’s </a:t>
            </a:r>
            <a:r>
              <a:rPr lang="en-US" b="1" dirty="0"/>
              <a:t>the large </a:t>
            </a:r>
            <a:r>
              <a:rPr lang="en-US" dirty="0"/>
              <a:t>one</a:t>
            </a:r>
          </a:p>
          <a:p>
            <a:r>
              <a:rPr lang="en-US" dirty="0"/>
              <a:t>What is </a:t>
            </a:r>
            <a:r>
              <a:rPr lang="en-US" b="1" dirty="0"/>
              <a:t>on the counter</a:t>
            </a:r>
            <a:r>
              <a:rPr lang="en-US" dirty="0"/>
              <a:t>? </a:t>
            </a:r>
            <a:r>
              <a:rPr lang="en-US" b="1" dirty="0"/>
              <a:t>Coffee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15E4F-8290-46EA-9B08-45E60919B753}"/>
              </a:ext>
            </a:extLst>
          </p:cNvPr>
          <p:cNvSpPr txBox="1"/>
          <p:nvPr/>
        </p:nvSpPr>
        <p:spPr>
          <a:xfrm>
            <a:off x="2503058" y="3078696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15DDC-AB09-4C7E-BBE5-CDEDA72C46DE}"/>
              </a:ext>
            </a:extLst>
          </p:cNvPr>
          <p:cNvSpPr txBox="1"/>
          <p:nvPr/>
        </p:nvSpPr>
        <p:spPr>
          <a:xfrm>
            <a:off x="170165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80C3E-5E93-4297-9888-6C8D121E083B}"/>
              </a:ext>
            </a:extLst>
          </p:cNvPr>
          <p:cNvSpPr txBox="1"/>
          <p:nvPr/>
        </p:nvSpPr>
        <p:spPr>
          <a:xfrm>
            <a:off x="525292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AC2B5-B5A1-4FAD-BB19-951A84928AE3}"/>
              </a:ext>
            </a:extLst>
          </p:cNvPr>
          <p:cNvSpPr txBox="1"/>
          <p:nvPr/>
        </p:nvSpPr>
        <p:spPr>
          <a:xfrm>
            <a:off x="4522061" y="307869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F0D49-8E99-4100-9AEA-9DE7A1B9BAEF}"/>
              </a:ext>
            </a:extLst>
          </p:cNvPr>
          <p:cNvSpPr txBox="1"/>
          <p:nvPr/>
        </p:nvSpPr>
        <p:spPr>
          <a:xfrm>
            <a:off x="3453281" y="3078696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163B0-C59F-458E-A89B-3144A6D57834}"/>
              </a:ext>
            </a:extLst>
          </p:cNvPr>
          <p:cNvSpPr txBox="1"/>
          <p:nvPr/>
        </p:nvSpPr>
        <p:spPr>
          <a:xfrm>
            <a:off x="6024904" y="3078696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1C5EE-D343-4907-83AC-F0A9AB2C536E}"/>
              </a:ext>
            </a:extLst>
          </p:cNvPr>
          <p:cNvSpPr txBox="1"/>
          <p:nvPr/>
        </p:nvSpPr>
        <p:spPr>
          <a:xfrm>
            <a:off x="8284579" y="309957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DFFDE-3CA4-470E-A607-A8A6D1E242D4}"/>
              </a:ext>
            </a:extLst>
          </p:cNvPr>
          <p:cNvSpPr txBox="1"/>
          <p:nvPr/>
        </p:nvSpPr>
        <p:spPr>
          <a:xfrm>
            <a:off x="7679499" y="312145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39BFE-53FC-49BD-AA5F-611936FDAC49}"/>
              </a:ext>
            </a:extLst>
          </p:cNvPr>
          <p:cNvSpPr txBox="1"/>
          <p:nvPr/>
        </p:nvSpPr>
        <p:spPr>
          <a:xfrm>
            <a:off x="7068007" y="310770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 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3387639-8F6E-4651-9F49-91E358409498}"/>
              </a:ext>
            </a:extLst>
          </p:cNvPr>
          <p:cNvCxnSpPr>
            <a:stCxn id="10" idx="0"/>
            <a:endCxn id="11" idx="0"/>
          </p:cNvCxnSpPr>
          <p:nvPr/>
        </p:nvCxnSpPr>
        <p:spPr>
          <a:xfrm rot="5400000" flipH="1" flipV="1">
            <a:off x="5159128" y="1755967"/>
            <a:ext cx="12700" cy="2645458"/>
          </a:xfrm>
          <a:prstGeom prst="bentConnector3">
            <a:avLst>
              <a:gd name="adj1" fmla="val 68896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CA92AD9-01E5-456F-B6E2-019374648DAD}"/>
              </a:ext>
            </a:extLst>
          </p:cNvPr>
          <p:cNvCxnSpPr>
            <a:cxnSpLocks/>
            <a:stCxn id="4" idx="0"/>
            <a:endCxn id="10" idx="0"/>
          </p:cNvCxnSpPr>
          <p:nvPr/>
        </p:nvCxnSpPr>
        <p:spPr>
          <a:xfrm rot="5400000" flipH="1" flipV="1">
            <a:off x="2458161" y="1700458"/>
            <a:ext cx="12700" cy="2756476"/>
          </a:xfrm>
          <a:prstGeom prst="bentConnector3">
            <a:avLst>
              <a:gd name="adj1" fmla="val 4406898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141DF2F9-DDD5-445C-ABB2-30CAA47BE158}"/>
              </a:ext>
            </a:extLst>
          </p:cNvPr>
          <p:cNvCxnSpPr>
            <a:cxnSpLocks/>
            <a:stCxn id="10" idx="2"/>
            <a:endCxn id="6" idx="2"/>
          </p:cNvCxnSpPr>
          <p:nvPr/>
        </p:nvCxnSpPr>
        <p:spPr>
          <a:xfrm rot="5400000">
            <a:off x="3331648" y="2943277"/>
            <a:ext cx="12700" cy="1009502"/>
          </a:xfrm>
          <a:prstGeom prst="bentConnector3">
            <a:avLst>
              <a:gd name="adj1" fmla="val 316552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42DB429-ACFF-441B-B9B4-06E6CB4892C3}"/>
              </a:ext>
            </a:extLst>
          </p:cNvPr>
          <p:cNvCxnSpPr>
            <a:cxnSpLocks/>
            <a:stCxn id="10" idx="2"/>
            <a:endCxn id="7" idx="2"/>
          </p:cNvCxnSpPr>
          <p:nvPr/>
        </p:nvCxnSpPr>
        <p:spPr>
          <a:xfrm rot="5400000">
            <a:off x="2893743" y="2505372"/>
            <a:ext cx="12700" cy="1885313"/>
          </a:xfrm>
          <a:prstGeom prst="bentConnector3">
            <a:avLst>
              <a:gd name="adj1" fmla="val 167587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word is it dependent upon (modifier)?</a:t>
            </a:r>
          </a:p>
        </p:txBody>
      </p:sp>
    </p:spTree>
    <p:extLst>
      <p:ext uri="{BB962C8B-B14F-4D97-AF65-F5344CB8AC3E}">
        <p14:creationId xmlns:p14="http://schemas.microsoft.com/office/powerpoint/2010/main" val="3816553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863-34AC-422C-AD4A-935E507E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478D7-B389-4280-86BB-5AC6C576D273}"/>
              </a:ext>
            </a:extLst>
          </p:cNvPr>
          <p:cNvSpPr txBox="1"/>
          <p:nvPr/>
        </p:nvSpPr>
        <p:spPr>
          <a:xfrm>
            <a:off x="760733" y="3078696"/>
            <a:ext cx="63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66BA9-E4BA-4E03-B3A1-2F8F1953074A}"/>
              </a:ext>
            </a:extLst>
          </p:cNvPr>
          <p:cNvSpPr txBox="1"/>
          <p:nvPr/>
        </p:nvSpPr>
        <p:spPr>
          <a:xfrm>
            <a:off x="914400" y="4114800"/>
            <a:ext cx="40486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Grab</a:t>
            </a:r>
            <a:r>
              <a:rPr lang="en-US" dirty="0"/>
              <a:t> what?  </a:t>
            </a:r>
            <a:r>
              <a:rPr lang="en-US" b="1" dirty="0"/>
              <a:t>Coffee</a:t>
            </a:r>
          </a:p>
          <a:p>
            <a:r>
              <a:rPr lang="en-US" dirty="0"/>
              <a:t>What about the coffee? It’s </a:t>
            </a:r>
            <a:r>
              <a:rPr lang="en-US" b="1" dirty="0"/>
              <a:t>the large </a:t>
            </a:r>
            <a:r>
              <a:rPr lang="en-US" dirty="0"/>
              <a:t>one</a:t>
            </a:r>
          </a:p>
          <a:p>
            <a:r>
              <a:rPr lang="en-US" dirty="0"/>
              <a:t>What is </a:t>
            </a:r>
            <a:r>
              <a:rPr lang="en-US" b="1" dirty="0"/>
              <a:t>on the counter</a:t>
            </a:r>
            <a:r>
              <a:rPr lang="en-US" dirty="0"/>
              <a:t>? </a:t>
            </a:r>
            <a:r>
              <a:rPr lang="en-US" b="1" dirty="0"/>
              <a:t>Coffee</a:t>
            </a:r>
          </a:p>
          <a:p>
            <a:r>
              <a:rPr lang="en-US" dirty="0"/>
              <a:t>“</a:t>
            </a:r>
            <a:r>
              <a:rPr lang="en-US" b="1" dirty="0"/>
              <a:t>On the</a:t>
            </a:r>
            <a:r>
              <a:rPr lang="en-US" dirty="0"/>
              <a:t>” is context for what?  </a:t>
            </a:r>
            <a:r>
              <a:rPr lang="en-US" b="1" dirty="0"/>
              <a:t>Counter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15E4F-8290-46EA-9B08-45E60919B753}"/>
              </a:ext>
            </a:extLst>
          </p:cNvPr>
          <p:cNvSpPr txBox="1"/>
          <p:nvPr/>
        </p:nvSpPr>
        <p:spPr>
          <a:xfrm>
            <a:off x="2503058" y="3078696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15DDC-AB09-4C7E-BBE5-CDEDA72C46DE}"/>
              </a:ext>
            </a:extLst>
          </p:cNvPr>
          <p:cNvSpPr txBox="1"/>
          <p:nvPr/>
        </p:nvSpPr>
        <p:spPr>
          <a:xfrm>
            <a:off x="170165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80C3E-5E93-4297-9888-6C8D121E083B}"/>
              </a:ext>
            </a:extLst>
          </p:cNvPr>
          <p:cNvSpPr txBox="1"/>
          <p:nvPr/>
        </p:nvSpPr>
        <p:spPr>
          <a:xfrm>
            <a:off x="525292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AC2B5-B5A1-4FAD-BB19-951A84928AE3}"/>
              </a:ext>
            </a:extLst>
          </p:cNvPr>
          <p:cNvSpPr txBox="1"/>
          <p:nvPr/>
        </p:nvSpPr>
        <p:spPr>
          <a:xfrm>
            <a:off x="4522061" y="307869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F0D49-8E99-4100-9AEA-9DE7A1B9BAEF}"/>
              </a:ext>
            </a:extLst>
          </p:cNvPr>
          <p:cNvSpPr txBox="1"/>
          <p:nvPr/>
        </p:nvSpPr>
        <p:spPr>
          <a:xfrm>
            <a:off x="3453281" y="3078696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163B0-C59F-458E-A89B-3144A6D57834}"/>
              </a:ext>
            </a:extLst>
          </p:cNvPr>
          <p:cNvSpPr txBox="1"/>
          <p:nvPr/>
        </p:nvSpPr>
        <p:spPr>
          <a:xfrm>
            <a:off x="6024904" y="3078696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1C5EE-D343-4907-83AC-F0A9AB2C536E}"/>
              </a:ext>
            </a:extLst>
          </p:cNvPr>
          <p:cNvSpPr txBox="1"/>
          <p:nvPr/>
        </p:nvSpPr>
        <p:spPr>
          <a:xfrm>
            <a:off x="8284579" y="309957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DFFDE-3CA4-470E-A607-A8A6D1E242D4}"/>
              </a:ext>
            </a:extLst>
          </p:cNvPr>
          <p:cNvSpPr txBox="1"/>
          <p:nvPr/>
        </p:nvSpPr>
        <p:spPr>
          <a:xfrm>
            <a:off x="7679499" y="312145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39BFE-53FC-49BD-AA5F-611936FDAC49}"/>
              </a:ext>
            </a:extLst>
          </p:cNvPr>
          <p:cNvSpPr txBox="1"/>
          <p:nvPr/>
        </p:nvSpPr>
        <p:spPr>
          <a:xfrm>
            <a:off x="7068007" y="310770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 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6F918EE-54E3-4177-8DEB-A8D26A72271D}"/>
              </a:ext>
            </a:extLst>
          </p:cNvPr>
          <p:cNvCxnSpPr>
            <a:stCxn id="11" idx="2"/>
            <a:endCxn id="9" idx="2"/>
          </p:cNvCxnSpPr>
          <p:nvPr/>
        </p:nvCxnSpPr>
        <p:spPr>
          <a:xfrm rot="5400000">
            <a:off x="5609040" y="2575211"/>
            <a:ext cx="12700" cy="174563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0B37A80-0E28-45F4-AA86-2ABB1113E7B0}"/>
              </a:ext>
            </a:extLst>
          </p:cNvPr>
          <p:cNvCxnSpPr>
            <a:stCxn id="11" idx="2"/>
            <a:endCxn id="8" idx="2"/>
          </p:cNvCxnSpPr>
          <p:nvPr/>
        </p:nvCxnSpPr>
        <p:spPr>
          <a:xfrm rot="5400000">
            <a:off x="5992107" y="2958278"/>
            <a:ext cx="12700" cy="979501"/>
          </a:xfrm>
          <a:prstGeom prst="bentConnector3">
            <a:avLst>
              <a:gd name="adj1" fmla="val 4034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3387639-8F6E-4651-9F49-91E358409498}"/>
              </a:ext>
            </a:extLst>
          </p:cNvPr>
          <p:cNvCxnSpPr>
            <a:stCxn id="10" idx="0"/>
            <a:endCxn id="11" idx="0"/>
          </p:cNvCxnSpPr>
          <p:nvPr/>
        </p:nvCxnSpPr>
        <p:spPr>
          <a:xfrm rot="5400000" flipH="1" flipV="1">
            <a:off x="5159128" y="1755967"/>
            <a:ext cx="12700" cy="2645458"/>
          </a:xfrm>
          <a:prstGeom prst="bentConnector3">
            <a:avLst>
              <a:gd name="adj1" fmla="val 6889661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CA92AD9-01E5-456F-B6E2-019374648DAD}"/>
              </a:ext>
            </a:extLst>
          </p:cNvPr>
          <p:cNvCxnSpPr>
            <a:cxnSpLocks/>
            <a:stCxn id="4" idx="0"/>
            <a:endCxn id="10" idx="0"/>
          </p:cNvCxnSpPr>
          <p:nvPr/>
        </p:nvCxnSpPr>
        <p:spPr>
          <a:xfrm rot="5400000" flipH="1" flipV="1">
            <a:off x="2458161" y="1700458"/>
            <a:ext cx="12700" cy="2756476"/>
          </a:xfrm>
          <a:prstGeom prst="bentConnector3">
            <a:avLst>
              <a:gd name="adj1" fmla="val 4406898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141DF2F9-DDD5-445C-ABB2-30CAA47BE158}"/>
              </a:ext>
            </a:extLst>
          </p:cNvPr>
          <p:cNvCxnSpPr>
            <a:cxnSpLocks/>
            <a:stCxn id="10" idx="2"/>
            <a:endCxn id="6" idx="2"/>
          </p:cNvCxnSpPr>
          <p:nvPr/>
        </p:nvCxnSpPr>
        <p:spPr>
          <a:xfrm rot="5400000">
            <a:off x="3331648" y="2943277"/>
            <a:ext cx="12700" cy="1009502"/>
          </a:xfrm>
          <a:prstGeom prst="bentConnector3">
            <a:avLst>
              <a:gd name="adj1" fmla="val 316552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42DB429-ACFF-441B-B9B4-06E6CB4892C3}"/>
              </a:ext>
            </a:extLst>
          </p:cNvPr>
          <p:cNvCxnSpPr>
            <a:cxnSpLocks/>
            <a:stCxn id="10" idx="2"/>
            <a:endCxn id="7" idx="2"/>
          </p:cNvCxnSpPr>
          <p:nvPr/>
        </p:nvCxnSpPr>
        <p:spPr>
          <a:xfrm rot="5400000">
            <a:off x="2893743" y="2505372"/>
            <a:ext cx="12700" cy="1885313"/>
          </a:xfrm>
          <a:prstGeom prst="bentConnector3">
            <a:avLst>
              <a:gd name="adj1" fmla="val 167587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word is it dependent upon (modifier)?</a:t>
            </a:r>
          </a:p>
        </p:txBody>
      </p:sp>
    </p:spTree>
    <p:extLst>
      <p:ext uri="{BB962C8B-B14F-4D97-AF65-F5344CB8AC3E}">
        <p14:creationId xmlns:p14="http://schemas.microsoft.com/office/powerpoint/2010/main" val="200769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863-34AC-422C-AD4A-935E507E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478D7-B389-4280-86BB-5AC6C576D273}"/>
              </a:ext>
            </a:extLst>
          </p:cNvPr>
          <p:cNvSpPr txBox="1"/>
          <p:nvPr/>
        </p:nvSpPr>
        <p:spPr>
          <a:xfrm>
            <a:off x="760733" y="3078696"/>
            <a:ext cx="63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66BA9-E4BA-4E03-B3A1-2F8F1953074A}"/>
              </a:ext>
            </a:extLst>
          </p:cNvPr>
          <p:cNvSpPr txBox="1"/>
          <p:nvPr/>
        </p:nvSpPr>
        <p:spPr>
          <a:xfrm>
            <a:off x="914400" y="4114800"/>
            <a:ext cx="404860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Grab</a:t>
            </a:r>
            <a:r>
              <a:rPr lang="en-US" dirty="0"/>
              <a:t> what?  </a:t>
            </a:r>
            <a:r>
              <a:rPr lang="en-US" b="1" dirty="0"/>
              <a:t>Coffee</a:t>
            </a:r>
          </a:p>
          <a:p>
            <a:r>
              <a:rPr lang="en-US" dirty="0"/>
              <a:t>What about the coffee? It’s </a:t>
            </a:r>
            <a:r>
              <a:rPr lang="en-US" b="1" dirty="0"/>
              <a:t>the large </a:t>
            </a:r>
            <a:r>
              <a:rPr lang="en-US" dirty="0"/>
              <a:t>one</a:t>
            </a:r>
          </a:p>
          <a:p>
            <a:r>
              <a:rPr lang="en-US" dirty="0"/>
              <a:t>What is </a:t>
            </a:r>
            <a:r>
              <a:rPr lang="en-US" b="1" dirty="0"/>
              <a:t>on the counter</a:t>
            </a:r>
            <a:r>
              <a:rPr lang="en-US" dirty="0"/>
              <a:t>? </a:t>
            </a:r>
            <a:r>
              <a:rPr lang="en-US" b="1" dirty="0"/>
              <a:t>Coffee</a:t>
            </a:r>
          </a:p>
          <a:p>
            <a:r>
              <a:rPr lang="en-US" dirty="0"/>
              <a:t>“</a:t>
            </a:r>
            <a:r>
              <a:rPr lang="en-US" b="1" dirty="0"/>
              <a:t>On the</a:t>
            </a:r>
            <a:r>
              <a:rPr lang="en-US" dirty="0"/>
              <a:t>” is context for what?  </a:t>
            </a:r>
            <a:r>
              <a:rPr lang="en-US" b="1" dirty="0"/>
              <a:t>Counter</a:t>
            </a:r>
          </a:p>
          <a:p>
            <a:r>
              <a:rPr lang="en-US" dirty="0"/>
              <a:t>What is </a:t>
            </a:r>
            <a:r>
              <a:rPr lang="en-US" b="1" dirty="0"/>
              <a:t>near the pot</a:t>
            </a:r>
            <a:r>
              <a:rPr lang="en-US" dirty="0"/>
              <a:t>? </a:t>
            </a:r>
            <a:r>
              <a:rPr lang="en-US" b="1" dirty="0"/>
              <a:t>Coffee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15E4F-8290-46EA-9B08-45E60919B753}"/>
              </a:ext>
            </a:extLst>
          </p:cNvPr>
          <p:cNvSpPr txBox="1"/>
          <p:nvPr/>
        </p:nvSpPr>
        <p:spPr>
          <a:xfrm>
            <a:off x="2503058" y="3078696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15DDC-AB09-4C7E-BBE5-CDEDA72C46DE}"/>
              </a:ext>
            </a:extLst>
          </p:cNvPr>
          <p:cNvSpPr txBox="1"/>
          <p:nvPr/>
        </p:nvSpPr>
        <p:spPr>
          <a:xfrm>
            <a:off x="170165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80C3E-5E93-4297-9888-6C8D121E083B}"/>
              </a:ext>
            </a:extLst>
          </p:cNvPr>
          <p:cNvSpPr txBox="1"/>
          <p:nvPr/>
        </p:nvSpPr>
        <p:spPr>
          <a:xfrm>
            <a:off x="525292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AC2B5-B5A1-4FAD-BB19-951A84928AE3}"/>
              </a:ext>
            </a:extLst>
          </p:cNvPr>
          <p:cNvSpPr txBox="1"/>
          <p:nvPr/>
        </p:nvSpPr>
        <p:spPr>
          <a:xfrm>
            <a:off x="4522061" y="307869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F0D49-8E99-4100-9AEA-9DE7A1B9BAEF}"/>
              </a:ext>
            </a:extLst>
          </p:cNvPr>
          <p:cNvSpPr txBox="1"/>
          <p:nvPr/>
        </p:nvSpPr>
        <p:spPr>
          <a:xfrm>
            <a:off x="3453281" y="3078696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163B0-C59F-458E-A89B-3144A6D57834}"/>
              </a:ext>
            </a:extLst>
          </p:cNvPr>
          <p:cNvSpPr txBox="1"/>
          <p:nvPr/>
        </p:nvSpPr>
        <p:spPr>
          <a:xfrm>
            <a:off x="6024904" y="3078696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1C5EE-D343-4907-83AC-F0A9AB2C536E}"/>
              </a:ext>
            </a:extLst>
          </p:cNvPr>
          <p:cNvSpPr txBox="1"/>
          <p:nvPr/>
        </p:nvSpPr>
        <p:spPr>
          <a:xfrm>
            <a:off x="8284579" y="309957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DFFDE-3CA4-470E-A607-A8A6D1E242D4}"/>
              </a:ext>
            </a:extLst>
          </p:cNvPr>
          <p:cNvSpPr txBox="1"/>
          <p:nvPr/>
        </p:nvSpPr>
        <p:spPr>
          <a:xfrm>
            <a:off x="7679499" y="312145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39BFE-53FC-49BD-AA5F-611936FDAC49}"/>
              </a:ext>
            </a:extLst>
          </p:cNvPr>
          <p:cNvSpPr txBox="1"/>
          <p:nvPr/>
        </p:nvSpPr>
        <p:spPr>
          <a:xfrm>
            <a:off x="7068007" y="310770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 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6F918EE-54E3-4177-8DEB-A8D26A72271D}"/>
              </a:ext>
            </a:extLst>
          </p:cNvPr>
          <p:cNvCxnSpPr>
            <a:stCxn id="11" idx="2"/>
            <a:endCxn id="9" idx="2"/>
          </p:cNvCxnSpPr>
          <p:nvPr/>
        </p:nvCxnSpPr>
        <p:spPr>
          <a:xfrm rot="5400000">
            <a:off x="5609040" y="2575211"/>
            <a:ext cx="12700" cy="1745635"/>
          </a:xfrm>
          <a:prstGeom prst="bentConnector3">
            <a:avLst>
              <a:gd name="adj1" fmla="val 180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0B37A80-0E28-45F4-AA86-2ABB1113E7B0}"/>
              </a:ext>
            </a:extLst>
          </p:cNvPr>
          <p:cNvCxnSpPr>
            <a:stCxn id="11" idx="2"/>
            <a:endCxn id="8" idx="2"/>
          </p:cNvCxnSpPr>
          <p:nvPr/>
        </p:nvCxnSpPr>
        <p:spPr>
          <a:xfrm rot="5400000">
            <a:off x="5992107" y="2958278"/>
            <a:ext cx="12700" cy="979501"/>
          </a:xfrm>
          <a:prstGeom prst="bentConnector3">
            <a:avLst>
              <a:gd name="adj1" fmla="val 403448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3387639-8F6E-4651-9F49-91E358409498}"/>
              </a:ext>
            </a:extLst>
          </p:cNvPr>
          <p:cNvCxnSpPr>
            <a:stCxn id="10" idx="0"/>
            <a:endCxn id="11" idx="0"/>
          </p:cNvCxnSpPr>
          <p:nvPr/>
        </p:nvCxnSpPr>
        <p:spPr>
          <a:xfrm rot="5400000" flipH="1" flipV="1">
            <a:off x="5159128" y="1755967"/>
            <a:ext cx="12700" cy="2645458"/>
          </a:xfrm>
          <a:prstGeom prst="bentConnector3">
            <a:avLst>
              <a:gd name="adj1" fmla="val 6889661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E8C07D6-E4D2-43A7-9C15-BA59D4549DDD}"/>
              </a:ext>
            </a:extLst>
          </p:cNvPr>
          <p:cNvCxnSpPr>
            <a:stCxn id="10" idx="0"/>
            <a:endCxn id="21" idx="0"/>
          </p:cNvCxnSpPr>
          <p:nvPr/>
        </p:nvCxnSpPr>
        <p:spPr>
          <a:xfrm rot="16200000" flipH="1">
            <a:off x="6176366" y="738728"/>
            <a:ext cx="20879" cy="4700814"/>
          </a:xfrm>
          <a:prstGeom prst="bentConnector3">
            <a:avLst>
              <a:gd name="adj1" fmla="val -17744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CA92AD9-01E5-456F-B6E2-019374648DAD}"/>
              </a:ext>
            </a:extLst>
          </p:cNvPr>
          <p:cNvCxnSpPr>
            <a:cxnSpLocks/>
            <a:stCxn id="4" idx="0"/>
            <a:endCxn id="10" idx="0"/>
          </p:cNvCxnSpPr>
          <p:nvPr/>
        </p:nvCxnSpPr>
        <p:spPr>
          <a:xfrm rot="5400000" flipH="1" flipV="1">
            <a:off x="2458161" y="1700458"/>
            <a:ext cx="12700" cy="2756476"/>
          </a:xfrm>
          <a:prstGeom prst="bentConnector3">
            <a:avLst>
              <a:gd name="adj1" fmla="val 4406898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141DF2F9-DDD5-445C-ABB2-30CAA47BE158}"/>
              </a:ext>
            </a:extLst>
          </p:cNvPr>
          <p:cNvCxnSpPr>
            <a:cxnSpLocks/>
            <a:stCxn id="10" idx="2"/>
            <a:endCxn id="6" idx="2"/>
          </p:cNvCxnSpPr>
          <p:nvPr/>
        </p:nvCxnSpPr>
        <p:spPr>
          <a:xfrm rot="5400000">
            <a:off x="3331648" y="2943277"/>
            <a:ext cx="12700" cy="1009502"/>
          </a:xfrm>
          <a:prstGeom prst="bentConnector3">
            <a:avLst>
              <a:gd name="adj1" fmla="val 316552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42DB429-ACFF-441B-B9B4-06E6CB4892C3}"/>
              </a:ext>
            </a:extLst>
          </p:cNvPr>
          <p:cNvCxnSpPr>
            <a:cxnSpLocks/>
            <a:stCxn id="10" idx="2"/>
            <a:endCxn id="7" idx="2"/>
          </p:cNvCxnSpPr>
          <p:nvPr/>
        </p:nvCxnSpPr>
        <p:spPr>
          <a:xfrm rot="5400000">
            <a:off x="2893743" y="2505372"/>
            <a:ext cx="12700" cy="1885313"/>
          </a:xfrm>
          <a:prstGeom prst="bentConnector3">
            <a:avLst>
              <a:gd name="adj1" fmla="val 167587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word is it dependent upon (modifier)?</a:t>
            </a:r>
          </a:p>
        </p:txBody>
      </p:sp>
    </p:spTree>
    <p:extLst>
      <p:ext uri="{BB962C8B-B14F-4D97-AF65-F5344CB8AC3E}">
        <p14:creationId xmlns:p14="http://schemas.microsoft.com/office/powerpoint/2010/main" val="2826137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863-34AC-422C-AD4A-935E507E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478D7-B389-4280-86BB-5AC6C576D273}"/>
              </a:ext>
            </a:extLst>
          </p:cNvPr>
          <p:cNvSpPr txBox="1"/>
          <p:nvPr/>
        </p:nvSpPr>
        <p:spPr>
          <a:xfrm>
            <a:off x="760733" y="3078696"/>
            <a:ext cx="63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66BA9-E4BA-4E03-B3A1-2F8F1953074A}"/>
              </a:ext>
            </a:extLst>
          </p:cNvPr>
          <p:cNvSpPr txBox="1"/>
          <p:nvPr/>
        </p:nvSpPr>
        <p:spPr>
          <a:xfrm>
            <a:off x="914400" y="4114800"/>
            <a:ext cx="41015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Grab</a:t>
            </a:r>
            <a:r>
              <a:rPr lang="en-US" dirty="0"/>
              <a:t> what?  </a:t>
            </a:r>
            <a:r>
              <a:rPr lang="en-US" b="1" dirty="0"/>
              <a:t>Coffee </a:t>
            </a:r>
            <a:endParaRPr lang="en-US" b="1" dirty="0">
              <a:solidFill>
                <a:srgbClr val="FFC000"/>
              </a:solidFill>
            </a:endParaRPr>
          </a:p>
          <a:p>
            <a:r>
              <a:rPr lang="en-US" dirty="0"/>
              <a:t>What about the coffee? It’s </a:t>
            </a:r>
            <a:r>
              <a:rPr lang="en-US" b="1" dirty="0"/>
              <a:t>the large </a:t>
            </a:r>
            <a:r>
              <a:rPr lang="en-US" dirty="0"/>
              <a:t>one </a:t>
            </a:r>
          </a:p>
          <a:p>
            <a:r>
              <a:rPr lang="en-US" dirty="0"/>
              <a:t>What is </a:t>
            </a:r>
            <a:r>
              <a:rPr lang="en-US" b="1" dirty="0"/>
              <a:t>on the counter</a:t>
            </a:r>
            <a:r>
              <a:rPr lang="en-US" dirty="0"/>
              <a:t>? </a:t>
            </a:r>
            <a:r>
              <a:rPr lang="en-US" b="1" dirty="0"/>
              <a:t>Coffee</a:t>
            </a:r>
          </a:p>
          <a:p>
            <a:r>
              <a:rPr lang="en-US" dirty="0"/>
              <a:t>“</a:t>
            </a:r>
            <a:r>
              <a:rPr lang="en-US" b="1" dirty="0"/>
              <a:t>On the</a:t>
            </a:r>
            <a:r>
              <a:rPr lang="en-US" dirty="0"/>
              <a:t>” is context for what?  </a:t>
            </a:r>
            <a:r>
              <a:rPr lang="en-US" b="1" dirty="0"/>
              <a:t>Counter</a:t>
            </a:r>
          </a:p>
          <a:p>
            <a:r>
              <a:rPr lang="en-US" dirty="0"/>
              <a:t>What is </a:t>
            </a:r>
            <a:r>
              <a:rPr lang="en-US" b="1" dirty="0"/>
              <a:t>near the pot</a:t>
            </a:r>
            <a:r>
              <a:rPr lang="en-US" dirty="0"/>
              <a:t>? </a:t>
            </a:r>
            <a:r>
              <a:rPr lang="en-US" b="1" dirty="0"/>
              <a:t>Coffee</a:t>
            </a:r>
          </a:p>
          <a:p>
            <a:r>
              <a:rPr lang="en-US" dirty="0"/>
              <a:t>“</a:t>
            </a:r>
            <a:r>
              <a:rPr lang="en-US" b="1" dirty="0"/>
              <a:t>near the</a:t>
            </a:r>
            <a:r>
              <a:rPr lang="en-US" dirty="0"/>
              <a:t>” is context for what? </a:t>
            </a:r>
            <a:r>
              <a:rPr lang="en-US" b="1" dirty="0"/>
              <a:t>Pot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15E4F-8290-46EA-9B08-45E60919B753}"/>
              </a:ext>
            </a:extLst>
          </p:cNvPr>
          <p:cNvSpPr txBox="1"/>
          <p:nvPr/>
        </p:nvSpPr>
        <p:spPr>
          <a:xfrm>
            <a:off x="2503058" y="3078696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15DDC-AB09-4C7E-BBE5-CDEDA72C46DE}"/>
              </a:ext>
            </a:extLst>
          </p:cNvPr>
          <p:cNvSpPr txBox="1"/>
          <p:nvPr/>
        </p:nvSpPr>
        <p:spPr>
          <a:xfrm>
            <a:off x="170165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80C3E-5E93-4297-9888-6C8D121E083B}"/>
              </a:ext>
            </a:extLst>
          </p:cNvPr>
          <p:cNvSpPr txBox="1"/>
          <p:nvPr/>
        </p:nvSpPr>
        <p:spPr>
          <a:xfrm>
            <a:off x="5252928" y="307869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AC2B5-B5A1-4FAD-BB19-951A84928AE3}"/>
              </a:ext>
            </a:extLst>
          </p:cNvPr>
          <p:cNvSpPr txBox="1"/>
          <p:nvPr/>
        </p:nvSpPr>
        <p:spPr>
          <a:xfrm>
            <a:off x="4522061" y="307869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F0D49-8E99-4100-9AEA-9DE7A1B9BAEF}"/>
              </a:ext>
            </a:extLst>
          </p:cNvPr>
          <p:cNvSpPr txBox="1"/>
          <p:nvPr/>
        </p:nvSpPr>
        <p:spPr>
          <a:xfrm>
            <a:off x="3453281" y="3078696"/>
            <a:ext cx="76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coffee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163B0-C59F-458E-A89B-3144A6D57834}"/>
              </a:ext>
            </a:extLst>
          </p:cNvPr>
          <p:cNvSpPr txBox="1"/>
          <p:nvPr/>
        </p:nvSpPr>
        <p:spPr>
          <a:xfrm>
            <a:off x="6024904" y="3078696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1C5EE-D343-4907-83AC-F0A9AB2C536E}"/>
              </a:ext>
            </a:extLst>
          </p:cNvPr>
          <p:cNvSpPr txBox="1"/>
          <p:nvPr/>
        </p:nvSpPr>
        <p:spPr>
          <a:xfrm>
            <a:off x="8284579" y="309957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DFFDE-3CA4-470E-A607-A8A6D1E242D4}"/>
              </a:ext>
            </a:extLst>
          </p:cNvPr>
          <p:cNvSpPr txBox="1"/>
          <p:nvPr/>
        </p:nvSpPr>
        <p:spPr>
          <a:xfrm>
            <a:off x="7679499" y="312145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39BFE-53FC-49BD-AA5F-611936FDAC49}"/>
              </a:ext>
            </a:extLst>
          </p:cNvPr>
          <p:cNvSpPr txBox="1"/>
          <p:nvPr/>
        </p:nvSpPr>
        <p:spPr>
          <a:xfrm>
            <a:off x="7068007" y="310770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 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6F918EE-54E3-4177-8DEB-A8D26A72271D}"/>
              </a:ext>
            </a:extLst>
          </p:cNvPr>
          <p:cNvCxnSpPr>
            <a:stCxn id="11" idx="2"/>
            <a:endCxn id="9" idx="2"/>
          </p:cNvCxnSpPr>
          <p:nvPr/>
        </p:nvCxnSpPr>
        <p:spPr>
          <a:xfrm rot="5400000">
            <a:off x="5609040" y="2575211"/>
            <a:ext cx="12700" cy="1745635"/>
          </a:xfrm>
          <a:prstGeom prst="bentConnector3">
            <a:avLst>
              <a:gd name="adj1" fmla="val 180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0B37A80-0E28-45F4-AA86-2ABB1113E7B0}"/>
              </a:ext>
            </a:extLst>
          </p:cNvPr>
          <p:cNvCxnSpPr>
            <a:stCxn id="11" idx="2"/>
            <a:endCxn id="8" idx="2"/>
          </p:cNvCxnSpPr>
          <p:nvPr/>
        </p:nvCxnSpPr>
        <p:spPr>
          <a:xfrm rot="5400000">
            <a:off x="5992107" y="2958278"/>
            <a:ext cx="12700" cy="979501"/>
          </a:xfrm>
          <a:prstGeom prst="bentConnector3">
            <a:avLst>
              <a:gd name="adj1" fmla="val 403448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3387639-8F6E-4651-9F49-91E358409498}"/>
              </a:ext>
            </a:extLst>
          </p:cNvPr>
          <p:cNvCxnSpPr>
            <a:stCxn id="10" idx="0"/>
            <a:endCxn id="11" idx="0"/>
          </p:cNvCxnSpPr>
          <p:nvPr/>
        </p:nvCxnSpPr>
        <p:spPr>
          <a:xfrm rot="5400000" flipH="1" flipV="1">
            <a:off x="5159128" y="1755967"/>
            <a:ext cx="12700" cy="2645458"/>
          </a:xfrm>
          <a:prstGeom prst="bentConnector3">
            <a:avLst>
              <a:gd name="adj1" fmla="val 6889661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E8C07D6-E4D2-43A7-9C15-BA59D4549DDD}"/>
              </a:ext>
            </a:extLst>
          </p:cNvPr>
          <p:cNvCxnSpPr>
            <a:stCxn id="10" idx="0"/>
            <a:endCxn id="21" idx="0"/>
          </p:cNvCxnSpPr>
          <p:nvPr/>
        </p:nvCxnSpPr>
        <p:spPr>
          <a:xfrm rot="16200000" flipH="1">
            <a:off x="6176366" y="738728"/>
            <a:ext cx="20879" cy="4700814"/>
          </a:xfrm>
          <a:prstGeom prst="bentConnector3">
            <a:avLst>
              <a:gd name="adj1" fmla="val -177446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CA92AD9-01E5-456F-B6E2-019374648DAD}"/>
              </a:ext>
            </a:extLst>
          </p:cNvPr>
          <p:cNvCxnSpPr>
            <a:cxnSpLocks/>
            <a:stCxn id="4" idx="0"/>
            <a:endCxn id="10" idx="0"/>
          </p:cNvCxnSpPr>
          <p:nvPr/>
        </p:nvCxnSpPr>
        <p:spPr>
          <a:xfrm rot="5400000" flipH="1" flipV="1">
            <a:off x="2458161" y="1700458"/>
            <a:ext cx="12700" cy="2756476"/>
          </a:xfrm>
          <a:prstGeom prst="bentConnector3">
            <a:avLst>
              <a:gd name="adj1" fmla="val 4406898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141DF2F9-DDD5-445C-ABB2-30CAA47BE158}"/>
              </a:ext>
            </a:extLst>
          </p:cNvPr>
          <p:cNvCxnSpPr>
            <a:cxnSpLocks/>
            <a:stCxn id="10" idx="2"/>
            <a:endCxn id="6" idx="2"/>
          </p:cNvCxnSpPr>
          <p:nvPr/>
        </p:nvCxnSpPr>
        <p:spPr>
          <a:xfrm rot="5400000">
            <a:off x="3331648" y="2943277"/>
            <a:ext cx="12700" cy="1009502"/>
          </a:xfrm>
          <a:prstGeom prst="bentConnector3">
            <a:avLst>
              <a:gd name="adj1" fmla="val 316552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42DB429-ACFF-441B-B9B4-06E6CB4892C3}"/>
              </a:ext>
            </a:extLst>
          </p:cNvPr>
          <p:cNvCxnSpPr>
            <a:cxnSpLocks/>
            <a:stCxn id="10" idx="2"/>
            <a:endCxn id="7" idx="2"/>
          </p:cNvCxnSpPr>
          <p:nvPr/>
        </p:nvCxnSpPr>
        <p:spPr>
          <a:xfrm rot="5400000">
            <a:off x="2893743" y="2505372"/>
            <a:ext cx="12700" cy="1885313"/>
          </a:xfrm>
          <a:prstGeom prst="bentConnector3">
            <a:avLst>
              <a:gd name="adj1" fmla="val 167587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F641FE3-2D45-4D42-8ABE-9D028DA73919}"/>
              </a:ext>
            </a:extLst>
          </p:cNvPr>
          <p:cNvCxnSpPr>
            <a:cxnSpLocks/>
            <a:stCxn id="21" idx="2"/>
            <a:endCxn id="22" idx="2"/>
          </p:cNvCxnSpPr>
          <p:nvPr/>
        </p:nvCxnSpPr>
        <p:spPr>
          <a:xfrm rot="5400000">
            <a:off x="8222131" y="3175703"/>
            <a:ext cx="21879" cy="608286"/>
          </a:xfrm>
          <a:prstGeom prst="bentConnector3">
            <a:avLst>
              <a:gd name="adj1" fmla="val 19374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313A731-7E2F-4956-9335-415E879EBC06}"/>
              </a:ext>
            </a:extLst>
          </p:cNvPr>
          <p:cNvCxnSpPr>
            <a:cxnSpLocks/>
            <a:stCxn id="21" idx="2"/>
            <a:endCxn id="23" idx="2"/>
          </p:cNvCxnSpPr>
          <p:nvPr/>
        </p:nvCxnSpPr>
        <p:spPr>
          <a:xfrm rot="5400000">
            <a:off x="7964936" y="2904762"/>
            <a:ext cx="8133" cy="1136422"/>
          </a:xfrm>
          <a:prstGeom prst="bentConnector3">
            <a:avLst>
              <a:gd name="adj1" fmla="val 29107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02021" y="1245476"/>
            <a:ext cx="833995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word is it dependent upon (modifier)?</a:t>
            </a:r>
          </a:p>
        </p:txBody>
      </p:sp>
    </p:spTree>
    <p:extLst>
      <p:ext uri="{BB962C8B-B14F-4D97-AF65-F5344CB8AC3E}">
        <p14:creationId xmlns:p14="http://schemas.microsoft.com/office/powerpoint/2010/main" val="1787765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Dependencies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2966" y="1371601"/>
            <a:ext cx="77771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Source Project w/200 Contributors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annotated texts to parse to learn these tree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100 treebanks created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70 languages supported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“universal” in label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interactive graphic: </a:t>
            </a:r>
            <a:r>
              <a:rPr lang="en-US" dirty="0">
                <a:hlinkClick r:id="rId2"/>
              </a:rPr>
              <a:t>https://universaldependencies.org/introduction.html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053747"/>
            <a:ext cx="48577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92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65126"/>
            <a:ext cx="8515350" cy="591477"/>
          </a:xfrm>
        </p:spPr>
        <p:txBody>
          <a:bodyPr/>
          <a:lstStyle/>
          <a:p>
            <a:r>
              <a:rPr lang="en-US" dirty="0"/>
              <a:t>Institute of formal &amp; applied linguistics: </a:t>
            </a:r>
            <a:r>
              <a:rPr lang="en-US" dirty="0" err="1"/>
              <a:t>UDPipe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014" y="1970690"/>
            <a:ext cx="86552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Ported the use of UD into multiple software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UDPipe</a:t>
            </a:r>
            <a:r>
              <a:rPr lang="en-US" dirty="0"/>
              <a:t> is a trainable pipeline for tokenization, tagging, lemmatization and dependency parsing of </a:t>
            </a:r>
            <a:r>
              <a:rPr lang="en-US" dirty="0" err="1"/>
              <a:t>CoNLL</a:t>
            </a:r>
            <a:r>
              <a:rPr lang="en-US" dirty="0"/>
              <a:t>-U (universal dependency format) files.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of the UD treebanks are supported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software languages: Linux, Window, OS X, C++, Python, Perl, Java, C#, API service and R</a:t>
            </a:r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http://ufal.mff.cuni.cz/udpipe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187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E_UD_syntacticParsing.R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9545" y="1450427"/>
            <a:ext cx="849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Great use of lemmatization as a preprocessing step even if you don’t use the POS tags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5CBAF2-1D71-B827-E77F-3CFFD9C7C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5" b="19901"/>
          <a:stretch>
            <a:fillRect/>
          </a:stretch>
        </p:blipFill>
        <p:spPr>
          <a:xfrm>
            <a:off x="1143000" y="2402688"/>
            <a:ext cx="6858000" cy="36734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864E16-1307-C8B9-D455-C5070AD06BCF}"/>
              </a:ext>
            </a:extLst>
          </p:cNvPr>
          <p:cNvSpPr txBox="1"/>
          <p:nvPr/>
        </p:nvSpPr>
        <p:spPr>
          <a:xfrm>
            <a:off x="6744943" y="6076125"/>
            <a:ext cx="1427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AI Generated Image</a:t>
            </a:r>
          </a:p>
        </p:txBody>
      </p:sp>
    </p:spTree>
    <p:extLst>
      <p:ext uri="{BB962C8B-B14F-4D97-AF65-F5344CB8AC3E}">
        <p14:creationId xmlns:p14="http://schemas.microsoft.com/office/powerpoint/2010/main" val="3330134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41FD6-273B-2940-35F3-C8ACCD87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197CB9-EEE9-F8A3-E2A9-BD876476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" y="365126"/>
            <a:ext cx="8435340" cy="591477"/>
          </a:xfrm>
        </p:spPr>
        <p:txBody>
          <a:bodyPr/>
          <a:lstStyle/>
          <a:p>
            <a:r>
              <a:rPr lang="en-US" dirty="0"/>
              <a:t>We can also do a dictionary based lemmatization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73A33-5A6D-A5B8-4240-040E623C4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364B2-1DBB-BB36-7C7C-DFC04CD4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9CF74-851E-A5B5-78A4-AAB2678A8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588" r="82206"/>
          <a:stretch>
            <a:fillRect/>
          </a:stretch>
        </p:blipFill>
        <p:spPr>
          <a:xfrm>
            <a:off x="125730" y="1476359"/>
            <a:ext cx="3531870" cy="4392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5BE4FD-415C-51F8-9DF3-E19B3A995105}"/>
              </a:ext>
            </a:extLst>
          </p:cNvPr>
          <p:cNvSpPr txBox="1"/>
          <p:nvPr/>
        </p:nvSpPr>
        <p:spPr>
          <a:xfrm>
            <a:off x="4800600" y="1855983"/>
            <a:ext cx="3054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“While this is not a true morphological analysis this style of lemma replacement is fast and typically still robust.”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EEFB16-2561-FAE4-D07B-BA59E2295583}"/>
              </a:ext>
            </a:extLst>
          </p:cNvPr>
          <p:cNvSpPr txBox="1"/>
          <p:nvPr/>
        </p:nvSpPr>
        <p:spPr>
          <a:xfrm>
            <a:off x="4800600" y="3506002"/>
            <a:ext cx="3054350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have to protect our substitutions from inadvertent mistakes by using </a:t>
            </a:r>
            <a:r>
              <a:rPr lang="en-US">
                <a:solidFill>
                  <a:schemeClr val="bg1"/>
                </a:solidFill>
              </a:rPr>
              <a:t>“anchors”.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956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E191D-97EE-5138-AC3F-EF55F085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740AFF-A874-462E-CCD7-E7F1A9DD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" y="365126"/>
            <a:ext cx="8766810" cy="591477"/>
          </a:xfrm>
        </p:spPr>
        <p:txBody>
          <a:bodyPr/>
          <a:lstStyle/>
          <a:p>
            <a:r>
              <a:rPr lang="en-US" dirty="0"/>
              <a:t>Appendix – the less popular Stanford NLP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58112-8D40-25D4-BDD5-0B365405C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BA90-0DD5-FFC4-CCB3-56438E500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865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Instead of manually annotated tree files…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18897" y="2971800"/>
            <a:ext cx="630620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you use machine learning to learn language heuristics?</a:t>
            </a:r>
          </a:p>
        </p:txBody>
      </p:sp>
    </p:spTree>
    <p:extLst>
      <p:ext uri="{BB962C8B-B14F-4D97-AF65-F5344CB8AC3E}">
        <p14:creationId xmlns:p14="http://schemas.microsoft.com/office/powerpoint/2010/main" val="1001120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NLP is a java ML open source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2103"/>
          <a:stretch/>
        </p:blipFill>
        <p:spPr>
          <a:xfrm>
            <a:off x="0" y="1513494"/>
            <a:ext cx="9144000" cy="36748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149" y="5422869"/>
            <a:ext cx="8375702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R’s </a:t>
            </a:r>
            <a:r>
              <a:rPr lang="en-US" sz="1600" dirty="0" err="1">
                <a:solidFill>
                  <a:schemeClr val="bg1"/>
                </a:solidFill>
              </a:rPr>
              <a:t>OpenNLP</a:t>
            </a:r>
            <a:r>
              <a:rPr lang="en-US" sz="1600" dirty="0">
                <a:solidFill>
                  <a:schemeClr val="bg1"/>
                </a:solidFill>
              </a:rPr>
              <a:t> package wraps the Apache </a:t>
            </a:r>
            <a:r>
              <a:rPr lang="en-US" sz="1600" dirty="0" err="1">
                <a:solidFill>
                  <a:schemeClr val="bg1"/>
                </a:solidFill>
              </a:rPr>
              <a:t>OpenNLP</a:t>
            </a:r>
            <a:r>
              <a:rPr lang="en-US" sz="1600" dirty="0">
                <a:solidFill>
                  <a:schemeClr val="bg1"/>
                </a:solidFill>
              </a:rPr>
              <a:t> project.  However, documentation &amp; examples can be hard to come by.</a:t>
            </a:r>
          </a:p>
        </p:txBody>
      </p:sp>
    </p:spTree>
    <p:extLst>
      <p:ext uri="{BB962C8B-B14F-4D97-AF65-F5344CB8AC3E}">
        <p14:creationId xmlns:p14="http://schemas.microsoft.com/office/powerpoint/2010/main" val="1929142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80719" y="1087820"/>
            <a:ext cx="6782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Mix of Machine Learning &amp;</a:t>
            </a:r>
          </a:p>
          <a:p>
            <a:pPr algn="ctr"/>
            <a:r>
              <a:rPr lang="en-US" dirty="0"/>
              <a:t> Heuristics (2 words starting with capital letters may be a proper noun)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302" y="2701432"/>
            <a:ext cx="4525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buFont typeface="Arial"/>
              <a:buChar char="•"/>
            </a:pPr>
            <a:r>
              <a:rPr lang="en-US" dirty="0">
                <a:latin typeface="Avenir Light"/>
                <a:cs typeface="Avenir Light"/>
              </a:rPr>
              <a:t>Grammatical or POS (Part of Speech) Tagging</a:t>
            </a:r>
          </a:p>
          <a:p>
            <a:pPr marL="115888" indent="-115888">
              <a:buFont typeface="Arial"/>
              <a:buChar char="•"/>
            </a:pPr>
            <a:r>
              <a:rPr lang="en-US" dirty="0">
                <a:latin typeface="Avenir Light"/>
                <a:cs typeface="Avenir Light"/>
              </a:rPr>
              <a:t>Sentence Tagging</a:t>
            </a:r>
          </a:p>
          <a:p>
            <a:pPr marL="115888" indent="-115888">
              <a:buFont typeface="Arial"/>
              <a:buChar char="•"/>
            </a:pPr>
            <a:r>
              <a:rPr lang="en-US" dirty="0">
                <a:latin typeface="Avenir Light"/>
                <a:cs typeface="Avenir Light"/>
              </a:rPr>
              <a:t>Word Tagging</a:t>
            </a:r>
          </a:p>
          <a:p>
            <a:pPr marL="115888" indent="-115888">
              <a:buFont typeface="Arial"/>
              <a:buChar char="•"/>
            </a:pPr>
            <a:r>
              <a:rPr lang="en-US" dirty="0">
                <a:latin typeface="Avenir Light"/>
                <a:cs typeface="Avenir Light"/>
              </a:rPr>
              <a:t>Named Entity Recognition</a:t>
            </a:r>
          </a:p>
          <a:p>
            <a:pPr marL="573088" lvl="1" indent="-115888">
              <a:buFont typeface="Arial"/>
              <a:buChar char="•"/>
            </a:pPr>
            <a:r>
              <a:rPr lang="en-US" dirty="0">
                <a:latin typeface="Avenir Light"/>
                <a:cs typeface="Avenir Light"/>
              </a:rPr>
              <a:t>Persons</a:t>
            </a:r>
          </a:p>
          <a:p>
            <a:pPr marL="573088" lvl="1" indent="-115888">
              <a:buFont typeface="Arial"/>
              <a:buChar char="•"/>
            </a:pPr>
            <a:r>
              <a:rPr lang="en-US" dirty="0">
                <a:latin typeface="Avenir Light"/>
                <a:cs typeface="Avenir Light"/>
              </a:rPr>
              <a:t>Locations</a:t>
            </a:r>
          </a:p>
          <a:p>
            <a:pPr marL="573088" lvl="1" indent="-115888">
              <a:buFont typeface="Arial"/>
              <a:buChar char="•"/>
            </a:pPr>
            <a:r>
              <a:rPr lang="en-US" dirty="0">
                <a:latin typeface="Avenir Light"/>
                <a:cs typeface="Avenir Light"/>
              </a:rPr>
              <a:t>Organizations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1784"/>
          <a:stretch/>
        </p:blipFill>
        <p:spPr>
          <a:xfrm>
            <a:off x="5241711" y="2459420"/>
            <a:ext cx="3902289" cy="316886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380593" y="3704897"/>
            <a:ext cx="3421117" cy="252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695903" y="3263462"/>
            <a:ext cx="3310759" cy="189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159876" y="4256690"/>
            <a:ext cx="3326524" cy="835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8731" y="2349062"/>
            <a:ext cx="1358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Annotations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680" y="5738180"/>
            <a:ext cx="8375702" cy="33855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Each Annotation is a model so this is slower than a treebank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611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5680" y="5738180"/>
            <a:ext cx="8375702" cy="33855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Without the “sentence” annotation “George Washington” could be incorrectly identified.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562" y="3167390"/>
            <a:ext cx="7913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His name is </a:t>
            </a:r>
            <a:r>
              <a:rPr lang="en-US" sz="2800" dirty="0">
                <a:solidFill>
                  <a:srgbClr val="FF0000"/>
                </a:solidFill>
              </a:rPr>
              <a:t>George</a:t>
            </a:r>
            <a:r>
              <a:rPr lang="en-US" sz="2800" dirty="0"/>
              <a:t>.  </a:t>
            </a:r>
            <a:r>
              <a:rPr lang="en-US" sz="2800" dirty="0">
                <a:solidFill>
                  <a:srgbClr val="FF0000"/>
                </a:solidFill>
              </a:rPr>
              <a:t>Washington</a:t>
            </a:r>
            <a:r>
              <a:rPr lang="en-US" sz="2800" dirty="0"/>
              <a:t> is where he is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659" y="1192456"/>
            <a:ext cx="8375702" cy="33855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Since each is a model, the output of 1 is used in the next.</a:t>
            </a:r>
          </a:p>
        </p:txBody>
      </p:sp>
    </p:spTree>
    <p:extLst>
      <p:ext uri="{BB962C8B-B14F-4D97-AF65-F5344CB8AC3E}">
        <p14:creationId xmlns:p14="http://schemas.microsoft.com/office/powerpoint/2010/main" val="1380231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library(</a:t>
            </a:r>
            <a:r>
              <a:rPr lang="en-US" dirty="0" err="1"/>
              <a:t>openNLP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4138" y="1497724"/>
            <a:ext cx="63722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Examples are hard to come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Documentation is not good either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venir Light"/>
                <a:cs typeface="Avenir Light"/>
                <a:hlinkClick r:id="rId2"/>
              </a:rPr>
              <a:t>https://rpubs.com/lmullen/nlp-chapter</a:t>
            </a:r>
            <a:endParaRPr lang="en-US" sz="2800" dirty="0">
              <a:latin typeface="Avenir Light"/>
              <a:cs typeface="Avenir Light"/>
            </a:endParaRPr>
          </a:p>
        </p:txBody>
      </p:sp>
      <p:pic>
        <p:nvPicPr>
          <p:cNvPr id="2050" name="Picture 2" descr="Image result for documentation mem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95"/>
          <a:stretch/>
        </p:blipFill>
        <p:spPr bwMode="auto">
          <a:xfrm>
            <a:off x="2190750" y="3325265"/>
            <a:ext cx="4762500" cy="261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74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Nuances of </a:t>
            </a:r>
            <a:r>
              <a:rPr lang="en-US" dirty="0" err="1"/>
              <a:t>openNLP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27" y="1664904"/>
            <a:ext cx="6391275" cy="1352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139" y="1261241"/>
            <a:ext cx="211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C000"/>
                </a:solidFill>
              </a:rPr>
              <a:t>Load the ML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118" y="3242441"/>
            <a:ext cx="3644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C000"/>
                </a:solidFill>
              </a:rPr>
              <a:t>A new class “String” (mind the caps)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63" y="3636251"/>
            <a:ext cx="17335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85" y="4743122"/>
            <a:ext cx="6191250" cy="1123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098" y="4372303"/>
            <a:ext cx="511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C000"/>
                </a:solidFill>
              </a:rPr>
              <a:t>Annotate the text with the models (mind the order)</a:t>
            </a:r>
          </a:p>
        </p:txBody>
      </p:sp>
    </p:spTree>
    <p:extLst>
      <p:ext uri="{BB962C8B-B14F-4D97-AF65-F5344CB8AC3E}">
        <p14:creationId xmlns:p14="http://schemas.microsoft.com/office/powerpoint/2010/main" val="3316138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TRAP!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3074" name="Picture 2" descr="Image result for trap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45" y="2002221"/>
            <a:ext cx="3178211" cy="304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52249" y="1232337"/>
            <a:ext cx="8560676" cy="61222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Annotate is used in ggplot2 SO you must  declare a namespace  NLP::annotate(…) or ensure ggplot2 is not loaded in your environment!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2911" y="2371637"/>
            <a:ext cx="50134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 &lt;-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ggplot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mtcars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(x 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wt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, y = mpg)) +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geom_point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 + 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annotate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("text", x = 4, y = 25, label = "Some text")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6160" y="4004442"/>
            <a:ext cx="505458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annotations &lt;- 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annotate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allEmails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[[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]],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list(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sentTokenAnnotator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wordTokenAnnotator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posTagAnnotator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persons,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locations,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organizations))</a:t>
            </a:r>
          </a:p>
        </p:txBody>
      </p:sp>
    </p:spTree>
    <p:extLst>
      <p:ext uri="{BB962C8B-B14F-4D97-AF65-F5344CB8AC3E}">
        <p14:creationId xmlns:p14="http://schemas.microsoft.com/office/powerpoint/2010/main" val="3465424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perform Named Entity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399" y="2096814"/>
            <a:ext cx="249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E_NER_syntaticParsing.R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8143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5700</TotalTime>
  <Words>1096</Words>
  <Application>Microsoft Macintosh PowerPoint</Application>
  <PresentationFormat>On-screen Show (4:3)</PresentationFormat>
  <Paragraphs>280</Paragraphs>
  <Slides>27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Avenir Light</vt:lpstr>
      <vt:lpstr>Calibri</vt:lpstr>
      <vt:lpstr>Consolas</vt:lpstr>
      <vt:lpstr>1_Office Theme</vt:lpstr>
      <vt:lpstr>Syntactic Parsing &amp; Lemmatization</vt:lpstr>
      <vt:lpstr>Remember this?!</vt:lpstr>
      <vt:lpstr>Within Syntactic Parsing, 2 example methods.</vt:lpstr>
      <vt:lpstr>Context Free Grammars</vt:lpstr>
      <vt:lpstr>Context Free Grammars</vt:lpstr>
      <vt:lpstr>Context Free Grammars</vt:lpstr>
      <vt:lpstr>Context Free Grammars</vt:lpstr>
      <vt:lpstr>Context Free Grammars</vt:lpstr>
      <vt:lpstr>Dependency View</vt:lpstr>
      <vt:lpstr>Dependency View</vt:lpstr>
      <vt:lpstr>Dependency View</vt:lpstr>
      <vt:lpstr>Dependency View</vt:lpstr>
      <vt:lpstr>Dependency View</vt:lpstr>
      <vt:lpstr>Dependency View</vt:lpstr>
      <vt:lpstr>Universal Dependencies</vt:lpstr>
      <vt:lpstr>Institute of formal &amp; applied linguistics: UDPipe</vt:lpstr>
      <vt:lpstr>Open E_UD_syntacticParsing.R</vt:lpstr>
      <vt:lpstr>We can also do a dictionary based lemmatization</vt:lpstr>
      <vt:lpstr>Appendix – the less popular Stanford NLP project</vt:lpstr>
      <vt:lpstr>Instead of manually annotated tree files…</vt:lpstr>
      <vt:lpstr>Apache NLP is a java ML open source project</vt:lpstr>
      <vt:lpstr>Annotation Models</vt:lpstr>
      <vt:lpstr>PowerPoint Presentation</vt:lpstr>
      <vt:lpstr>library(openNLP)</vt:lpstr>
      <vt:lpstr>Nuances of openNLP</vt:lpstr>
      <vt:lpstr>Another TRAP!</vt:lpstr>
      <vt:lpstr>Let’s perform Named Entity Recognition</vt:lpstr>
    </vt:vector>
  </TitlesOfParts>
  <Company>Liberty Mutual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Kwartler, Edward</dc:creator>
  <cp:lastModifiedBy>Ted Kwartler</cp:lastModifiedBy>
  <cp:revision>308</cp:revision>
  <dcterms:created xsi:type="dcterms:W3CDTF">2018-05-23T17:24:59Z</dcterms:created>
  <dcterms:modified xsi:type="dcterms:W3CDTF">2026-06-07T11:01:38Z</dcterms:modified>
</cp:coreProperties>
</file>